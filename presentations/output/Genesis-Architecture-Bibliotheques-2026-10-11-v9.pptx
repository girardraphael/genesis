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a4f2329b844f65" /><Relationship Type="http://schemas.openxmlformats.org/officeDocument/2006/relationships/extended-properties" Target="/docProps/app.xml" Id="R5f020c6694854a4c" /><Relationship Type="http://schemas.openxmlformats.org/officeDocument/2006/relationships/officeDocument" Target="/ppt/presentation.xml" Id="R6b517042337e4f6a" /></Relationships>
</file>

<file path=ppt/presentation.xml><?xml version="1.0" encoding="utf-8"?>
<p:presentation xmlns:p="http://schemas.openxmlformats.org/presentationml/2006/main">
  <p:sldMasterIdLst>
    <p:sldMasterId xmlns:r="http://schemas.openxmlformats.org/officeDocument/2006/relationships" id="2147483648" r:id="Rb434619e39994ce3"/>
  </p:sldMasterIdLst>
  <p:notesMasterIdLst>
    <p:notesMasterId xmlns:r="http://schemas.openxmlformats.org/officeDocument/2006/relationships" r:id="Rab23c2e7a6064c6f"/>
  </p:notesMasterIdLst>
  <p:sldIdLst>
    <p:sldId xmlns:r="http://schemas.openxmlformats.org/officeDocument/2006/relationships" id="256" r:id="R49c66cdbfbf04847"/>
    <p:sldId xmlns:r="http://schemas.openxmlformats.org/officeDocument/2006/relationships" id="257" r:id="R3f7f2e47677d4a50"/>
    <p:sldId xmlns:r="http://schemas.openxmlformats.org/officeDocument/2006/relationships" id="258" r:id="R882f5a2f007c4ae0"/>
    <p:sldId xmlns:r="http://schemas.openxmlformats.org/officeDocument/2006/relationships" id="259" r:id="R77a6a24de4104f55"/>
    <p:sldId xmlns:r="http://schemas.openxmlformats.org/officeDocument/2006/relationships" id="260" r:id="Ref49618e84f24ada"/>
    <p:sldId xmlns:r="http://schemas.openxmlformats.org/officeDocument/2006/relationships" id="261" r:id="Ra24abd72d06d4c3b"/>
    <p:sldId xmlns:r="http://schemas.openxmlformats.org/officeDocument/2006/relationships" id="262" r:id="Raf270e53b4ec456c"/>
    <p:sldId xmlns:r="http://schemas.openxmlformats.org/officeDocument/2006/relationships" id="263" r:id="R71dcab2763c248ef"/>
    <p:sldId xmlns:r="http://schemas.openxmlformats.org/officeDocument/2006/relationships" id="264" r:id="R4b57c9f76b194da0"/>
    <p:sldId xmlns:r="http://schemas.openxmlformats.org/officeDocument/2006/relationships" id="265" r:id="R854c1be0dbaa436f"/>
    <p:sldId xmlns:r="http://schemas.openxmlformats.org/officeDocument/2006/relationships" id="266" r:id="R7440fe3e795b4563"/>
    <p:sldId xmlns:r="http://schemas.openxmlformats.org/officeDocument/2006/relationships" id="267" r:id="Rbf9d014fcb7d4ab0"/>
    <p:sldId xmlns:r="http://schemas.openxmlformats.org/officeDocument/2006/relationships" id="268" r:id="Rf9c3ece758e84f22"/>
    <p:sldId xmlns:r="http://schemas.openxmlformats.org/officeDocument/2006/relationships" id="269" r:id="Rb6a010f4f80d44bd"/>
    <p:sldId xmlns:r="http://schemas.openxmlformats.org/officeDocument/2006/relationships" id="270" r:id="R9c710d51a64040c6"/>
    <p:sldId xmlns:r="http://schemas.openxmlformats.org/officeDocument/2006/relationships" id="271" r:id="R0986afd473d94323"/>
    <p:sldId xmlns:r="http://schemas.openxmlformats.org/officeDocument/2006/relationships" id="272" r:id="Re08d832c1b1f48be"/>
    <p:sldId xmlns:r="http://schemas.openxmlformats.org/officeDocument/2006/relationships" id="273" r:id="R0a17c37362974e79"/>
    <p:sldId xmlns:r="http://schemas.openxmlformats.org/officeDocument/2006/relationships" id="274" r:id="R04409d07de0b4e8d"/>
    <p:sldId xmlns:r="http://schemas.openxmlformats.org/officeDocument/2006/relationships" id="275" r:id="R7bd8cdc77632487d"/>
    <p:sldId xmlns:r="http://schemas.openxmlformats.org/officeDocument/2006/relationships" id="276" r:id="Rb9a03c08f5d84f6f"/>
    <p:sldId xmlns:r="http://schemas.openxmlformats.org/officeDocument/2006/relationships" id="277" r:id="Rfae2a6963f9c41e3"/>
    <p:sldId xmlns:r="http://schemas.openxmlformats.org/officeDocument/2006/relationships" id="278" r:id="R65b5423176eb4177"/>
    <p:sldId xmlns:r="http://schemas.openxmlformats.org/officeDocument/2006/relationships" id="279" r:id="R4ee47c529f574e39"/>
    <p:sldId xmlns:r="http://schemas.openxmlformats.org/officeDocument/2006/relationships" id="280" r:id="R5ee45e69264643c7"/>
    <p:sldId xmlns:r="http://schemas.openxmlformats.org/officeDocument/2006/relationships" id="281" r:id="Rab9a9aebd2914a56"/>
    <p:sldId xmlns:r="http://schemas.openxmlformats.org/officeDocument/2006/relationships" id="282" r:id="Rc5a3122feab148c4"/>
    <p:sldId xmlns:r="http://schemas.openxmlformats.org/officeDocument/2006/relationships" id="283" r:id="R26357dc6e28a4feb"/>
    <p:sldId xmlns:r="http://schemas.openxmlformats.org/officeDocument/2006/relationships" id="284" r:id="Rc79859c23e6f44be"/>
    <p:sldId xmlns:r="http://schemas.openxmlformats.org/officeDocument/2006/relationships" id="285" r:id="R7f124581e4dd4c32"/>
    <p:sldId xmlns:r="http://schemas.openxmlformats.org/officeDocument/2006/relationships" id="286" r:id="R4698c447919f4e37"/>
    <p:sldId xmlns:r="http://schemas.openxmlformats.org/officeDocument/2006/relationships" id="287" r:id="Rcfcc8bc3fa564ada"/>
    <p:sldId xmlns:r="http://schemas.openxmlformats.org/officeDocument/2006/relationships" id="288" r:id="Rabcbc8ad1e3f4ec5"/>
    <p:sldId xmlns:r="http://schemas.openxmlformats.org/officeDocument/2006/relationships" id="289" r:id="R85c55bb2dbe2458d"/>
    <p:sldId xmlns:r="http://schemas.openxmlformats.org/officeDocument/2006/relationships" id="290" r:id="Ra65c3497849840e2"/>
    <p:sldId xmlns:r="http://schemas.openxmlformats.org/officeDocument/2006/relationships" id="291" r:id="Rb5968663029849ef"/>
    <p:sldId xmlns:r="http://schemas.openxmlformats.org/officeDocument/2006/relationships" id="292" r:id="R5102af51527a47d0"/>
    <p:sldId xmlns:r="http://schemas.openxmlformats.org/officeDocument/2006/relationships" id="293" r:id="R4ad504e0210e40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66deedef42420f" /><Relationship Type="http://schemas.openxmlformats.org/officeDocument/2006/relationships/slideMaster" Target="/ppt/slideMasters/slideMaster1.xml" Id="Rb434619e39994ce3" /><Relationship Type="http://schemas.openxmlformats.org/officeDocument/2006/relationships/notesMaster" Target="/ppt/notesMasters/notesMaster1.xml" Id="Rab23c2e7a6064c6f" /><Relationship Type="http://schemas.openxmlformats.org/officeDocument/2006/relationships/presProps" Target="/ppt/presProps.xml" Id="Rd64d877a61b6403d" /><Relationship Type="http://schemas.openxmlformats.org/officeDocument/2006/relationships/tableStyles" Target="/ppt/tableStyles.xml" Id="R558b154566a24a61" /><Relationship Type="http://schemas.openxmlformats.org/officeDocument/2006/relationships/slide" Target="/ppt/slides/slide1.xml" Id="R49c66cdbfbf04847" /><Relationship Type="http://schemas.openxmlformats.org/officeDocument/2006/relationships/slide" Target="/ppt/slides/slide2.xml" Id="R3f7f2e47677d4a50" /><Relationship Type="http://schemas.openxmlformats.org/officeDocument/2006/relationships/slide" Target="/ppt/slides/slide3.xml" Id="R882f5a2f007c4ae0" /><Relationship Type="http://schemas.openxmlformats.org/officeDocument/2006/relationships/slide" Target="/ppt/slides/slide4.xml" Id="R77a6a24de4104f55" /><Relationship Type="http://schemas.openxmlformats.org/officeDocument/2006/relationships/slide" Target="/ppt/slides/slide5.xml" Id="Ref49618e84f24ada" /><Relationship Type="http://schemas.openxmlformats.org/officeDocument/2006/relationships/slide" Target="/ppt/slides/slide6.xml" Id="Ra24abd72d06d4c3b" /><Relationship Type="http://schemas.openxmlformats.org/officeDocument/2006/relationships/slide" Target="/ppt/slides/slide7.xml" Id="Raf270e53b4ec456c" /><Relationship Type="http://schemas.openxmlformats.org/officeDocument/2006/relationships/slide" Target="/ppt/slides/slide8.xml" Id="R71dcab2763c248ef" /><Relationship Type="http://schemas.openxmlformats.org/officeDocument/2006/relationships/slide" Target="/ppt/slides/slide9.xml" Id="R4b57c9f76b194da0" /><Relationship Type="http://schemas.openxmlformats.org/officeDocument/2006/relationships/slide" Target="/ppt/slides/slide10.xml" Id="R854c1be0dbaa436f" /><Relationship Type="http://schemas.openxmlformats.org/officeDocument/2006/relationships/slide" Target="/ppt/slides/slide11.xml" Id="R7440fe3e795b4563" /><Relationship Type="http://schemas.openxmlformats.org/officeDocument/2006/relationships/slide" Target="/ppt/slides/slide12.xml" Id="Rbf9d014fcb7d4ab0" /><Relationship Type="http://schemas.openxmlformats.org/officeDocument/2006/relationships/slide" Target="/ppt/slides/slide13.xml" Id="Rf9c3ece758e84f22" /><Relationship Type="http://schemas.openxmlformats.org/officeDocument/2006/relationships/slide" Target="/ppt/slides/slide14.xml" Id="Rb6a010f4f80d44bd" /><Relationship Type="http://schemas.openxmlformats.org/officeDocument/2006/relationships/slide" Target="/ppt/slides/slide15.xml" Id="R9c710d51a64040c6" /><Relationship Type="http://schemas.openxmlformats.org/officeDocument/2006/relationships/slide" Target="/ppt/slides/slide16.xml" Id="R0986afd473d94323" /><Relationship Type="http://schemas.openxmlformats.org/officeDocument/2006/relationships/slide" Target="/ppt/slides/slide17.xml" Id="Re08d832c1b1f48be" /><Relationship Type="http://schemas.openxmlformats.org/officeDocument/2006/relationships/slide" Target="/ppt/slides/slide18.xml" Id="R0a17c37362974e79" /><Relationship Type="http://schemas.openxmlformats.org/officeDocument/2006/relationships/slide" Target="/ppt/slides/slide19.xml" Id="R04409d07de0b4e8d" /><Relationship Type="http://schemas.openxmlformats.org/officeDocument/2006/relationships/slide" Target="/ppt/slides/slide20.xml" Id="R7bd8cdc77632487d" /><Relationship Type="http://schemas.openxmlformats.org/officeDocument/2006/relationships/slide" Target="/ppt/slides/slide21.xml" Id="Rb9a03c08f5d84f6f" /><Relationship Type="http://schemas.openxmlformats.org/officeDocument/2006/relationships/slide" Target="/ppt/slides/slide22.xml" Id="Rfae2a6963f9c41e3" /><Relationship Type="http://schemas.openxmlformats.org/officeDocument/2006/relationships/slide" Target="/ppt/slides/slide23.xml" Id="R65b5423176eb4177" /><Relationship Type="http://schemas.openxmlformats.org/officeDocument/2006/relationships/slide" Target="/ppt/slides/slide24.xml" Id="R4ee47c529f574e39" /><Relationship Type="http://schemas.openxmlformats.org/officeDocument/2006/relationships/slide" Target="/ppt/slides/slide25.xml" Id="R5ee45e69264643c7" /><Relationship Type="http://schemas.openxmlformats.org/officeDocument/2006/relationships/slide" Target="/ppt/slides/slide26.xml" Id="Rab9a9aebd2914a56" /><Relationship Type="http://schemas.openxmlformats.org/officeDocument/2006/relationships/slide" Target="/ppt/slides/slide27.xml" Id="Rc5a3122feab148c4" /><Relationship Type="http://schemas.openxmlformats.org/officeDocument/2006/relationships/slide" Target="/ppt/slides/slide28.xml" Id="R26357dc6e28a4feb" /><Relationship Type="http://schemas.openxmlformats.org/officeDocument/2006/relationships/slide" Target="/ppt/slides/slide29.xml" Id="Rc79859c23e6f44be" /><Relationship Type="http://schemas.openxmlformats.org/officeDocument/2006/relationships/slide" Target="/ppt/slides/slide30.xml" Id="R7f124581e4dd4c32" /><Relationship Type="http://schemas.openxmlformats.org/officeDocument/2006/relationships/slide" Target="/ppt/slides/slide31.xml" Id="R4698c447919f4e37" /><Relationship Type="http://schemas.openxmlformats.org/officeDocument/2006/relationships/slide" Target="/ppt/slides/slide32.xml" Id="Rcfcc8bc3fa564ada" /><Relationship Type="http://schemas.openxmlformats.org/officeDocument/2006/relationships/slide" Target="/ppt/slides/slide33.xml" Id="Rabcbc8ad1e3f4ec5" /><Relationship Type="http://schemas.openxmlformats.org/officeDocument/2006/relationships/slide" Target="/ppt/slides/slide34.xml" Id="R85c55bb2dbe2458d" /><Relationship Type="http://schemas.openxmlformats.org/officeDocument/2006/relationships/slide" Target="/ppt/slides/slide35.xml" Id="Ra65c3497849840e2" /><Relationship Type="http://schemas.openxmlformats.org/officeDocument/2006/relationships/slide" Target="/ppt/slides/slide36.xml" Id="Rb5968663029849ef" /><Relationship Type="http://schemas.openxmlformats.org/officeDocument/2006/relationships/slide" Target="/ppt/slides/slide37.xml" Id="R5102af51527a47d0" /><Relationship Type="http://schemas.openxmlformats.org/officeDocument/2006/relationships/slide" Target="/ppt/slides/slide38.xml" Id="R4ad504e0210e40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99d117225142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a66954ccb477d" /><Relationship Type="http://schemas.openxmlformats.org/officeDocument/2006/relationships/notesMaster" Target="/ppt/notesMasters/notesMaster1.xml" Id="Rc94e74c3d7a54f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aa267a823d48cb" /><Relationship Type="http://schemas.openxmlformats.org/officeDocument/2006/relationships/notesMaster" Target="/ppt/notesMasters/notesMaster1.xml" Id="R24212bc6ff844b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54ca7196d64f5c" /><Relationship Type="http://schemas.openxmlformats.org/officeDocument/2006/relationships/notesMaster" Target="/ppt/notesMasters/notesMaster1.xml" Id="Rd17f9cfa067544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64c3a9b9ac4e17" /><Relationship Type="http://schemas.openxmlformats.org/officeDocument/2006/relationships/notesMaster" Target="/ppt/notesMasters/notesMaster1.xml" Id="R1c4ea63a7ab74c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a9f8dbd59244cc" /><Relationship Type="http://schemas.openxmlformats.org/officeDocument/2006/relationships/notesMaster" Target="/ppt/notesMasters/notesMaster1.xml" Id="R16abb537e2d646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ed1e92f2d64f69" /><Relationship Type="http://schemas.openxmlformats.org/officeDocument/2006/relationships/notesMaster" Target="/ppt/notesMasters/notesMaster1.xml" Id="Rb35edcaba8694d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48a6d8ac294f98" /><Relationship Type="http://schemas.openxmlformats.org/officeDocument/2006/relationships/notesMaster" Target="/ppt/notesMasters/notesMaster1.xml" Id="Rfceae1469ca74a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fe2cad1b4f475c" /><Relationship Type="http://schemas.openxmlformats.org/officeDocument/2006/relationships/notesMaster" Target="/ppt/notesMasters/notesMaster1.xml" Id="R55724fd50cac42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5b4ce7f1da4d7c" /><Relationship Type="http://schemas.openxmlformats.org/officeDocument/2006/relationships/notesMaster" Target="/ppt/notesMasters/notesMaster1.xml" Id="R478e05b7ba8944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7a34f1955042b2" /><Relationship Type="http://schemas.openxmlformats.org/officeDocument/2006/relationships/notesMaster" Target="/ppt/notesMasters/notesMaster1.xml" Id="R4250239525c843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954ffc478e4d5d" /><Relationship Type="http://schemas.openxmlformats.org/officeDocument/2006/relationships/notesMaster" Target="/ppt/notesMasters/notesMaster1.xml" Id="R112fa49a4b2c40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5b98bd0228454c" /><Relationship Type="http://schemas.openxmlformats.org/officeDocument/2006/relationships/notesMaster" Target="/ppt/notesMasters/notesMaster1.xml" Id="Ra94d03ee5add4f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ea83025c1846cb" /><Relationship Type="http://schemas.openxmlformats.org/officeDocument/2006/relationships/notesMaster" Target="/ppt/notesMasters/notesMaster1.xml" Id="Rbc1928cc795949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b4f97e0d3e4a31" /><Relationship Type="http://schemas.openxmlformats.org/officeDocument/2006/relationships/notesMaster" Target="/ppt/notesMasters/notesMaster1.xml" Id="R0cad064ab2784a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db64acb51934f8f" /><Relationship Type="http://schemas.openxmlformats.org/officeDocument/2006/relationships/notesMaster" Target="/ppt/notesMasters/notesMaster1.xml" Id="R5d7b9e9f2cae49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41840c5edb4057" /><Relationship Type="http://schemas.openxmlformats.org/officeDocument/2006/relationships/notesMaster" Target="/ppt/notesMasters/notesMaster1.xml" Id="R46c3d4024b7144e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11ddb72beb4912" /><Relationship Type="http://schemas.openxmlformats.org/officeDocument/2006/relationships/notesMaster" Target="/ppt/notesMasters/notesMaster1.xml" Id="Rb276a651aa8b4a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e59d2095efa4e65" /><Relationship Type="http://schemas.openxmlformats.org/officeDocument/2006/relationships/notesMaster" Target="/ppt/notesMasters/notesMaster1.xml" Id="Re698e482f6774b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d1a31818154b34" /><Relationship Type="http://schemas.openxmlformats.org/officeDocument/2006/relationships/notesMaster" Target="/ppt/notesMasters/notesMaster1.xml" Id="R0dc4f903d6a042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21dfc6dab04fff" /><Relationship Type="http://schemas.openxmlformats.org/officeDocument/2006/relationships/notesMaster" Target="/ppt/notesMasters/notesMaster1.xml" Id="R7056be3d52d647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eb0587e0fe459a" /><Relationship Type="http://schemas.openxmlformats.org/officeDocument/2006/relationships/notesMaster" Target="/ppt/notesMasters/notesMaster1.xml" Id="Rf10260ab73be4d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1308e3f08a744b6" /><Relationship Type="http://schemas.openxmlformats.org/officeDocument/2006/relationships/notesMaster" Target="/ppt/notesMasters/notesMaster1.xml" Id="R6472c97ed8bb4fb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f78bcaf07649e6" /><Relationship Type="http://schemas.openxmlformats.org/officeDocument/2006/relationships/notesMaster" Target="/ppt/notesMasters/notesMaster1.xml" Id="R443a7c68470e41c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04baafaa2bb4fed" /><Relationship Type="http://schemas.openxmlformats.org/officeDocument/2006/relationships/notesMaster" Target="/ppt/notesMasters/notesMaster1.xml" Id="R6a3cede1222e4f9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b8a5cf6efa14471" /><Relationship Type="http://schemas.openxmlformats.org/officeDocument/2006/relationships/notesMaster" Target="/ppt/notesMasters/notesMaster1.xml" Id="R428334ee11bb48c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1ff319d48904eb8" /><Relationship Type="http://schemas.openxmlformats.org/officeDocument/2006/relationships/notesMaster" Target="/ppt/notesMasters/notesMaster1.xml" Id="R9e02df9249be454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7cda8c8ab94493a" /><Relationship Type="http://schemas.openxmlformats.org/officeDocument/2006/relationships/notesMaster" Target="/ppt/notesMasters/notesMaster1.xml" Id="R2123af1209fa4eb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3cd6585b31d4216" /><Relationship Type="http://schemas.openxmlformats.org/officeDocument/2006/relationships/notesMaster" Target="/ppt/notesMasters/notesMaster1.xml" Id="R5c0da742dd9f40d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e475c9e75c74472" /><Relationship Type="http://schemas.openxmlformats.org/officeDocument/2006/relationships/notesMaster" Target="/ppt/notesMasters/notesMaster1.xml" Id="R59bc04ce2e1143b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ea19428b2144e4" /><Relationship Type="http://schemas.openxmlformats.org/officeDocument/2006/relationships/notesMaster" Target="/ppt/notesMasters/notesMaster1.xml" Id="R8045c44e09ff4e6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e7eec874a274de9" /><Relationship Type="http://schemas.openxmlformats.org/officeDocument/2006/relationships/notesMaster" Target="/ppt/notesMasters/notesMaster1.xml" Id="R47317df2d4de454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5fe0cf6e438416b" /><Relationship Type="http://schemas.openxmlformats.org/officeDocument/2006/relationships/notesMaster" Target="/ppt/notesMasters/notesMaster1.xml" Id="R2497a4aebdda46d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88653f31d2944e9" /><Relationship Type="http://schemas.openxmlformats.org/officeDocument/2006/relationships/notesMaster" Target="/ppt/notesMasters/notesMaster1.xml" Id="R146b01eaaf0e411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279baa8015f47f3" /><Relationship Type="http://schemas.openxmlformats.org/officeDocument/2006/relationships/notesMaster" Target="/ppt/notesMasters/notesMaster1.xml" Id="R756ae4132591438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09d3be089e54bca" /><Relationship Type="http://schemas.openxmlformats.org/officeDocument/2006/relationships/notesMaster" Target="/ppt/notesMasters/notesMaster1.xml" Id="Rea58c406afad4b5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7e483e1e242492e" /><Relationship Type="http://schemas.openxmlformats.org/officeDocument/2006/relationships/notesMaster" Target="/ppt/notesMasters/notesMaster1.xml" Id="R3518231108a6475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c4731e062794b9e" /><Relationship Type="http://schemas.openxmlformats.org/officeDocument/2006/relationships/notesMaster" Target="/ppt/notesMasters/notesMaster1.xml" Id="Rfd8736708e77455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3c72d9216594d03" /><Relationship Type="http://schemas.openxmlformats.org/officeDocument/2006/relationships/notesMaster" Target="/ppt/notesMasters/notesMaster1.xml" Id="Ra33fa769768b48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présentation explique Genesis à un public non technique. Une commande fictive sert de fil conducteur. Les schémas illustrent des responsabilités logicielles et ne représentent ni une livraison réelle ni une mesure. Les bibliothèques principales sont expliquées dans le corps de la présentation. Les six pages de référence conservent les détails individuels des 104 paquets déclarés. Le périmètre décrit le code U17 à U19, au 11 octobre 2026. Il reste un prototype local, avec progression des véhicules simulée.</a:t>
            </a:r>
          </a:p>
          <a:p xmlns:a="http://schemas.openxmlformats.org/drawingml/2006/main">
            <a:r>
              <a:t/>
            </a:r>
          </a:p>
          <a:p xmlns:a="http://schemas.openxmlformats.org/drawingml/2006/main">
            <a:r>
              <a:t>Sources du dépôt, état au 11 octobre 2026 (U17–U19, présentation U22) :</a:t>
            </a:r>
          </a:p>
          <a:p xmlns:a="http://schemas.openxmlformats.org/drawingml/2006/main">
            <a:r>
              <a:t>README.md</a:t>
            </a:r>
          </a:p>
          <a:p xmlns:a="http://schemas.openxmlformats.org/drawingml/2006/main">
            <a:r>
              <a:t>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répartiteur est la personne qui organise les livraisons. Il commence par enregistrer une commande. Il peut ensuite la sélectionner avec d’autres commandes et demander un plan. Genesis considère les capacités disponibles et les contraintes de ramassage et livraison. Le délai du prototype se mesure relativement au départ, et la date de service sert à organiser le carnet. Le résultat prêt attend une action explicite pour démarrer la simulation. Dans les pages suivantes, la même demande permet de comprendre à quoi sert chaque couche, sans lire de code. Les lieux et chiffres illustratifs ne décrivent aucun client.</a:t>
            </a:r>
          </a:p>
          <a:p xmlns:a="http://schemas.openxmlformats.org/drawingml/2006/main">
            <a:r>
              <a:t/>
            </a:r>
          </a:p>
          <a:p xmlns:a="http://schemas.openxmlformats.org/drawingml/2006/main">
            <a:r>
              <a:t>Sources du dépôt, état au 11 octobre 2026 (U17–U19, présentation U22) :</a:t>
            </a:r>
          </a:p>
          <a:p xmlns:a="http://schemas.openxmlformats.org/drawingml/2006/main">
            <a:r>
              <a:t>docs/BROKER-ORDERS.md</a:t>
            </a:r>
          </a:p>
          <a:p xmlns:a="http://schemas.openxmlformats.org/drawingml/2006/main">
            <a:r>
              <a:t>docs/DISPATCH.md</a:t>
            </a:r>
          </a:p>
          <a:p xmlns:a="http://schemas.openxmlformats.org/drawingml/2006/main">
            <a:r>
              <a:t>services/genesis/orders.py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bibliothèque fournit des fonctions réutilisables plutôt que de tout réécrire. Un framework, tel FastAPI, donne aussi une structure à l’application. Une dépendance est une relation: Pydantic est à la fois une bibliothèque utilisée par Genesis et un paquet requis par FastAPI. Une dépendance transitive arrive parce qu’un autre paquet en a besoin. Un SDK est une bibliothèque cliente spécialisée dans les échanges avec un fournisseur, comme Anthropic. Un service peut être distant ou auto-hébergé. Photon et OSRM ne sont pas des bibliothèques Python que Genesis importe pour effectuer ces calculs localement. Le code métier relie tous ces éléments et définit les règles du transport.</a:t>
            </a:r>
          </a:p>
          <a:p xmlns:a="http://schemas.openxmlformats.org/drawingml/2006/main">
            <a:r>
              <a:t/>
            </a:r>
          </a:p>
          <a:p xmlns:a="http://schemas.openxmlformats.org/drawingml/2006/main">
            <a:r>
              <a:t>Sources du dépôt, état au 11 octobre 2026 (U17–U19, présentation U22) :</a:t>
            </a:r>
          </a:p>
          <a:p xmlns:a="http://schemas.openxmlformats.org/drawingml/2006/main">
            <a:r>
              <a:t>presentations/package-details.json</a:t>
            </a:r>
          </a:p>
          <a:p xmlns:a="http://schemas.openxmlformats.org/drawingml/2006/main">
            <a:r>
              <a:t>requirements.txt</a:t>
            </a:r>
          </a:p>
          <a:p xmlns:a="http://schemas.openxmlformats.org/drawingml/2006/main">
            <a:r>
              <a:t>apps/web/package.json</a:t>
            </a:r>
          </a:p>
          <a:p xmlns:a="http://schemas.openxmlformats.org/drawingml/2006/main">
            <a:r>
              <a:t>services/genesis/dispatch.py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navigateur est l’écran du répartiteur. L’API est le guichet logiciel qui reçoit ses demandes. Le registre est la base de données de l’application. Le worker est un processus Python séparé qui réclame un travail enregistré. Il utilise les outils de calcul et les services externes autorisés, puis conserve événements et résultats. L’API relit ces données pour les rendre à l’écran. Les flèches représentent les échanges principaux, pas chaque appel possible: l’API contacte aussi certains services lors du géocodage ou de la prévisualisation. Il n’existe pas de lancement direct du travail par une simple flèche API-worker. Illustration métaphorique générée avec ImageGen. Prompts et provenance dans le manifeste des images.</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services/genesis/worker.py</a:t>
            </a:r>
          </a:p>
          <a:p xmlns:a="http://schemas.openxmlformats.org/drawingml/2006/main">
            <a:r>
              <a:t>services/genesis/broker_api.py</a:t>
            </a:r>
          </a:p>
          <a:p xmlns:a="http://schemas.openxmlformats.org/drawingml/2006/main">
            <a:r>
              <a:t>services/genesis/db.py</a:t>
            </a:r>
          </a:p>
          <a:p xmlns:a="http://schemas.openxmlformats.org/drawingml/2006/main">
            <a:r>
              <a:t>presentations/assets/u22/manifest.json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processus est un programme en cours d’exécution. Le navigateur, l’API et le worker n’ont pas le même travail, même si on les démarre sur la même machine. Le code frontend se trouve dans apps/web/src, tandis que services/genesis contient le code serveur et le worker. Node.js exécute les outils de préparation du site, puis le navigateur exécute les fichiers JavaScript produits. Python exécute les services backend. SQLite conserve les tables dans des fichiers locaux. Cette séparation explique pourquoi l’écran peut s’ouvrir alors que le worker ne traite aucun travail. Elle n’établit pas une architecture distribuée déjà qualifiée pour plusieurs entreprises.</a:t>
            </a:r>
          </a:p>
          <a:p xmlns:a="http://schemas.openxmlformats.org/drawingml/2006/main">
            <a:r>
              <a:t/>
            </a:r>
          </a:p>
          <a:p xmlns:a="http://schemas.openxmlformats.org/drawingml/2006/main">
            <a:r>
              <a:t>Sources du dépôt, état au 11 octobre 2026 (U17–U19, présentation U22) :</a:t>
            </a:r>
          </a:p>
          <a:p xmlns:a="http://schemas.openxmlformats.org/drawingml/2006/main">
            <a:r>
              <a:t>apps/web/package.json</a:t>
            </a:r>
          </a:p>
          <a:p xmlns:a="http://schemas.openxmlformats.org/drawingml/2006/main">
            <a:r>
              <a:t>apps/web/src/main.tsx</a:t>
            </a:r>
          </a:p>
          <a:p xmlns:a="http://schemas.openxmlformats.org/drawingml/2006/main">
            <a:r>
              <a:t>services/genesis/api.py</a:t>
            </a:r>
          </a:p>
          <a:p xmlns:a="http://schemas.openxmlformats.org/drawingml/2006/main">
            <a:r>
              <a:t>services/genesis/worker.py</a:t>
            </a:r>
          </a:p>
          <a:p xmlns:a="http://schemas.openxmlformats.org/drawingml/2006/main">
            <a:r>
              <a:t>services/genesis/db.py</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réception d’une demande de plan renvoie rapidement son identifiant. Le traitement plus long se produit ensuite dans un autre processus. La base porte la liste des travaux en attente, leur propriétaire et leurs états. Le worker renouvelle un bail, une réservation temporaire du travail. Une génération identifie la prise en charge pour limiter les écritures d’un ancien propriétaire. Ce mécanisme aide à traiter les interruptions mais ne prouve pas une reprise parfaite de tous les effets externes. L’écran suit le même identifiant pendant le traitement, ce qui permet d’afficher une demande en attente sans prétendre qu’un résultat existe déjà.</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services/genesis/broker_api.py</a:t>
            </a:r>
          </a:p>
          <a:p xmlns:a="http://schemas.openxmlformats.org/drawingml/2006/main">
            <a:r>
              <a:t>services/genesis/worker.py</a:t>
            </a:r>
          </a:p>
          <a:p xmlns:a="http://schemas.openxmlformats.org/drawingml/2006/main">
            <a:r>
              <a:t>services/genesis/db.py</a:t>
            </a:r>
          </a:p>
          <a:p xmlns:a="http://schemas.openxmlformats.org/drawingml/2006/main">
            <a:r>
              <a:t>services/genesis/workflow.py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composant est une portion d’interface avec ses données et son comportement. React assemble les composants et recalcule la représentation de l’écran lorsqu’un état change. React DOM applique cette représentation aux éléments de la page. Dans Dispatch, la sélection partagée permet de faire correspondre une ligne du planning avec un marqueur sur la carte. Les données proviennent de l’API: React ne décide pas si un camion peut transporter la charge. Lucide fournit les icônes utilisées pour les actions et Inter fournit la police locale. Ces dernières améliorent la lisibilité mais ne changent pas les règles de livraison.</a:t>
            </a:r>
          </a:p>
          <a:p xmlns:a="http://schemas.openxmlformats.org/drawingml/2006/main">
            <a:r>
              <a:t/>
            </a:r>
          </a:p>
          <a:p xmlns:a="http://schemas.openxmlformats.org/drawingml/2006/main">
            <a:r>
              <a:t>Sources du dépôt, état au 11 octobre 2026 (U17–U19, présentation U22) :</a:t>
            </a:r>
          </a:p>
          <a:p xmlns:a="http://schemas.openxmlformats.org/drawingml/2006/main">
            <a:r>
              <a:t>apps/web/src/main.tsx</a:t>
            </a:r>
          </a:p>
          <a:p xmlns:a="http://schemas.openxmlformats.org/drawingml/2006/main">
            <a:r>
              <a:t>apps/web/src/Dispatch.tsx</a:t>
            </a:r>
          </a:p>
          <a:p xmlns:a="http://schemas.openxmlformats.org/drawingml/2006/main">
            <a:r>
              <a:t>apps/web/src/dispatchSelection.ts</a:t>
            </a:r>
          </a:p>
          <a:p xmlns:a="http://schemas.openxmlformats.org/drawingml/2006/main">
            <a:r>
              <a:t>apps/web/src/DispatchMap.tsx</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TypeScript ajoute des types au code JavaScript. La commande de build vérifie les contrats entre fonctions et composants avant de produire le site. Ces types ne constituent pas une validation automatique de toute réponse réseau à l’exécution. Pydantic valide réellement les valeurs reçues sur le serveur, y compris les champs supplémentaires interdits et certaines bornes. Les règles métier interviennent encore ensuite: un nombre valide peut dépasser la capacité d’un véhicule et une commande peut déjà être affectée. Ces niveaux répondent à des problèmes différents. Cette séparation explique pourquoi un formulaire visuellement rempli peut néanmoins être refusé par le serveur.</a:t>
            </a:r>
          </a:p>
          <a:p xmlns:a="http://schemas.openxmlformats.org/drawingml/2006/main">
            <a:r>
              <a:t/>
            </a:r>
          </a:p>
          <a:p xmlns:a="http://schemas.openxmlformats.org/drawingml/2006/main">
            <a:r>
              <a:t>Sources du dépôt, état au 11 octobre 2026 (U17–U19, présentation U22) :</a:t>
            </a:r>
          </a:p>
          <a:p xmlns:a="http://schemas.openxmlformats.org/drawingml/2006/main">
            <a:r>
              <a:t>apps/web/tsconfig.json</a:t>
            </a:r>
          </a:p>
          <a:p xmlns:a="http://schemas.openxmlformats.org/drawingml/2006/main">
            <a:r>
              <a:t>apps/web/src/types.ts</a:t>
            </a:r>
          </a:p>
          <a:p xmlns:a="http://schemas.openxmlformats.org/drawingml/2006/main">
            <a:r>
              <a:t>services/genesis/models.py</a:t>
            </a:r>
          </a:p>
          <a:p xmlns:a="http://schemas.openxmlformats.org/drawingml/2006/main">
            <a:r>
              <a:t>services/genesis/broker_api.py</a:t>
            </a:r>
          </a:p>
          <a:p xmlns:a="http://schemas.openxmlformats.org/drawingml/2006/main">
            <a:r>
              <a:t>services/genesis/orders.py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Uvicorn est le serveur ASGI, le logiciel qui maintient la porte réseau ouverte. FastAPI fournit la structure des opérations HTTP. Par exemple, une lecture consulte les informations tandis qu’une création envoie un corps contenant les données. Starlette, une dépendance de FastAPI, apporte des composants web sous-jacents. Pydantic décrit les modèles de données associés. OpenAPI est une description des opérations, pas un autre serveur. Genesis exporte ce contrat afin que le frontend et les contrôles puissent rester cohérents. Les règles d’origine et la validation serveur restent importantes même si le site tourne localement.</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services/genesis/api.py</a:t>
            </a:r>
          </a:p>
          <a:p xmlns:a="http://schemas.openxmlformats.org/drawingml/2006/main">
            <a:r>
              <a:t>services/genesis/broker_api.py</a:t>
            </a:r>
          </a:p>
          <a:p xmlns:a="http://schemas.openxmlformats.org/drawingml/2006/main">
            <a:r>
              <a:t>packages/contracts/openapi.json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métaphore du dossier montre que recevoir des informations ne suffit pas: elles doivent correspondre à un contrat précis. Le résultat du géocodeur peut contenir son identifiant technique. Le modèle Place de Genesis n’accepte que son libellé et ses coordonnées. L’interface doit donc préparer les champs attendus avant d’envoyer la demande. Le correctif U16 réalise cette projection au lieu d’assouplir la frontière serveur. Pydantic-core exécute les contrôles internes utilisés par Pydantic. Un dossier validé peut encore échouer lors du calcul, par exemple si la charge ou l’échéance ne permet aucune tournée. Illustration conceptuelle, sans données client.</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services/genesis/dispatch.py</a:t>
            </a:r>
          </a:p>
          <a:p xmlns:a="http://schemas.openxmlformats.org/drawingml/2006/main">
            <a:r>
              <a:t>apps/web/src/Dispatch.tsx</a:t>
            </a:r>
          </a:p>
          <a:p xmlns:a="http://schemas.openxmlformats.org/drawingml/2006/main">
            <a:r>
              <a:t>tests/test_validation_feedback.py</a:t>
            </a:r>
          </a:p>
          <a:p xmlns:a="http://schemas.openxmlformats.org/drawingml/2006/main">
            <a:r>
              <a:t>docs/reviews/route-submission-review.md</a:t>
            </a:r>
          </a:p>
          <a:p xmlns:a="http://schemas.openxmlformats.org/drawingml/2006/main">
            <a:r>
              <a:t>presentations/assets/u22/manifest.json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HTTPX sert aux échanges HTTP de Genesis avec plusieurs fournisseurs, dont le géocodage et le routage. Il ne comprend pas les adresses et ne calcule pas les routes. Photon transforme le texte en suggestions géographiques. L’utilisateur confirme un résultat afin d’éviter d’envoyer une adresse ambiguë au calcul. Genesis vérifie ensuite le périmètre et la forme des coordonnées. Une panne de réseau, un délai dépassé ou une réponse incorrecte doit produire un diagnostic. L’utilisation d’un service public sans clé ne garantit ni disponibilité ni trafic en direct. Le SDK Anthropic installé possède son propre transport HTTPX2, détaillé dans les références, distinct du client HTTPX importé directement ici.</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services/genesis/dispatch.py</a:t>
            </a:r>
          </a:p>
          <a:p xmlns:a="http://schemas.openxmlformats.org/drawingml/2006/main">
            <a:r>
              <a:t>services/genesis/roads.py</a:t>
            </a:r>
          </a:p>
          <a:p xmlns:a="http://schemas.openxmlformats.org/drawingml/2006/main">
            <a:r>
              <a:t>presentations/package-details.json</a:t>
            </a:r>
          </a:p>
          <a:p xmlns:a="http://schemas.openxmlformats.org/drawingml/2006/main">
            <a:r>
              <a:t>docs/DISPATCH.md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matrice est un tableau qui contient une estimation pour chaque paire de lieux. Les lignes indiquent les départs et les colonnes les arrivées. Le solveur consulte ces temps et distances pour comparer les séquences sans redemander un chemin à chaque essai. OSRM fournit aussi une géométrie: une série de points qui dessine le trajet routier choisi. Le tableau est uniquement pédagogique et ne correspond à aucun appel mesuré. Les données OSRM du profil actuel sont statiques. Elles ne constituent pas du trafic instantané, une qualification poids lourd ou une preuve que le conducteur a emprunté cette route.</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services/genesis/dispatch.py</a:t>
            </a:r>
          </a:p>
          <a:p xmlns:a="http://schemas.openxmlformats.org/drawingml/2006/main">
            <a:r>
              <a:t>services/genesis/roads.py</a:t>
            </a:r>
          </a:p>
          <a:p xmlns:a="http://schemas.openxmlformats.org/drawingml/2006/main">
            <a:r>
              <a:t>services/genesis/broker_solver.py</a:t>
            </a:r>
          </a:p>
          <a:p xmlns:a="http://schemas.openxmlformats.org/drawingml/2006/main">
            <a:r>
              <a:t>docs/DISPATCH.md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tuile est un fragment du fond géographique que le navigateur charge selon la zone et le niveau de zoom. MapLibre GL dessine la carte à partir du style et des tuiles, puis Genesis ajoute la route et les arrêts. Une géométrie donne la forme du trajet et une collection GeoJSON décrit les objets géographiques affichés. Le répartiteur peut zoomer, choisir un arrêt et consulter ses informations. MapLibre ne choisit pas l’ordre de livraison et ne prédit pas le trafic. Les trois couches de l’image sont une illustration du principe, sans correspondance avec une route précise de Montréal. Les attributions des fournisseurs restent nécessaires dans l’application.</a:t>
            </a:r>
          </a:p>
          <a:p xmlns:a="http://schemas.openxmlformats.org/drawingml/2006/main">
            <a:r>
              <a:t/>
            </a:r>
          </a:p>
          <a:p xmlns:a="http://schemas.openxmlformats.org/drawingml/2006/main">
            <a:r>
              <a:t>Sources du dépôt, état au 11 octobre 2026 (U17–U19, présentation U22) :</a:t>
            </a:r>
          </a:p>
          <a:p xmlns:a="http://schemas.openxmlformats.org/drawingml/2006/main">
            <a:r>
              <a:t>apps/web/src/DispatchMap.tsx</a:t>
            </a:r>
          </a:p>
          <a:p xmlns:a="http://schemas.openxmlformats.org/drawingml/2006/main">
            <a:r>
              <a:t>apps/web/src/RouteMap.tsx</a:t>
            </a:r>
          </a:p>
          <a:p xmlns:a="http://schemas.openxmlformats.org/drawingml/2006/main">
            <a:r>
              <a:t>services/genesis/dispatch.py</a:t>
            </a:r>
          </a:p>
          <a:p xmlns:a="http://schemas.openxmlformats.org/drawingml/2006/main">
            <a:r>
              <a:t>presentations/assets/u22/manifest.json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capture vient du scénario isolé de vérification avec des données fictives. Elle illustre le résultat du lien entre l’état React, les marqueurs MapLibre et les détails de la tournée. Le lecteur doit repérer la sélection commune et le certificat associé au plan. Le fait de voir une ligne de route ne certifie pas sa faisabilité: le certificat vient du contrôle côté serveur. Cette capture ne démontre ni GPS de terrain ni livraison physique et n’est pas un nouvel essai effectué pour cette présentation.</a:t>
            </a:r>
          </a:p>
          <a:p xmlns:a="http://schemas.openxmlformats.org/drawingml/2006/main">
            <a:r>
              <a:t/>
            </a:r>
          </a:p>
          <a:p xmlns:a="http://schemas.openxmlformats.org/drawingml/2006/main">
            <a:r>
              <a:t>Sources du dépôt, état au 11 octobre 2026 (U17–U19, présentation U22) :</a:t>
            </a:r>
          </a:p>
          <a:p xmlns:a="http://schemas.openxmlformats.org/drawingml/2006/main">
            <a:r>
              <a:t>docs/work/U18-local-readiness.md</a:t>
            </a:r>
          </a:p>
          <a:p xmlns:a="http://schemas.openxmlformats.org/drawingml/2006/main">
            <a:r>
              <a:t>apps/web/src/Dispatch.tsx</a:t>
            </a:r>
          </a:p>
          <a:p xmlns:a="http://schemas.openxmlformats.org/drawingml/2006/main">
            <a:r>
              <a:t>apps/web/src/DispatchMap.tsx</a:t>
            </a:r>
          </a:p>
          <a:p xmlns:a="http://schemas.openxmlformats.org/drawingml/2006/main">
            <a:r>
              <a:t>presentations/assets/dispatch-qa.png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LangGraph représente l’exécution comme un graphe: des étapes reliées par un ordre et un état partagé. Genesis construit une chaîne de cinq rôles puis une finalisation. Un nœud reçoit les résultats précédents et ajoute sa sortie au dossier d’exécution. Le graphe organise les appels mais ne calcule pas, à lui seul, une tournée correcte. Les fonctions Python de Genesis définissent les outils de chaque rôle. La durée d’une étape et les tokens d’un modèle mesurent donc deux choses différentes. Avec la politique sans explication IA, les cinq rôles peuvent travailler sans appel de modèle. L’usage est indiqué non applicable avec la raison d’omission. La dépense agrégée peut être nulle, mais cela ne transforme pas un usage absent en mesure fournisseur de zéro token.</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services/genesis/workflow.py</a:t>
            </a:r>
          </a:p>
          <a:p xmlns:a="http://schemas.openxmlformats.org/drawingml/2006/main">
            <a:r>
              <a:t>services/genesis/broker_runtime.py</a:t>
            </a:r>
          </a:p>
          <a:p xmlns:a="http://schemas.openxmlformats.org/drawingml/2006/main">
            <a:r>
              <a:t>services/genesis/models.py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mot état désigne ici le dossier de travail courant. Chaque étape reçoit une partie des informations précédentes et produit une sortie nommée. Le runtime conserve les transmissions et les artefacts, c’est-à-dire les documents de résultat associés au run. Les prompts éventuels reçoivent une sélection bornée de preuves observables, pas la pensée cachée d’un modèle. Un identifiant d’exécution et les références d’artefacts facilitent l’inspection. Le snapshot de flotte explique sur quelles capacités le calcul s’est appuyé, même si la flotte change après la demande. Une vérification d’admission reste nécessaire avant de rendre le plan prêt.</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services/genesis/workflow.py</a:t>
            </a:r>
          </a:p>
          <a:p xmlns:a="http://schemas.openxmlformats.org/drawingml/2006/main">
            <a:r>
              <a:t>services/genesis/broker_runtime.py</a:t>
            </a:r>
          </a:p>
          <a:p xmlns:a="http://schemas.openxmlformats.org/drawingml/2006/main">
            <a:r>
              <a:t>services/genesis/models.py</a:t>
            </a:r>
          </a:p>
          <a:p xmlns:a="http://schemas.openxmlformats.org/drawingml/2006/main">
            <a:r>
              <a:t>docs/DATA-CONTRACT.md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OR-Tools est une boîte à outils d’optimisation combinatoire. Genesis utilise son modèle de tournées, qui cherche parmi de nombreuses affectations possibles. Une contrainte interdit un choix, par exemple livrer avant de ramasser. Une fonction de coût donne une préférence entre choix autorisés, par exemple limiter les kilomètres et le nombre de véhicules activés. La charge se suit tout au long de la tournée: elle augmente au ramassage et diminue à la livraison. Genesis fournit les données et la formulation. OR-Tools cherche un candidat dans un temps borné. Le contrôle indépendant de Genesis recalcule ensuite sa faisabilité.</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services/genesis/broker_solver.py</a:t>
            </a:r>
          </a:p>
          <a:p xmlns:a="http://schemas.openxmlformats.org/drawingml/2006/main">
            <a:r>
              <a:t>services/genesis/solver.py</a:t>
            </a:r>
          </a:p>
          <a:p xmlns:a="http://schemas.openxmlformats.org/drawingml/2006/main">
            <a:r>
              <a:t>docs/LOGISTICS-SPEC.md</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courtier peut vouloir limiter le nombre de véhicules tout en respectant les échéances. L’activation d’un véhicule entraîne un coût fixe dans le modèle, tandis que les kilomètres et le temps ont leurs propres coûts configurés. Regrouper peut réduire les activations et augmenter les détours. Séparer peut raccourcir une livraison tout en mobilisant davantage de flotte. Genesis compare ces stratégies sur le même problème pour rendre les hypothèses comparables. Les coûts restent des estimations issues des paramètres, pas des tarifs contractuels certifiés. Les résultats infaisables ne doivent pas être présentés comme des économies possibles.</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services/genesis/broker_solver.py</a:t>
            </a:r>
          </a:p>
          <a:p xmlns:a="http://schemas.openxmlformats.org/drawingml/2006/main">
            <a:r>
              <a:t>services/genesis/broker_runtime.py</a:t>
            </a:r>
          </a:p>
          <a:p xmlns:a="http://schemas.openxmlformats.org/drawingml/2006/main">
            <a:r>
              <a:t>docs/DISPATCH.md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contrôleur ne se contente pas de croire le score du solveur ou le texte d’un modèle. Il recalcule les propriétés importantes du candidat. Une solution doit couvrir les livraisons attendues et respecter la capacité et la précédence ramassage-livraison. La flotte peut changer pendant la recherche. L’admission atomique vérifie donc que les véhicules et commandes peuvent encore être affectés au plan avant sa matérialisation. Un certificat valide concerne ce problème et ses données figées. Il ne garantit pas l’état réel des rues ou l’absence d’incident futur. L’image illustre la séparation entre proposition et contrôle, sans mesure réelle.</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services/genesis/broker_solver.py</a:t>
            </a:r>
          </a:p>
          <a:p xmlns:a="http://schemas.openxmlformats.org/drawingml/2006/main">
            <a:r>
              <a:t>services/genesis/broker_runtime.py</a:t>
            </a:r>
          </a:p>
          <a:p xmlns:a="http://schemas.openxmlformats.org/drawingml/2006/main">
            <a:r>
              <a:t>services/genesis/dispatch.py</a:t>
            </a:r>
          </a:p>
          <a:p xmlns:a="http://schemas.openxmlformats.org/drawingml/2006/main">
            <a:r>
              <a:t>presentations/assets/u22/manifest.json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SDK est le client qui prépare la requête Anthropic et interprète sa réponse. Le modèle s’exécute chez le fournisseur. Il reçoit les preuves sélectionnées par Genesis pour résumer la décision. Son texte ne peut pas remplacer le certificat de faisabilité. Le runtime Anthropic est le seul fournisseur de génération actif autorisé par le projet. Les anciens enregistrements d’autres fournisseurs restent historiques. En routine, planification et trafic omettent l’explication. Si une route connue est réutilisée et valide, les autres peuvent aussi l’omettre. La politique complète prévoit une explication par rôle, sous réserve des erreurs, annulations et limites de budget.</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services/genesis/llm.py</a:t>
            </a:r>
          </a:p>
          <a:p xmlns:a="http://schemas.openxmlformats.org/drawingml/2006/main">
            <a:r>
              <a:t>services/genesis/workflow.py</a:t>
            </a:r>
          </a:p>
          <a:p xmlns:a="http://schemas.openxmlformats.org/drawingml/2006/main">
            <a:r>
              <a:t>services/genesis/broker_runtime.py</a:t>
            </a:r>
          </a:p>
          <a:p xmlns:a="http://schemas.openxmlformats.org/drawingml/2006/main">
            <a:r>
              <a:t>docs/MODEL-POLICY.md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token n’est pas nécessairement un mot complet. Le fournisseur retourne l’usage de l’appel et Genesis le conserve avec sa tentative et son modèle. Les catégories d’entrée, sortie et cache peuvent avoir des tarifs différents. Le coût estimé de l’application dépend du tarif configuré, et la conversion CAD repose sur un taux explicite. Le registre réserve un montant avant l’appel pour gérer la concurrence puis rapproche l’usage connu. Une erreur au moment de recevoir la réponse peut laisser une situation à réconcilier. Les durées des outils déterministes restent séparées de la génération IA. La somme affichée n’est pas un nouveau relevé bancaire du fournisseur.</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services/genesis/llm.py</a:t>
            </a:r>
          </a:p>
          <a:p xmlns:a="http://schemas.openxmlformats.org/drawingml/2006/main">
            <a:r>
              <a:t>services/genesis/db.py</a:t>
            </a:r>
          </a:p>
          <a:p xmlns:a="http://schemas.openxmlformats.org/drawingml/2006/main">
            <a:r>
              <a:t>services/genesis/metrics.py</a:t>
            </a:r>
          </a:p>
          <a:p xmlns:a="http://schemas.openxmlformats.org/drawingml/2006/main">
            <a:r>
              <a:t>apps/web/src/Metering.tsx</a:t>
            </a:r>
          </a:p>
          <a:p xmlns:a="http://schemas.openxmlformats.org/drawingml/2006/main">
            <a:r>
              <a:t>apps/web/src/OverallCost.tsx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base contient des tables, comparables à des registres structurés reliés par des identifiants. SQLAlchemy permet au code Python d’exprimer des opérations SQL et de gérer une transaction. Une transaction valide les écritures ensemble ou les annule lorsqu’une erreur survient. Cette propriété sert au carnet de commandes et aux revendications de travail. Elle ne signifie pas qu’un appel externe, un email et deux bases séparées sont automatiquement atomiques. Le Store de Genesis centralise les opérations applicatives. Un profil PostgreSQL existe avec des pilotes optionnels, mais la présence des paquets ne constitue pas une preuve de qualification de ce profil.</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services/genesis/db.py</a:t>
            </a:r>
          </a:p>
          <a:p xmlns:a="http://schemas.openxmlformats.org/drawingml/2006/main">
            <a:r>
              <a:t>services/genesis/orders.py</a:t>
            </a:r>
          </a:p>
          <a:p xmlns:a="http://schemas.openxmlformats.org/drawingml/2006/main">
            <a:r>
              <a:t>services/genesis/broker_api.py</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fichier data/genesis.db est la base de l’application. Le fichier data/checkpoints.sqlite est utilisé par SqliteSaver pour conserver l’état du graphe LangGraph. Le mot checkpoint se compare à un marque-page indiquant où en était le travail. Les deux mémoires ne constituent pas une sauvegarde commune et automatiquement cohérente. La commande de sauvegarde actuelle couvre la base application et vérifie son intégrité, pas une reprise de tous les effets du workflow. Une interruption autour d’un appel fournisseur peut nécessiter un rapprochement manuel. L’illustration montre cette distinction, sans promettre de reprise exactement une fois.</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services/genesis/db.py</a:t>
            </a:r>
          </a:p>
          <a:p xmlns:a="http://schemas.openxmlformats.org/drawingml/2006/main">
            <a:r>
              <a:t>services/genesis/workflow.py</a:t>
            </a:r>
          </a:p>
          <a:p xmlns:a="http://schemas.openxmlformats.org/drawingml/2006/main">
            <a:r>
              <a:t>services/genesis/backup.py</a:t>
            </a:r>
          </a:p>
          <a:p xmlns:a="http://schemas.openxmlformats.org/drawingml/2006/main">
            <a:r>
              <a:t>docs/DATABASE-RECOVERY.md</a:t>
            </a:r>
          </a:p>
          <a:p xmlns:a="http://schemas.openxmlformats.org/drawingml/2006/main">
            <a:r>
              <a:t>presentations/assets/u22/manifest.json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route_memory.py produit un contexte à partir des tournées conservées. Il identifie des correspondances, des échantillons terminés et des mesures de simulation. BrokerRuntime évalue ces candidats par rapport au problème actuel. Une route passée ne garantit pas que le véhicule soit libre aujourd’hui ou que la capacité corresponde. Une réutilisation valide peut diminuer le nombre d’explications demandées en politique routine. Ce mécanisme ne constitue pas un entraînement du modèle ni une recherche vectorielle active. Les durées historiques sont simulées et dépendent aussi des origines et du service. Elles ne permettent pas d’attribuer un gain causal au seul ordre des arrêts.</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services/genesis/route_memory.py</a:t>
            </a:r>
          </a:p>
          <a:p xmlns:a="http://schemas.openxmlformats.org/drawingml/2006/main">
            <a:r>
              <a:t>services/genesis/broker_runtime.py</a:t>
            </a:r>
          </a:p>
          <a:p xmlns:a="http://schemas.openxmlformats.org/drawingml/2006/main">
            <a:r>
              <a:t>apps/web/src/RouteLibrary.tsx</a:t>
            </a:r>
          </a:p>
          <a:p xmlns:a="http://schemas.openxmlformats.org/drawingml/2006/main">
            <a:r>
              <a:t>tests/test_route_memory.py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SSE signifie Server-Sent Events. Le navigateur ouvre une connexion EventSource et le serveur transmet des notifications quand elles deviennent disponibles. Ce mécanisme convient au suivi d’une exécution sans obliger l’utilisateur à recharger la page à chaque étape. Les événements ont une séquence pour permettre la reprise et la fusion côté client. Le flux décrit l’activité logicielle, pas un flux GPS conducteur. Les projections consultables par l’API et le rafraîchissement restent utiles après une coupure. La bibliothèque Starlette fournit des éléments de réponse utilisés par FastAPI pour cette communication.</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services/genesis/api.py</a:t>
            </a:r>
          </a:p>
          <a:p xmlns:a="http://schemas.openxmlformats.org/drawingml/2006/main">
            <a:r>
              <a:t>services/genesis/db.py</a:t>
            </a:r>
          </a:p>
          <a:p xmlns:a="http://schemas.openxmlformats.org/drawingml/2006/main">
            <a:r>
              <a:t>apps/web/src/App.tsx</a:t>
            </a:r>
          </a:p>
          <a:p xmlns:a="http://schemas.openxmlformats.org/drawingml/2006/main">
            <a:r>
              <a:t>apps/web/src/replayState.ts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ECharts reçoit une configuration et des séries puis produit le graphique, ici avec le rendu SVG. Les fonctions analyticsData de Genesis déterminent le périmètre, les regroupements et les valeurs manquantes. Une moyenne doit être lue avec son nombre d’observations. React Flow, publié sous @xyflow/react, fournit la navigation et l’affichage interactif du graphe de rôles. Il ne remplace pas LangGraph côté serveur. La séparation permet de corriger un calcul de métrique sans confondre cette correction avec la bibliothèque de dessin. Les tableaux accessibles complètent les visualisations, dont certaines limitations d’accessibilité restent suivies dans le projet.</a:t>
            </a:r>
          </a:p>
          <a:p xmlns:a="http://schemas.openxmlformats.org/drawingml/2006/main">
            <a:r>
              <a:t/>
            </a:r>
          </a:p>
          <a:p xmlns:a="http://schemas.openxmlformats.org/drawingml/2006/main">
            <a:r>
              <a:t>Sources du dépôt, état au 11 octobre 2026 (U17–U19, présentation U22) :</a:t>
            </a:r>
          </a:p>
          <a:p xmlns:a="http://schemas.openxmlformats.org/drawingml/2006/main">
            <a:r>
              <a:t>apps/web/src/Chart.tsx</a:t>
            </a:r>
          </a:p>
          <a:p xmlns:a="http://schemas.openxmlformats.org/drawingml/2006/main">
            <a:r>
              <a:t>apps/web/src/analyticsData.ts</a:t>
            </a:r>
          </a:p>
          <a:p xmlns:a="http://schemas.openxmlformats.org/drawingml/2006/main">
            <a:r>
              <a:t>apps/web/src/Analytics.tsx</a:t>
            </a:r>
          </a:p>
          <a:p xmlns:a="http://schemas.openxmlformats.org/drawingml/2006/main">
            <a:r>
              <a:t>apps/web/src/Observability.tsx</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développement, Vite fournit un serveur et un rafraîchissement rapide du code. Pour la livraison du site, npm run build exécute tsc -b puis vite build. Les imports sont assemblés pour produire les fichiers web. Le plugin React gère son intégration, et les paquets @types fournissent les descriptions nécessaires au contrôle des types. React, les bibliothèques de carte et les graphiques peuvent faire partie du code envoyé au navigateur. Le moteur de tests ne doit pas être confondu avec ce code produit. Prettier est déclaré comme outil de mise en forme, sans script actif de formatage démontré dans ce manifeste.</a:t>
            </a:r>
          </a:p>
          <a:p xmlns:a="http://schemas.openxmlformats.org/drawingml/2006/main">
            <a:r>
              <a:t/>
            </a:r>
          </a:p>
          <a:p xmlns:a="http://schemas.openxmlformats.org/drawingml/2006/main">
            <a:r>
              <a:t>Sources du dépôt, état au 11 octobre 2026 (U17–U19, présentation U22) :</a:t>
            </a:r>
          </a:p>
          <a:p xmlns:a="http://schemas.openxmlformats.org/drawingml/2006/main">
            <a:r>
              <a:t>apps/web/package.json</a:t>
            </a:r>
          </a:p>
          <a:p xmlns:a="http://schemas.openxmlformats.org/drawingml/2006/main">
            <a:r>
              <a:t>apps/web/vite.config.ts</a:t>
            </a:r>
          </a:p>
          <a:p xmlns:a="http://schemas.openxmlformats.org/drawingml/2006/main">
            <a:r>
              <a:t>apps/web/tsconfig.json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test indique une entrée, une action et un résultat attendu. pytest fournit les fixtures qui préparent des bases temporaires ou des réponses simulées. Vitest remplit un rôle comparable pour le frontend. Playwright automatise des interactions dans un navigateur, tandis que @axe-core/playwright y lance des règles d’accessibilité. Ces règles ne couvrent pas toute l’expérience humaine. Ruff réalise une analyse statique distincte des assertions fonctionnelles. Le projet possède aussi un environnement QA isolé pour ne pas toucher aux commandes et coûts opérateurs. Cette page explique les outils déclarés, sans prétendre qu’une suite complète ou de nouveaux parcours ont été exécutés pour cette révision.</a:t>
            </a:r>
          </a:p>
          <a:p xmlns:a="http://schemas.openxmlformats.org/drawingml/2006/main">
            <a:r>
              <a:t/>
            </a:r>
          </a:p>
          <a:p xmlns:a="http://schemas.openxmlformats.org/drawingml/2006/main">
            <a:r>
              <a:t>Sources du dépôt, état au 11 octobre 2026 (U17–U19, présentation U22) :</a:t>
            </a:r>
          </a:p>
          <a:p xmlns:a="http://schemas.openxmlformats.org/drawingml/2006/main">
            <a:r>
              <a:t>tests/test_broker_solver.py</a:t>
            </a:r>
          </a:p>
          <a:p xmlns:a="http://schemas.openxmlformats.org/drawingml/2006/main">
            <a:r>
              <a:t>tests/test_overall_usage.py</a:t>
            </a:r>
          </a:p>
          <a:p xmlns:a="http://schemas.openxmlformats.org/drawingml/2006/main">
            <a:r>
              <a:t>apps/web/src/dispatchSelection.test.ts</a:t>
            </a:r>
          </a:p>
          <a:p xmlns:a="http://schemas.openxmlformats.org/drawingml/2006/main">
            <a:r>
              <a:t>qa/package.json</a:t>
            </a:r>
          </a:p>
          <a:p xmlns:a="http://schemas.openxmlformats.org/drawingml/2006/main">
            <a:r>
              <a:t>docs/QA.md</a:t>
            </a:r>
          </a:p>
          <a:p xmlns:a="http://schemas.openxmlformats.org/drawingml/2006/main">
            <a:r>
              <a:t>scripts/check.ps1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Quand on installe une bibliothèque, son manifeste peut demander d’autres paquets. Genesis fige 87 distributions Python dans requirements.txt, y compris le support transitif. NumPy et Pandas arrivent avec OR-Tools: cela ne signifie pas que le code métier entraîne un modèle ou réalise directement une analyse Pandas. SqliteSaver importe la prise en charge SQLite. aiosqlite permet des opérations asynchrones dans son paquet, tandis que Genesis sélectionne le saver synchrone. sqlite-vec ajoute des capacités vectorielles au paquet, sans démontrer une recherche vectorielle active dans la mémoire des routes. Les versions exactes et les relations conditionnelles figurent dans les notes de référence.</a:t>
            </a:r>
          </a:p>
          <a:p xmlns:a="http://schemas.openxmlformats.org/drawingml/2006/main">
            <a:r>
              <a:t/>
            </a:r>
          </a:p>
          <a:p xmlns:a="http://schemas.openxmlformats.org/drawingml/2006/main">
            <a:r>
              <a:t>Sources du dépôt, état au 11 octobre 2026 (U17–U19, présentation U22) :</a:t>
            </a:r>
          </a:p>
          <a:p xmlns:a="http://schemas.openxmlformats.org/drawingml/2006/main">
            <a:r>
              <a:t>requirements.txt</a:t>
            </a:r>
          </a:p>
          <a:p xmlns:a="http://schemas.openxmlformats.org/drawingml/2006/main">
            <a:r>
              <a:t>presentations/package-details.json</a:t>
            </a:r>
          </a:p>
          <a:p xmlns:a="http://schemas.openxmlformats.org/drawingml/2006/main">
            <a:r>
              <a:t>services/genesis/workflow.py</a:t>
            </a:r>
          </a:p>
          <a:p xmlns:a="http://schemas.openxmlformats.org/drawingml/2006/main">
            <a:r>
              <a:t>services/genesis/broker_solver.py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outbox découple l’enregistrement local du résultat et son export réseau. Les traces conservées par Langfuse servent à l’observation, elles ne doivent pas remplacer le registre local de coût. OpenTelemetry et ses dépendances soutiennent le transport des traces via l’intégration. SMTP est un protocole d’envoi d’email. Genesis utilise la bibliothèque standard Python pour les notifications: il n’est pas nécessaire d’ajouter un SDK Gmail au projet. La configuration d’un service et sa présence dans le code ne prouvent pas que chaque envoi réussit. Les notifications ont leur état et leur diagnostic. Aucun email ni export de trace n’est déclenché pour cette présentation.</a:t>
            </a:r>
          </a:p>
          <a:p xmlns:a="http://schemas.openxmlformats.org/drawingml/2006/main">
            <a:r>
              <a:t/>
            </a:r>
          </a:p>
          <a:p xmlns:a="http://schemas.openxmlformats.org/drawingml/2006/main">
            <a:r>
              <a:t>Sources du dépôt, état au 11 octobre 2026 (U17–U19, présentation U22) :</a:t>
            </a:r>
          </a:p>
          <a:p xmlns:a="http://schemas.openxmlformats.org/drawingml/2006/main">
            <a:r>
              <a:t>services/genesis/telemetry.py</a:t>
            </a:r>
          </a:p>
          <a:p xmlns:a="http://schemas.openxmlformats.org/drawingml/2006/main">
            <a:r>
              <a:t>services/genesis/notifications.py</a:t>
            </a:r>
          </a:p>
          <a:p xmlns:a="http://schemas.openxmlformats.org/drawingml/2006/main">
            <a:r>
              <a:t>services/genesis/db.py</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bibliothèques offrent des responsabilités distinctes, ce qui permet d’enquêter sans tout attribuer à l’IA. Un formulaire invalide peut résulter d’une différence entre les champs envoyés et le contrat serveur. Une attente peut correspondre à un worker absent ou occupé. Une infaisabilité peut être un résultat normal lorsque les délais ne sont pas compatibles avec les véhicules. L’absence d’appel de modèle peut être voulue si l’agent a travaillé avec ses outils sans explication IA. Son usage est alors non applicable avec une raison d’omission. Un fond de carte chargé ne prouve pas qu’une géométrie a été reçue. Ces exemples donnent une méthode de lecture, pas le diagnostic d’un incident actif.</a:t>
            </a:r>
          </a:p>
          <a:p xmlns:a="http://schemas.openxmlformats.org/drawingml/2006/main">
            <a:r>
              <a:t/>
            </a:r>
          </a:p>
          <a:p xmlns:a="http://schemas.openxmlformats.org/drawingml/2006/main">
            <a:r>
              <a:t>Sources du dépôt, état au 11 octobre 2026 (U17–U19, présentation U22) :</a:t>
            </a:r>
          </a:p>
          <a:p xmlns:a="http://schemas.openxmlformats.org/drawingml/2006/main">
            <a:r>
              <a:t>tests/test_validation_feedback.py</a:t>
            </a:r>
          </a:p>
          <a:p xmlns:a="http://schemas.openxmlformats.org/drawingml/2006/main">
            <a:r>
              <a:t>services/genesis/worker.py</a:t>
            </a:r>
          </a:p>
          <a:p xmlns:a="http://schemas.openxmlformats.org/drawingml/2006/main">
            <a:r>
              <a:t>services/genesis/broker_runtime.py</a:t>
            </a:r>
          </a:p>
          <a:p xmlns:a="http://schemas.openxmlformats.org/drawingml/2006/main">
            <a:r>
              <a:t>apps/web/src/DispatchMap.tsx</a:t>
            </a:r>
          </a:p>
          <a:p xmlns:a="http://schemas.openxmlformats.org/drawingml/2006/main">
            <a:r>
              <a:t>docs/DEMO.md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valeur de l’architecture vient de la séparation des responsabilités et de leurs contrats. Le code Genesis relie les bibliothèques pour organiser les commandes et produire une proposition contrôlée. Il garde les preuves nécessaires à l’inspection. Les bibliothèques réduisent le travail technique à réécrire, mais leur installation ne crée pas automatiquement un service prêt pour des entreprises. L’authentification, la séparation des clients, le GPS, la preuve de livraison et la qualification opérationnelle restent des sujets distincts. Les références suivantes permettent d’approfondir chaque paquet avec sa fonction, son usage exact, sa raison de présence et un exemple, sans imposer tout le détail à l’exposé oral.</a:t>
            </a:r>
          </a:p>
          <a:p xmlns:a="http://schemas.openxmlformats.org/drawingml/2006/main">
            <a:r>
              <a:t/>
            </a:r>
          </a:p>
          <a:p xmlns:a="http://schemas.openxmlformats.org/drawingml/2006/main">
            <a:r>
              <a:t>Sources du dépôt, état au 11 octobre 2026 (U17–U19, présentation U22) :</a:t>
            </a:r>
          </a:p>
          <a:p xmlns:a="http://schemas.openxmlformats.org/drawingml/2006/main">
            <a:r>
              <a:t>docs/TRANSPORT-CHECKLIST.md</a:t>
            </a:r>
          </a:p>
          <a:p xmlns:a="http://schemas.openxmlformats.org/drawingml/2006/main">
            <a:r>
              <a:t>docs/DATA-CONTRACT.md</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Usage direct.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anthropic==1.13.0</a:t>
            </a:r>
          </a:p>
          <a:p xmlns:a="http://schemas.openxmlformats.org/drawingml/2006/main">
            <a:r>
              <a:t>Classement de référence : Usage direct.</a:t>
            </a:r>
          </a:p>
          <a:p xmlns:a="http://schemas.openxmlformats.org/drawingml/2006/main">
            <a:r>
              <a:t>Fonction : Fournit le client officiel de l’API Anthropic, ses types de réponse et ses erreurs.</a:t>
            </a:r>
          </a:p>
          <a:p xmlns:a="http://schemas.openxmlformats.org/drawingml/2006/main">
            <a:r>
              <a:t>Utilisation Genesis : ModelAdapter l’utilise pour les explications payantes; les autres fournisseurs ne sont pas activés et les reprises SDK sont désactivées.</a:t>
            </a:r>
          </a:p>
          <a:p xmlns:a="http://schemas.openxmlformats.org/drawingml/2006/main">
            <a:r>
              <a:t>Pourquoi présent : Version épinglée dans requirements.txt; aucun parent d’exécution dans les 87 distributions de cet inventaire.</a:t>
            </a:r>
          </a:p>
          <a:p xmlns:a="http://schemas.openxmlformats.org/drawingml/2006/main">
            <a:r>
              <a:t>Exemple : messages.create renvoie le texte, l’usage et l’identifiant de requête d’une tentative enregistrée par Genesis.</a:t>
            </a:r>
          </a:p>
          <a:p xmlns:a="http://schemas.openxmlformats.org/drawingml/2006/main">
            <a:r>
              <a:t>Sources :</a:t>
            </a:r>
          </a:p>
          <a:p xmlns:a="http://schemas.openxmlformats.org/drawingml/2006/main">
            <a:r>
              <a:t>services/genesis/llm.py</a:t>
            </a:r>
          </a:p>
          <a:p xmlns:a="http://schemas.openxmlformats.org/drawingml/2006/main">
            <a:r>
              <a:t>.venv/Lib/site-packages/anthropic-1.13.0.dist-info/METADATA</a:t>
            </a:r>
          </a:p>
          <a:p xmlns:a="http://schemas.openxmlformats.org/drawingml/2006/main">
            <a:r>
              <a:t>requirements.txt</a:t>
            </a:r>
          </a:p>
          <a:p xmlns:a="http://schemas.openxmlformats.org/drawingml/2006/main">
            <a:r>
              <a:t>https://github.com/anthropics/anthropic-sdk-python</a:t>
            </a:r>
          </a:p>
          <a:p xmlns:a="http://schemas.openxmlformats.org/drawingml/2006/main">
            <a:r>
              <a:t/>
            </a:r>
          </a:p>
          <a:p xmlns:a="http://schemas.openxmlformats.org/drawingml/2006/main">
            <a:r>
              <a:t>fastapi==0.143.0</a:t>
            </a:r>
          </a:p>
          <a:p xmlns:a="http://schemas.openxmlformats.org/drawingml/2006/main">
            <a:r>
              <a:t>Classement de référence : Usage direct.</a:t>
            </a:r>
          </a:p>
          <a:p xmlns:a="http://schemas.openxmlformats.org/drawingml/2006/main">
            <a:r>
              <a:t>Fonction : Déclare des routes HTTP typées et produit validation, réponses et documentation OpenAPI.</a:t>
            </a:r>
          </a:p>
          <a:p xmlns:a="http://schemas.openxmlformats.org/drawingml/2006/main">
            <a:r>
              <a:t>Utilisation Genesis : Expose les missions, commandes, plans, coûts et événements de l’API locale.</a:t>
            </a:r>
          </a:p>
          <a:p xmlns:a="http://schemas.openxmlformats.org/drawingml/2006/main">
            <a:r>
              <a:t>Pourquoi présent : Version épinglée dans requirements.txt; aucun parent d’exécution dans les 87 distributions de cet inventaire.</a:t>
            </a:r>
          </a:p>
          <a:p xmlns:a="http://schemas.openxmlformats.org/drawingml/2006/main">
            <a:r>
              <a:t>Exemple : Une commande mal formée est refusée avant sa réservation ou son insertion en base.</a:t>
            </a:r>
          </a:p>
          <a:p xmlns:a="http://schemas.openxmlformats.org/drawingml/2006/main">
            <a:r>
              <a:t>Sources :</a:t>
            </a:r>
          </a:p>
          <a:p xmlns:a="http://schemas.openxmlformats.org/drawingml/2006/main">
            <a:r>
              <a:t>services/genesis/api.py</a:t>
            </a:r>
          </a:p>
          <a:p xmlns:a="http://schemas.openxmlformats.org/drawingml/2006/main">
            <a:r>
              <a:t>.venv/Lib/site-packages/fastapi-0.143.0.dist-info/METADATA</a:t>
            </a:r>
          </a:p>
          <a:p xmlns:a="http://schemas.openxmlformats.org/drawingml/2006/main">
            <a:r>
              <a:t>requirements.txt</a:t>
            </a:r>
          </a:p>
          <a:p xmlns:a="http://schemas.openxmlformats.org/drawingml/2006/main">
            <a:r>
              <a:t>https://github.com/fastapi/fastapi</a:t>
            </a:r>
          </a:p>
          <a:p xmlns:a="http://schemas.openxmlformats.org/drawingml/2006/main">
            <a:r>
              <a:t/>
            </a:r>
          </a:p>
          <a:p xmlns:a="http://schemas.openxmlformats.org/drawingml/2006/main">
            <a:r>
              <a:t>httpx==0.28.1</a:t>
            </a:r>
          </a:p>
          <a:p xmlns:a="http://schemas.openxmlformats.org/drawingml/2006/main">
            <a:r>
              <a:t>Classement de référence : Usage direct.</a:t>
            </a:r>
          </a:p>
          <a:p xmlns:a="http://schemas.openxmlformats.org/drawingml/2006/main">
            <a:r>
              <a:t>Fonction : Fournit des clients HTTP synchrones/asynchrones, délais et gestion d’erreurs.</a:t>
            </a:r>
          </a:p>
          <a:p xmlns:a="http://schemas.openxmlformats.org/drawingml/2006/main">
            <a:r>
              <a:t>Utilisation Genesis : Genesis l’appelle pour Photon, OSRM et les permis de travaux municipaux; les tests l’emploient aussi.</a:t>
            </a:r>
          </a:p>
          <a:p xmlns:a="http://schemas.openxmlformats.org/drawingml/2006/main">
            <a:r>
              <a:t>Pourquoi présent : Version épinglée dans requirements.txt; requis immédiatement par langchain-core, langfuse, langgraph-sdk.</a:t>
            </a:r>
          </a:p>
          <a:p xmlns:a="http://schemas.openxmlformats.org/drawingml/2006/main">
            <a:r>
              <a:t>Exemple : Une matrice routière est demandée avec un délai borné et sa réponse est contrôlée avant utilisation.</a:t>
            </a:r>
          </a:p>
          <a:p xmlns:a="http://schemas.openxmlformats.org/drawingml/2006/main">
            <a:r>
              <a:t>Sources :</a:t>
            </a:r>
          </a:p>
          <a:p xmlns:a="http://schemas.openxmlformats.org/drawingml/2006/main">
            <a:r>
              <a:t>services/genesis/dispatch.py</a:t>
            </a:r>
          </a:p>
          <a:p xmlns:a="http://schemas.openxmlformats.org/drawingml/2006/main">
            <a:r>
              <a:t>.venv/Lib/site-packages/httpx-0.28.1.dist-info/METADATA</a:t>
            </a:r>
          </a:p>
          <a:p xmlns:a="http://schemas.openxmlformats.org/drawingml/2006/main">
            <a:r>
              <a:t>requirements.txt</a:t>
            </a:r>
          </a:p>
          <a:p xmlns:a="http://schemas.openxmlformats.org/drawingml/2006/main">
            <a:r>
              <a:t>https://www.python-httpx.org</a:t>
            </a:r>
          </a:p>
          <a:p xmlns:a="http://schemas.openxmlformats.org/drawingml/2006/main">
            <a:r>
              <a:t/>
            </a:r>
          </a:p>
          <a:p xmlns:a="http://schemas.openxmlformats.org/drawingml/2006/main">
            <a:r>
              <a:t>langgraph==1.2.14</a:t>
            </a:r>
          </a:p>
          <a:p xmlns:a="http://schemas.openxmlformats.org/drawingml/2006/main">
            <a:r>
              <a:t>Classement de référence : Usage direct.</a:t>
            </a:r>
          </a:p>
          <a:p xmlns:a="http://schemas.openxmlformats.org/drawingml/2006/main">
            <a:r>
              <a:t>Fonction : Construit et exécute des graphes d’état avec nœuds, transitions et checkpoints.</a:t>
            </a:r>
          </a:p>
          <a:p xmlns:a="http://schemas.openxmlformats.org/drawingml/2006/main">
            <a:r>
              <a:t>Utilisation Genesis : Orchestre les cinq rôles du workflow à travers un StateGraph compilé avec persistance SQLite.</a:t>
            </a:r>
          </a:p>
          <a:p xmlns:a="http://schemas.openxmlformats.org/drawingml/2006/main">
            <a:r>
              <a:t>Pourquoi présent : Version épinglée dans requirements.txt; aucun parent d’exécution dans les 87 distributions de cet inventaire.</a:t>
            </a:r>
          </a:p>
          <a:p xmlns:a="http://schemas.openxmlformats.org/drawingml/2006/main">
            <a:r>
              <a:t>Exemple : Le nœud de monitoring reçoit les résultats de l’optimisation avant le nœud d’exception.</a:t>
            </a:r>
          </a:p>
          <a:p xmlns:a="http://schemas.openxmlformats.org/drawingml/2006/main">
            <a:r>
              <a:t>Sources :</a:t>
            </a:r>
          </a:p>
          <a:p xmlns:a="http://schemas.openxmlformats.org/drawingml/2006/main">
            <a:r>
              <a:t>services/genesis/workflow.py</a:t>
            </a:r>
          </a:p>
          <a:p xmlns:a="http://schemas.openxmlformats.org/drawingml/2006/main">
            <a:r>
              <a:t>.venv/Lib/site-packages/langgraph-1.2.14.dist-info/METADATA</a:t>
            </a:r>
          </a:p>
          <a:p xmlns:a="http://schemas.openxmlformats.org/drawingml/2006/main">
            <a:r>
              <a:t>requirements.txt</a:t>
            </a:r>
          </a:p>
          <a:p xmlns:a="http://schemas.openxmlformats.org/drawingml/2006/main">
            <a:r>
              <a:t>https://docs.langchain.com/oss/python/langgraph/overview</a:t>
            </a:r>
          </a:p>
          <a:p xmlns:a="http://schemas.openxmlformats.org/drawingml/2006/main">
            <a:r>
              <a:t/>
            </a:r>
          </a:p>
          <a:p xmlns:a="http://schemas.openxmlformats.org/drawingml/2006/main">
            <a:r>
              <a:t>langgraph-checkpoint-sqlite==3.1.1</a:t>
            </a:r>
          </a:p>
          <a:p xmlns:a="http://schemas.openxmlformats.org/drawingml/2006/main">
            <a:r>
              <a:t>Classement de référence : Usage direct.</a:t>
            </a:r>
          </a:p>
          <a:p xmlns:a="http://schemas.openxmlformats.org/drawingml/2006/main">
            <a:r>
              <a:t>Fonction : Implémente les savers et composants de stockage SQLite pour LangGraph.</a:t>
            </a:r>
          </a:p>
          <a:p xmlns:a="http://schemas.openxmlformats.org/drawingml/2006/main">
            <a:r>
              <a:t>Utilisation Genesis : Genesis utilise SqliteSaver pour conserver les états du graphe dans une base de checkpoints distincte.</a:t>
            </a:r>
          </a:p>
          <a:p xmlns:a="http://schemas.openxmlformats.org/drawingml/2006/main">
            <a:r>
              <a:t>Pourquoi présent : Version épinglée dans requirements.txt; aucun parent d’exécution dans les 87 distributions de cet inventaire.</a:t>
            </a:r>
          </a:p>
          <a:p xmlns:a="http://schemas.openxmlformats.org/drawingml/2006/main">
            <a:r>
              <a:t>Exemple : Une étape enregistrée du workflow peut être relue sans confondre cette base avec la sauvegarde de la base applicative.</a:t>
            </a:r>
          </a:p>
          <a:p xmlns:a="http://schemas.openxmlformats.org/drawingml/2006/main">
            <a:r>
              <a:t>Sources :</a:t>
            </a:r>
          </a:p>
          <a:p xmlns:a="http://schemas.openxmlformats.org/drawingml/2006/main">
            <a:r>
              <a:t>services/genesis/workflow.py</a:t>
            </a:r>
          </a:p>
          <a:p xmlns:a="http://schemas.openxmlformats.org/drawingml/2006/main">
            <a:r>
              <a:t>.venv/Lib/site-packages/langgraph_checkpoint_sqlite-3.1.1.dist-info/METADATA</a:t>
            </a:r>
          </a:p>
          <a:p xmlns:a="http://schemas.openxmlformats.org/drawingml/2006/main">
            <a:r>
              <a:t>requirements.txt</a:t>
            </a:r>
          </a:p>
          <a:p xmlns:a="http://schemas.openxmlformats.org/drawingml/2006/main">
            <a:r>
              <a:t>https://github.com/langchain-ai/langgraph/tree/main/libs/checkpoint-sqlite</a:t>
            </a:r>
          </a:p>
          <a:p xmlns:a="http://schemas.openxmlformats.org/drawingml/2006/main">
            <a:r>
              <a:t/>
            </a:r>
          </a:p>
          <a:p xmlns:a="http://schemas.openxmlformats.org/drawingml/2006/main">
            <a:r>
              <a:t>ortools==9.15.6755</a:t>
            </a:r>
          </a:p>
          <a:p xmlns:a="http://schemas.openxmlformats.org/drawingml/2006/main">
            <a:r>
              <a:t>Classement de référence : Usage direct.</a:t>
            </a:r>
          </a:p>
          <a:p xmlns:a="http://schemas.openxmlformats.org/drawingml/2006/main">
            <a:r>
              <a:t>Fonction : Fournit des solveurs de contraintes, d’optimisation et de tournées de véhicules.</a:t>
            </a:r>
          </a:p>
          <a:p xmlns:a="http://schemas.openxmlformats.org/drawingml/2006/main">
            <a:r>
              <a:t>Utilisation Genesis : Genesis utilise RoutingModel avec capacités, fenêtres et durée de recherche bornée; un validateur indépendant décide de l’admission.</a:t>
            </a:r>
          </a:p>
          <a:p xmlns:a="http://schemas.openxmlformats.org/drawingml/2006/main">
            <a:r>
              <a:t>Pourquoi présent : Version épinglée dans requirements.txt; aucun parent d’exécution dans les 87 distributions de cet inventaire.</a:t>
            </a:r>
          </a:p>
          <a:p xmlns:a="http://schemas.openxmlformats.org/drawingml/2006/main">
            <a:r>
              <a:t>Exemple : Le solveur compare l’affectation partagée, séparée ou hybride des enlèvements et livraisons.</a:t>
            </a:r>
          </a:p>
          <a:p xmlns:a="http://schemas.openxmlformats.org/drawingml/2006/main">
            <a:r>
              <a:t>Sources :</a:t>
            </a:r>
          </a:p>
          <a:p xmlns:a="http://schemas.openxmlformats.org/drawingml/2006/main">
            <a:r>
              <a:t>services/genesis/broker_solver.py</a:t>
            </a:r>
          </a:p>
          <a:p xmlns:a="http://schemas.openxmlformats.org/drawingml/2006/main">
            <a:r>
              <a:t>.venv/Lib/site-packages/ortools-9.15.6755.dist-info/METADATA</a:t>
            </a:r>
          </a:p>
          <a:p xmlns:a="http://schemas.openxmlformats.org/drawingml/2006/main">
            <a:r>
              <a:t>requirements.txt</a:t>
            </a:r>
          </a:p>
          <a:p xmlns:a="http://schemas.openxmlformats.org/drawingml/2006/main">
            <a:r>
              <a:t>https://developers.google.com/optimization/</a:t>
            </a:r>
          </a:p>
          <a:p xmlns:a="http://schemas.openxmlformats.org/drawingml/2006/main">
            <a:r>
              <a:t/>
            </a:r>
          </a:p>
          <a:p xmlns:a="http://schemas.openxmlformats.org/drawingml/2006/main">
            <a:r>
              <a:t>pydantic==2.14.0</a:t>
            </a:r>
          </a:p>
          <a:p xmlns:a="http://schemas.openxmlformats.org/drawingml/2006/main">
            <a:r>
              <a:t>Classement de référence : Usage direct.</a:t>
            </a:r>
          </a:p>
          <a:p xmlns:a="http://schemas.openxmlformats.org/drawingml/2006/main">
            <a:r>
              <a:t>Fonction : Valide et sérialise des objets à partir de types Python et de contraintes explicites.</a:t>
            </a:r>
          </a:p>
          <a:p xmlns:a="http://schemas.openxmlformats.org/drawingml/2006/main">
            <a:r>
              <a:t>Utilisation Genesis : Définit les commandes, véhicules, arrêts, plans et sorties explicatives Genesis, avec bornes et champs supplémentaires contrôlés.</a:t>
            </a:r>
          </a:p>
          <a:p xmlns:a="http://schemas.openxmlformats.org/drawingml/2006/main">
            <a:r>
              <a:t>Pourquoi présent : Version épinglée dans requirements.txt; requis immédiatement par anthropic, fastapi, langchain-core, langfuse, langgraph, langsmith.</a:t>
            </a:r>
          </a:p>
          <a:p xmlns:a="http://schemas.openxmlformats.org/drawingml/2006/main">
            <a:r>
              <a:t>Exemple : Une quantité de colis hors borne ou un champ interdit échoue avant la planification.</a:t>
            </a:r>
          </a:p>
          <a:p xmlns:a="http://schemas.openxmlformats.org/drawingml/2006/main">
            <a:r>
              <a:t>Sources :</a:t>
            </a:r>
          </a:p>
          <a:p xmlns:a="http://schemas.openxmlformats.org/drawingml/2006/main">
            <a:r>
              <a:t>services/genesis/models.py</a:t>
            </a:r>
          </a:p>
          <a:p xmlns:a="http://schemas.openxmlformats.org/drawingml/2006/main">
            <a:r>
              <a:t>.venv/Lib/site-packages/pydantic-2.14.0.dist-info/METADATA</a:t>
            </a:r>
          </a:p>
          <a:p xmlns:a="http://schemas.openxmlformats.org/drawingml/2006/main">
            <a:r>
              <a:t>requirements.txt</a:t>
            </a:r>
          </a:p>
          <a:p xmlns:a="http://schemas.openxmlformats.org/drawingml/2006/main">
            <a:r>
              <a:t>https://github.com/pydantic/pydantic</a:t>
            </a:r>
          </a:p>
          <a:p xmlns:a="http://schemas.openxmlformats.org/drawingml/2006/main">
            <a:r>
              <a:t/>
            </a:r>
          </a:p>
          <a:p xmlns:a="http://schemas.openxmlformats.org/drawingml/2006/main">
            <a:r>
              <a:t>python-dotenv==1.2.4</a:t>
            </a:r>
          </a:p>
          <a:p xmlns:a="http://schemas.openxmlformats.org/drawingml/2006/main">
            <a:r>
              <a:t>Classement de référence : Usage direct.</a:t>
            </a:r>
          </a:p>
          <a:p xmlns:a="http://schemas.openxmlformats.org/drawingml/2006/main">
            <a:r>
              <a:t>Fonction : Charge des paires de configuration d’un fichier dotenv dans l’environnement.</a:t>
            </a:r>
          </a:p>
          <a:p xmlns:a="http://schemas.openxmlformats.org/drawingml/2006/main">
            <a:r>
              <a:t>Utilisation Genesis : L’API et le worker chargent la configuration locale; aucune valeur privée n’est incluse dans cette présentation.</a:t>
            </a:r>
          </a:p>
          <a:p xmlns:a="http://schemas.openxmlformats.org/drawingml/2006/main">
            <a:r>
              <a:t>Pourquoi présent : Version épinglée dans requirements.txt; liens conditionnels distincts : uvicorn (extra == "standard").</a:t>
            </a:r>
          </a:p>
          <a:p xmlns:a="http://schemas.openxmlformats.org/drawingml/2006/main">
            <a:r>
              <a:t>Exemple : load_dotenv fournit les réglages de lancement et le worker peut actualiser ceux qu’il consulte.</a:t>
            </a:r>
          </a:p>
          <a:p xmlns:a="http://schemas.openxmlformats.org/drawingml/2006/main">
            <a:r>
              <a:t>Sources :</a:t>
            </a:r>
          </a:p>
          <a:p xmlns:a="http://schemas.openxmlformats.org/drawingml/2006/main">
            <a:r>
              <a:t>services/genesis/api.py</a:t>
            </a:r>
          </a:p>
          <a:p xmlns:a="http://schemas.openxmlformats.org/drawingml/2006/main">
            <a:r>
              <a:t>.venv/Lib/site-packages/python_dotenv-1.2.4.dist-info/METADATA</a:t>
            </a:r>
          </a:p>
          <a:p xmlns:a="http://schemas.openxmlformats.org/drawingml/2006/main">
            <a:r>
              <a:t>requirements.txt</a:t>
            </a:r>
          </a:p>
          <a:p xmlns:a="http://schemas.openxmlformats.org/drawingml/2006/main">
            <a:r>
              <a:t>https://github.com/theskumar/python-dotenv</a:t>
            </a:r>
          </a:p>
          <a:p xmlns:a="http://schemas.openxmlformats.org/drawingml/2006/main">
            <a:r>
              <a:t/>
            </a:r>
          </a:p>
          <a:p xmlns:a="http://schemas.openxmlformats.org/drawingml/2006/main">
            <a:r>
              <a:t>SQLAlchemy==2.1.4</a:t>
            </a:r>
          </a:p>
          <a:p xmlns:a="http://schemas.openxmlformats.org/drawingml/2006/main">
            <a:r>
              <a:t>Classement de référence : Usage direct.</a:t>
            </a:r>
          </a:p>
          <a:p xmlns:a="http://schemas.openxmlformats.org/drawingml/2006/main">
            <a:r>
              <a:t>Fonction : Décrit les tables SQL et fournit requêtes, connexions et transactions.</a:t>
            </a:r>
          </a:p>
          <a:p xmlns:a="http://schemas.openxmlformats.org/drawingml/2006/main">
            <a:r>
              <a:t>Utilisation Genesis : Genesis utilise son API Core pour commandes, runs, événements, réservations et dépenses SQLite.</a:t>
            </a:r>
          </a:p>
          <a:p xmlns:a="http://schemas.openxmlformats.org/drawingml/2006/main">
            <a:r>
              <a:t>Pourquoi présent : Version épinglée dans requirements.txt; requis immédiatement par alembic.</a:t>
            </a:r>
          </a:p>
          <a:p xmlns:a="http://schemas.openxmlformats.org/drawingml/2006/main">
            <a:r>
              <a:t>Exemple : Une transaction réserve le budget et écrit l’état associé avant l’appel externe.</a:t>
            </a:r>
          </a:p>
          <a:p xmlns:a="http://schemas.openxmlformats.org/drawingml/2006/main">
            <a:r>
              <a:t>Sources :</a:t>
            </a:r>
          </a:p>
          <a:p xmlns:a="http://schemas.openxmlformats.org/drawingml/2006/main">
            <a:r>
              <a:t>services/genesis/db.py</a:t>
            </a:r>
          </a:p>
          <a:p xmlns:a="http://schemas.openxmlformats.org/drawingml/2006/main">
            <a:r>
              <a:t>.venv/Lib/site-packages/sqlalchemy-2.1.4.dist-info/METADATA</a:t>
            </a:r>
          </a:p>
          <a:p xmlns:a="http://schemas.openxmlformats.org/drawingml/2006/main">
            <a:r>
              <a:t>requirements.txt</a:t>
            </a:r>
          </a:p>
          <a:p xmlns:a="http://schemas.openxmlformats.org/drawingml/2006/main">
            <a:r>
              <a:t>https://www.sqlalchemy.org</a:t>
            </a:r>
          </a:p>
          <a:p xmlns:a="http://schemas.openxmlformats.org/drawingml/2006/main">
            <a:r>
              <a:t/>
            </a:r>
          </a:p>
          <a:p xmlns:a="http://schemas.openxmlformats.org/drawingml/2006/main">
            <a:r>
              <a:t>uvicorn==0.54.0</a:t>
            </a:r>
          </a:p>
          <a:p xmlns:a="http://schemas.openxmlformats.org/drawingml/2006/main">
            <a:r>
              <a:t>Classement de référence : Usage direct.</a:t>
            </a:r>
          </a:p>
          <a:p xmlns:a="http://schemas.openxmlformats.org/drawingml/2006/main">
            <a:r>
              <a:t>Fonction : Exécute une application ASGI et expose ses connexions HTTP.</a:t>
            </a:r>
          </a:p>
          <a:p xmlns:a="http://schemas.openxmlformats.org/drawingml/2006/main">
            <a:r>
              <a:t>Utilisation Genesis : Le lanceur démarre l’API FastAPI en écoute locale sur loopback.</a:t>
            </a:r>
          </a:p>
          <a:p xmlns:a="http://schemas.openxmlformats.org/drawingml/2006/main">
            <a:r>
              <a:t>Pourquoi présent : Version épinglée dans requirements.txt; liens conditionnels distincts : fastapi (extra == "standard"), fastapi (extra == "standard-no-fastapi-cloud-cli"), fastapi (extra == "all").</a:t>
            </a:r>
          </a:p>
          <a:p xmlns:a="http://schemas.openxmlformats.org/drawingml/2006/main">
            <a:r>
              <a:t>Exemple : La commande uvicorn genesis.api:app reçoit les requêtes web et transmet les réponses de l’API.</a:t>
            </a:r>
          </a:p>
          <a:p xmlns:a="http://schemas.openxmlformats.org/drawingml/2006/main">
            <a:r>
              <a:t>Sources :</a:t>
            </a:r>
          </a:p>
          <a:p xmlns:a="http://schemas.openxmlformats.org/drawingml/2006/main">
            <a:r>
              <a:t>scripts/start.ps1</a:t>
            </a:r>
          </a:p>
          <a:p xmlns:a="http://schemas.openxmlformats.org/drawingml/2006/main">
            <a:r>
              <a:t>.venv/Lib/site-packages/uvicorn-0.54.0.dist-info/METADATA</a:t>
            </a:r>
          </a:p>
          <a:p xmlns:a="http://schemas.openxmlformats.org/drawingml/2006/main">
            <a:r>
              <a:t>requirements.txt</a:t>
            </a:r>
          </a:p>
          <a:p xmlns:a="http://schemas.openxmlformats.org/drawingml/2006/main">
            <a:r>
              <a:t>https://uvicorn.dev/</a:t>
            </a:r>
          </a:p>
          <a:p xmlns:a="http://schemas.openxmlformats.org/drawingml/2006/main">
            <a:r>
              <a:t/>
            </a:r>
          </a:p>
          <a:p xmlns:a="http://schemas.openxmlformats.org/drawingml/2006/main">
            <a:r>
              <a:t>Sources du dépôt, état au 11 octobre 2026 (U17–U19, présentation U22)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de dépendance.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absl-py==2.5.1</a:t>
            </a:r>
          </a:p>
          <a:p xmlns:a="http://schemas.openxmlformats.org/drawingml/2006/main">
            <a:r>
              <a:t>Classement de référence : Support de dépendance.</a:t>
            </a:r>
          </a:p>
          <a:p xmlns:a="http://schemas.openxmlformats.org/drawingml/2006/main">
            <a:r>
              <a:t>Fonction : Fournit les utilitaires Abseil pour options, journalisation et tests Python.</a:t>
            </a:r>
          </a:p>
          <a:p xmlns:a="http://schemas.openxmlformats.org/drawingml/2006/main">
            <a:r>
              <a:t>Utilisation Genesis : Sert de bibliothèque de support d’OR-Tools; Genesis ne l’importe pas directement.</a:t>
            </a:r>
          </a:p>
          <a:p xmlns:a="http://schemas.openxmlformats.org/drawingml/2006/main">
            <a:r>
              <a:t>Pourquoi présent : Version épinglée dans requirements.txt; requis immédiatement par ortools.</a:t>
            </a:r>
          </a:p>
          <a:p xmlns:a="http://schemas.openxmlformats.org/drawingml/2006/main">
            <a:r>
              <a:t>Exemple : Le paquet permet aux modules OR-Tools qui dépendent d’Abseil de charger leurs utilitaires communs.</a:t>
            </a:r>
          </a:p>
          <a:p xmlns:a="http://schemas.openxmlformats.org/drawingml/2006/main">
            <a:r>
              <a:t>Sources :</a:t>
            </a:r>
          </a:p>
          <a:p xmlns:a="http://schemas.openxmlformats.org/drawingml/2006/main">
            <a:r>
              <a:t>services/genesis/solver.py</a:t>
            </a:r>
          </a:p>
          <a:p xmlns:a="http://schemas.openxmlformats.org/drawingml/2006/main">
            <a:r>
              <a:t>.venv/Lib/site-packages/absl_py-2.5.1.dist-info/METADATA</a:t>
            </a:r>
          </a:p>
          <a:p xmlns:a="http://schemas.openxmlformats.org/drawingml/2006/main">
            <a:r>
              <a:t>requirements.txt</a:t>
            </a:r>
          </a:p>
          <a:p xmlns:a="http://schemas.openxmlformats.org/drawingml/2006/main">
            <a:r>
              <a:t>https://abseil.io/docs/python/</a:t>
            </a:r>
          </a:p>
          <a:p xmlns:a="http://schemas.openxmlformats.org/drawingml/2006/main">
            <a:r>
              <a:t/>
            </a:r>
          </a:p>
          <a:p xmlns:a="http://schemas.openxmlformats.org/drawingml/2006/main">
            <a:r>
              <a:t>annotated-doc==0.0.5</a:t>
            </a:r>
          </a:p>
          <a:p xmlns:a="http://schemas.openxmlformats.org/drawingml/2006/main">
            <a:r>
              <a:t>Classement de référence : Support de dépendance.</a:t>
            </a:r>
          </a:p>
          <a:p xmlns:a="http://schemas.openxmlformats.org/drawingml/2006/main">
            <a:r>
              <a:t>Fonction : Associe du texte documentaire aux paramètres et types avec typing.Annotated.</a:t>
            </a:r>
          </a:p>
          <a:p xmlns:a="http://schemas.openxmlformats.org/drawingml/2006/main">
            <a:r>
              <a:t>Utilisation Genesis : Supporte les annotations internes de FastAPI sans import direct dans Genesis.</a:t>
            </a:r>
          </a:p>
          <a:p xmlns:a="http://schemas.openxmlformats.org/drawingml/2006/main">
            <a:r>
              <a:t>Pourquoi présent : Version épinglée dans requirements.txt; requis immédiatement par fastapi.</a:t>
            </a:r>
          </a:p>
          <a:p xmlns:a="http://schemas.openxmlformats.org/drawingml/2006/main">
            <a:r>
              <a:t>Exemple : Une annotation Doc décrit un paramètre de fonction de bibliothèque; elle ne valide pas une capacité de véhicule.</a:t>
            </a:r>
          </a:p>
          <a:p xmlns:a="http://schemas.openxmlformats.org/drawingml/2006/main">
            <a:r>
              <a:t>Sources :</a:t>
            </a:r>
          </a:p>
          <a:p xmlns:a="http://schemas.openxmlformats.org/drawingml/2006/main">
            <a:r>
              <a:t>services/genesis/api.py</a:t>
            </a:r>
          </a:p>
          <a:p xmlns:a="http://schemas.openxmlformats.org/drawingml/2006/main">
            <a:r>
              <a:t>.venv/Lib/site-packages/annotated_doc-0.0.5.dist-info/METADATA</a:t>
            </a:r>
          </a:p>
          <a:p xmlns:a="http://schemas.openxmlformats.org/drawingml/2006/main">
            <a:r>
              <a:t>requirements.txt</a:t>
            </a:r>
          </a:p>
          <a:p xmlns:a="http://schemas.openxmlformats.org/drawingml/2006/main">
            <a:r>
              <a:t>https://github.com/fastapi/annotated-doc</a:t>
            </a:r>
          </a:p>
          <a:p xmlns:a="http://schemas.openxmlformats.org/drawingml/2006/main">
            <a:r>
              <a:t/>
            </a:r>
          </a:p>
          <a:p xmlns:a="http://schemas.openxmlformats.org/drawingml/2006/main">
            <a:r>
              <a:t>annotated-types==0.8.0</a:t>
            </a:r>
          </a:p>
          <a:p xmlns:a="http://schemas.openxmlformats.org/drawingml/2006/main">
            <a:r>
              <a:t>Classement de référence : Support de dépendance.</a:t>
            </a:r>
          </a:p>
          <a:p xmlns:a="http://schemas.openxmlformats.org/drawingml/2006/main">
            <a:r>
              <a:t>Fonction : Décrit des contraintes réutilisables comme minimum, maximum et longueur dans Annotated.</a:t>
            </a:r>
          </a:p>
          <a:p xmlns:a="http://schemas.openxmlformats.org/drawingml/2006/main">
            <a:r>
              <a:t>Utilisation Genesis : Fournit les métadonnées interprétées par Pydantic pour ses schémas; Genesis utilise les champs Pydantic.</a:t>
            </a:r>
          </a:p>
          <a:p xmlns:a="http://schemas.openxmlformats.org/drawingml/2006/main">
            <a:r>
              <a:t>Pourquoi présent : Version épinglée dans requirements.txt; requis immédiatement par pydantic.</a:t>
            </a:r>
          </a:p>
          <a:p xmlns:a="http://schemas.openxmlformats.org/drawingml/2006/main">
            <a:r>
              <a:t>Exemple : Une contrainte Ge représente une borne numérique que le moteur de validation peut appliquer.</a:t>
            </a:r>
          </a:p>
          <a:p xmlns:a="http://schemas.openxmlformats.org/drawingml/2006/main">
            <a:r>
              <a:t>Sources :</a:t>
            </a:r>
          </a:p>
          <a:p xmlns:a="http://schemas.openxmlformats.org/drawingml/2006/main">
            <a:r>
              <a:t>services/genesis/models.py</a:t>
            </a:r>
          </a:p>
          <a:p xmlns:a="http://schemas.openxmlformats.org/drawingml/2006/main">
            <a:r>
              <a:t>.venv/Lib/site-packages/annotated_types-0.8.0.dist-info/METADATA</a:t>
            </a:r>
          </a:p>
          <a:p xmlns:a="http://schemas.openxmlformats.org/drawingml/2006/main">
            <a:r>
              <a:t>requirements.txt</a:t>
            </a:r>
          </a:p>
          <a:p xmlns:a="http://schemas.openxmlformats.org/drawingml/2006/main">
            <a:r>
              <a:t>https://github.com/annotated-types/annotated-types</a:t>
            </a:r>
          </a:p>
          <a:p xmlns:a="http://schemas.openxmlformats.org/drawingml/2006/main">
            <a:r>
              <a:t/>
            </a:r>
          </a:p>
          <a:p xmlns:a="http://schemas.openxmlformats.org/drawingml/2006/main">
            <a:r>
              <a:t>anyio==4.15.1</a:t>
            </a:r>
          </a:p>
          <a:p xmlns:a="http://schemas.openxmlformats.org/drawingml/2006/main">
            <a:r>
              <a:t>Classement de référence : Support de dépendance.</a:t>
            </a:r>
          </a:p>
          <a:p xmlns:a="http://schemas.openxmlformats.org/drawingml/2006/main">
            <a:r>
              <a:t>Fonction : Offre des tâches, synchronisations et entrées/sorties asynchrones sur différents moteurs async.</a:t>
            </a:r>
          </a:p>
          <a:p xmlns:a="http://schemas.openxmlformats.org/drawingml/2006/main">
            <a:r>
              <a:t>Utilisation Genesis : Supporte Starlette et les clients HTTP installés; aucune orchestration métier Genesis n’appelle directement AnyIO.</a:t>
            </a:r>
          </a:p>
          <a:p xmlns:a="http://schemas.openxmlformats.org/drawingml/2006/main">
            <a:r>
              <a:t>Pourquoi présent : Version épinglée dans requirements.txt; requis immédiatement par anthropic, httpx, httpx2 (sys_platform != "emscripten"), langsmith, starlette.</a:t>
            </a:r>
          </a:p>
          <a:p xmlns:a="http://schemas.openxmlformats.org/drawingml/2006/main">
            <a:r>
              <a:t>Exemple : Une couche serveur peut déléguer un travail synchrone à un thread plutôt que bloquer la boucle événementielle.</a:t>
            </a:r>
          </a:p>
          <a:p xmlns:a="http://schemas.openxmlformats.org/drawingml/2006/main">
            <a:r>
              <a:t>Sources :</a:t>
            </a:r>
          </a:p>
          <a:p xmlns:a="http://schemas.openxmlformats.org/drawingml/2006/main">
            <a:r>
              <a:t>services/genesis/api.py</a:t>
            </a:r>
          </a:p>
          <a:p xmlns:a="http://schemas.openxmlformats.org/drawingml/2006/main">
            <a:r>
              <a:t>.venv/Lib/site-packages/anyio-4.15.1.dist-info/METADATA</a:t>
            </a:r>
          </a:p>
          <a:p xmlns:a="http://schemas.openxmlformats.org/drawingml/2006/main">
            <a:r>
              <a:t>requirements.txt</a:t>
            </a:r>
          </a:p>
          <a:p xmlns:a="http://schemas.openxmlformats.org/drawingml/2006/main">
            <a:r>
              <a:t>https://anyio.readthedocs.io/en/latest/</a:t>
            </a:r>
          </a:p>
          <a:p xmlns:a="http://schemas.openxmlformats.org/drawingml/2006/main">
            <a:r>
              <a:t/>
            </a:r>
          </a:p>
          <a:p xmlns:a="http://schemas.openxmlformats.org/drawingml/2006/main">
            <a:r>
              <a:t>backoff==2.2.1</a:t>
            </a:r>
          </a:p>
          <a:p xmlns:a="http://schemas.openxmlformats.org/drawingml/2006/main">
            <a:r>
              <a:t>Classement de référence : Support de dépendance.</a:t>
            </a:r>
          </a:p>
          <a:p xmlns:a="http://schemas.openxmlformats.org/drawingml/2006/main">
            <a:r>
              <a:t>Fonction : Décore une opération pour la réessayer après des délais croissants et une condition d’arrêt.</a:t>
            </a:r>
          </a:p>
          <a:p xmlns:a="http://schemas.openxmlformats.org/drawingml/2006/main">
            <a:r>
              <a:t>Utilisation Genesis : Est une dépendance du SDK Langfuse facultatif; aucune reprise applicative directe ne lui est confiée.</a:t>
            </a:r>
          </a:p>
          <a:p xmlns:a="http://schemas.openxmlformats.org/drawingml/2006/main">
            <a:r>
              <a:t>Pourquoi présent : Version épinglée dans requirements.txt; requis immédiatement par langfuse.</a:t>
            </a:r>
          </a:p>
          <a:p xmlns:a="http://schemas.openxmlformats.org/drawingml/2006/main">
            <a:r>
              <a:t>Exemple : Le SDK peut espacer ses tentatives de transport; le budget et les reprises des appels IA restent gérés dans Genesis.</a:t>
            </a:r>
          </a:p>
          <a:p xmlns:a="http://schemas.openxmlformats.org/drawingml/2006/main">
            <a:r>
              <a:t>Sources :</a:t>
            </a:r>
          </a:p>
          <a:p xmlns:a="http://schemas.openxmlformats.org/drawingml/2006/main">
            <a:r>
              <a:t>services/genesis/worker.py</a:t>
            </a:r>
          </a:p>
          <a:p xmlns:a="http://schemas.openxmlformats.org/drawingml/2006/main">
            <a:r>
              <a:t>.venv/Lib/site-packages/backoff-2.2.1.dist-info/METADATA</a:t>
            </a:r>
          </a:p>
          <a:p xmlns:a="http://schemas.openxmlformats.org/drawingml/2006/main">
            <a:r>
              <a:t>requirements.txt</a:t>
            </a:r>
          </a:p>
          <a:p xmlns:a="http://schemas.openxmlformats.org/drawingml/2006/main">
            <a:r>
              <a:t>https://github.com/litl/backoff</a:t>
            </a:r>
          </a:p>
          <a:p xmlns:a="http://schemas.openxmlformats.org/drawingml/2006/main">
            <a:r>
              <a:t/>
            </a:r>
          </a:p>
          <a:p xmlns:a="http://schemas.openxmlformats.org/drawingml/2006/main">
            <a:r>
              <a:t>certifi==2026.7.22</a:t>
            </a:r>
          </a:p>
          <a:p xmlns:a="http://schemas.openxmlformats.org/drawingml/2006/main">
            <a:r>
              <a:t>Classement de référence : Support de dépendance.</a:t>
            </a:r>
          </a:p>
          <a:p xmlns:a="http://schemas.openxmlformats.org/drawingml/2006/main">
            <a:r>
              <a:t>Fonction : Distribue un ensemble de certificats racines Mozilla pour vérifier TLS.</a:t>
            </a:r>
          </a:p>
          <a:p xmlns:a="http://schemas.openxmlformats.org/drawingml/2006/main">
            <a:r>
              <a:t>Utilisation Genesis : Supporte HTTPX/httpcore et Requests; Genesis ne manipule pas directement son fichier de certificats.</a:t>
            </a:r>
          </a:p>
          <a:p xmlns:a="http://schemas.openxmlformats.org/drawingml/2006/main">
            <a:r>
              <a:t>Pourquoi présent : Version épinglée dans requirements.txt; requis immédiatement par httpcore, httpx, requests.</a:t>
            </a:r>
          </a:p>
          <a:p xmlns:a="http://schemas.openxmlformats.org/drawingml/2006/main">
            <a:r>
              <a:t>Exemple : Un client HTTP peut vérifier la chaîne TLS d’un serveur contre ce bundle.</a:t>
            </a:r>
          </a:p>
          <a:p xmlns:a="http://schemas.openxmlformats.org/drawingml/2006/main">
            <a:r>
              <a:t>Sources :</a:t>
            </a:r>
          </a:p>
          <a:p xmlns:a="http://schemas.openxmlformats.org/drawingml/2006/main">
            <a:r>
              <a:t>services/genesis/dispatch.py</a:t>
            </a:r>
          </a:p>
          <a:p xmlns:a="http://schemas.openxmlformats.org/drawingml/2006/main">
            <a:r>
              <a:t>.venv/Lib/site-packages/certifi-2026.7.22.dist-info/METADATA</a:t>
            </a:r>
          </a:p>
          <a:p xmlns:a="http://schemas.openxmlformats.org/drawingml/2006/main">
            <a:r>
              <a:t>requirements.txt</a:t>
            </a:r>
          </a:p>
          <a:p xmlns:a="http://schemas.openxmlformats.org/drawingml/2006/main">
            <a:r>
              <a:t>https://github.com/certifi/python-certifi</a:t>
            </a:r>
          </a:p>
          <a:p xmlns:a="http://schemas.openxmlformats.org/drawingml/2006/main">
            <a:r>
              <a:t/>
            </a:r>
          </a:p>
          <a:p xmlns:a="http://schemas.openxmlformats.org/drawingml/2006/main">
            <a:r>
              <a:t>charset-normalizer==3.5.2</a:t>
            </a:r>
          </a:p>
          <a:p xmlns:a="http://schemas.openxmlformats.org/drawingml/2006/main">
            <a:r>
              <a:t>Classement de référence : Support de dépendance.</a:t>
            </a:r>
          </a:p>
          <a:p xmlns:a="http://schemas.openxmlformats.org/drawingml/2006/main">
            <a:r>
              <a:t>Fonction : Détecte l’encodage probable d’un contenu texte reçu comme octets.</a:t>
            </a:r>
          </a:p>
          <a:p xmlns:a="http://schemas.openxmlformats.org/drawingml/2006/main">
            <a:r>
              <a:t>Utilisation Genesis : Est un support de Requests installé; le code métier utilise HTTPX et ne l’importe pas.</a:t>
            </a:r>
          </a:p>
          <a:p xmlns:a="http://schemas.openxmlformats.org/drawingml/2006/main">
            <a:r>
              <a:t>Pourquoi présent : Version épinglée dans requirements.txt; requis immédiatement par requests.</a:t>
            </a:r>
          </a:p>
          <a:p xmlns:a="http://schemas.openxmlformats.org/drawingml/2006/main">
            <a:r>
              <a:t>Exemple : Requests peut décoder une réponse sans encodage exploitable à partir d’une estimation de charset.</a:t>
            </a:r>
          </a:p>
          <a:p xmlns:a="http://schemas.openxmlformats.org/drawingml/2006/main">
            <a:r>
              <a:t>Sources :</a:t>
            </a:r>
          </a:p>
          <a:p xmlns:a="http://schemas.openxmlformats.org/drawingml/2006/main">
            <a:r>
              <a:t>services/genesis/dispatch.py</a:t>
            </a:r>
          </a:p>
          <a:p xmlns:a="http://schemas.openxmlformats.org/drawingml/2006/main">
            <a:r>
              <a:t>.venv/Lib/site-packages/charset_normalizer-3.5.2.dist-info/METADATA</a:t>
            </a:r>
          </a:p>
          <a:p xmlns:a="http://schemas.openxmlformats.org/drawingml/2006/main">
            <a:r>
              <a:t>requirements.txt</a:t>
            </a:r>
          </a:p>
          <a:p xmlns:a="http://schemas.openxmlformats.org/drawingml/2006/main">
            <a:r>
              <a:t>https://charset-normalizer.readthedocs.io/</a:t>
            </a:r>
          </a:p>
          <a:p xmlns:a="http://schemas.openxmlformats.org/drawingml/2006/main">
            <a:r>
              <a:t/>
            </a:r>
          </a:p>
          <a:p xmlns:a="http://schemas.openxmlformats.org/drawingml/2006/main">
            <a:r>
              <a:t>click==8.5.0</a:t>
            </a:r>
          </a:p>
          <a:p xmlns:a="http://schemas.openxmlformats.org/drawingml/2006/main">
            <a:r>
              <a:t>Classement de référence : Support de dépendance.</a:t>
            </a:r>
          </a:p>
          <a:p xmlns:a="http://schemas.openxmlformats.org/drawingml/2006/main">
            <a:r>
              <a:t>Fonction : Construit des commandes terminal avec arguments, options et aide intégrée.</a:t>
            </a:r>
          </a:p>
          <a:p xmlns:a="http://schemas.openxmlformats.org/drawingml/2006/main">
            <a:r>
              <a:t>Utilisation Genesis : Fournit l’interface de commande du serveur Uvicorn; les scripts métier Genesis utilisent argparse.</a:t>
            </a:r>
          </a:p>
          <a:p xmlns:a="http://schemas.openxmlformats.org/drawingml/2006/main">
            <a:r>
              <a:t>Pourquoi présent : Version épinglée dans requirements.txt; requis immédiatement par uvicorn.</a:t>
            </a:r>
          </a:p>
          <a:p xmlns:a="http://schemas.openxmlformats.org/drawingml/2006/main">
            <a:r>
              <a:t>Exemple : L’option de lancement --host est analysée par la commande Uvicorn avant le démarrage ASGI.</a:t>
            </a:r>
          </a:p>
          <a:p xmlns:a="http://schemas.openxmlformats.org/drawingml/2006/main">
            <a:r>
              <a:t>Sources :</a:t>
            </a:r>
          </a:p>
          <a:p xmlns:a="http://schemas.openxmlformats.org/drawingml/2006/main">
            <a:r>
              <a:t>scripts/start.ps1</a:t>
            </a:r>
          </a:p>
          <a:p xmlns:a="http://schemas.openxmlformats.org/drawingml/2006/main">
            <a:r>
              <a:t>.venv/Lib/site-packages/click-8.5.0.dist-info/METADATA</a:t>
            </a:r>
          </a:p>
          <a:p xmlns:a="http://schemas.openxmlformats.org/drawingml/2006/main">
            <a:r>
              <a:t>requirements.txt</a:t>
            </a:r>
          </a:p>
          <a:p xmlns:a="http://schemas.openxmlformats.org/drawingml/2006/main">
            <a:r>
              <a:t>https://click.palletsprojects.com/</a:t>
            </a:r>
          </a:p>
          <a:p xmlns:a="http://schemas.openxmlformats.org/drawingml/2006/main">
            <a:r>
              <a:t/>
            </a:r>
          </a:p>
          <a:p xmlns:a="http://schemas.openxmlformats.org/drawingml/2006/main">
            <a:r>
              <a:t>colorama==0.4.6</a:t>
            </a:r>
          </a:p>
          <a:p xmlns:a="http://schemas.openxmlformats.org/drawingml/2006/main">
            <a:r>
              <a:t>Classement de référence : Support de dépendance.</a:t>
            </a:r>
          </a:p>
          <a:p xmlns:a="http://schemas.openxmlformats.org/drawingml/2006/main">
            <a:r>
              <a:t>Fonction : Adapte les séquences de couleur de terminal entre plateformes, notamment Windows.</a:t>
            </a:r>
          </a:p>
          <a:p xmlns:a="http://schemas.openxmlformats.org/drawingml/2006/main">
            <a:r>
              <a:t>Utilisation Genesis : Supporte pytest sous Windows; ce n’est pas une bibliothèque de couleurs de l’interface web.</a:t>
            </a:r>
          </a:p>
          <a:p xmlns:a="http://schemas.openxmlformats.org/drawingml/2006/main">
            <a:r>
              <a:t>Pourquoi présent : Version épinglée dans requirements.txt; requis immédiatement par pytest (sys_platform == "win32").</a:t>
            </a:r>
          </a:p>
          <a:p xmlns:a="http://schemas.openxmlformats.org/drawingml/2006/main">
            <a:r>
              <a:t>Exemple : Les résultats de tests peuvent conserver une sortie terminal colorée sous Windows.</a:t>
            </a:r>
          </a:p>
          <a:p xmlns:a="http://schemas.openxmlformats.org/drawingml/2006/main">
            <a:r>
              <a:t>Sources :</a:t>
            </a:r>
          </a:p>
          <a:p xmlns:a="http://schemas.openxmlformats.org/drawingml/2006/main">
            <a:r>
              <a:t>scripts/check.ps1</a:t>
            </a:r>
          </a:p>
          <a:p xmlns:a="http://schemas.openxmlformats.org/drawingml/2006/main">
            <a:r>
              <a:t>.venv/Lib/site-packages/colorama-0.4.6.dist-info/METADATA</a:t>
            </a:r>
          </a:p>
          <a:p xmlns:a="http://schemas.openxmlformats.org/drawingml/2006/main">
            <a:r>
              <a:t>requirements.txt</a:t>
            </a:r>
          </a:p>
          <a:p xmlns:a="http://schemas.openxmlformats.org/drawingml/2006/main">
            <a:r>
              <a:t>https://github.com/tartley/colorama</a:t>
            </a:r>
          </a:p>
          <a:p xmlns:a="http://schemas.openxmlformats.org/drawingml/2006/main">
            <a:r>
              <a:t/>
            </a:r>
          </a:p>
          <a:p xmlns:a="http://schemas.openxmlformats.org/drawingml/2006/main">
            <a:r>
              <a:t>distro==1.9.0</a:t>
            </a:r>
          </a:p>
          <a:p xmlns:a="http://schemas.openxmlformats.org/drawingml/2006/main">
            <a:r>
              <a:t>Classement de référence : Support de dépendance.</a:t>
            </a:r>
          </a:p>
          <a:p xmlns:a="http://schemas.openxmlformats.org/drawingml/2006/main">
            <a:r>
              <a:t>Fonction : Expose les informations d’une distribution de système d’exploitation.</a:t>
            </a:r>
          </a:p>
          <a:p xmlns:a="http://schemas.openxmlformats.org/drawingml/2006/main">
            <a:r>
              <a:t>Utilisation Genesis : Est requis par Langsmith, sans import ni diagnostic métier direct dans Genesis.</a:t>
            </a:r>
          </a:p>
          <a:p xmlns:a="http://schemas.openxmlformats.org/drawingml/2006/main">
            <a:r>
              <a:t>Pourquoi présent : Version épinglée dans requirements.txt; requis immédiatement par langsmith.</a:t>
            </a:r>
          </a:p>
          <a:p xmlns:a="http://schemas.openxmlformats.org/drawingml/2006/main">
            <a:r>
              <a:t>Exemple : Le SDK peut recueillir le nom et la version de la plateforme; cela ne mesure aucun KPI de livraison.</a:t>
            </a:r>
          </a:p>
          <a:p xmlns:a="http://schemas.openxmlformats.org/drawingml/2006/main">
            <a:r>
              <a:t>Sources :</a:t>
            </a:r>
          </a:p>
          <a:p xmlns:a="http://schemas.openxmlformats.org/drawingml/2006/main">
            <a:r>
              <a:t>services/genesis/workflow.py</a:t>
            </a:r>
          </a:p>
          <a:p xmlns:a="http://schemas.openxmlformats.org/drawingml/2006/main">
            <a:r>
              <a:t>.venv/Lib/site-packages/distro-1.9.0.dist-info/METADATA</a:t>
            </a:r>
          </a:p>
          <a:p xmlns:a="http://schemas.openxmlformats.org/drawingml/2006/main">
            <a:r>
              <a:t>requirements.txt</a:t>
            </a:r>
          </a:p>
          <a:p xmlns:a="http://schemas.openxmlformats.org/drawingml/2006/main">
            <a:r>
              <a:t>https://github.com/python-distro/distro</a:t>
            </a:r>
          </a:p>
          <a:p xmlns:a="http://schemas.openxmlformats.org/drawingml/2006/main">
            <a:r>
              <a:t/>
            </a:r>
          </a:p>
          <a:p xmlns:a="http://schemas.openxmlformats.org/drawingml/2006/main">
            <a:r>
              <a:t>docstring_parser==0.18.0</a:t>
            </a:r>
          </a:p>
          <a:p xmlns:a="http://schemas.openxmlformats.org/drawingml/2006/main">
            <a:r>
              <a:t>Classement de référence : Support de dépendance.</a:t>
            </a:r>
          </a:p>
          <a:p xmlns:a="http://schemas.openxmlformats.org/drawingml/2006/main">
            <a:r>
              <a:t>Fonction : Analyse les docstrings Python au format reST, Google ou NumPy.</a:t>
            </a:r>
          </a:p>
          <a:p xmlns:a="http://schemas.openxmlformats.org/drawingml/2006/main">
            <a:r>
              <a:t>Utilisation Genesis : Est requis par le SDK Anthropic, sans appel direct dans l’application.</a:t>
            </a:r>
          </a:p>
          <a:p xmlns:a="http://schemas.openxmlformats.org/drawingml/2006/main">
            <a:r>
              <a:t>Pourquoi présent : Version épinglée dans requirements.txt; requis immédiatement par anthropic.</a:t>
            </a:r>
          </a:p>
          <a:p xmlns:a="http://schemas.openxmlformats.org/drawingml/2006/main">
            <a:r>
              <a:t>Exemple : Un outil de bibliothèque peut transformer les descriptions de paramètres d’une docstring en métadonnées structurées.</a:t>
            </a:r>
          </a:p>
          <a:p xmlns:a="http://schemas.openxmlformats.org/drawingml/2006/main">
            <a:r>
              <a:t>Sources :</a:t>
            </a:r>
          </a:p>
          <a:p xmlns:a="http://schemas.openxmlformats.org/drawingml/2006/main">
            <a:r>
              <a:t>services/genesis/llm.py</a:t>
            </a:r>
          </a:p>
          <a:p xmlns:a="http://schemas.openxmlformats.org/drawingml/2006/main">
            <a:r>
              <a:t>.venv/Lib/site-packages/docstring_parser-0.18.0.dist-info/METADATA</a:t>
            </a:r>
          </a:p>
          <a:p xmlns:a="http://schemas.openxmlformats.org/drawingml/2006/main">
            <a:r>
              <a:t>requirements.txt</a:t>
            </a:r>
          </a:p>
          <a:p xmlns:a="http://schemas.openxmlformats.org/drawingml/2006/main">
            <a:r>
              <a:t>https://github.com/rr-/docstring_parser</a:t>
            </a:r>
          </a:p>
          <a:p xmlns:a="http://schemas.openxmlformats.org/drawingml/2006/main">
            <a:r>
              <a:t/>
            </a:r>
          </a:p>
          <a:p xmlns:a="http://schemas.openxmlformats.org/drawingml/2006/main">
            <a:r>
              <a:t>googleapis-common-protos==1.75.5</a:t>
            </a:r>
          </a:p>
          <a:p xmlns:a="http://schemas.openxmlformats.org/drawingml/2006/main">
            <a:r>
              <a:t>Classement de référence : Support de dépendance.</a:t>
            </a:r>
          </a:p>
          <a:p xmlns:a="http://schemas.openxmlformats.org/drawingml/2006/main">
            <a:r>
              <a:t>Fonction : Fournit des classes Protobuf communes aux protocoles Google et à des échanges compatibles.</a:t>
            </a:r>
          </a:p>
          <a:p xmlns:a="http://schemas.openxmlformats.org/drawingml/2006/main">
            <a:r>
              <a:t>Utilisation Genesis : Supporte l’exporteur OTLP installé; cela n’active aucune API Google Maps dans Genesis.</a:t>
            </a:r>
          </a:p>
          <a:p xmlns:a="http://schemas.openxmlformats.org/drawingml/2006/main">
            <a:r>
              <a:t>Pourquoi présent : Version épinglée dans requirements.txt; requis immédiatement par opentelemetry-exporter-otlp-proto-http.</a:t>
            </a:r>
          </a:p>
          <a:p xmlns:a="http://schemas.openxmlformats.org/drawingml/2006/main">
            <a:r>
              <a:t>Exemple : Un message partagé de statut peut être décodé dans une réponse d’export de télémétrie.</a:t>
            </a:r>
          </a:p>
          <a:p xmlns:a="http://schemas.openxmlformats.org/drawingml/2006/main">
            <a:r>
              <a:t>Sources :</a:t>
            </a:r>
          </a:p>
          <a:p xmlns:a="http://schemas.openxmlformats.org/drawingml/2006/main">
            <a:r>
              <a:t>services/genesis/worker.py</a:t>
            </a:r>
          </a:p>
          <a:p xmlns:a="http://schemas.openxmlformats.org/drawingml/2006/main">
            <a:r>
              <a:t>.venv/Lib/site-packages/googleapis_common_protos-1.75.5.dist-info/METADATA</a:t>
            </a:r>
          </a:p>
          <a:p xmlns:a="http://schemas.openxmlformats.org/drawingml/2006/main">
            <a:r>
              <a:t>requirements.txt</a:t>
            </a:r>
          </a:p>
          <a:p xmlns:a="http://schemas.openxmlformats.org/drawingml/2006/main">
            <a:r>
              <a:t>https://github.com/googleapis/google-cloud-python/tree/main/packages/googleapis-common-protos</a:t>
            </a:r>
          </a:p>
          <a:p xmlns:a="http://schemas.openxmlformats.org/drawingml/2006/main">
            <a:r>
              <a:t/>
            </a:r>
          </a:p>
          <a:p xmlns:a="http://schemas.openxmlformats.org/drawingml/2006/main">
            <a:r>
              <a:t>h11==0.16.0</a:t>
            </a:r>
          </a:p>
          <a:p xmlns:a="http://schemas.openxmlformats.org/drawingml/2006/main">
            <a:r>
              <a:t>Classement de référence : Support de dépendance.</a:t>
            </a:r>
          </a:p>
          <a:p xmlns:a="http://schemas.openxmlformats.org/drawingml/2006/main">
            <a:r>
              <a:t>Fonction : Implémente la machine d’état HTTP/1.1 sans gérer lui-même les sockets.</a:t>
            </a:r>
          </a:p>
          <a:p xmlns:a="http://schemas.openxmlformats.org/drawingml/2006/main">
            <a:r>
              <a:t>Utilisation Genesis : Supporte Uvicorn et les transports httpcore/httpcore2 sans import métier.</a:t>
            </a:r>
          </a:p>
          <a:p xmlns:a="http://schemas.openxmlformats.org/drawingml/2006/main">
            <a:r>
              <a:t>Pourquoi présent : Version épinglée dans requirements.txt; requis immédiatement par httpcore, httpcore2, uvicorn.</a:t>
            </a:r>
          </a:p>
          <a:p xmlns:a="http://schemas.openxmlformats.org/drawingml/2006/main">
            <a:r>
              <a:t>Exemple : Le transport traduit des octets en événements Request, Data et EndOfMessage.</a:t>
            </a:r>
          </a:p>
          <a:p xmlns:a="http://schemas.openxmlformats.org/drawingml/2006/main">
            <a:r>
              <a:t>Sources :</a:t>
            </a:r>
          </a:p>
          <a:p xmlns:a="http://schemas.openxmlformats.org/drawingml/2006/main">
            <a:r>
              <a:t>scripts/start.ps1</a:t>
            </a:r>
          </a:p>
          <a:p xmlns:a="http://schemas.openxmlformats.org/drawingml/2006/main">
            <a:r>
              <a:t>.venv/Lib/site-packages/h11-0.16.0.dist-info/METADATA</a:t>
            </a:r>
          </a:p>
          <a:p xmlns:a="http://schemas.openxmlformats.org/drawingml/2006/main">
            <a:r>
              <a:t>requirements.txt</a:t>
            </a:r>
          </a:p>
          <a:p xmlns:a="http://schemas.openxmlformats.org/drawingml/2006/main">
            <a:r>
              <a:t>https://github.com/python-hyper/h11</a:t>
            </a:r>
          </a:p>
          <a:p xmlns:a="http://schemas.openxmlformats.org/drawingml/2006/main">
            <a:r>
              <a:t/>
            </a:r>
          </a:p>
          <a:p xmlns:a="http://schemas.openxmlformats.org/drawingml/2006/main">
            <a:r>
              <a:t>httpcore==1.0.9</a:t>
            </a:r>
          </a:p>
          <a:p xmlns:a="http://schemas.openxmlformats.org/drawingml/2006/main">
            <a:r>
              <a:t>Classement de référence : Support de dépendance.</a:t>
            </a:r>
          </a:p>
          <a:p xmlns:a="http://schemas.openxmlformats.org/drawingml/2006/main">
            <a:r>
              <a:t>Fonction : Gère connexions, pools et transports synchrones/asynchrones de bas niveau.</a:t>
            </a:r>
          </a:p>
          <a:p xmlns:a="http://schemas.openxmlformats.org/drawingml/2006/main">
            <a:r>
              <a:t>Utilisation Genesis : Est le transport de HTTPX utilisé pour les services routiers et les tests API.</a:t>
            </a:r>
          </a:p>
          <a:p xmlns:a="http://schemas.openxmlformats.org/drawingml/2006/main">
            <a:r>
              <a:t>Pourquoi présent : Version épinglée dans requirements.txt; requis immédiatement par httpx.</a:t>
            </a:r>
          </a:p>
          <a:p xmlns:a="http://schemas.openxmlformats.org/drawingml/2006/main">
            <a:r>
              <a:t>Exemple : Le pool peut réutiliser une connexion vers OSRM au lieu d’ouvrir un socket par requête.</a:t>
            </a:r>
          </a:p>
          <a:p xmlns:a="http://schemas.openxmlformats.org/drawingml/2006/main">
            <a:r>
              <a:t>Sources :</a:t>
            </a:r>
          </a:p>
          <a:p xmlns:a="http://schemas.openxmlformats.org/drawingml/2006/main">
            <a:r>
              <a:t>services/genesis/dispatch.py</a:t>
            </a:r>
          </a:p>
          <a:p xmlns:a="http://schemas.openxmlformats.org/drawingml/2006/main">
            <a:r>
              <a:t>.venv/Lib/site-packages/httpcore-1.0.9.dist-info/METADATA</a:t>
            </a:r>
          </a:p>
          <a:p xmlns:a="http://schemas.openxmlformats.org/drawingml/2006/main">
            <a:r>
              <a:t>requirements.txt</a:t>
            </a:r>
          </a:p>
          <a:p xmlns:a="http://schemas.openxmlformats.org/drawingml/2006/main">
            <a:r>
              <a:t>https://www.encode.io/httpcore</a:t>
            </a:r>
          </a:p>
          <a:p xmlns:a="http://schemas.openxmlformats.org/drawingml/2006/main">
            <a:r>
              <a:t/>
            </a:r>
          </a:p>
          <a:p xmlns:a="http://schemas.openxmlformats.org/drawingml/2006/main">
            <a:r>
              <a:t>httpcore2==2.13.1</a:t>
            </a:r>
          </a:p>
          <a:p xmlns:a="http://schemas.openxmlformats.org/drawingml/2006/main">
            <a:r>
              <a:t>Classement de référence : Support de dépendance.</a:t>
            </a:r>
          </a:p>
          <a:p xmlns:a="http://schemas.openxmlformats.org/drawingml/2006/main">
            <a:r>
              <a:t>Fonction : Fournit le transport de bas niveau de la distribution httpx2 installée.</a:t>
            </a:r>
          </a:p>
          <a:p xmlns:a="http://schemas.openxmlformats.org/drawingml/2006/main">
            <a:r>
              <a:t>Utilisation Genesis : Supporte indirectement le client du SDK Anthropic; Genesis ne l’importe pas.</a:t>
            </a:r>
          </a:p>
          <a:p xmlns:a="http://schemas.openxmlformats.org/drawingml/2006/main">
            <a:r>
              <a:t>Pourquoi présent : Version épinglée dans requirements.txt; requis immédiatement par httpx2 (sys_platform != "emscripten").</a:t>
            </a:r>
          </a:p>
          <a:p xmlns:a="http://schemas.openxmlformats.org/drawingml/2006/main">
            <a:r>
              <a:t>Exemple : Il gère le transport réseau et le pool de connexions d’une requête envoyée via httpx2.</a:t>
            </a:r>
          </a:p>
          <a:p xmlns:a="http://schemas.openxmlformats.org/drawingml/2006/main">
            <a:r>
              <a:t>Sources :</a:t>
            </a:r>
          </a:p>
          <a:p xmlns:a="http://schemas.openxmlformats.org/drawingml/2006/main">
            <a:r>
              <a:t>services/genesis/llm.py</a:t>
            </a:r>
          </a:p>
          <a:p xmlns:a="http://schemas.openxmlformats.org/drawingml/2006/main">
            <a:r>
              <a:t>.venv/Lib/site-packages/httpcore2-2.13.1.dist-info/METADATA</a:t>
            </a:r>
          </a:p>
          <a:p xmlns:a="http://schemas.openxmlformats.org/drawingml/2006/main">
            <a:r>
              <a:t>requirements.txt</a:t>
            </a:r>
          </a:p>
          <a:p xmlns:a="http://schemas.openxmlformats.org/drawingml/2006/main">
            <a:r>
              <a:t>https://github.com/pydantic/httpx2</a:t>
            </a:r>
          </a:p>
          <a:p xmlns:a="http://schemas.openxmlformats.org/drawingml/2006/main">
            <a:r>
              <a:t/>
            </a:r>
          </a:p>
          <a:p xmlns:a="http://schemas.openxmlformats.org/drawingml/2006/main">
            <a:r>
              <a:t>httpx2==2.13.1</a:t>
            </a:r>
          </a:p>
          <a:p xmlns:a="http://schemas.openxmlformats.org/drawingml/2006/main">
            <a:r>
              <a:t>Classement de référence : Support de dépendance.</a:t>
            </a:r>
          </a:p>
          <a:p xmlns:a="http://schemas.openxmlformats.org/drawingml/2006/main">
            <a:r>
              <a:t>Fonction : Fournit une autre distribution de client HTTP, distincte du paquet HTTPX 0.28 installé.</a:t>
            </a:r>
          </a:p>
          <a:p xmlns:a="http://schemas.openxmlformats.org/drawingml/2006/main">
            <a:r>
              <a:t>Utilisation Genesis : Le SDK Anthropic installé la requiert; les appels routiers Genesis importent le paquet httpx.</a:t>
            </a:r>
          </a:p>
          <a:p xmlns:a="http://schemas.openxmlformats.org/drawingml/2006/main">
            <a:r>
              <a:t>Pourquoi présent : Version épinglée dans requirements.txt; requis immédiatement par anthropic, langsmith.</a:t>
            </a:r>
          </a:p>
          <a:p xmlns:a="http://schemas.openxmlformats.org/drawingml/2006/main">
            <a:r>
              <a:t>Exemple : La requête d’explication traverse le client httpx2 du SDK sans remplacer l’adaptateur routier HTTPX.</a:t>
            </a:r>
          </a:p>
          <a:p xmlns:a="http://schemas.openxmlformats.org/drawingml/2006/main">
            <a:r>
              <a:t>Sources :</a:t>
            </a:r>
          </a:p>
          <a:p xmlns:a="http://schemas.openxmlformats.org/drawingml/2006/main">
            <a:r>
              <a:t>services/genesis/llm.py</a:t>
            </a:r>
          </a:p>
          <a:p xmlns:a="http://schemas.openxmlformats.org/drawingml/2006/main">
            <a:r>
              <a:t>.venv/Lib/site-packages/httpx2-2.13.1.dist-info/METADATA</a:t>
            </a:r>
          </a:p>
          <a:p xmlns:a="http://schemas.openxmlformats.org/drawingml/2006/main">
            <a:r>
              <a:t>requirements.txt</a:t>
            </a:r>
          </a:p>
          <a:p xmlns:a="http://schemas.openxmlformats.org/drawingml/2006/main">
            <a:r>
              <a:t>https://github.com/pydantic/httpx2</a:t>
            </a:r>
          </a:p>
          <a:p xmlns:a="http://schemas.openxmlformats.org/drawingml/2006/main">
            <a:r>
              <a:t/>
            </a:r>
          </a:p>
          <a:p xmlns:a="http://schemas.openxmlformats.org/drawingml/2006/main">
            <a:r>
              <a:t>idna==3.20</a:t>
            </a:r>
          </a:p>
          <a:p xmlns:a="http://schemas.openxmlformats.org/drawingml/2006/main">
            <a:r>
              <a:t>Classement de référence : Support de dépendance.</a:t>
            </a:r>
          </a:p>
          <a:p xmlns:a="http://schemas.openxmlformats.org/drawingml/2006/main">
            <a:r>
              <a:t>Fonction : Convertit et valide les noms de domaine internationalisés suivant IDNA.</a:t>
            </a:r>
          </a:p>
          <a:p xmlns:a="http://schemas.openxmlformats.org/drawingml/2006/main">
            <a:r>
              <a:t>Utilisation Genesis : Supporte les clients HTTP et AnyIO; aucun appel direct de Genesis.</a:t>
            </a:r>
          </a:p>
          <a:p xmlns:a="http://schemas.openxmlformats.org/drawingml/2006/main">
            <a:r>
              <a:t>Pourquoi présent : Version épinglée dans requirements.txt; requis immédiatement par anyio, httpx, httpx2, requests.</a:t>
            </a:r>
          </a:p>
          <a:p xmlns:a="http://schemas.openxmlformats.org/drawingml/2006/main">
            <a:r>
              <a:t>Exemple : Un nom de domaine Unicode peut être normalisé en forme ASCII utilisable dans une connexion réseau.</a:t>
            </a:r>
          </a:p>
          <a:p xmlns:a="http://schemas.openxmlformats.org/drawingml/2006/main">
            <a:r>
              <a:t>Sources :</a:t>
            </a:r>
          </a:p>
          <a:p xmlns:a="http://schemas.openxmlformats.org/drawingml/2006/main">
            <a:r>
              <a:t>services/genesis/dispatch.py</a:t>
            </a:r>
          </a:p>
          <a:p xmlns:a="http://schemas.openxmlformats.org/drawingml/2006/main">
            <a:r>
              <a:t>.venv/Lib/site-packages/idna-3.20.dist-info/METADATA</a:t>
            </a:r>
          </a:p>
          <a:p xmlns:a="http://schemas.openxmlformats.org/drawingml/2006/main">
            <a:r>
              <a:t>requirements.txt</a:t>
            </a:r>
          </a:p>
          <a:p xmlns:a="http://schemas.openxmlformats.org/drawingml/2006/main">
            <a:r>
              <a:t>https://github.com/kjd/idna</a:t>
            </a:r>
          </a:p>
          <a:p xmlns:a="http://schemas.openxmlformats.org/drawingml/2006/main">
            <a:r>
              <a:t/>
            </a:r>
          </a:p>
          <a:p xmlns:a="http://schemas.openxmlformats.org/drawingml/2006/main">
            <a:r>
              <a:t>immutabledict==4.3.1</a:t>
            </a:r>
          </a:p>
          <a:p xmlns:a="http://schemas.openxmlformats.org/drawingml/2006/main">
            <a:r>
              <a:t>Classement de référence : Support de dépendance.</a:t>
            </a:r>
          </a:p>
          <a:p xmlns:a="http://schemas.openxmlformats.org/drawingml/2006/main">
            <a:r>
              <a:t>Fonction : Fournit des dictionnaires dont les entrées ne peuvent pas être modifiées après construction.</a:t>
            </a:r>
          </a:p>
          <a:p xmlns:a="http://schemas.openxmlformats.org/drawingml/2006/main">
            <a:r>
              <a:t>Utilisation Genesis : Est requis par OR-Tools; Genesis n’utilise pas directement ce type.</a:t>
            </a:r>
          </a:p>
          <a:p xmlns:a="http://schemas.openxmlformats.org/drawingml/2006/main">
            <a:r>
              <a:t>Pourquoi présent : Version épinglée dans requirements.txt; requis immédiatement par ortools.</a:t>
            </a:r>
          </a:p>
          <a:p xmlns:a="http://schemas.openxmlformats.org/drawingml/2006/main">
            <a:r>
              <a:t>Exemple : Une bibliothèque peut partager des paramètres immuables sans autoriser une mutation accidentelle.</a:t>
            </a:r>
          </a:p>
          <a:p xmlns:a="http://schemas.openxmlformats.org/drawingml/2006/main">
            <a:r>
              <a:t>Sources :</a:t>
            </a:r>
          </a:p>
          <a:p xmlns:a="http://schemas.openxmlformats.org/drawingml/2006/main">
            <a:r>
              <a:t>services/genesis/solver.py</a:t>
            </a:r>
          </a:p>
          <a:p xmlns:a="http://schemas.openxmlformats.org/drawingml/2006/main">
            <a:r>
              <a:t>.venv/Lib/site-packages/immutabledict-4.3.1.dist-info/METADATA</a:t>
            </a:r>
          </a:p>
          <a:p xmlns:a="http://schemas.openxmlformats.org/drawingml/2006/main">
            <a:r>
              <a:t>requirements.txt</a:t>
            </a:r>
          </a:p>
          <a:p xmlns:a="http://schemas.openxmlformats.org/drawingml/2006/main">
            <a:r>
              <a:t>https://immutabledict.corenting.fr</a:t>
            </a:r>
          </a:p>
          <a:p xmlns:a="http://schemas.openxmlformats.org/drawingml/2006/main">
            <a:r>
              <a:t/>
            </a:r>
          </a:p>
          <a:p xmlns:a="http://schemas.openxmlformats.org/drawingml/2006/main">
            <a:r>
              <a:t>jiter==0.17.0</a:t>
            </a:r>
          </a:p>
          <a:p xmlns:a="http://schemas.openxmlformats.org/drawingml/2006/main">
            <a:r>
              <a:t>Classement de référence : Support de dépendance.</a:t>
            </a:r>
          </a:p>
          <a:p xmlns:a="http://schemas.openxmlformats.org/drawingml/2006/main">
            <a:r>
              <a:t>Fonction : Analyse rapidement des documents JSON via une implémentation Rust.</a:t>
            </a:r>
          </a:p>
          <a:p xmlns:a="http://schemas.openxmlformats.org/drawingml/2006/main">
            <a:r>
              <a:t>Utilisation Genesis : Est requis par le SDK Anthropic; aucun comptage ou validation métier ne lui est confié directement.</a:t>
            </a:r>
          </a:p>
          <a:p xmlns:a="http://schemas.openxmlformats.org/drawingml/2006/main">
            <a:r>
              <a:t>Pourquoi présent : Version épinglée dans requirements.txt; requis immédiatement par anthropic.</a:t>
            </a:r>
          </a:p>
          <a:p xmlns:a="http://schemas.openxmlformats.org/drawingml/2006/main">
            <a:r>
              <a:t>Exemple : Le SDK peut désérialiser une réponse JSON avant de la transformer en objets typés.</a:t>
            </a:r>
          </a:p>
          <a:p xmlns:a="http://schemas.openxmlformats.org/drawingml/2006/main">
            <a:r>
              <a:t>Sources :</a:t>
            </a:r>
          </a:p>
          <a:p xmlns:a="http://schemas.openxmlformats.org/drawingml/2006/main">
            <a:r>
              <a:t>services/genesis/llm.py</a:t>
            </a:r>
          </a:p>
          <a:p xmlns:a="http://schemas.openxmlformats.org/drawingml/2006/main">
            <a:r>
              <a:t>.venv/Lib/site-packages/jiter-0.17.0.dist-info/METADATA</a:t>
            </a:r>
          </a:p>
          <a:p xmlns:a="http://schemas.openxmlformats.org/drawingml/2006/main">
            <a:r>
              <a:t>requirements.txt</a:t>
            </a:r>
          </a:p>
          <a:p xmlns:a="http://schemas.openxmlformats.org/drawingml/2006/main">
            <a:r>
              <a:t>https://github.com/pydantic/jiter/</a:t>
            </a:r>
          </a:p>
          <a:p xmlns:a="http://schemas.openxmlformats.org/drawingml/2006/main">
            <a:r>
              <a:t/>
            </a:r>
          </a:p>
          <a:p xmlns:a="http://schemas.openxmlformats.org/drawingml/2006/main">
            <a:r>
              <a:t>jsonpatch==1.34</a:t>
            </a:r>
          </a:p>
          <a:p xmlns:a="http://schemas.openxmlformats.org/drawingml/2006/main">
            <a:r>
              <a:t>Classement de référence : Support de dépendance.</a:t>
            </a:r>
          </a:p>
          <a:p xmlns:a="http://schemas.openxmlformats.org/drawingml/2006/main">
            <a:r>
              <a:t>Fonction : Applique et construit des opérations JSON Patch définies par la RFC 6902.</a:t>
            </a:r>
          </a:p>
          <a:p xmlns:a="http://schemas.openxmlformats.org/drawingml/2006/main">
            <a:r>
              <a:t>Utilisation Genesis : Est requis par langchain-core; Genesis ne produit pas directement de patch JSON avec ce module.</a:t>
            </a:r>
          </a:p>
          <a:p xmlns:a="http://schemas.openxmlformats.org/drawingml/2006/main">
            <a:r>
              <a:t>Pourquoi présent : Version épinglée dans requirements.txt; requis immédiatement par langchain-core.</a:t>
            </a:r>
          </a:p>
          <a:p xmlns:a="http://schemas.openxmlformats.org/drawingml/2006/main">
            <a:r>
              <a:t>Exemple : Une opération replace sur /status représente une différence d’état, sans recalculer une tournée.</a:t>
            </a:r>
          </a:p>
          <a:p xmlns:a="http://schemas.openxmlformats.org/drawingml/2006/main">
            <a:r>
              <a:t>Sources :</a:t>
            </a:r>
          </a:p>
          <a:p xmlns:a="http://schemas.openxmlformats.org/drawingml/2006/main">
            <a:r>
              <a:t>services/genesis/workflow.py</a:t>
            </a:r>
          </a:p>
          <a:p xmlns:a="http://schemas.openxmlformats.org/drawingml/2006/main">
            <a:r>
              <a:t>.venv/Lib/site-packages/jsonpatch-1.34.dist-info/METADATA</a:t>
            </a:r>
          </a:p>
          <a:p xmlns:a="http://schemas.openxmlformats.org/drawingml/2006/main">
            <a:r>
              <a:t>requirements.txt</a:t>
            </a:r>
          </a:p>
          <a:p xmlns:a="http://schemas.openxmlformats.org/drawingml/2006/main">
            <a:r>
              <a:t>https://github.com/stefankoegl/python-json-patch.git</a:t>
            </a:r>
          </a:p>
          <a:p xmlns:a="http://schemas.openxmlformats.org/drawingml/2006/main">
            <a:r>
              <a:t/>
            </a:r>
          </a:p>
          <a:p xmlns:a="http://schemas.openxmlformats.org/drawingml/2006/main">
            <a:r>
              <a:t>jsonpointer==3.2.0</a:t>
            </a:r>
          </a:p>
          <a:p xmlns:a="http://schemas.openxmlformats.org/drawingml/2006/main">
            <a:r>
              <a:t>Classement de référence : Support de dépendance.</a:t>
            </a:r>
          </a:p>
          <a:p xmlns:a="http://schemas.openxmlformats.org/drawingml/2006/main">
            <a:r>
              <a:t>Fonction : Résout des chemins vers les valeurs d’un document JSON suivant la RFC 6901.</a:t>
            </a:r>
          </a:p>
          <a:p xmlns:a="http://schemas.openxmlformats.org/drawingml/2006/main">
            <a:r>
              <a:t>Utilisation Genesis : Supporte jsonpatch sans import applicatif Genesis.</a:t>
            </a:r>
          </a:p>
          <a:p xmlns:a="http://schemas.openxmlformats.org/drawingml/2006/main">
            <a:r>
              <a:t>Pourquoi présent : Version épinglée dans requirements.txt; requis immédiatement par jsonpatch.</a:t>
            </a:r>
          </a:p>
          <a:p xmlns:a="http://schemas.openxmlformats.org/drawingml/2006/main">
            <a:r>
              <a:t>Exemple : Le chemin /vehicles/0/id désigne une valeur précise dans un document structuré.</a:t>
            </a:r>
          </a:p>
          <a:p xmlns:a="http://schemas.openxmlformats.org/drawingml/2006/main">
            <a:r>
              <a:t>Sources :</a:t>
            </a:r>
          </a:p>
          <a:p xmlns:a="http://schemas.openxmlformats.org/drawingml/2006/main">
            <a:r>
              <a:t>services/genesis/workflow.py</a:t>
            </a:r>
          </a:p>
          <a:p xmlns:a="http://schemas.openxmlformats.org/drawingml/2006/main">
            <a:r>
              <a:t>.venv/Lib/site-packages/jsonpointer-3.2.0.dist-info/METADATA</a:t>
            </a:r>
          </a:p>
          <a:p xmlns:a="http://schemas.openxmlformats.org/drawingml/2006/main">
            <a:r>
              <a:t>requirements.txt</a:t>
            </a:r>
          </a:p>
          <a:p xmlns:a="http://schemas.openxmlformats.org/drawingml/2006/main">
            <a:r>
              <a:t>https://github.com/stefankoegl/python-json-pointer</a:t>
            </a:r>
          </a:p>
          <a:p xmlns:a="http://schemas.openxmlformats.org/drawingml/2006/main">
            <a:r>
              <a:t/>
            </a:r>
          </a:p>
          <a:p xmlns:a="http://schemas.openxmlformats.org/drawingml/2006/main">
            <a:r>
              <a:t>langchain-core==1.6.9</a:t>
            </a:r>
          </a:p>
          <a:p xmlns:a="http://schemas.openxmlformats.org/drawingml/2006/main">
            <a:r>
              <a:t>Classement de référence : Support de dépendance.</a:t>
            </a:r>
          </a:p>
          <a:p xmlns:a="http://schemas.openxmlformats.org/drawingml/2006/main">
            <a:r>
              <a:t>Fonction : Fournit les abstractions de messages, exécutables, outils et schémas de l’écosystème LangChain.</a:t>
            </a:r>
          </a:p>
          <a:p xmlns:a="http://schemas.openxmlformats.org/drawingml/2006/main">
            <a:r>
              <a:t>Utilisation Genesis : Est une fondation requise par LangGraph; Genesis construit son propre StateGraph et utilise Anthropic directement.</a:t>
            </a:r>
          </a:p>
          <a:p xmlns:a="http://schemas.openxmlformats.org/drawingml/2006/main">
            <a:r>
              <a:t>Pourquoi présent : Version épinglée dans requirements.txt; requis immédiatement par langgraph, langgraph-checkpoint, langgraph-prebuilt, langgraph-sdk.</a:t>
            </a:r>
          </a:p>
          <a:p xmlns:a="http://schemas.openxmlformats.org/drawingml/2006/main">
            <a:r>
              <a:t>Exemple : Les composants du graphe peuvent s’appuyer sur ces primitives sans que Genesis crée une chaîne LangChain dédiée.</a:t>
            </a:r>
          </a:p>
          <a:p xmlns:a="http://schemas.openxmlformats.org/drawingml/2006/main">
            <a:r>
              <a:t>Sources :</a:t>
            </a:r>
          </a:p>
          <a:p xmlns:a="http://schemas.openxmlformats.org/drawingml/2006/main">
            <a:r>
              <a:t>services/genesis/workflow.py</a:t>
            </a:r>
          </a:p>
          <a:p xmlns:a="http://schemas.openxmlformats.org/drawingml/2006/main">
            <a:r>
              <a:t>.venv/Lib/site-packages/langchain_core-1.6.9.dist-info/METADATA</a:t>
            </a:r>
          </a:p>
          <a:p xmlns:a="http://schemas.openxmlformats.org/drawingml/2006/main">
            <a:r>
              <a:t>requirements.txt</a:t>
            </a:r>
          </a:p>
          <a:p xmlns:a="http://schemas.openxmlformats.org/drawingml/2006/main">
            <a:r>
              <a:t>https://docs.langchain.com/</a:t>
            </a:r>
          </a:p>
          <a:p xmlns:a="http://schemas.openxmlformats.org/drawingml/2006/main">
            <a:r>
              <a:t/>
            </a:r>
          </a:p>
          <a:p xmlns:a="http://schemas.openxmlformats.org/drawingml/2006/main">
            <a:r>
              <a:t>langchain-protocol==0.0.19</a:t>
            </a:r>
          </a:p>
          <a:p xmlns:a="http://schemas.openxmlformats.org/drawingml/2006/main">
            <a:r>
              <a:t>Classement de référence : Support de dépendance.</a:t>
            </a:r>
          </a:p>
          <a:p xmlns:a="http://schemas.openxmlformats.org/drawingml/2006/main">
            <a:r>
              <a:t>Fonction : Fournit les types du protocole de diffusion d’événements d’agents LangChain.</a:t>
            </a:r>
          </a:p>
          <a:p xmlns:a="http://schemas.openxmlformats.org/drawingml/2006/main">
            <a:r>
              <a:t>Utilisation Genesis : Est requis par langchain-core et le SDK LangGraph; aucune intégration distante directe n’est appelée.</a:t>
            </a:r>
          </a:p>
          <a:p xmlns:a="http://schemas.openxmlformats.org/drawingml/2006/main">
            <a:r>
              <a:t>Pourquoi présent : Version épinglée dans requirements.txt; requis immédiatement par langchain-core, langgraph-sdk.</a:t>
            </a:r>
          </a:p>
          <a:p xmlns:a="http://schemas.openxmlformats.org/drawingml/2006/main">
            <a:r>
              <a:t>Exemple : Une bibliothèque peut typer des événements de flux d’agent; le contrat d’événements Genesis reste défini séparément.</a:t>
            </a:r>
          </a:p>
          <a:p xmlns:a="http://schemas.openxmlformats.org/drawingml/2006/main">
            <a:r>
              <a:t>Sources :</a:t>
            </a:r>
          </a:p>
          <a:p xmlns:a="http://schemas.openxmlformats.org/drawingml/2006/main">
            <a:r>
              <a:t>services/genesis/workflow.py</a:t>
            </a:r>
          </a:p>
          <a:p xmlns:a="http://schemas.openxmlformats.org/drawingml/2006/main">
            <a:r>
              <a:t>.venv/Lib/site-packages/langchain_protocol-0.0.19.dist-info/METADATA</a:t>
            </a:r>
          </a:p>
          <a:p xmlns:a="http://schemas.openxmlformats.org/drawingml/2006/main">
            <a:r>
              <a:t>requirements.txt</a:t>
            </a:r>
          </a:p>
          <a:p xmlns:a="http://schemas.openxmlformats.org/drawingml/2006/main">
            <a:r>
              <a:t>https://github.com/langchain-ai/agent-protocol/tree/main/streaming</a:t>
            </a:r>
          </a:p>
          <a:p xmlns:a="http://schemas.openxmlformats.org/drawingml/2006/main">
            <a:r>
              <a:t/>
            </a:r>
          </a:p>
          <a:p xmlns:a="http://schemas.openxmlformats.org/drawingml/2006/main">
            <a:r>
              <a:t>langgraph-checkpoint==4.2.0</a:t>
            </a:r>
          </a:p>
          <a:p xmlns:a="http://schemas.openxmlformats.org/drawingml/2006/main">
            <a:r>
              <a:t>Classement de référence : Support de dépendance.</a:t>
            </a:r>
          </a:p>
          <a:p xmlns:a="http://schemas.openxmlformats.org/drawingml/2006/main">
            <a:r>
              <a:t>Fonction : Définit les interfaces de sauvegarde et la sérialisation des checkpoints LangGraph.</a:t>
            </a:r>
          </a:p>
          <a:p xmlns:a="http://schemas.openxmlformats.org/drawingml/2006/main">
            <a:r>
              <a:t>Utilisation Genesis : Relie le graphe au saver SQLite utilisé; Genesis n’implémente pas de nouveau backend de checkpoints.</a:t>
            </a:r>
          </a:p>
          <a:p xmlns:a="http://schemas.openxmlformats.org/drawingml/2006/main">
            <a:r>
              <a:t>Pourquoi présent : Version épinglée dans requirements.txt; requis immédiatement par langgraph, langgraph-checkpoint-postgres, langgraph-checkpoint-sqlite, langgraph-prebuilt.</a:t>
            </a:r>
          </a:p>
          <a:p xmlns:a="http://schemas.openxmlformats.org/drawingml/2006/main">
            <a:r>
              <a:t>Exemple : Le moteur sauvegarde l’état et les écritures d’une étape pour une reprise ultérieure.</a:t>
            </a:r>
          </a:p>
          <a:p xmlns:a="http://schemas.openxmlformats.org/drawingml/2006/main">
            <a:r>
              <a:t>Sources :</a:t>
            </a:r>
          </a:p>
          <a:p xmlns:a="http://schemas.openxmlformats.org/drawingml/2006/main">
            <a:r>
              <a:t>services/genesis/workflow.py</a:t>
            </a:r>
          </a:p>
          <a:p xmlns:a="http://schemas.openxmlformats.org/drawingml/2006/main">
            <a:r>
              <a:t>.venv/Lib/site-packages/langgraph_checkpoint-4.2.0.dist-info/METADATA</a:t>
            </a:r>
          </a:p>
          <a:p xmlns:a="http://schemas.openxmlformats.org/drawingml/2006/main">
            <a:r>
              <a:t>requirements.txt</a:t>
            </a:r>
          </a:p>
          <a:p xmlns:a="http://schemas.openxmlformats.org/drawingml/2006/main">
            <a:r>
              <a:t>https://github.com/langchain-ai/langgraph/tree/main/libs/checkpoint</a:t>
            </a:r>
          </a:p>
          <a:p xmlns:a="http://schemas.openxmlformats.org/drawingml/2006/main">
            <a:r>
              <a:t/>
            </a:r>
          </a:p>
          <a:p xmlns:a="http://schemas.openxmlformats.org/drawingml/2006/main">
            <a:r>
              <a:t>langgraph-prebuilt==1.1.0</a:t>
            </a:r>
          </a:p>
          <a:p xmlns:a="http://schemas.openxmlformats.org/drawingml/2006/main">
            <a:r>
              <a:t>Classement de référence : Support de dépendance.</a:t>
            </a:r>
          </a:p>
          <a:p xmlns:a="http://schemas.openxmlformats.org/drawingml/2006/main">
            <a:r>
              <a:t>Fonction : Fournit des assemblages prêts à l’emploi pour agents et nœuds d’outils LangGraph.</a:t>
            </a:r>
          </a:p>
          <a:p xmlns:a="http://schemas.openxmlformats.org/drawingml/2006/main">
            <a:r>
              <a:t>Utilisation Genesis : Est requis par LangGraph, mais Genesis assemble explicitement ses rôles et n’importe pas ces agents préfabriqués.</a:t>
            </a:r>
          </a:p>
          <a:p xmlns:a="http://schemas.openxmlformats.org/drawingml/2006/main">
            <a:r>
              <a:t>Pourquoi présent : Version épinglée dans requirements.txt; requis immédiatement par langgraph.</a:t>
            </a:r>
          </a:p>
          <a:p xmlns:a="http://schemas.openxmlformats.org/drawingml/2006/main">
            <a:r>
              <a:t>Exemple : Un ToolNode préfabriqué peut exécuter des appels d’outils; Genesis emploie son propre déroulement borné.</a:t>
            </a:r>
          </a:p>
          <a:p xmlns:a="http://schemas.openxmlformats.org/drawingml/2006/main">
            <a:r>
              <a:t>Sources :</a:t>
            </a:r>
          </a:p>
          <a:p xmlns:a="http://schemas.openxmlformats.org/drawingml/2006/main">
            <a:r>
              <a:t>services/genesis/workflow.py</a:t>
            </a:r>
          </a:p>
          <a:p xmlns:a="http://schemas.openxmlformats.org/drawingml/2006/main">
            <a:r>
              <a:t>.venv/Lib/site-packages/langgraph_prebuilt-1.1.0.dist-info/METADATA</a:t>
            </a:r>
          </a:p>
          <a:p xmlns:a="http://schemas.openxmlformats.org/drawingml/2006/main">
            <a:r>
              <a:t>requirements.txt</a:t>
            </a:r>
          </a:p>
          <a:p xmlns:a="http://schemas.openxmlformats.org/drawingml/2006/main">
            <a:r>
              <a:t>https://github.com/langchain-ai/langgraph/tree/main/libs/prebuilt</a:t>
            </a:r>
          </a:p>
          <a:p xmlns:a="http://schemas.openxmlformats.org/drawingml/2006/main">
            <a:r>
              <a:t/>
            </a:r>
          </a:p>
          <a:p xmlns:a="http://schemas.openxmlformats.org/drawingml/2006/main">
            <a:r>
              <a:t>langgraph-sdk==0.4.6</a:t>
            </a:r>
          </a:p>
          <a:p xmlns:a="http://schemas.openxmlformats.org/drawingml/2006/main">
            <a:r>
              <a:t>Classement de référence : Support de dépendance.</a:t>
            </a:r>
          </a:p>
          <a:p xmlns:a="http://schemas.openxmlformats.org/drawingml/2006/main">
            <a:r>
              <a:t>Fonction : Fournit un client pour communiquer avec une API de serveur LangGraph.</a:t>
            </a:r>
          </a:p>
          <a:p xmlns:a="http://schemas.openxmlformats.org/drawingml/2006/main">
            <a:r>
              <a:t>Utilisation Genesis : Est requis par LangGraph; Genesis exécute son graphe dans un worker local sans appel explicite à un serveur LangGraph distant.</a:t>
            </a:r>
          </a:p>
          <a:p xmlns:a="http://schemas.openxmlformats.org/drawingml/2006/main">
            <a:r>
              <a:t>Pourquoi présent : Version épinglée dans requirements.txt; requis immédiatement par langgraph.</a:t>
            </a:r>
          </a:p>
          <a:p xmlns:a="http://schemas.openxmlformats.org/drawingml/2006/main">
            <a:r>
              <a:t>Exemple : Le SDK peut soumettre un run à un serveur LangGraph; ce mécanisme ne remplace pas la file locale Genesis.</a:t>
            </a:r>
          </a:p>
          <a:p xmlns:a="http://schemas.openxmlformats.org/drawingml/2006/main">
            <a:r>
              <a:t>Sources :</a:t>
            </a:r>
          </a:p>
          <a:p xmlns:a="http://schemas.openxmlformats.org/drawingml/2006/main">
            <a:r>
              <a:t>services/genesis/workflow.py</a:t>
            </a:r>
          </a:p>
          <a:p xmlns:a="http://schemas.openxmlformats.org/drawingml/2006/main">
            <a:r>
              <a:t>.venv/Lib/site-packages/langgraph_sdk-0.4.6.dist-info/METADATA</a:t>
            </a:r>
          </a:p>
          <a:p xmlns:a="http://schemas.openxmlformats.org/drawingml/2006/main">
            <a:r>
              <a:t>requirements.txt</a:t>
            </a:r>
          </a:p>
          <a:p xmlns:a="http://schemas.openxmlformats.org/drawingml/2006/main">
            <a:r>
              <a:t>https://github.com/langchain-ai/langgraph/tree/main/libs/sdk-py</a:t>
            </a:r>
          </a:p>
          <a:p xmlns:a="http://schemas.openxmlformats.org/drawingml/2006/main">
            <a:r>
              <a:t/>
            </a:r>
          </a:p>
          <a:p xmlns:a="http://schemas.openxmlformats.org/drawingml/2006/main">
            <a:r>
              <a:t>langsmith==0.14.7</a:t>
            </a:r>
          </a:p>
          <a:p xmlns:a="http://schemas.openxmlformats.org/drawingml/2006/main">
            <a:r>
              <a:t>Classement de référence : Support de dépendance.</a:t>
            </a:r>
          </a:p>
          <a:p xmlns:a="http://schemas.openxmlformats.org/drawingml/2006/main">
            <a:r>
              <a:t>Fonction : Fournit un client de traçage et d’évaluation de la plateforme LangSmith.</a:t>
            </a:r>
          </a:p>
          <a:p xmlns:a="http://schemas.openxmlformats.org/drawingml/2006/main">
            <a:r>
              <a:t>Utilisation Genesis : Est requis par langchain-core; aucun export LangSmith explicite n’apparaît dans Genesis.</a:t>
            </a:r>
          </a:p>
          <a:p xmlns:a="http://schemas.openxmlformats.org/drawingml/2006/main">
            <a:r>
              <a:t>Pourquoi présent : Version épinglée dans requirements.txt; requis immédiatement par langchain-core.</a:t>
            </a:r>
          </a:p>
          <a:p xmlns:a="http://schemas.openxmlformats.org/drawingml/2006/main">
            <a:r>
              <a:t>Exemple : La bibliothèque propose un client de traces, mais sa présence installée ne prouve pas un envoi de télémétrie.</a:t>
            </a:r>
          </a:p>
          <a:p xmlns:a="http://schemas.openxmlformats.org/drawingml/2006/main">
            <a:r>
              <a:t>Sources :</a:t>
            </a:r>
          </a:p>
          <a:p xmlns:a="http://schemas.openxmlformats.org/drawingml/2006/main">
            <a:r>
              <a:t>services/genesis/workflow.py</a:t>
            </a:r>
          </a:p>
          <a:p xmlns:a="http://schemas.openxmlformats.org/drawingml/2006/main">
            <a:r>
              <a:t>.venv/Lib/site-packages/langsmith-0.14.7.dist-info/METADATA</a:t>
            </a:r>
          </a:p>
          <a:p xmlns:a="http://schemas.openxmlformats.org/drawingml/2006/main">
            <a:r>
              <a:t>requirements.txt</a:t>
            </a:r>
          </a:p>
          <a:p xmlns:a="http://schemas.openxmlformats.org/drawingml/2006/main">
            <a:r>
              <a:t>https://smith.langchain.com/</a:t>
            </a:r>
          </a:p>
          <a:p xmlns:a="http://schemas.openxmlformats.org/drawingml/2006/main">
            <a:r>
              <a:t/>
            </a:r>
          </a:p>
          <a:p xmlns:a="http://schemas.openxmlformats.org/drawingml/2006/main">
            <a:r>
              <a:t>MarkupSafe==3.0.4</a:t>
            </a:r>
          </a:p>
          <a:p xmlns:a="http://schemas.openxmlformats.org/drawingml/2006/main">
            <a:r>
              <a:t>Classement de référence : Support de dépendance.</a:t>
            </a:r>
          </a:p>
          <a:p xmlns:a="http://schemas.openxmlformats.org/drawingml/2006/main">
            <a:r>
              <a:t>Fonction : Échappe les caractères sensibles HTML/XML et distingue une chaîne déjà sûre.</a:t>
            </a:r>
          </a:p>
          <a:p xmlns:a="http://schemas.openxmlformats.org/drawingml/2006/main">
            <a:r>
              <a:t>Utilisation Genesis : Supporte Mako; il ne protège pas les transactions ni les prompts Genesis.</a:t>
            </a:r>
          </a:p>
          <a:p xmlns:a="http://schemas.openxmlformats.org/drawingml/2006/main">
            <a:r>
              <a:t>Pourquoi présent : Version épinglée dans requirements.txt; requis immédiatement par Mako.</a:t>
            </a:r>
          </a:p>
          <a:p xmlns:a="http://schemas.openxmlformats.org/drawingml/2006/main">
            <a:r>
              <a:t>Exemple : Le caractère &lt; peut devenir &amp;lt; lors d’un rendu textuel de gabarit.</a:t>
            </a:r>
          </a:p>
          <a:p xmlns:a="http://schemas.openxmlformats.org/drawingml/2006/main">
            <a:r>
              <a:t>Sources :</a:t>
            </a:r>
          </a:p>
          <a:p xmlns:a="http://schemas.openxmlformats.org/drawingml/2006/main">
            <a:r>
              <a:t>requirements.txt</a:t>
            </a:r>
          </a:p>
          <a:p xmlns:a="http://schemas.openxmlformats.org/drawingml/2006/main">
            <a:r>
              <a:t>.venv/Lib/site-packages/markupsafe-3.0.4.dist-info/METADATA</a:t>
            </a:r>
          </a:p>
          <a:p xmlns:a="http://schemas.openxmlformats.org/drawingml/2006/main">
            <a:r>
              <a:t>requirements.txt</a:t>
            </a:r>
          </a:p>
          <a:p xmlns:a="http://schemas.openxmlformats.org/drawingml/2006/main">
            <a:r>
              <a:t>https://markupsafe.palletsprojects.com/</a:t>
            </a:r>
          </a:p>
          <a:p xmlns:a="http://schemas.openxmlformats.org/drawingml/2006/main">
            <a:r>
              <a:t/>
            </a:r>
          </a:p>
          <a:p xmlns:a="http://schemas.openxmlformats.org/drawingml/2006/main">
            <a:r>
              <a:t>opentelemetry-api==1.45.1</a:t>
            </a:r>
          </a:p>
          <a:p xmlns:a="http://schemas.openxmlformats.org/drawingml/2006/main">
            <a:r>
              <a:t>Classement de référence : Support de dépendance.</a:t>
            </a:r>
          </a:p>
          <a:p xmlns:a="http://schemas.openxmlformats.org/drawingml/2006/main">
            <a:r>
              <a:t>Fonction : Définit les interfaces et le contexte de traces, métriques et journaux OpenTelemetry.</a:t>
            </a:r>
          </a:p>
          <a:p xmlns:a="http://schemas.openxmlformats.org/drawingml/2006/main">
            <a:r>
              <a:t>Utilisation Genesis : Est requis notamment par FastAPI et Langfuse; Genesis ne l’importe pas pour calculer ses métriques locales.</a:t>
            </a:r>
          </a:p>
          <a:p xmlns:a="http://schemas.openxmlformats.org/drawingml/2006/main">
            <a:r>
              <a:t>Pourquoi présent : Version épinglée dans requirements.txt; requis immédiatement par fastapi, langfuse, opentelemetry-exporter-http-transport, opentelemetry-exporter-otlp-proto-http, opentelemetry-sdk, opentelemetry-semantic-conventions.</a:t>
            </a:r>
          </a:p>
          <a:p xmlns:a="http://schemas.openxmlformats.org/drawingml/2006/main">
            <a:r>
              <a:t>Exemple : Une bibliothèque peut obtenir un tracer sans imposer elle-même un exporteur de données.</a:t>
            </a:r>
          </a:p>
          <a:p xmlns:a="http://schemas.openxmlformats.org/drawingml/2006/main">
            <a:r>
              <a:t>Sources :</a:t>
            </a:r>
          </a:p>
          <a:p xmlns:a="http://schemas.openxmlformats.org/drawingml/2006/main">
            <a:r>
              <a:t>services/genesis/api.py</a:t>
            </a:r>
          </a:p>
          <a:p xmlns:a="http://schemas.openxmlformats.org/drawingml/2006/main">
            <a:r>
              <a:t>.venv/Lib/site-packages/opentelemetry_api-1.45.1.dist-info/METADATA</a:t>
            </a:r>
          </a:p>
          <a:p xmlns:a="http://schemas.openxmlformats.org/drawingml/2006/main">
            <a:r>
              <a:t>requirements.txt</a:t>
            </a:r>
          </a:p>
          <a:p xmlns:a="http://schemas.openxmlformats.org/drawingml/2006/main">
            <a:r>
              <a:t>https://github.com/open-telemetry/opentelemetry-python/tree/main/opentelemetry-api</a:t>
            </a:r>
          </a:p>
          <a:p xmlns:a="http://schemas.openxmlformats.org/drawingml/2006/main">
            <a:r>
              <a:t/>
            </a:r>
          </a:p>
          <a:p xmlns:a="http://schemas.openxmlformats.org/drawingml/2006/main">
            <a:r>
              <a:t>opentelemetry-exporter-http-transport==0.66b1</a:t>
            </a:r>
          </a:p>
          <a:p xmlns:a="http://schemas.openxmlformats.org/drawingml/2006/main">
            <a:r>
              <a:t>Classement de référence : Support de dépendance.</a:t>
            </a:r>
          </a:p>
          <a:p xmlns:a="http://schemas.openxmlformats.org/drawingml/2006/main">
            <a:r>
              <a:t>Fonction : Définit les transports HTTP partageables entre exporteurs OpenTelemetry.</a:t>
            </a:r>
          </a:p>
          <a:p xmlns:a="http://schemas.openxmlformats.org/drawingml/2006/main">
            <a:r>
              <a:t>Utilisation Genesis : Supporte indirectement l’export OTLP du SDK Langfuse facultatif, sans appel métier direct.</a:t>
            </a:r>
          </a:p>
          <a:p xmlns:a="http://schemas.openxmlformats.org/drawingml/2006/main">
            <a:r>
              <a:t>Pourquoi présent : Version épinglée dans requirements.txt; requis immédiatement par opentelemetry-exporter-otlp-proto-http.</a:t>
            </a:r>
          </a:p>
          <a:p xmlns:a="http://schemas.openxmlformats.org/drawingml/2006/main">
            <a:r>
              <a:t>Exemple : Une implémentation RequestsHTTPTransport envoie un lot HTTP et normalise statut, en-têtes et erreurs.</a:t>
            </a:r>
          </a:p>
          <a:p xmlns:a="http://schemas.openxmlformats.org/drawingml/2006/main">
            <a:r>
              <a:t>Sources :</a:t>
            </a:r>
          </a:p>
          <a:p xmlns:a="http://schemas.openxmlformats.org/drawingml/2006/main">
            <a:r>
              <a:t>services/genesis/worker.py</a:t>
            </a:r>
          </a:p>
          <a:p xmlns:a="http://schemas.openxmlformats.org/drawingml/2006/main">
            <a:r>
              <a:t>.venv/Lib/site-packages/opentelemetry_exporter_http_transport-0.66b1.dist-info/METADATA</a:t>
            </a:r>
          </a:p>
          <a:p xmlns:a="http://schemas.openxmlformats.org/drawingml/2006/main">
            <a:r>
              <a:t>requirements.txt</a:t>
            </a:r>
          </a:p>
          <a:p xmlns:a="http://schemas.openxmlformats.org/drawingml/2006/main">
            <a:r>
              <a:t>https://github.com/open-telemetry/opentelemetry-python/tree/main/exporter/opentelemetry-exporter-http-transport</a:t>
            </a:r>
          </a:p>
          <a:p xmlns:a="http://schemas.openxmlformats.org/drawingml/2006/main">
            <a:r>
              <a:t/>
            </a:r>
          </a:p>
          <a:p xmlns:a="http://schemas.openxmlformats.org/drawingml/2006/main">
            <a:r>
              <a:t>opentelemetry-exporter-otlp-common==0.66b1</a:t>
            </a:r>
          </a:p>
          <a:p xmlns:a="http://schemas.openxmlformats.org/drawingml/2006/main">
            <a:r>
              <a:t>Classement de référence : Support de dépendance.</a:t>
            </a:r>
          </a:p>
          <a:p xmlns:a="http://schemas.openxmlformats.org/drawingml/2006/main">
            <a:r>
              <a:t>Fonction : Fournit les utilitaires partagés OTLP pour compression, délais et reprises d’export.</a:t>
            </a:r>
          </a:p>
          <a:p xmlns:a="http://schemas.openxmlformats.org/drawingml/2006/main">
            <a:r>
              <a:t>Utilisation Genesis : Appartient à la chaîne de l’export OTLP installée, sans calculer les coûts ou certificats Genesis.</a:t>
            </a:r>
          </a:p>
          <a:p xmlns:a="http://schemas.openxmlformats.org/drawingml/2006/main">
            <a:r>
              <a:t>Pourquoi présent : Version épinglée dans requirements.txt; requis immédiatement par opentelemetry-exporter-otlp-proto-http.</a:t>
            </a:r>
          </a:p>
          <a:p xmlns:a="http://schemas.openxmlformats.org/drawingml/2006/main">
            <a:r>
              <a:t>Exemple : Le moteur commun reconnaît Retry-After et certains statuts temporaires pour espacer les envois.</a:t>
            </a:r>
          </a:p>
          <a:p xmlns:a="http://schemas.openxmlformats.org/drawingml/2006/main">
            <a:r>
              <a:t>Sources :</a:t>
            </a:r>
          </a:p>
          <a:p xmlns:a="http://schemas.openxmlformats.org/drawingml/2006/main">
            <a:r>
              <a:t>services/genesis/worker.py</a:t>
            </a:r>
          </a:p>
          <a:p xmlns:a="http://schemas.openxmlformats.org/drawingml/2006/main">
            <a:r>
              <a:t>.venv/Lib/site-packages/opentelemetry_exporter_otlp_common-0.66b1.dist-info/METADATA</a:t>
            </a:r>
          </a:p>
          <a:p xmlns:a="http://schemas.openxmlformats.org/drawingml/2006/main">
            <a:r>
              <a:t>requirements.txt</a:t>
            </a:r>
          </a:p>
          <a:p xmlns:a="http://schemas.openxmlformats.org/drawingml/2006/main">
            <a:r>
              <a:t>https://github.com/open-telemetry/opentelemetry-python/tree/main/exporter/opentelemetry-exporter-otlp-common</a:t>
            </a:r>
          </a:p>
          <a:p xmlns:a="http://schemas.openxmlformats.org/drawingml/2006/main">
            <a:r>
              <a:t/>
            </a:r>
          </a:p>
          <a:p xmlns:a="http://schemas.openxmlformats.org/drawingml/2006/main">
            <a:r>
              <a:t>opentelemetry-exporter-otlp-proto-common==1.45.1</a:t>
            </a:r>
          </a:p>
          <a:p xmlns:a="http://schemas.openxmlformats.org/drawingml/2006/main">
            <a:r>
              <a:t>Classement de référence : Support de dépendance.</a:t>
            </a:r>
          </a:p>
          <a:p xmlns:a="http://schemas.openxmlformats.org/drawingml/2006/main">
            <a:r>
              <a:t>Fonction : Encode les données du SDK OpenTelemetry en messages Protobuf OTLP.</a:t>
            </a:r>
          </a:p>
          <a:p xmlns:a="http://schemas.openxmlformats.org/drawingml/2006/main">
            <a:r>
              <a:t>Utilisation Genesis : Supporte l’exporteur HTTP utilisé par Langfuse lorsqu’il est activé.</a:t>
            </a:r>
          </a:p>
          <a:p xmlns:a="http://schemas.openxmlformats.org/drawingml/2006/main">
            <a:r>
              <a:t>Pourquoi présent : Version épinglée dans requirements.txt; requis immédiatement par opentelemetry-exporter-otlp-proto-http.</a:t>
            </a:r>
          </a:p>
          <a:p xmlns:a="http://schemas.openxmlformats.org/drawingml/2006/main">
            <a:r>
              <a:t>Exemple : Un span du SDK est transformé en message de trace compatible avec le protocole OTLP.</a:t>
            </a:r>
          </a:p>
          <a:p xmlns:a="http://schemas.openxmlformats.org/drawingml/2006/main">
            <a:r>
              <a:t>Sources :</a:t>
            </a:r>
          </a:p>
          <a:p xmlns:a="http://schemas.openxmlformats.org/drawingml/2006/main">
            <a:r>
              <a:t>services/genesis/worker.py</a:t>
            </a:r>
          </a:p>
          <a:p xmlns:a="http://schemas.openxmlformats.org/drawingml/2006/main">
            <a:r>
              <a:t>.venv/Lib/site-packages/opentelemetry_exporter_otlp_proto_common-1.45.1.dist-info/METADATA</a:t>
            </a:r>
          </a:p>
          <a:p xmlns:a="http://schemas.openxmlformats.org/drawingml/2006/main">
            <a:r>
              <a:t>requirements.txt</a:t>
            </a:r>
          </a:p>
          <a:p xmlns:a="http://schemas.openxmlformats.org/drawingml/2006/main">
            <a:r>
              <a:t>https://github.com/open-telemetry/opentelemetry-python/tree/main/exporter/opentelemetry-exporter-otlp-proto-common</a:t>
            </a:r>
          </a:p>
          <a:p xmlns:a="http://schemas.openxmlformats.org/drawingml/2006/main">
            <a:r>
              <a:t/>
            </a:r>
          </a:p>
          <a:p xmlns:a="http://schemas.openxmlformats.org/drawingml/2006/main">
            <a:r>
              <a:t>opentelemetry-exporter-otlp-proto-http==1.45.1</a:t>
            </a:r>
          </a:p>
          <a:p xmlns:a="http://schemas.openxmlformats.org/drawingml/2006/main">
            <a:r>
              <a:t>Classement de référence : Support de dépendance.</a:t>
            </a:r>
          </a:p>
          <a:p xmlns:a="http://schemas.openxmlformats.org/drawingml/2006/main">
            <a:r>
              <a:t>Fonction : Envoie les traces, métriques et journaux OTLP encodés en Protobuf sur HTTP.</a:t>
            </a:r>
          </a:p>
          <a:p xmlns:a="http://schemas.openxmlformats.org/drawingml/2006/main">
            <a:r>
              <a:t>Utilisation Genesis : Est requis par Langfuse; sa présence ne démontre pas un export externe Genesis effectivement configuré.</a:t>
            </a:r>
          </a:p>
          <a:p xmlns:a="http://schemas.openxmlformats.org/drawingml/2006/main">
            <a:r>
              <a:t>Pourquoi présent : Version épinglée dans requirements.txt; requis immédiatement par langfuse.</a:t>
            </a:r>
          </a:p>
          <a:p xmlns:a="http://schemas.openxmlformats.org/drawingml/2006/main">
            <a:r>
              <a:t>Exemple : Un lot de spans peut être envoyé à un point de collecte OTLP avec des délais et reprises bornés par l’exporteur.</a:t>
            </a:r>
          </a:p>
          <a:p xmlns:a="http://schemas.openxmlformats.org/drawingml/2006/main">
            <a:r>
              <a:t>Sources :</a:t>
            </a:r>
          </a:p>
          <a:p xmlns:a="http://schemas.openxmlformats.org/drawingml/2006/main">
            <a:r>
              <a:t>services/genesis/worker.py</a:t>
            </a:r>
          </a:p>
          <a:p xmlns:a="http://schemas.openxmlformats.org/drawingml/2006/main">
            <a:r>
              <a:t>.venv/Lib/site-packages/opentelemetry_exporter_otlp_proto_http-1.45.1.dist-info/METADATA</a:t>
            </a:r>
          </a:p>
          <a:p xmlns:a="http://schemas.openxmlformats.org/drawingml/2006/main">
            <a:r>
              <a:t>requirements.txt</a:t>
            </a:r>
          </a:p>
          <a:p xmlns:a="http://schemas.openxmlformats.org/drawingml/2006/main">
            <a:r>
              <a:t>https://github.com/open-telemetry/opentelemetry-python/tree/main/exporter/opentelemetry-exporter-otlp-proto-http</a:t>
            </a:r>
          </a:p>
          <a:p xmlns:a="http://schemas.openxmlformats.org/drawingml/2006/main">
            <a:r>
              <a:t/>
            </a:r>
          </a:p>
          <a:p xmlns:a="http://schemas.openxmlformats.org/drawingml/2006/main">
            <a:r>
              <a:t>opentelemetry-proto==1.45.1</a:t>
            </a:r>
          </a:p>
          <a:p xmlns:a="http://schemas.openxmlformats.org/drawingml/2006/main">
            <a:r>
              <a:t>Classement de référence : Support de dépendance.</a:t>
            </a:r>
          </a:p>
          <a:p xmlns:a="http://schemas.openxmlformats.org/drawingml/2006/main">
            <a:r>
              <a:t>Fonction : Distribue les classes Python générées à partir des schémas Protobuf OpenTelemetry.</a:t>
            </a:r>
          </a:p>
          <a:p xmlns:a="http://schemas.openxmlformats.org/drawingml/2006/main">
            <a:r>
              <a:t>Utilisation Genesis : Supporte les encodeurs et exporteurs de la chaîne OTLP installée.</a:t>
            </a:r>
          </a:p>
          <a:p xmlns:a="http://schemas.openxmlformats.org/drawingml/2006/main">
            <a:r>
              <a:t>Pourquoi présent : Version épinglée dans requirements.txt; requis immédiatement par opentelemetry-exporter-otlp-proto-common, opentelemetry-exporter-otlp-proto-http.</a:t>
            </a:r>
          </a:p>
          <a:p xmlns:a="http://schemas.openxmlformats.org/drawingml/2006/main">
            <a:r>
              <a:t>Exemple : Un message ExportTraceServiceRequest représente un lot de traces dans un format interopérable.</a:t>
            </a:r>
          </a:p>
          <a:p xmlns:a="http://schemas.openxmlformats.org/drawingml/2006/main">
            <a:r>
              <a:t>Sources :</a:t>
            </a:r>
          </a:p>
          <a:p xmlns:a="http://schemas.openxmlformats.org/drawingml/2006/main">
            <a:r>
              <a:t>services/genesis/worker.py</a:t>
            </a:r>
          </a:p>
          <a:p xmlns:a="http://schemas.openxmlformats.org/drawingml/2006/main">
            <a:r>
              <a:t>.venv/Lib/site-packages/opentelemetry_proto-1.45.1.dist-info/METADATA</a:t>
            </a:r>
          </a:p>
          <a:p xmlns:a="http://schemas.openxmlformats.org/drawingml/2006/main">
            <a:r>
              <a:t>requirements.txt</a:t>
            </a:r>
          </a:p>
          <a:p xmlns:a="http://schemas.openxmlformats.org/drawingml/2006/main">
            <a:r>
              <a:t>https://github.com/open-telemetry/opentelemetry-python/tree/main/opentelemetry-proto</a:t>
            </a:r>
          </a:p>
          <a:p xmlns:a="http://schemas.openxmlformats.org/drawingml/2006/main">
            <a:r>
              <a:t/>
            </a:r>
          </a:p>
          <a:p xmlns:a="http://schemas.openxmlformats.org/drawingml/2006/main">
            <a:r>
              <a:t>opentelemetry-sdk==1.45.1</a:t>
            </a:r>
          </a:p>
          <a:p xmlns:a="http://schemas.openxmlformats.org/drawingml/2006/main">
            <a:r>
              <a:t>Classement de référence : Support de dépendance.</a:t>
            </a:r>
          </a:p>
          <a:p xmlns:a="http://schemas.openxmlformats.org/drawingml/2006/main">
            <a:r>
              <a:t>Fonction : Implémente les fournisseurs, processeurs et exporteurs des signaux OpenTelemetry.</a:t>
            </a:r>
          </a:p>
          <a:p xmlns:a="http://schemas.openxmlformats.org/drawingml/2006/main">
            <a:r>
              <a:t>Utilisation Genesis : Supporte le SDK Langfuse facultatif; les métriques du tableau de bord viennent de la base applicative Genesis.</a:t>
            </a:r>
          </a:p>
          <a:p xmlns:a="http://schemas.openxmlformats.org/drawingml/2006/main">
            <a:r>
              <a:t>Pourquoi présent : Version épinglée dans requirements.txt; requis immédiatement par langfuse, opentelemetry-exporter-otlp-common, opentelemetry-exporter-otlp-proto-http.</a:t>
            </a:r>
          </a:p>
          <a:p xmlns:a="http://schemas.openxmlformats.org/drawingml/2006/main">
            <a:r>
              <a:t>Exemple : Un processeur de spans peut assembler les événements avant leur export sans modifier le registre de dépenses.</a:t>
            </a:r>
          </a:p>
          <a:p xmlns:a="http://schemas.openxmlformats.org/drawingml/2006/main">
            <a:r>
              <a:t>Sources :</a:t>
            </a:r>
          </a:p>
          <a:p xmlns:a="http://schemas.openxmlformats.org/drawingml/2006/main">
            <a:r>
              <a:t>services/genesis/worker.py</a:t>
            </a:r>
          </a:p>
          <a:p xmlns:a="http://schemas.openxmlformats.org/drawingml/2006/main">
            <a:r>
              <a:t>.venv/Lib/site-packages/opentelemetry_sdk-1.45.1.dist-info/METADATA</a:t>
            </a:r>
          </a:p>
          <a:p xmlns:a="http://schemas.openxmlformats.org/drawingml/2006/main">
            <a:r>
              <a:t>requirements.txt</a:t>
            </a:r>
          </a:p>
          <a:p xmlns:a="http://schemas.openxmlformats.org/drawingml/2006/main">
            <a:r>
              <a:t>https://github.com/open-telemetry/opentelemetry-python/tree/main/opentelemetry-sdk</a:t>
            </a:r>
          </a:p>
          <a:p xmlns:a="http://schemas.openxmlformats.org/drawingml/2006/main">
            <a:r>
              <a:t/>
            </a:r>
          </a:p>
          <a:p xmlns:a="http://schemas.openxmlformats.org/drawingml/2006/main">
            <a:r>
              <a:t>opentelemetry-semantic-conventions==0.66b1</a:t>
            </a:r>
          </a:p>
          <a:p xmlns:a="http://schemas.openxmlformats.org/drawingml/2006/main">
            <a:r>
              <a:t>Classement de référence : Support de dépendance.</a:t>
            </a:r>
          </a:p>
          <a:p xmlns:a="http://schemas.openxmlformats.org/drawingml/2006/main">
            <a:r>
              <a:t>Fonction : Distribue les noms d’attributs et conventions sémantiques de télémétrie.</a:t>
            </a:r>
          </a:p>
          <a:p xmlns:a="http://schemas.openxmlformats.org/drawingml/2006/main">
            <a:r>
              <a:t>Utilisation Genesis : Est requis par le SDK OpenTelemetry; le contrat d’événements métier Genesis reste distinct.</a:t>
            </a:r>
          </a:p>
          <a:p xmlns:a="http://schemas.openxmlformats.org/drawingml/2006/main">
            <a:r>
              <a:t>Pourquoi présent : Version épinglée dans requirements.txt; requis immédiatement par opentelemetry-sdk.</a:t>
            </a:r>
          </a:p>
          <a:p xmlns:a="http://schemas.openxmlformats.org/drawingml/2006/main">
            <a:r>
              <a:t>Exemple : Un attribut standard identifie le service ou le transport d’un span et facilite sa lecture par les outils.</a:t>
            </a:r>
          </a:p>
          <a:p xmlns:a="http://schemas.openxmlformats.org/drawingml/2006/main">
            <a:r>
              <a:t>Sources :</a:t>
            </a:r>
          </a:p>
          <a:p xmlns:a="http://schemas.openxmlformats.org/drawingml/2006/main">
            <a:r>
              <a:t>docs/DATA-CONTRACT.md</a:t>
            </a:r>
          </a:p>
          <a:p xmlns:a="http://schemas.openxmlformats.org/drawingml/2006/main">
            <a:r>
              <a:t>.venv/Lib/site-packages/opentelemetry_semantic_conventions-0.66b1.dist-info/METADATA</a:t>
            </a:r>
          </a:p>
          <a:p xmlns:a="http://schemas.openxmlformats.org/drawingml/2006/main">
            <a:r>
              <a:t>requirements.txt</a:t>
            </a:r>
          </a:p>
          <a:p xmlns:a="http://schemas.openxmlformats.org/drawingml/2006/main">
            <a:r>
              <a:t>https://github.com/open-telemetry/opentelemetry-python/tree/main/opentelemetry-semantic-conventions</a:t>
            </a:r>
          </a:p>
          <a:p xmlns:a="http://schemas.openxmlformats.org/drawingml/2006/main">
            <a:r>
              <a:t/>
            </a:r>
          </a:p>
          <a:p xmlns:a="http://schemas.openxmlformats.org/drawingml/2006/main">
            <a:r>
              <a:t>orjson==3.13.0</a:t>
            </a:r>
          </a:p>
          <a:p xmlns:a="http://schemas.openxmlformats.org/drawingml/2006/main">
            <a:r>
              <a:t>Classement de référence : Support de dépendance.</a:t>
            </a:r>
          </a:p>
          <a:p xmlns:a="http://schemas.openxmlformats.org/drawingml/2006/main">
            <a:r>
              <a:t>Fonction : Sérialise et désérialise rapidement du JSON, avec une implémentation native.</a:t>
            </a:r>
          </a:p>
          <a:p xmlns:a="http://schemas.openxmlformats.org/drawingml/2006/main">
            <a:r>
              <a:t>Utilisation Genesis : Est requis par le SDK LangGraph, Langsmith et le saver PostgreSQL installé; Genesis importe json de la bibliothèque standard.</a:t>
            </a:r>
          </a:p>
          <a:p xmlns:a="http://schemas.openxmlformats.org/drawingml/2006/main">
            <a:r>
              <a:t>Pourquoi présent : Version épinglée dans requirements.txt; requis immédiatement par langgraph-checkpoint-postgres, langgraph-sdk, langsmith (platform_python_implementation != "PyPy").</a:t>
            </a:r>
          </a:p>
          <a:p xmlns:a="http://schemas.openxmlformats.org/drawingml/2006/main">
            <a:r>
              <a:t>Exemple : Une bibliothèque peut encoder un objet en octets JSON; ce chemin n’établit aucun usage du saver PostgreSQL.</a:t>
            </a:r>
          </a:p>
          <a:p xmlns:a="http://schemas.openxmlformats.org/drawingml/2006/main">
            <a:r>
              <a:t>Sources :</a:t>
            </a:r>
          </a:p>
          <a:p xmlns:a="http://schemas.openxmlformats.org/drawingml/2006/main">
            <a:r>
              <a:t>services/genesis/workflow.py</a:t>
            </a:r>
          </a:p>
          <a:p xmlns:a="http://schemas.openxmlformats.org/drawingml/2006/main">
            <a:r>
              <a:t>.venv/Lib/site-packages/orjson-3.13.0.dist-info/METADATA</a:t>
            </a:r>
          </a:p>
          <a:p xmlns:a="http://schemas.openxmlformats.org/drawingml/2006/main">
            <a:r>
              <a:t>requirements.txt</a:t>
            </a:r>
          </a:p>
          <a:p xmlns:a="http://schemas.openxmlformats.org/drawingml/2006/main">
            <a:r>
              <a:t>https://github.com/ijl/orjson</a:t>
            </a:r>
          </a:p>
          <a:p xmlns:a="http://schemas.openxmlformats.org/drawingml/2006/main">
            <a:r>
              <a:t/>
            </a:r>
          </a:p>
          <a:p xmlns:a="http://schemas.openxmlformats.org/drawingml/2006/main">
            <a:r>
              <a:t>ormsgpack==1.12.2</a:t>
            </a:r>
          </a:p>
          <a:p xmlns:a="http://schemas.openxmlformats.org/drawingml/2006/main">
            <a:r>
              <a:t>Classement de référence : Support de dépendance.</a:t>
            </a:r>
          </a:p>
          <a:p xmlns:a="http://schemas.openxmlformats.org/drawingml/2006/main">
            <a:r>
              <a:t>Fonction : Encode et décode des objets Python au format MessagePack binaire.</a:t>
            </a:r>
          </a:p>
          <a:p xmlns:a="http://schemas.openxmlformats.org/drawingml/2006/main">
            <a:r>
              <a:t>Utilisation Genesis : Est requis par langgraph-checkpoint pour sa couche de sérialisation.</a:t>
            </a:r>
          </a:p>
          <a:p xmlns:a="http://schemas.openxmlformats.org/drawingml/2006/main">
            <a:r>
              <a:t>Pourquoi présent : Version épinglée dans requirements.txt; requis immédiatement par langgraph-checkpoint.</a:t>
            </a:r>
          </a:p>
          <a:p xmlns:a="http://schemas.openxmlformats.org/drawingml/2006/main">
            <a:r>
              <a:t>Exemple : Le sérialiseur des checkpoints peut stocker un état compact avant sa réhydratation.</a:t>
            </a:r>
          </a:p>
          <a:p xmlns:a="http://schemas.openxmlformats.org/drawingml/2006/main">
            <a:r>
              <a:t>Sources :</a:t>
            </a:r>
          </a:p>
          <a:p xmlns:a="http://schemas.openxmlformats.org/drawingml/2006/main">
            <a:r>
              <a:t>services/genesis/workflow.py</a:t>
            </a:r>
          </a:p>
          <a:p xmlns:a="http://schemas.openxmlformats.org/drawingml/2006/main">
            <a:r>
              <a:t>.venv/Lib/site-packages/ormsgpack-1.12.2.dist-info/METADATA</a:t>
            </a:r>
          </a:p>
          <a:p xmlns:a="http://schemas.openxmlformats.org/drawingml/2006/main">
            <a:r>
              <a:t>requirements.txt</a:t>
            </a:r>
          </a:p>
          <a:p xmlns:a="http://schemas.openxmlformats.org/drawingml/2006/main">
            <a:r>
              <a:t>https://github.com/ormsgpack/ormsgpack</a:t>
            </a:r>
          </a:p>
          <a:p xmlns:a="http://schemas.openxmlformats.org/drawingml/2006/main">
            <a:r>
              <a:t/>
            </a:r>
          </a:p>
          <a:p xmlns:a="http://schemas.openxmlformats.org/drawingml/2006/main">
            <a:r>
              <a:t>packaging==26.3</a:t>
            </a:r>
          </a:p>
          <a:p xmlns:a="http://schemas.openxmlformats.org/drawingml/2006/main">
            <a:r>
              <a:t>Classement de référence : Support de dépendance.</a:t>
            </a:r>
          </a:p>
          <a:p xmlns:a="http://schemas.openxmlformats.org/drawingml/2006/main">
            <a:r>
              <a:t>Fonction : Analyse versions, spécificateurs, noms et conditions des paquets Python.</a:t>
            </a:r>
          </a:p>
          <a:p xmlns:a="http://schemas.openxmlformats.org/drawingml/2006/main">
            <a:r>
              <a:t>Utilisation Genesis : Est requis par plusieurs bibliothèques et pytest; aucun calcul métier de tournée ne lui est confié.</a:t>
            </a:r>
          </a:p>
          <a:p xmlns:a="http://schemas.openxmlformats.org/drawingml/2006/main">
            <a:r>
              <a:t>Pourquoi présent : Version épinglée dans requirements.txt; requis immédiatement par langchain-core, langfuse, langsmith, pytest.</a:t>
            </a:r>
          </a:p>
          <a:p xmlns:a="http://schemas.openxmlformats.org/drawingml/2006/main">
            <a:r>
              <a:t>Exemple : Un outil compare une version installée à une contrainte &gt;=4 plutôt que comparer deux chaînes arbitrairement.</a:t>
            </a:r>
          </a:p>
          <a:p xmlns:a="http://schemas.openxmlformats.org/drawingml/2006/main">
            <a:r>
              <a:t>Sources :</a:t>
            </a:r>
          </a:p>
          <a:p xmlns:a="http://schemas.openxmlformats.org/drawingml/2006/main">
            <a:r>
              <a:t>pyproject.toml</a:t>
            </a:r>
          </a:p>
          <a:p xmlns:a="http://schemas.openxmlformats.org/drawingml/2006/main">
            <a:r>
              <a:t>.venv/Lib/site-packages/packaging-26.3.dist-info/METADATA</a:t>
            </a:r>
          </a:p>
          <a:p xmlns:a="http://schemas.openxmlformats.org/drawingml/2006/main">
            <a:r>
              <a:t>requirements.txt</a:t>
            </a:r>
          </a:p>
          <a:p xmlns:a="http://schemas.openxmlformats.org/drawingml/2006/main">
            <a:r>
              <a:t>https://packaging.pypa.io/</a:t>
            </a:r>
          </a:p>
          <a:p xmlns:a="http://schemas.openxmlformats.org/drawingml/2006/main">
            <a:r>
              <a:t/>
            </a:r>
          </a:p>
          <a:p xmlns:a="http://schemas.openxmlformats.org/drawingml/2006/main">
            <a:r>
              <a:t>protobuf==6.33.6</a:t>
            </a:r>
          </a:p>
          <a:p xmlns:a="http://schemas.openxmlformats.org/drawingml/2006/main">
            <a:r>
              <a:t>Classement de référence : Support de dépendance.</a:t>
            </a:r>
          </a:p>
          <a:p xmlns:a="http://schemas.openxmlformats.org/drawingml/2006/main">
            <a:r>
              <a:t>Fonction : Encode et décode des messages typés dans le format binaire Protocol Buffers.</a:t>
            </a:r>
          </a:p>
          <a:p xmlns:a="http://schemas.openxmlformats.org/drawingml/2006/main">
            <a:r>
              <a:t>Utilisation Genesis : Est requis par OR-Tools et la chaîne OTLP; Genesis ne déclare pas de service RPC Protobuf.</a:t>
            </a:r>
          </a:p>
          <a:p xmlns:a="http://schemas.openxmlformats.org/drawingml/2006/main">
            <a:r>
              <a:t>Pourquoi présent : Version épinglée dans requirements.txt; requis immédiatement par googleapis-common-protos, opentelemetry-proto, ortools.</a:t>
            </a:r>
          </a:p>
          <a:p xmlns:a="http://schemas.openxmlformats.org/drawingml/2006/main">
            <a:r>
              <a:t>Exemple : Les paramètres du solveur sont représentés par des messages générés, distincts des contrats JSON de l’API.</a:t>
            </a:r>
          </a:p>
          <a:p xmlns:a="http://schemas.openxmlformats.org/drawingml/2006/main">
            <a:r>
              <a:t>Sources :</a:t>
            </a:r>
          </a:p>
          <a:p xmlns:a="http://schemas.openxmlformats.org/drawingml/2006/main">
            <a:r>
              <a:t>services/genesis/solver.py</a:t>
            </a:r>
          </a:p>
          <a:p xmlns:a="http://schemas.openxmlformats.org/drawingml/2006/main">
            <a:r>
              <a:t>.venv/Lib/site-packages/protobuf-6.33.6.dist-info/METADATA</a:t>
            </a:r>
          </a:p>
          <a:p xmlns:a="http://schemas.openxmlformats.org/drawingml/2006/main">
            <a:r>
              <a:t>requirements.txt</a:t>
            </a:r>
          </a:p>
          <a:p xmlns:a="http://schemas.openxmlformats.org/drawingml/2006/main">
            <a:r>
              <a:t>https://developers.google.com/protocol-buffers/</a:t>
            </a:r>
          </a:p>
          <a:p xmlns:a="http://schemas.openxmlformats.org/drawingml/2006/main">
            <a:r>
              <a:t/>
            </a:r>
          </a:p>
          <a:p xmlns:a="http://schemas.openxmlformats.org/drawingml/2006/main">
            <a:r>
              <a:t>pydantic_core==2.50.0</a:t>
            </a:r>
          </a:p>
          <a:p xmlns:a="http://schemas.openxmlformats.org/drawingml/2006/main">
            <a:r>
              <a:t>Classement de référence : Support de dépendance.</a:t>
            </a:r>
          </a:p>
          <a:p xmlns:a="http://schemas.openxmlformats.org/drawingml/2006/main">
            <a:r>
              <a:t>Fonction : Exécute en Rust les fonctions centrales de validation et sérialisation de Pydantic.</a:t>
            </a:r>
          </a:p>
          <a:p xmlns:a="http://schemas.openxmlformats.org/drawingml/2006/main">
            <a:r>
              <a:t>Utilisation Genesis : Supporte les modèles Pydantic de Genesis sans import métier direct.</a:t>
            </a:r>
          </a:p>
          <a:p xmlns:a="http://schemas.openxmlformats.org/drawingml/2006/main">
            <a:r>
              <a:t>Pourquoi présent : Version épinglée dans requirements.txt; requis immédiatement par pydantic.</a:t>
            </a:r>
          </a:p>
          <a:p xmlns:a="http://schemas.openxmlformats.org/drawingml/2006/main">
            <a:r>
              <a:t>Exemple : Le moteur vérifie le type et les bornes d’un entier avant de construire l’objet validé.</a:t>
            </a:r>
          </a:p>
          <a:p xmlns:a="http://schemas.openxmlformats.org/drawingml/2006/main">
            <a:r>
              <a:t>Sources :</a:t>
            </a:r>
          </a:p>
          <a:p xmlns:a="http://schemas.openxmlformats.org/drawingml/2006/main">
            <a:r>
              <a:t>services/genesis/models.py</a:t>
            </a:r>
          </a:p>
          <a:p xmlns:a="http://schemas.openxmlformats.org/drawingml/2006/main">
            <a:r>
              <a:t>.venv/Lib/site-packages/pydantic_core-2.50.0.dist-info/METADATA</a:t>
            </a:r>
          </a:p>
          <a:p xmlns:a="http://schemas.openxmlformats.org/drawingml/2006/main">
            <a:r>
              <a:t>requirements.txt</a:t>
            </a:r>
          </a:p>
          <a:p xmlns:a="http://schemas.openxmlformats.org/drawingml/2006/main">
            <a:r>
              <a:t>https://github.com/pydantic</a:t>
            </a:r>
          </a:p>
          <a:p xmlns:a="http://schemas.openxmlformats.org/drawingml/2006/main">
            <a:r>
              <a:t/>
            </a:r>
          </a:p>
          <a:p xmlns:a="http://schemas.openxmlformats.org/drawingml/2006/main">
            <a:r>
              <a:t>Pygments==2.21.0</a:t>
            </a:r>
          </a:p>
          <a:p xmlns:a="http://schemas.openxmlformats.org/drawingml/2006/main">
            <a:r>
              <a:t>Classement de référence : Support de dépendance.</a:t>
            </a:r>
          </a:p>
          <a:p xmlns:a="http://schemas.openxmlformats.org/drawingml/2006/main">
            <a:r>
              <a:t>Fonction : Reconnaît les langages et produit une coloration syntaxique du code.</a:t>
            </a:r>
          </a:p>
          <a:p xmlns:a="http://schemas.openxmlformats.org/drawingml/2006/main">
            <a:r>
              <a:t>Utilisation Genesis : Est requis par pytest; aucun moteur de coloration du tableau de bord ne l’importe.</a:t>
            </a:r>
          </a:p>
          <a:p xmlns:a="http://schemas.openxmlformats.org/drawingml/2006/main">
            <a:r>
              <a:t>Pourquoi présent : Version épinglée dans requirements.txt; requis immédiatement par pytest.</a:t>
            </a:r>
          </a:p>
          <a:p xmlns:a="http://schemas.openxmlformats.org/drawingml/2006/main">
            <a:r>
              <a:t>Exemple : pytest peut améliorer la présentation d’un extrait de code dans un diagnostic de test.</a:t>
            </a:r>
          </a:p>
          <a:p xmlns:a="http://schemas.openxmlformats.org/drawingml/2006/main">
            <a:r>
              <a:t>Sources :</a:t>
            </a:r>
          </a:p>
          <a:p xmlns:a="http://schemas.openxmlformats.org/drawingml/2006/main">
            <a:r>
              <a:t>scripts/check.ps1</a:t>
            </a:r>
          </a:p>
          <a:p xmlns:a="http://schemas.openxmlformats.org/drawingml/2006/main">
            <a:r>
              <a:t>.venv/Lib/site-packages/pygments-2.21.0.dist-info/METADATA</a:t>
            </a:r>
          </a:p>
          <a:p xmlns:a="http://schemas.openxmlformats.org/drawingml/2006/main">
            <a:r>
              <a:t>requirements.txt</a:t>
            </a:r>
          </a:p>
          <a:p xmlns:a="http://schemas.openxmlformats.org/drawingml/2006/main">
            <a:r>
              <a:t>https://pygments.org</a:t>
            </a:r>
          </a:p>
          <a:p xmlns:a="http://schemas.openxmlformats.org/drawingml/2006/main">
            <a:r>
              <a:t/>
            </a:r>
          </a:p>
          <a:p xmlns:a="http://schemas.openxmlformats.org/drawingml/2006/main">
            <a:r>
              <a:t>python-dateutil==2.9.0.post0</a:t>
            </a:r>
          </a:p>
          <a:p xmlns:a="http://schemas.openxmlformats.org/drawingml/2006/main">
            <a:r>
              <a:t>Classement de référence : Support de dépendance.</a:t>
            </a:r>
          </a:p>
          <a:p xmlns:a="http://schemas.openxmlformats.org/drawingml/2006/main">
            <a:r>
              <a:t>Fonction : Étend datetime avec analyse de dates, calculs relatifs et récurrences.</a:t>
            </a:r>
          </a:p>
          <a:p xmlns:a="http://schemas.openxmlformats.org/drawingml/2006/main">
            <a:r>
              <a:t>Utilisation Genesis : Est requis par pandas; les modules métier Genesis utilisent datetime de la bibliothèque standard.</a:t>
            </a:r>
          </a:p>
          <a:p xmlns:a="http://schemas.openxmlformats.org/drawingml/2006/main">
            <a:r>
              <a:t>Pourquoi présent : Version épinglée dans requirements.txt; requis immédiatement par pandas.</a:t>
            </a:r>
          </a:p>
          <a:p xmlns:a="http://schemas.openxmlformats.org/drawingml/2006/main">
            <a:r>
              <a:t>Exemple : relativedelta peut représenter un mois civil sans le réduire à un nombre fixe de secondes.</a:t>
            </a:r>
          </a:p>
          <a:p xmlns:a="http://schemas.openxmlformats.org/drawingml/2006/main">
            <a:r>
              <a:t>Sources :</a:t>
            </a:r>
          </a:p>
          <a:p xmlns:a="http://schemas.openxmlformats.org/drawingml/2006/main">
            <a:r>
              <a:t>requirements.txt</a:t>
            </a:r>
          </a:p>
          <a:p xmlns:a="http://schemas.openxmlformats.org/drawingml/2006/main">
            <a:r>
              <a:t>.venv/Lib/site-packages/python_dateutil-2.9.0.post0.dist-info/METADATA</a:t>
            </a:r>
          </a:p>
          <a:p xmlns:a="http://schemas.openxmlformats.org/drawingml/2006/main">
            <a:r>
              <a:t>requirements.txt</a:t>
            </a:r>
          </a:p>
          <a:p xmlns:a="http://schemas.openxmlformats.org/drawingml/2006/main">
            <a:r>
              <a:t>https://dateutil.readthedocs.io/en/stable/</a:t>
            </a:r>
          </a:p>
          <a:p xmlns:a="http://schemas.openxmlformats.org/drawingml/2006/main">
            <a:r>
              <a:t/>
            </a:r>
          </a:p>
          <a:p xmlns:a="http://schemas.openxmlformats.org/drawingml/2006/main">
            <a:r>
              <a:t>PyYAML==6.0.3</a:t>
            </a:r>
          </a:p>
          <a:p xmlns:a="http://schemas.openxmlformats.org/drawingml/2006/main">
            <a:r>
              <a:t>Classement de référence : Support de dépendance.</a:t>
            </a:r>
          </a:p>
          <a:p xmlns:a="http://schemas.openxmlformats.org/drawingml/2006/main">
            <a:r>
              <a:t>Fonction : Lit et écrit des documents YAML en objets Python.</a:t>
            </a:r>
          </a:p>
          <a:p xmlns:a="http://schemas.openxmlformats.org/drawingml/2006/main">
            <a:r>
              <a:t>Utilisation Genesis : Est requis par langchain-core; aucun format métier Genesis n’est chargé directement avec PyYAML.</a:t>
            </a:r>
          </a:p>
          <a:p xmlns:a="http://schemas.openxmlformats.org/drawingml/2006/main">
            <a:r>
              <a:t>Pourquoi présent : Version épinglée dans requirements.txt; requis immédiatement par langchain-core.</a:t>
            </a:r>
          </a:p>
          <a:p xmlns:a="http://schemas.openxmlformats.org/drawingml/2006/main">
            <a:r>
              <a:t>Exemple : Une bibliothèque peut lire une configuration YAML; les commandes et plans Genesis utilisent leurs contrats JSON.</a:t>
            </a:r>
          </a:p>
          <a:p xmlns:a="http://schemas.openxmlformats.org/drawingml/2006/main">
            <a:r>
              <a:t>Sources :</a:t>
            </a:r>
          </a:p>
          <a:p xmlns:a="http://schemas.openxmlformats.org/drawingml/2006/main">
            <a:r>
              <a:t>services/genesis/workflow.py</a:t>
            </a:r>
          </a:p>
          <a:p xmlns:a="http://schemas.openxmlformats.org/drawingml/2006/main">
            <a:r>
              <a:t>.venv/Lib/site-packages/pyyaml-6.0.3.dist-info/METADATA</a:t>
            </a:r>
          </a:p>
          <a:p xmlns:a="http://schemas.openxmlformats.org/drawingml/2006/main">
            <a:r>
              <a:t>requirements.txt</a:t>
            </a:r>
          </a:p>
          <a:p xmlns:a="http://schemas.openxmlformats.org/drawingml/2006/main">
            <a:r>
              <a:t>https://pyyaml.org/wiki/PyYAMLDocumentation</a:t>
            </a:r>
          </a:p>
          <a:p xmlns:a="http://schemas.openxmlformats.org/drawingml/2006/main">
            <a:r>
              <a:t/>
            </a:r>
          </a:p>
          <a:p xmlns:a="http://schemas.openxmlformats.org/drawingml/2006/main">
            <a:r>
              <a:t>regex==2026.9.29</a:t>
            </a:r>
          </a:p>
          <a:p xmlns:a="http://schemas.openxmlformats.org/drawingml/2006/main">
            <a:r>
              <a:t>Classement de référence : Support de dépendance.</a:t>
            </a:r>
          </a:p>
          <a:p xmlns:a="http://schemas.openxmlformats.org/drawingml/2006/main">
            <a:r>
              <a:t>Fonction : Fournit des expressions régulières étendues et une gestion avancée d’Unicode.</a:t>
            </a:r>
          </a:p>
          <a:p xmlns:a="http://schemas.openxmlformats.org/drawingml/2006/main">
            <a:r>
              <a:t>Utilisation Genesis : Est requis par tiktoken installé; aucun filtre métier Genesis ne l’importe.</a:t>
            </a:r>
          </a:p>
          <a:p xmlns:a="http://schemas.openxmlformats.org/drawingml/2006/main">
            <a:r>
              <a:t>Pourquoi présent : Version épinglée dans requirements.txt; requis immédiatement par tiktoken.</a:t>
            </a:r>
          </a:p>
          <a:p xmlns:a="http://schemas.openxmlformats.org/drawingml/2006/main">
            <a:r>
              <a:t>Exemple : Le tokeniseur peut découper du texte selon des motifs avant d’appliquer son encodage BPE.</a:t>
            </a:r>
          </a:p>
          <a:p xmlns:a="http://schemas.openxmlformats.org/drawingml/2006/main">
            <a:r>
              <a:t>Sources :</a:t>
            </a:r>
          </a:p>
          <a:p xmlns:a="http://schemas.openxmlformats.org/drawingml/2006/main">
            <a:r>
              <a:t>requirements.txt</a:t>
            </a:r>
          </a:p>
          <a:p xmlns:a="http://schemas.openxmlformats.org/drawingml/2006/main">
            <a:r>
              <a:t>.venv/Lib/site-packages/regex-2026.9.29.dist-info/METADATA</a:t>
            </a:r>
          </a:p>
          <a:p xmlns:a="http://schemas.openxmlformats.org/drawingml/2006/main">
            <a:r>
              <a:t>requirements.txt</a:t>
            </a:r>
          </a:p>
          <a:p xmlns:a="http://schemas.openxmlformats.org/drawingml/2006/main">
            <a:r>
              <a:t>https://github.com/mrabarnett/mrab-regex</a:t>
            </a:r>
          </a:p>
          <a:p xmlns:a="http://schemas.openxmlformats.org/drawingml/2006/main">
            <a:r>
              <a:t/>
            </a:r>
          </a:p>
          <a:p xmlns:a="http://schemas.openxmlformats.org/drawingml/2006/main">
            <a:r>
              <a:t>requests-toolbelt==1.0.0</a:t>
            </a:r>
          </a:p>
          <a:p xmlns:a="http://schemas.openxmlformats.org/drawingml/2006/main">
            <a:r>
              <a:t>Classement de référence : Support de dépendance.</a:t>
            </a:r>
          </a:p>
          <a:p xmlns:a="http://schemas.openxmlformats.org/drawingml/2006/main">
            <a:r>
              <a:t>Fonction : Ajoute des utilitaires à Requests, notamment encodage multipart et adaptateurs de transport.</a:t>
            </a:r>
          </a:p>
          <a:p xmlns:a="http://schemas.openxmlformats.org/drawingml/2006/main">
            <a:r>
              <a:t>Utilisation Genesis : Est requis par Langsmith sans appel direct dans Genesis.</a:t>
            </a:r>
          </a:p>
          <a:p xmlns:a="http://schemas.openxmlformats.org/drawingml/2006/main">
            <a:r>
              <a:t>Pourquoi présent : Version épinglée dans requirements.txt; requis immédiatement par langsmith.</a:t>
            </a:r>
          </a:p>
          <a:p xmlns:a="http://schemas.openxmlformats.org/drawingml/2006/main">
            <a:r>
              <a:t>Exemple : Un client dépendant peut construire un corps multipart pour transmettre des fichiers.</a:t>
            </a:r>
          </a:p>
          <a:p xmlns:a="http://schemas.openxmlformats.org/drawingml/2006/main">
            <a:r>
              <a:t>Sources :</a:t>
            </a:r>
          </a:p>
          <a:p xmlns:a="http://schemas.openxmlformats.org/drawingml/2006/main">
            <a:r>
              <a:t>services/genesis/workflow.py</a:t>
            </a:r>
          </a:p>
          <a:p xmlns:a="http://schemas.openxmlformats.org/drawingml/2006/main">
            <a:r>
              <a:t>.venv/Lib/site-packages/requests_toolbelt-1.0.0.dist-info/METADATA</a:t>
            </a:r>
          </a:p>
          <a:p xmlns:a="http://schemas.openxmlformats.org/drawingml/2006/main">
            <a:r>
              <a:t>requirements.txt</a:t>
            </a:r>
          </a:p>
          <a:p xmlns:a="http://schemas.openxmlformats.org/drawingml/2006/main">
            <a:r>
              <a:t>https://github.com/requests/toolbelt</a:t>
            </a:r>
          </a:p>
          <a:p xmlns:a="http://schemas.openxmlformats.org/drawingml/2006/main">
            <a:r>
              <a:t/>
            </a:r>
          </a:p>
          <a:p xmlns:a="http://schemas.openxmlformats.org/drawingml/2006/main">
            <a:r>
              <a:t>six==1.17.0</a:t>
            </a:r>
          </a:p>
          <a:p xmlns:a="http://schemas.openxmlformats.org/drawingml/2006/main">
            <a:r>
              <a:t>Classement de référence : Support de dépendance.</a:t>
            </a:r>
          </a:p>
          <a:p xmlns:a="http://schemas.openxmlformats.org/drawingml/2006/main">
            <a:r>
              <a:t>Fonction : Fournit des utilitaires de compatibilité entre Python 2 et Python 3.</a:t>
            </a:r>
          </a:p>
          <a:p xmlns:a="http://schemas.openxmlformats.org/drawingml/2006/main">
            <a:r>
              <a:t>Utilisation Genesis : Est requis par python-dateutil; Genesis lui-même demande une version Python moderne.</a:t>
            </a:r>
          </a:p>
          <a:p xmlns:a="http://schemas.openxmlformats.org/drawingml/2006/main">
            <a:r>
              <a:t>Pourquoi présent : Version épinglée dans requirements.txt; requis immédiatement par python-dateutil.</a:t>
            </a:r>
          </a:p>
          <a:p xmlns:a="http://schemas.openxmlformats.org/drawingml/2006/main">
            <a:r>
              <a:t>Exemple : Une dépendance réutilise une fonction de compatibilité sans rendre Genesis exécutable sous Python 2.</a:t>
            </a:r>
          </a:p>
          <a:p xmlns:a="http://schemas.openxmlformats.org/drawingml/2006/main">
            <a:r>
              <a:t>Sources :</a:t>
            </a:r>
          </a:p>
          <a:p xmlns:a="http://schemas.openxmlformats.org/drawingml/2006/main">
            <a:r>
              <a:t>pyproject.toml</a:t>
            </a:r>
          </a:p>
          <a:p xmlns:a="http://schemas.openxmlformats.org/drawingml/2006/main">
            <a:r>
              <a:t>.venv/Lib/site-packages/six-1.17.0.dist-info/METADATA</a:t>
            </a:r>
          </a:p>
          <a:p xmlns:a="http://schemas.openxmlformats.org/drawingml/2006/main">
            <a:r>
              <a:t>requirements.txt</a:t>
            </a:r>
          </a:p>
          <a:p xmlns:a="http://schemas.openxmlformats.org/drawingml/2006/main">
            <a:r>
              <a:t>https://github.com/benjaminp/six</a:t>
            </a:r>
          </a:p>
          <a:p xmlns:a="http://schemas.openxmlformats.org/drawingml/2006/main">
            <a:r>
              <a:t/>
            </a:r>
          </a:p>
          <a:p xmlns:a="http://schemas.openxmlformats.org/drawingml/2006/main">
            <a:r>
              <a:t>sniffio==1.3.1</a:t>
            </a:r>
          </a:p>
          <a:p xmlns:a="http://schemas.openxmlformats.org/drawingml/2006/main">
            <a:r>
              <a:t>Classement de référence : Support de dépendance.</a:t>
            </a:r>
          </a:p>
          <a:p xmlns:a="http://schemas.openxmlformats.org/drawingml/2006/main">
            <a:r>
              <a:t>Fonction : Identifie le moteur asynchrone actif dans le contexte courant.</a:t>
            </a:r>
          </a:p>
          <a:p xmlns:a="http://schemas.openxmlformats.org/drawingml/2006/main">
            <a:r>
              <a:t>Utilisation Genesis : Est requis par Anthropic et Langsmith; aucun appel métier direct.</a:t>
            </a:r>
          </a:p>
          <a:p xmlns:a="http://schemas.openxmlformats.org/drawingml/2006/main">
            <a:r>
              <a:t>Pourquoi présent : Version épinglée dans requirements.txt; requis immédiatement par anthropic, langsmith.</a:t>
            </a:r>
          </a:p>
          <a:p xmlns:a="http://schemas.openxmlformats.org/drawingml/2006/main">
            <a:r>
              <a:t>Exemple : Un SDK peut savoir s’il s’exécute dans un contexte asyncio ou Trio avant de choisir son comportement.</a:t>
            </a:r>
          </a:p>
          <a:p xmlns:a="http://schemas.openxmlformats.org/drawingml/2006/main">
            <a:r>
              <a:t>Sources :</a:t>
            </a:r>
          </a:p>
          <a:p xmlns:a="http://schemas.openxmlformats.org/drawingml/2006/main">
            <a:r>
              <a:t>services/genesis/llm.py</a:t>
            </a:r>
          </a:p>
          <a:p xmlns:a="http://schemas.openxmlformats.org/drawingml/2006/main">
            <a:r>
              <a:t>.venv/Lib/site-packages/sniffio-1.3.1.dist-info/METADATA</a:t>
            </a:r>
          </a:p>
          <a:p xmlns:a="http://schemas.openxmlformats.org/drawingml/2006/main">
            <a:r>
              <a:t>requirements.txt</a:t>
            </a:r>
          </a:p>
          <a:p xmlns:a="http://schemas.openxmlformats.org/drawingml/2006/main">
            <a:r>
              <a:t>https://github.com/python-trio/sniffio</a:t>
            </a:r>
          </a:p>
          <a:p xmlns:a="http://schemas.openxmlformats.org/drawingml/2006/main">
            <a:r>
              <a:t/>
            </a:r>
          </a:p>
          <a:p xmlns:a="http://schemas.openxmlformats.org/drawingml/2006/main">
            <a:r>
              <a:t>starlette==1.7.0</a:t>
            </a:r>
          </a:p>
          <a:p xmlns:a="http://schemas.openxmlformats.org/drawingml/2006/main">
            <a:r>
              <a:t>Classement de référence : Support de dépendance.</a:t>
            </a:r>
          </a:p>
          <a:p xmlns:a="http://schemas.openxmlformats.org/drawingml/2006/main">
            <a:r>
              <a:t>Fonction : Fournit les primitives ASGI de requêtes, réponses, middleware et streaming.</a:t>
            </a:r>
          </a:p>
          <a:p xmlns:a="http://schemas.openxmlformats.org/drawingml/2006/main">
            <a:r>
              <a:t>Utilisation Genesis : Sous-tend FastAPI; les réponses JSON et flux SSE de Genesis utilisent cette infrastructure.</a:t>
            </a:r>
          </a:p>
          <a:p xmlns:a="http://schemas.openxmlformats.org/drawingml/2006/main">
            <a:r>
              <a:t>Pourquoi présent : Version épinglée dans requirements.txt; requis immédiatement par fastapi.</a:t>
            </a:r>
          </a:p>
          <a:p xmlns:a="http://schemas.openxmlformats.org/drawingml/2006/main">
            <a:r>
              <a:t>Exemple : StreamingResponse envoie des événements conservés sans lancer un nouvel agent.</a:t>
            </a:r>
          </a:p>
          <a:p xmlns:a="http://schemas.openxmlformats.org/drawingml/2006/main">
            <a:r>
              <a:t>Sources :</a:t>
            </a:r>
          </a:p>
          <a:p xmlns:a="http://schemas.openxmlformats.org/drawingml/2006/main">
            <a:r>
              <a:t>services/genesis/api.py</a:t>
            </a:r>
          </a:p>
          <a:p xmlns:a="http://schemas.openxmlformats.org/drawingml/2006/main">
            <a:r>
              <a:t>.venv/Lib/site-packages/starlette-1.7.0.dist-info/METADATA</a:t>
            </a:r>
          </a:p>
          <a:p xmlns:a="http://schemas.openxmlformats.org/drawingml/2006/main">
            <a:r>
              <a:t>requirements.txt</a:t>
            </a:r>
          </a:p>
          <a:p xmlns:a="http://schemas.openxmlformats.org/drawingml/2006/main">
            <a:r>
              <a:t>https://github.com/Kludex/starlette</a:t>
            </a:r>
          </a:p>
          <a:p xmlns:a="http://schemas.openxmlformats.org/drawingml/2006/main">
            <a:r>
              <a:t/>
            </a:r>
          </a:p>
          <a:p xmlns:a="http://schemas.openxmlformats.org/drawingml/2006/main">
            <a:r>
              <a:t>tenacity==9.2.1</a:t>
            </a:r>
          </a:p>
          <a:p xmlns:a="http://schemas.openxmlformats.org/drawingml/2006/main">
            <a:r>
              <a:t>Classement de référence : Support de dépendance.</a:t>
            </a:r>
          </a:p>
          <a:p xmlns:a="http://schemas.openxmlformats.org/drawingml/2006/main">
            <a:r>
              <a:t>Fonction : Fournit des politiques réutilisables de reprise, attente et arrêt.</a:t>
            </a:r>
          </a:p>
          <a:p xmlns:a="http://schemas.openxmlformats.org/drawingml/2006/main">
            <a:r>
              <a:t>Utilisation Genesis : Est requis par langchain-core; Genesis conserve sa propre politique de tentatives IA et de réservation.</a:t>
            </a:r>
          </a:p>
          <a:p xmlns:a="http://schemas.openxmlformats.org/drawingml/2006/main">
            <a:r>
              <a:t>Pourquoi présent : Version épinglée dans requirements.txt; requis immédiatement par langchain-core.</a:t>
            </a:r>
          </a:p>
          <a:p xmlns:a="http://schemas.openxmlformats.org/drawingml/2006/main">
            <a:r>
              <a:t>Exemple : Une bibliothèque peut limiter une opération à quelques tentatives sans décider du budget applicatif.</a:t>
            </a:r>
          </a:p>
          <a:p xmlns:a="http://schemas.openxmlformats.org/drawingml/2006/main">
            <a:r>
              <a:t>Sources :</a:t>
            </a:r>
          </a:p>
          <a:p xmlns:a="http://schemas.openxmlformats.org/drawingml/2006/main">
            <a:r>
              <a:t>services/genesis/llm.py</a:t>
            </a:r>
          </a:p>
          <a:p xmlns:a="http://schemas.openxmlformats.org/drawingml/2006/main">
            <a:r>
              <a:t>.venv/Lib/site-packages/tenacity-9.2.1.dist-info/METADATA</a:t>
            </a:r>
          </a:p>
          <a:p xmlns:a="http://schemas.openxmlformats.org/drawingml/2006/main">
            <a:r>
              <a:t>requirements.txt</a:t>
            </a:r>
          </a:p>
          <a:p xmlns:a="http://schemas.openxmlformats.org/drawingml/2006/main">
            <a:r>
              <a:t>https://github.com/jd/tenacity</a:t>
            </a:r>
          </a:p>
          <a:p xmlns:a="http://schemas.openxmlformats.org/drawingml/2006/main">
            <a:r>
              <a:t/>
            </a:r>
          </a:p>
          <a:p xmlns:a="http://schemas.openxmlformats.org/drawingml/2006/main">
            <a:r>
              <a:t>truststore==0.10.4</a:t>
            </a:r>
          </a:p>
          <a:p xmlns:a="http://schemas.openxmlformats.org/drawingml/2006/main">
            <a:r>
              <a:t>Classement de référence : Support de dépendance.</a:t>
            </a:r>
          </a:p>
          <a:p xmlns:a="http://schemas.openxmlformats.org/drawingml/2006/main">
            <a:r>
              <a:t>Fonction : Permet à TLS de s’appuyer sur le magasin natif de certificats du système.</a:t>
            </a:r>
          </a:p>
          <a:p xmlns:a="http://schemas.openxmlformats.org/drawingml/2006/main">
            <a:r>
              <a:t>Utilisation Genesis : Est requis par httpcore2 et httpx2, donc disponible sous le SDK Anthropic installé.</a:t>
            </a:r>
          </a:p>
          <a:p xmlns:a="http://schemas.openxmlformats.org/drawingml/2006/main">
            <a:r>
              <a:t>Pourquoi présent : Version épinglée dans requirements.txt; requis immédiatement par httpcore2, httpx2 (sys_platform != "emscripten").</a:t>
            </a:r>
          </a:p>
          <a:p xmlns:a="http://schemas.openxmlformats.org/drawingml/2006/main">
            <a:r>
              <a:t>Exemple : Sous Windows, une connexion peut utiliser les autorités de confiance gérées par le système.</a:t>
            </a:r>
          </a:p>
          <a:p xmlns:a="http://schemas.openxmlformats.org/drawingml/2006/main">
            <a:r>
              <a:t>Sources :</a:t>
            </a:r>
          </a:p>
          <a:p xmlns:a="http://schemas.openxmlformats.org/drawingml/2006/main">
            <a:r>
              <a:t>services/genesis/llm.py</a:t>
            </a:r>
          </a:p>
          <a:p xmlns:a="http://schemas.openxmlformats.org/drawingml/2006/main">
            <a:r>
              <a:t>.venv/Lib/site-packages/truststore-0.10.4.dist-info/METADATA</a:t>
            </a:r>
          </a:p>
          <a:p xmlns:a="http://schemas.openxmlformats.org/drawingml/2006/main">
            <a:r>
              <a:t>requirements.txt</a:t>
            </a:r>
          </a:p>
          <a:p xmlns:a="http://schemas.openxmlformats.org/drawingml/2006/main">
            <a:r>
              <a:t>https://truststore.readthedocs.io</a:t>
            </a:r>
          </a:p>
          <a:p xmlns:a="http://schemas.openxmlformats.org/drawingml/2006/main">
            <a:r>
              <a:t/>
            </a:r>
          </a:p>
          <a:p xmlns:a="http://schemas.openxmlformats.org/drawingml/2006/main">
            <a:r>
              <a:t>typing-inspection==0.4.4</a:t>
            </a:r>
          </a:p>
          <a:p xmlns:a="http://schemas.openxmlformats.org/drawingml/2006/main">
            <a:r>
              <a:t>Classement de référence : Support de dépendance.</a:t>
            </a:r>
          </a:p>
          <a:p xmlns:a="http://schemas.openxmlformats.org/drawingml/2006/main">
            <a:r>
              <a:t>Fonction : Analyse les annotations de types à l’exécution.</a:t>
            </a:r>
          </a:p>
          <a:p xmlns:a="http://schemas.openxmlformats.org/drawingml/2006/main">
            <a:r>
              <a:t>Utilisation Genesis : Est requis par FastAPI et Pydantic, sans appel métier direct.</a:t>
            </a:r>
          </a:p>
          <a:p xmlns:a="http://schemas.openxmlformats.org/drawingml/2006/main">
            <a:r>
              <a:t>Pourquoi présent : Version épinglée dans requirements.txt; requis immédiatement par fastapi, pydantic.</a:t>
            </a:r>
          </a:p>
          <a:p xmlns:a="http://schemas.openxmlformats.org/drawingml/2006/main">
            <a:r>
              <a:t>Exemple : Un moteur de schéma peut reconnaître une union de types ou les métadonnées d’Annotated.</a:t>
            </a:r>
          </a:p>
          <a:p xmlns:a="http://schemas.openxmlformats.org/drawingml/2006/main">
            <a:r>
              <a:t>Sources :</a:t>
            </a:r>
          </a:p>
          <a:p xmlns:a="http://schemas.openxmlformats.org/drawingml/2006/main">
            <a:r>
              <a:t>services/genesis/models.py</a:t>
            </a:r>
          </a:p>
          <a:p xmlns:a="http://schemas.openxmlformats.org/drawingml/2006/main">
            <a:r>
              <a:t>.venv/Lib/site-packages/typing_inspection-0.4.4.dist-info/METADATA</a:t>
            </a:r>
          </a:p>
          <a:p xmlns:a="http://schemas.openxmlformats.org/drawingml/2006/main">
            <a:r>
              <a:t>requirements.txt</a:t>
            </a:r>
          </a:p>
          <a:p xmlns:a="http://schemas.openxmlformats.org/drawingml/2006/main">
            <a:r>
              <a:t>https://github.com/pydantic/typing-inspection</a:t>
            </a:r>
          </a:p>
          <a:p xmlns:a="http://schemas.openxmlformats.org/drawingml/2006/main">
            <a:r>
              <a:t/>
            </a:r>
          </a:p>
          <a:p xmlns:a="http://schemas.openxmlformats.org/drawingml/2006/main">
            <a:r>
              <a:t>typing_extensions==4.16.0</a:t>
            </a:r>
          </a:p>
          <a:p xmlns:a="http://schemas.openxmlformats.org/drawingml/2006/main">
            <a:r>
              <a:t>Classement de référence : Support de dépendance.</a:t>
            </a:r>
          </a:p>
          <a:p xmlns:a="http://schemas.openxmlformats.org/drawingml/2006/main">
            <a:r>
              <a:t>Fonction : Distribue des types et fonctionnalités de typing rétroportés ou expérimentaux.</a:t>
            </a:r>
          </a:p>
          <a:p xmlns:a="http://schemas.openxmlformats.org/drawingml/2006/main">
            <a:r>
              <a:t>Utilisation Genesis : Supporte les bibliothèques typées installées; Genesis utilise principalement typing de Python.</a:t>
            </a:r>
          </a:p>
          <a:p xmlns:a="http://schemas.openxmlformats.org/drawingml/2006/main">
            <a:r>
              <a:t>Pourquoi présent : Version épinglée dans requirements.txt; requis immédiatement par alembic, anthropic, anyio (python_version &lt; "3.15"), fastapi, langchain-core, langchain-protocol, langfuse, langsmith, opentelemetry-api, opentelemetry-exporter-otlp-proto-http, opentelemetry-sdk, opentelemetry-semantic-conventions, ortools, psycopg-pool, pydantic, pydantic_core, SQLAlchemy, typing-inspection; liens conditionnels distincts : httpx2 (python_version &lt; "3.13"), psycopg (python_version &lt; "3.13"), starlette (python_version &lt; "3.13"), uvicorn (python_version &lt; "3.11").</a:t>
            </a:r>
          </a:p>
          <a:p xmlns:a="http://schemas.openxmlformats.org/drawingml/2006/main">
            <a:r>
              <a:t>Exemple : Une dépendance peut importer TypedDict ou une nouvelle annotation sur plusieurs versions de Python.</a:t>
            </a:r>
          </a:p>
          <a:p xmlns:a="http://schemas.openxmlformats.org/drawingml/2006/main">
            <a:r>
              <a:t>Sources :</a:t>
            </a:r>
          </a:p>
          <a:p xmlns:a="http://schemas.openxmlformats.org/drawingml/2006/main">
            <a:r>
              <a:t>pyproject.toml</a:t>
            </a:r>
          </a:p>
          <a:p xmlns:a="http://schemas.openxmlformats.org/drawingml/2006/main">
            <a:r>
              <a:t>.venv/Lib/site-packages/typing_extensions-4.16.0.dist-info/METADATA</a:t>
            </a:r>
          </a:p>
          <a:p xmlns:a="http://schemas.openxmlformats.org/drawingml/2006/main">
            <a:r>
              <a:t>requirements.txt</a:t>
            </a:r>
          </a:p>
          <a:p xmlns:a="http://schemas.openxmlformats.org/drawingml/2006/main">
            <a:r>
              <a:t>https://typing-extensions.readthedocs.io/</a:t>
            </a:r>
          </a:p>
          <a:p xmlns:a="http://schemas.openxmlformats.org/drawingml/2006/main">
            <a:r>
              <a:t/>
            </a:r>
          </a:p>
          <a:p xmlns:a="http://schemas.openxmlformats.org/drawingml/2006/main">
            <a:r>
              <a:t>tzdata==2026.5</a:t>
            </a:r>
          </a:p>
          <a:p xmlns:a="http://schemas.openxmlformats.org/drawingml/2006/main">
            <a:r>
              <a:t>Classement de référence : Support de dépendance.</a:t>
            </a:r>
          </a:p>
          <a:p xmlns:a="http://schemas.openxmlformats.org/drawingml/2006/main">
            <a:r>
              <a:t>Fonction : Distribue les règles IANA des fuseaux horaires pour les systèmes qui en ont besoin.</a:t>
            </a:r>
          </a:p>
          <a:p xmlns:a="http://schemas.openxmlformats.org/drawingml/2006/main">
            <a:r>
              <a:t>Utilisation Genesis : Est notamment requis par pandas et Psycopg sous Windows; ce n’est pas le moteur de formatage horaire du navigateur.</a:t>
            </a:r>
          </a:p>
          <a:p xmlns:a="http://schemas.openxmlformats.org/drawingml/2006/main">
            <a:r>
              <a:t>Pourquoi présent : Version épinglée dans requirements.txt; requis immédiatement par pandas (sys_platform == "win32"), psycopg (sys_platform == "win32"); liens conditionnels distincts : pandas (sys_platform == "emscripten").</a:t>
            </a:r>
          </a:p>
          <a:p xmlns:a="http://schemas.openxmlformats.org/drawingml/2006/main">
            <a:r>
              <a:t>Exemple : La base fournit les règles America/Toronto à zoneinfo lorsque le système n’offre pas cette base.</a:t>
            </a:r>
          </a:p>
          <a:p xmlns:a="http://schemas.openxmlformats.org/drawingml/2006/main">
            <a:r>
              <a:t>Sources :</a:t>
            </a:r>
          </a:p>
          <a:p xmlns:a="http://schemas.openxmlformats.org/drawingml/2006/main">
            <a:r>
              <a:t>requirements.txt</a:t>
            </a:r>
          </a:p>
          <a:p xmlns:a="http://schemas.openxmlformats.org/drawingml/2006/main">
            <a:r>
              <a:t>.venv/Lib/site-packages/tzdata-2026.5.dist-info/METADATA</a:t>
            </a:r>
          </a:p>
          <a:p xmlns:a="http://schemas.openxmlformats.org/drawingml/2006/main">
            <a:r>
              <a:t>requirements.txt</a:t>
            </a:r>
          </a:p>
          <a:p xmlns:a="http://schemas.openxmlformats.org/drawingml/2006/main">
            <a:r>
              <a:t>https://github.com/python/tzdata</a:t>
            </a:r>
          </a:p>
          <a:p xmlns:a="http://schemas.openxmlformats.org/drawingml/2006/main">
            <a:r>
              <a:t/>
            </a:r>
          </a:p>
          <a:p xmlns:a="http://schemas.openxmlformats.org/drawingml/2006/main">
            <a:r>
              <a:t>urllib3==2.8.0</a:t>
            </a:r>
          </a:p>
          <a:p xmlns:a="http://schemas.openxmlformats.org/drawingml/2006/main">
            <a:r>
              <a:t>Classement de référence : Support de dépendance.</a:t>
            </a:r>
          </a:p>
          <a:p xmlns:a="http://schemas.openxmlformats.org/drawingml/2006/main">
            <a:r>
              <a:t>Fonction : Fournit pools de connexions HTTP, gestion TLS et mécanismes de transport.</a:t>
            </a:r>
          </a:p>
          <a:p xmlns:a="http://schemas.openxmlformats.org/drawingml/2006/main">
            <a:r>
              <a:t>Utilisation Genesis : Est requis par Requests; aucun appel métier Genesis direct ne l’importe.</a:t>
            </a:r>
          </a:p>
          <a:p xmlns:a="http://schemas.openxmlformats.org/drawingml/2006/main">
            <a:r>
              <a:t>Pourquoi présent : Version épinglée dans requirements.txt; requis immédiatement par requests.</a:t>
            </a:r>
          </a:p>
          <a:p xmlns:a="http://schemas.openxmlformats.org/drawingml/2006/main">
            <a:r>
              <a:t>Exemple : Requests réutilise son pool réseau pour des requêtes répétées vers un même hôte.</a:t>
            </a:r>
          </a:p>
          <a:p xmlns:a="http://schemas.openxmlformats.org/drawingml/2006/main">
            <a:r>
              <a:t>Sources :</a:t>
            </a:r>
          </a:p>
          <a:p xmlns:a="http://schemas.openxmlformats.org/drawingml/2006/main">
            <a:r>
              <a:t>services/genesis/worker.py</a:t>
            </a:r>
          </a:p>
          <a:p xmlns:a="http://schemas.openxmlformats.org/drawingml/2006/main">
            <a:r>
              <a:t>.venv/Lib/site-packages/urllib3-2.8.0.dist-info/METADATA</a:t>
            </a:r>
          </a:p>
          <a:p xmlns:a="http://schemas.openxmlformats.org/drawingml/2006/main">
            <a:r>
              <a:t>requirements.txt</a:t>
            </a:r>
          </a:p>
          <a:p xmlns:a="http://schemas.openxmlformats.org/drawingml/2006/main">
            <a:r>
              <a:t>https://urllib3.readthedocs.io</a:t>
            </a:r>
          </a:p>
          <a:p xmlns:a="http://schemas.openxmlformats.org/drawingml/2006/main">
            <a:r>
              <a:t/>
            </a:r>
          </a:p>
          <a:p xmlns:a="http://schemas.openxmlformats.org/drawingml/2006/main">
            <a:r>
              <a:t>uuid_utils==0.17.1</a:t>
            </a:r>
          </a:p>
          <a:p xmlns:a="http://schemas.openxmlformats.org/drawingml/2006/main">
            <a:r>
              <a:t>Classement de référence : Support de dépendance.</a:t>
            </a:r>
          </a:p>
          <a:p xmlns:a="http://schemas.openxmlformats.org/drawingml/2006/main">
            <a:r>
              <a:t>Fonction : Génère et manipule rapidement des UUID avec une implémentation Rust.</a:t>
            </a:r>
          </a:p>
          <a:p xmlns:a="http://schemas.openxmlformats.org/drawingml/2006/main">
            <a:r>
              <a:t>Utilisation Genesis : Est requis par langchain-core et Langsmith; les identifiants métier Genesis utilisent uuid de Python.</a:t>
            </a:r>
          </a:p>
          <a:p xmlns:a="http://schemas.openxmlformats.org/drawingml/2006/main">
            <a:r>
              <a:t>Pourquoi présent : Version épinglée dans requirements.txt; requis immédiatement par langchain-core, langsmith.</a:t>
            </a:r>
          </a:p>
          <a:p xmlns:a="http://schemas.openxmlformats.org/drawingml/2006/main">
            <a:r>
              <a:t>Exemple : Une dépendance peut produire un UUID performant sans modifier le schéma d’identité des runs Genesis.</a:t>
            </a:r>
          </a:p>
          <a:p xmlns:a="http://schemas.openxmlformats.org/drawingml/2006/main">
            <a:r>
              <a:t>Sources :</a:t>
            </a:r>
          </a:p>
          <a:p xmlns:a="http://schemas.openxmlformats.org/drawingml/2006/main">
            <a:r>
              <a:t>services/genesis/workflow.py</a:t>
            </a:r>
          </a:p>
          <a:p xmlns:a="http://schemas.openxmlformats.org/drawingml/2006/main">
            <a:r>
              <a:t>.venv/Lib/site-packages/uuid_utils-0.17.1.dist-info/METADATA</a:t>
            </a:r>
          </a:p>
          <a:p xmlns:a="http://schemas.openxmlformats.org/drawingml/2006/main">
            <a:r>
              <a:t>requirements.txt</a:t>
            </a:r>
          </a:p>
          <a:p xmlns:a="http://schemas.openxmlformats.org/drawingml/2006/main">
            <a:r>
              <a:t>https://github.com/aminalaee/uuid-utils</a:t>
            </a:r>
          </a:p>
          <a:p xmlns:a="http://schemas.openxmlformats.org/drawingml/2006/main">
            <a:r>
              <a:t/>
            </a:r>
          </a:p>
          <a:p xmlns:a="http://schemas.openxmlformats.org/drawingml/2006/main">
            <a:r>
              <a:t>websockets==16.1.1</a:t>
            </a:r>
          </a:p>
          <a:p xmlns:a="http://schemas.openxmlformats.org/drawingml/2006/main">
            <a:r>
              <a:t>Classement de référence : Support de dépendance.</a:t>
            </a:r>
          </a:p>
          <a:p xmlns:a="http://schemas.openxmlformats.org/drawingml/2006/main">
            <a:r>
              <a:t>Fonction : Implémente les clients et serveurs du protocole WebSocket.</a:t>
            </a:r>
          </a:p>
          <a:p xmlns:a="http://schemas.openxmlformats.org/drawingml/2006/main">
            <a:r>
              <a:t>Utilisation Genesis : Est requis par les SDK LangGraph et Langsmith; Genesis expose ses événements via SSE plutôt qu’un endpoint WebSocket explicite.</a:t>
            </a:r>
          </a:p>
          <a:p xmlns:a="http://schemas.openxmlformats.org/drawingml/2006/main">
            <a:r>
              <a:t>Pourquoi présent : Version épinglée dans requirements.txt; requis immédiatement par langgraph-sdk, langsmith; liens conditionnels distincts : uvicorn (extra == "standard").</a:t>
            </a:r>
          </a:p>
          <a:p xmlns:a="http://schemas.openxmlformats.org/drawingml/2006/main">
            <a:r>
              <a:t>Exemple : Un SDK peut maintenir une connexion bidirectionnelle persistante; cela ne décrit pas le replay local Genesis.</a:t>
            </a:r>
          </a:p>
          <a:p xmlns:a="http://schemas.openxmlformats.org/drawingml/2006/main">
            <a:r>
              <a:t>Sources :</a:t>
            </a:r>
          </a:p>
          <a:p xmlns:a="http://schemas.openxmlformats.org/drawingml/2006/main">
            <a:r>
              <a:t>services/genesis/api.py</a:t>
            </a:r>
          </a:p>
          <a:p xmlns:a="http://schemas.openxmlformats.org/drawingml/2006/main">
            <a:r>
              <a:t>.venv/Lib/site-packages/websockets-16.1.1.dist-info/METADATA</a:t>
            </a:r>
          </a:p>
          <a:p xmlns:a="http://schemas.openxmlformats.org/drawingml/2006/main">
            <a:r>
              <a:t>requirements.txt</a:t>
            </a:r>
          </a:p>
          <a:p xmlns:a="http://schemas.openxmlformats.org/drawingml/2006/main">
            <a:r>
              <a:t>https://github.com/python-websockets/websockets</a:t>
            </a:r>
          </a:p>
          <a:p xmlns:a="http://schemas.openxmlformats.org/drawingml/2006/main">
            <a:r>
              <a:t/>
            </a:r>
          </a:p>
          <a:p xmlns:a="http://schemas.openxmlformats.org/drawingml/2006/main">
            <a:r>
              <a:t>wrapt==2.5.0</a:t>
            </a:r>
          </a:p>
          <a:p xmlns:a="http://schemas.openxmlformats.org/drawingml/2006/main">
            <a:r>
              <a:t>Classement de référence : Support de dépendance.</a:t>
            </a:r>
          </a:p>
          <a:p xmlns:a="http://schemas.openxmlformats.org/drawingml/2006/main">
            <a:r>
              <a:t>Fonction : Fournit des décorateurs et proxies qui préservent correctement les objets enveloppés.</a:t>
            </a:r>
          </a:p>
          <a:p xmlns:a="http://schemas.openxmlformats.org/drawingml/2006/main">
            <a:r>
              <a:t>Utilisation Genesis : Est requis par Langfuse facultatif, sans import métier direct.</a:t>
            </a:r>
          </a:p>
          <a:p xmlns:a="http://schemas.openxmlformats.org/drawingml/2006/main">
            <a:r>
              <a:t>Pourquoi présent : Version épinglée dans requirements.txt; requis immédiatement par langfuse.</a:t>
            </a:r>
          </a:p>
          <a:p xmlns:a="http://schemas.openxmlformats.org/drawingml/2006/main">
            <a:r>
              <a:t>Exemple : Un décorateur peut observer une fonction tout en conservant sa signature et son comportement d’appel.</a:t>
            </a:r>
          </a:p>
          <a:p xmlns:a="http://schemas.openxmlformats.org/drawingml/2006/main">
            <a:r>
              <a:t>Sources :</a:t>
            </a:r>
          </a:p>
          <a:p xmlns:a="http://schemas.openxmlformats.org/drawingml/2006/main">
            <a:r>
              <a:t>services/genesis/worker.py</a:t>
            </a:r>
          </a:p>
          <a:p xmlns:a="http://schemas.openxmlformats.org/drawingml/2006/main">
            <a:r>
              <a:t>.venv/Lib/site-packages/wrapt-2.5.0.dist-info/METADATA</a:t>
            </a:r>
          </a:p>
          <a:p xmlns:a="http://schemas.openxmlformats.org/drawingml/2006/main">
            <a:r>
              <a:t>requirements.txt</a:t>
            </a:r>
          </a:p>
          <a:p xmlns:a="http://schemas.openxmlformats.org/drawingml/2006/main">
            <a:r>
              <a:t>https://github.com/GrahamDumpleton/wrapt</a:t>
            </a:r>
          </a:p>
          <a:p xmlns:a="http://schemas.openxmlformats.org/drawingml/2006/main">
            <a:r>
              <a:t/>
            </a:r>
          </a:p>
          <a:p xmlns:a="http://schemas.openxmlformats.org/drawingml/2006/main">
            <a:r>
              <a:t>xxhash==4.0.1</a:t>
            </a:r>
          </a:p>
          <a:p xmlns:a="http://schemas.openxmlformats.org/drawingml/2006/main">
            <a:r>
              <a:t>Classement de référence : Support de dépendance.</a:t>
            </a:r>
          </a:p>
          <a:p xmlns:a="http://schemas.openxmlformats.org/drawingml/2006/main">
            <a:r>
              <a:t>Fonction : Calcule rapidement des empreintes non cryptographiques.</a:t>
            </a:r>
          </a:p>
          <a:p xmlns:a="http://schemas.openxmlformats.org/drawingml/2006/main">
            <a:r>
              <a:t>Utilisation Genesis : Est requis par LangGraph et Langsmith; les hashes métier Genesis utilisent hashlib.</a:t>
            </a:r>
          </a:p>
          <a:p xmlns:a="http://schemas.openxmlformats.org/drawingml/2006/main">
            <a:r>
              <a:t>Pourquoi présent : Version épinglée dans requirements.txt; requis immédiatement par langgraph, langsmith.</a:t>
            </a:r>
          </a:p>
          <a:p xmlns:a="http://schemas.openxmlformats.org/drawingml/2006/main">
            <a:r>
              <a:t>Exemple : Une bibliothèque peut comparer des états par hash rapide; cette empreinte ne remplace pas les certificats ni SHA-256 Genesis.</a:t>
            </a:r>
          </a:p>
          <a:p xmlns:a="http://schemas.openxmlformats.org/drawingml/2006/main">
            <a:r>
              <a:t>Sources :</a:t>
            </a:r>
          </a:p>
          <a:p xmlns:a="http://schemas.openxmlformats.org/drawingml/2006/main">
            <a:r>
              <a:t>services/genesis/models.py</a:t>
            </a:r>
          </a:p>
          <a:p xmlns:a="http://schemas.openxmlformats.org/drawingml/2006/main">
            <a:r>
              <a:t>.venv/Lib/site-packages/xxhash-4.0.1.dist-info/METADATA</a:t>
            </a:r>
          </a:p>
          <a:p xmlns:a="http://schemas.openxmlformats.org/drawingml/2006/main">
            <a:r>
              <a:t>requirements.txt</a:t>
            </a:r>
          </a:p>
          <a:p xmlns:a="http://schemas.openxmlformats.org/drawingml/2006/main">
            <a:r>
              <a:t>https://github.com/ifduyue/python-xxhash</a:t>
            </a:r>
          </a:p>
          <a:p xmlns:a="http://schemas.openxmlformats.org/drawingml/2006/main">
            <a:r>
              <a:t/>
            </a:r>
          </a:p>
          <a:p xmlns:a="http://schemas.openxmlformats.org/drawingml/2006/main">
            <a:r>
              <a:t>zstandard==0.25.0</a:t>
            </a:r>
          </a:p>
          <a:p xmlns:a="http://schemas.openxmlformats.org/drawingml/2006/main">
            <a:r>
              <a:t>Classement de référence : Support de dépendance.</a:t>
            </a:r>
          </a:p>
          <a:p xmlns:a="http://schemas.openxmlformats.org/drawingml/2006/main">
            <a:r>
              <a:t>Fonction : Compresse et décompresse au format Zstandard.</a:t>
            </a:r>
          </a:p>
          <a:p xmlns:a="http://schemas.openxmlformats.org/drawingml/2006/main">
            <a:r>
              <a:t>Utilisation Genesis : Est requis par Langsmith; aucune archive métier Genesis n’est produite directement avec ce module.</a:t>
            </a:r>
          </a:p>
          <a:p xmlns:a="http://schemas.openxmlformats.org/drawingml/2006/main">
            <a:r>
              <a:t>Pourquoi présent : Version épinglée dans requirements.txt; requis immédiatement par langsmith.</a:t>
            </a:r>
          </a:p>
          <a:p xmlns:a="http://schemas.openxmlformats.org/drawingml/2006/main">
            <a:r>
              <a:t>Exemple : Un client dépendant peut compresser un lot de données pour réduire son volume de transport.</a:t>
            </a:r>
          </a:p>
          <a:p xmlns:a="http://schemas.openxmlformats.org/drawingml/2006/main">
            <a:r>
              <a:t>Sources :</a:t>
            </a:r>
          </a:p>
          <a:p xmlns:a="http://schemas.openxmlformats.org/drawingml/2006/main">
            <a:r>
              <a:t>services/genesis/workflow.py</a:t>
            </a:r>
          </a:p>
          <a:p xmlns:a="http://schemas.openxmlformats.org/drawingml/2006/main">
            <a:r>
              <a:t>.venv/Lib/site-packages/zstandard-0.25.0.dist-info/METADATA</a:t>
            </a:r>
          </a:p>
          <a:p xmlns:a="http://schemas.openxmlformats.org/drawingml/2006/main">
            <a:r>
              <a:t>requirements.txt</a:t>
            </a:r>
          </a:p>
          <a:p xmlns:a="http://schemas.openxmlformats.org/drawingml/2006/main">
            <a:r>
              <a:t>https://github.com/indygreg/python-zstandard</a:t>
            </a:r>
          </a:p>
          <a:p xmlns:a="http://schemas.openxmlformats.org/drawingml/2006/main">
            <a:r>
              <a:t/>
            </a:r>
          </a:p>
          <a:p xmlns:a="http://schemas.openxmlformats.org/drawingml/2006/main">
            <a:r>
              <a:t>Sources du dépôt, état au 11 octobre 2026 (U17–U19, présentation U22)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Intégration optionnelle.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langfuse==4.17.0</a:t>
            </a:r>
          </a:p>
          <a:p xmlns:a="http://schemas.openxmlformats.org/drawingml/2006/main">
            <a:r>
              <a:t>Classement de référence : Intégration optionnelle.</a:t>
            </a:r>
          </a:p>
          <a:p xmlns:a="http://schemas.openxmlformats.org/drawingml/2006/main">
            <a:r>
              <a:t>Fonction : Fournit traçage LLM, gestion de prompts, jeux de données et outils d’évaluation.</a:t>
            </a:r>
          </a:p>
          <a:p xmlns:a="http://schemas.openxmlformats.org/drawingml/2006/main">
            <a:r>
              <a:t>Utilisation Genesis : Le worker l’importe uniquement pour l’export externe facultatif; la base locale et l’outbox restent la source d’observation.</a:t>
            </a:r>
          </a:p>
          <a:p xmlns:a="http://schemas.openxmlformats.org/drawingml/2006/main">
            <a:r>
              <a:t>Pourquoi présent : Version épinglée dans requirements.txt; aucun parent d’exécution dans les 87 distributions de cet inventaire.</a:t>
            </a:r>
          </a:p>
          <a:p xmlns:a="http://schemas.openxmlformats.org/drawingml/2006/main">
            <a:r>
              <a:t>Exemple : export_outbox transmet un événement assaini si l’export est configuré; aucune connexion externe n’est démontrée ici.</a:t>
            </a:r>
          </a:p>
          <a:p xmlns:a="http://schemas.openxmlformats.org/drawingml/2006/main">
            <a:r>
              <a:t>Sources :</a:t>
            </a:r>
          </a:p>
          <a:p xmlns:a="http://schemas.openxmlformats.org/drawingml/2006/main">
            <a:r>
              <a:t>services/genesis/worker.py</a:t>
            </a:r>
          </a:p>
          <a:p xmlns:a="http://schemas.openxmlformats.org/drawingml/2006/main">
            <a:r>
              <a:t>.venv/Lib/site-packages/langfuse-4.17.0.dist-info/METADATA</a:t>
            </a:r>
          </a:p>
          <a:p xmlns:a="http://schemas.openxmlformats.org/drawingml/2006/main">
            <a:r>
              <a:t>requirements.txt</a:t>
            </a:r>
          </a:p>
          <a:p xmlns:a="http://schemas.openxmlformats.org/drawingml/2006/main">
            <a:r>
              <a:t>https://langfuse.com</a:t>
            </a:r>
          </a:p>
          <a:p xmlns:a="http://schemas.openxmlformats.org/drawingml/2006/main">
            <a:r>
              <a:t/>
            </a:r>
          </a:p>
          <a:p xmlns:a="http://schemas.openxmlformats.org/drawingml/2006/main">
            <a:r>
              <a:t>psycopg==3.3.6</a:t>
            </a:r>
          </a:p>
          <a:p xmlns:a="http://schemas.openxmlformats.org/drawingml/2006/main">
            <a:r>
              <a:t>Classement de référence : Intégration optionnelle.</a:t>
            </a:r>
          </a:p>
          <a:p xmlns:a="http://schemas.openxmlformats.org/drawingml/2006/main">
            <a:r>
              <a:t>Fonction : Fournit le pilote Python PostgreSQL pour exécuter des requêtes et gérer les transactions.</a:t>
            </a:r>
          </a:p>
          <a:p xmlns:a="http://schemas.openxmlformats.org/drawingml/2006/main">
            <a:r>
              <a:t>Utilisation Genesis : Est installé pour le profil PostgreSQL et le saver correspondant; seul le profil SQLite est vérifié localement.</a:t>
            </a:r>
          </a:p>
          <a:p xmlns:a="http://schemas.openxmlformats.org/drawingml/2006/main">
            <a:r>
              <a:t>Pourquoi présent : Version épinglée dans requirements.txt; requis immédiatement par langgraph-checkpoint-postgres.</a:t>
            </a:r>
          </a:p>
          <a:p xmlns:a="http://schemas.openxmlformats.org/drawingml/2006/main">
            <a:r>
              <a:t>Exemple : Une URL SQLAlchemy PostgreSQL pourrait employer ce pilote, sans prouver un test PostgreSQL exécuté.</a:t>
            </a:r>
          </a:p>
          <a:p xmlns:a="http://schemas.openxmlformats.org/drawingml/2006/main">
            <a:r>
              <a:t>Sources :</a:t>
            </a:r>
          </a:p>
          <a:p xmlns:a="http://schemas.openxmlformats.org/drawingml/2006/main">
            <a:r>
              <a:t>services/genesis/db.py</a:t>
            </a:r>
          </a:p>
          <a:p xmlns:a="http://schemas.openxmlformats.org/drawingml/2006/main">
            <a:r>
              <a:t>.venv/Lib/site-packages/psycopg-3.3.6.dist-info/METADATA</a:t>
            </a:r>
          </a:p>
          <a:p xmlns:a="http://schemas.openxmlformats.org/drawingml/2006/main">
            <a:r>
              <a:t>requirements.txt</a:t>
            </a:r>
          </a:p>
          <a:p xmlns:a="http://schemas.openxmlformats.org/drawingml/2006/main">
            <a:r>
              <a:t>https://psycopg.org/</a:t>
            </a:r>
          </a:p>
          <a:p xmlns:a="http://schemas.openxmlformats.org/drawingml/2006/main">
            <a:r>
              <a:t/>
            </a:r>
          </a:p>
          <a:p xmlns:a="http://schemas.openxmlformats.org/drawingml/2006/main">
            <a:r>
              <a:t>psycopg-binary==3.3.6</a:t>
            </a:r>
          </a:p>
          <a:p xmlns:a="http://schemas.openxmlformats.org/drawingml/2006/main">
            <a:r>
              <a:t>Classement de référence : Intégration optionnelle.</a:t>
            </a:r>
          </a:p>
          <a:p xmlns:a="http://schemas.openxmlformats.org/drawingml/2006/main">
            <a:r>
              <a:t>Fonction : Distribue l’implémentation compilée de Psycopg et ses composants binaires.</a:t>
            </a:r>
          </a:p>
          <a:p xmlns:a="http://schemas.openxmlformats.org/drawingml/2006/main">
            <a:r>
              <a:t>Utilisation Genesis : Est installé pour le profil PostgreSQL facultatif; aucun usage de ce profil n’est attesté.</a:t>
            </a:r>
          </a:p>
          <a:p xmlns:a="http://schemas.openxmlformats.org/drawingml/2006/main">
            <a:r>
              <a:t>Pourquoi présent : Version épinglée dans requirements.txt; liens conditionnels distincts : psycopg (implementation_name != "pypy" and extra == "binary").</a:t>
            </a:r>
          </a:p>
          <a:p xmlns:a="http://schemas.openxmlformats.org/drawingml/2006/main">
            <a:r>
              <a:t>Exemple : Il permet au pilote de charger son implémentation compilée sans construire ces composants localement.</a:t>
            </a:r>
          </a:p>
          <a:p xmlns:a="http://schemas.openxmlformats.org/drawingml/2006/main">
            <a:r>
              <a:t>Sources :</a:t>
            </a:r>
          </a:p>
          <a:p xmlns:a="http://schemas.openxmlformats.org/drawingml/2006/main">
            <a:r>
              <a:t>requirements.txt</a:t>
            </a:r>
          </a:p>
          <a:p xmlns:a="http://schemas.openxmlformats.org/drawingml/2006/main">
            <a:r>
              <a:t>.venv/Lib/site-packages/psycopg_binary-3.3.6.dist-info/METADATA</a:t>
            </a:r>
          </a:p>
          <a:p xmlns:a="http://schemas.openxmlformats.org/drawingml/2006/main">
            <a:r>
              <a:t>requirements.txt</a:t>
            </a:r>
          </a:p>
          <a:p xmlns:a="http://schemas.openxmlformats.org/drawingml/2006/main">
            <a:r>
              <a:t>https://psycopg.org/</a:t>
            </a:r>
          </a:p>
          <a:p xmlns:a="http://schemas.openxmlformats.org/drawingml/2006/main">
            <a:r>
              <a:t/>
            </a:r>
          </a:p>
          <a:p xmlns:a="http://schemas.openxmlformats.org/drawingml/2006/main">
            <a:r>
              <a:t>psycopg-pool==3.3.3</a:t>
            </a:r>
          </a:p>
          <a:p xmlns:a="http://schemas.openxmlformats.org/drawingml/2006/main">
            <a:r>
              <a:t>Classement de référence : Intégration optionnelle.</a:t>
            </a:r>
          </a:p>
          <a:p xmlns:a="http://schemas.openxmlformats.org/drawingml/2006/main">
            <a:r>
              <a:t>Fonction : Maintient un ensemble réutilisable de connexions Psycopg.</a:t>
            </a:r>
          </a:p>
          <a:p xmlns:a="http://schemas.openxmlformats.org/drawingml/2006/main">
            <a:r>
              <a:t>Utilisation Genesis : Est requis par le saver PostgreSQL installé, que le workflow Genesis ne sélectionne pas.</a:t>
            </a:r>
          </a:p>
          <a:p xmlns:a="http://schemas.openxmlformats.org/drawingml/2006/main">
            <a:r>
              <a:t>Pourquoi présent : Version épinglée dans requirements.txt; requis immédiatement par langgraph-checkpoint-postgres; liens conditionnels distincts : psycopg (extra == "pool").</a:t>
            </a:r>
          </a:p>
          <a:p xmlns:a="http://schemas.openxmlformats.org/drawingml/2006/main">
            <a:r>
              <a:t>Exemple : Un saver PostgreSQL peut emprunter puis rendre une connexion au pool.</a:t>
            </a:r>
          </a:p>
          <a:p xmlns:a="http://schemas.openxmlformats.org/drawingml/2006/main">
            <a:r>
              <a:t>Sources :</a:t>
            </a:r>
          </a:p>
          <a:p xmlns:a="http://schemas.openxmlformats.org/drawingml/2006/main">
            <a:r>
              <a:t>services/genesis/workflow.py</a:t>
            </a:r>
          </a:p>
          <a:p xmlns:a="http://schemas.openxmlformats.org/drawingml/2006/main">
            <a:r>
              <a:t>.venv/Lib/site-packages/psycopg_pool-3.3.3.dist-info/METADATA</a:t>
            </a:r>
          </a:p>
          <a:p xmlns:a="http://schemas.openxmlformats.org/drawingml/2006/main">
            <a:r>
              <a:t>requirements.txt</a:t>
            </a:r>
          </a:p>
          <a:p xmlns:a="http://schemas.openxmlformats.org/drawingml/2006/main">
            <a:r>
              <a:t>https://psycopg.org/</a:t>
            </a:r>
          </a:p>
          <a:p xmlns:a="http://schemas.openxmlformats.org/drawingml/2006/main">
            <a:r>
              <a:t/>
            </a:r>
          </a:p>
          <a:p xmlns:a="http://schemas.openxmlformats.org/drawingml/2006/main">
            <a:r>
              <a:t>Sources du dépôt, état au 11 octobre 2026 (U17–U19, présentation U22)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Développement et tests.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iniconfig==2.3.1</a:t>
            </a:r>
          </a:p>
          <a:p xmlns:a="http://schemas.openxmlformats.org/drawingml/2006/main">
            <a:r>
              <a:t>Classement de référence : Développement et tests.</a:t>
            </a:r>
          </a:p>
          <a:p xmlns:a="http://schemas.openxmlformats.org/drawingml/2006/main">
            <a:r>
              <a:t>Fonction : Lit des fichiers de configuration INI en sections et valeurs.</a:t>
            </a:r>
          </a:p>
          <a:p xmlns:a="http://schemas.openxmlformats.org/drawingml/2006/main">
            <a:r>
              <a:t>Utilisation Genesis : Est une dépendance de pytest; ce n’est pas le lecteur de configuration métier Genesis.</a:t>
            </a:r>
          </a:p>
          <a:p xmlns:a="http://schemas.openxmlformats.org/drawingml/2006/main">
            <a:r>
              <a:t>Pourquoi présent : Version épinglée dans requirements.txt; requis immédiatement par pytest.</a:t>
            </a:r>
          </a:p>
          <a:p xmlns:a="http://schemas.openxmlformats.org/drawingml/2006/main">
            <a:r>
              <a:t>Exemple : pytest dispose de ce parseur pour les formats INI, alors que les réglages Genesis de pytest sont dans pyproject.toml.</a:t>
            </a:r>
          </a:p>
          <a:p xmlns:a="http://schemas.openxmlformats.org/drawingml/2006/main">
            <a:r>
              <a:t>Sources :</a:t>
            </a:r>
          </a:p>
          <a:p xmlns:a="http://schemas.openxmlformats.org/drawingml/2006/main">
            <a:r>
              <a:t>pyproject.toml</a:t>
            </a:r>
          </a:p>
          <a:p xmlns:a="http://schemas.openxmlformats.org/drawingml/2006/main">
            <a:r>
              <a:t>.venv/Lib/site-packages/iniconfig-2.3.1.dist-info/METADATA</a:t>
            </a:r>
          </a:p>
          <a:p xmlns:a="http://schemas.openxmlformats.org/drawingml/2006/main">
            <a:r>
              <a:t>requirements.txt</a:t>
            </a:r>
          </a:p>
          <a:p xmlns:a="http://schemas.openxmlformats.org/drawingml/2006/main">
            <a:r>
              <a:t>https://github.com/pytest-dev/iniconfig</a:t>
            </a:r>
          </a:p>
          <a:p xmlns:a="http://schemas.openxmlformats.org/drawingml/2006/main">
            <a:r>
              <a:t/>
            </a:r>
          </a:p>
          <a:p xmlns:a="http://schemas.openxmlformats.org/drawingml/2006/main">
            <a:r>
              <a:t>pluggy==1.6.0</a:t>
            </a:r>
          </a:p>
          <a:p xmlns:a="http://schemas.openxmlformats.org/drawingml/2006/main">
            <a:r>
              <a:t>Classement de référence : Développement et tests.</a:t>
            </a:r>
          </a:p>
          <a:p xmlns:a="http://schemas.openxmlformats.org/drawingml/2006/main">
            <a:r>
              <a:t>Fonction : Organise les hooks et plugins Python au moyen de points d’extension explicites.</a:t>
            </a:r>
          </a:p>
          <a:p xmlns:a="http://schemas.openxmlformats.org/drawingml/2006/main">
            <a:r>
              <a:t>Utilisation Genesis : Fournit le système de plugins de pytest utilisé pour la vérification du backend.</a:t>
            </a:r>
          </a:p>
          <a:p xmlns:a="http://schemas.openxmlformats.org/drawingml/2006/main">
            <a:r>
              <a:t>Pourquoi présent : Version épinglée dans requirements.txt; requis immédiatement par pytest.</a:t>
            </a:r>
          </a:p>
          <a:p xmlns:a="http://schemas.openxmlformats.org/drawingml/2006/main">
            <a:r>
              <a:t>Exemple : pytest appelle un hook de collecte ou de résultat auprès des plugins enregistrés.</a:t>
            </a:r>
          </a:p>
          <a:p xmlns:a="http://schemas.openxmlformats.org/drawingml/2006/main">
            <a:r>
              <a:t>Sources :</a:t>
            </a:r>
          </a:p>
          <a:p xmlns:a="http://schemas.openxmlformats.org/drawingml/2006/main">
            <a:r>
              <a:t>tests/conftest.py</a:t>
            </a:r>
          </a:p>
          <a:p xmlns:a="http://schemas.openxmlformats.org/drawingml/2006/main">
            <a:r>
              <a:t>.venv/Lib/site-packages/pluggy-1.6.0.dist-info/METADATA</a:t>
            </a:r>
          </a:p>
          <a:p xmlns:a="http://schemas.openxmlformats.org/drawingml/2006/main">
            <a:r>
              <a:t>requirements.txt</a:t>
            </a:r>
          </a:p>
          <a:p xmlns:a="http://schemas.openxmlformats.org/drawingml/2006/main">
            <a:r>
              <a:t>https://pluggy.readthedocs.io/en/stable/</a:t>
            </a:r>
          </a:p>
          <a:p xmlns:a="http://schemas.openxmlformats.org/drawingml/2006/main">
            <a:r>
              <a:t/>
            </a:r>
          </a:p>
          <a:p xmlns:a="http://schemas.openxmlformats.org/drawingml/2006/main">
            <a:r>
              <a:t>pytest==9.1.1</a:t>
            </a:r>
          </a:p>
          <a:p xmlns:a="http://schemas.openxmlformats.org/drawingml/2006/main">
            <a:r>
              <a:t>Classement de référence : Développement et tests.</a:t>
            </a:r>
          </a:p>
          <a:p xmlns:a="http://schemas.openxmlformats.org/drawingml/2006/main">
            <a:r>
              <a:t>Fonction : Collecte et exécute les tests Python avec assertions, fixtures et paramétrisation.</a:t>
            </a:r>
          </a:p>
          <a:p xmlns:a="http://schemas.openxmlformats.org/drawingml/2006/main">
            <a:r>
              <a:t>Utilisation Genesis : Vérifie domaines, budgets, transactions, APIs, recovery et workflows dans tests/.</a:t>
            </a:r>
          </a:p>
          <a:p xmlns:a="http://schemas.openxmlformats.org/drawingml/2006/main">
            <a:r>
              <a:t>Pourquoi présent : Version épinglée dans requirements.txt; aucun parent d’exécution dans les 87 distributions de cet inventaire.</a:t>
            </a:r>
          </a:p>
          <a:p xmlns:a="http://schemas.openxmlformats.org/drawingml/2006/main">
            <a:r>
              <a:t>Exemple : Les fixtures de petites tournées contrôlent dépassement de capacité et erreurs de fenêtres horaires.</a:t>
            </a:r>
          </a:p>
          <a:p xmlns:a="http://schemas.openxmlformats.org/drawingml/2006/main">
            <a:r>
              <a:t>Sources :</a:t>
            </a:r>
          </a:p>
          <a:p xmlns:a="http://schemas.openxmlformats.org/drawingml/2006/main">
            <a:r>
              <a:t>tests/test_domain.py</a:t>
            </a:r>
          </a:p>
          <a:p xmlns:a="http://schemas.openxmlformats.org/drawingml/2006/main">
            <a:r>
              <a:t>.venv/Lib/site-packages/pytest-9.1.1.dist-info/METADATA</a:t>
            </a:r>
          </a:p>
          <a:p xmlns:a="http://schemas.openxmlformats.org/drawingml/2006/main">
            <a:r>
              <a:t>requirements.txt</a:t>
            </a:r>
          </a:p>
          <a:p xmlns:a="http://schemas.openxmlformats.org/drawingml/2006/main">
            <a:r>
              <a:t>https://docs.pytest.org/en/latest/</a:t>
            </a:r>
          </a:p>
          <a:p xmlns:a="http://schemas.openxmlformats.org/drawingml/2006/main">
            <a:r>
              <a:t/>
            </a:r>
          </a:p>
          <a:p xmlns:a="http://schemas.openxmlformats.org/drawingml/2006/main">
            <a:r>
              <a:t>ruff==0.17.0</a:t>
            </a:r>
          </a:p>
          <a:p xmlns:a="http://schemas.openxmlformats.org/drawingml/2006/main">
            <a:r>
              <a:t>Classement de référence : Développement et tests.</a:t>
            </a:r>
          </a:p>
          <a:p xmlns:a="http://schemas.openxmlformats.org/drawingml/2006/main">
            <a:r>
              <a:t>Fonction : Analyse rapidement le code Python pour erreurs de lint et conventions configurées.</a:t>
            </a:r>
          </a:p>
          <a:p xmlns:a="http://schemas.openxmlformats.org/drawingml/2006/main">
            <a:r>
              <a:t>Utilisation Genesis : Le script de vérification l’utilise avec les règles E4, E7, E9 et F de pyproject.toml.</a:t>
            </a:r>
          </a:p>
          <a:p xmlns:a="http://schemas.openxmlformats.org/drawingml/2006/main">
            <a:r>
              <a:t>Pourquoi présent : Version épinglée dans requirements.txt; aucun parent d’exécution dans les 87 distributions de cet inventaire.</a:t>
            </a:r>
          </a:p>
          <a:p xmlns:a="http://schemas.openxmlformats.org/drawingml/2006/main">
            <a:r>
              <a:t>Exemple : Un import inutilisé ou un nom non défini provoque un diagnostic avant livraison.</a:t>
            </a:r>
          </a:p>
          <a:p xmlns:a="http://schemas.openxmlformats.org/drawingml/2006/main">
            <a:r>
              <a:t>Sources :</a:t>
            </a:r>
          </a:p>
          <a:p xmlns:a="http://schemas.openxmlformats.org/drawingml/2006/main">
            <a:r>
              <a:t>scripts/check.ps1</a:t>
            </a:r>
          </a:p>
          <a:p xmlns:a="http://schemas.openxmlformats.org/drawingml/2006/main">
            <a:r>
              <a:t>.venv/Lib/site-packages/ruff-0.17.0.dist-info/METADATA</a:t>
            </a:r>
          </a:p>
          <a:p xmlns:a="http://schemas.openxmlformats.org/drawingml/2006/main">
            <a:r>
              <a:t>requirements.txt</a:t>
            </a:r>
          </a:p>
          <a:p xmlns:a="http://schemas.openxmlformats.org/drawingml/2006/main">
            <a:r>
              <a:t>https://docs.astral.sh/ruff/</a:t>
            </a:r>
          </a:p>
          <a:p xmlns:a="http://schemas.openxmlformats.org/drawingml/2006/main">
            <a:r>
              <a:t/>
            </a:r>
          </a:p>
          <a:p xmlns:a="http://schemas.openxmlformats.org/drawingml/2006/main">
            <a:r>
              <a:t>Sources du dépôt, état au 11 octobre 2026 (U17–U19, présentation U22)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Installé sans usage métier direct.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aiosqlite==0.22.1</a:t>
            </a:r>
          </a:p>
          <a:p xmlns:a="http://schemas.openxmlformats.org/drawingml/2006/main">
            <a:r>
              <a:t>Classement de référence : Installé sans usage métier direct.</a:t>
            </a:r>
          </a:p>
          <a:p xmlns:a="http://schemas.openxmlformats.org/drawingml/2006/main">
            <a:r>
              <a:t>Fonction : Expose SQLite à asyncio en exécutant les opérations sur une file et un thread dédié.</a:t>
            </a:r>
          </a:p>
          <a:p xmlns:a="http://schemas.openxmlformats.org/drawingml/2006/main">
            <a:r>
              <a:t>Utilisation Genesis : Est requis par le paquet de checkpoints SQLite, mais Genesis sélectionne le saver synchrone; aucun appel applicatif direct.</a:t>
            </a:r>
          </a:p>
          <a:p xmlns:a="http://schemas.openxmlformats.org/drawingml/2006/main">
            <a:r>
              <a:t>Pourquoi présent : Version épinglée dans requirements.txt; requis immédiatement par langgraph-checkpoint-sqlite; liens conditionnels distincts : SQLAlchemy (extra == "aiosqlite").</a:t>
            </a:r>
          </a:p>
          <a:p xmlns:a="http://schemas.openxmlformats.org/drawingml/2006/main">
            <a:r>
              <a:t>Exemple : AsyncSqliteSaver peut attendre une écriture sans bloquer la boucle asyncio; ce saver n’est pas celui du workflow Genesis.</a:t>
            </a:r>
          </a:p>
          <a:p xmlns:a="http://schemas.openxmlformats.org/drawingml/2006/main">
            <a:r>
              <a:t>Sources :</a:t>
            </a:r>
          </a:p>
          <a:p xmlns:a="http://schemas.openxmlformats.org/drawingml/2006/main">
            <a:r>
              <a:t>services/genesis/workflow.py</a:t>
            </a:r>
          </a:p>
          <a:p xmlns:a="http://schemas.openxmlformats.org/drawingml/2006/main">
            <a:r>
              <a:t>.venv/Lib/site-packages/aiosqlite-0.22.1.dist-info/METADATA</a:t>
            </a:r>
          </a:p>
          <a:p xmlns:a="http://schemas.openxmlformats.org/drawingml/2006/main">
            <a:r>
              <a:t>requirements.txt</a:t>
            </a:r>
          </a:p>
          <a:p xmlns:a="http://schemas.openxmlformats.org/drawingml/2006/main">
            <a:r>
              <a:t>https://aiosqlite.omnilib.dev</a:t>
            </a:r>
          </a:p>
          <a:p xmlns:a="http://schemas.openxmlformats.org/drawingml/2006/main">
            <a:r>
              <a:t/>
            </a:r>
          </a:p>
          <a:p xmlns:a="http://schemas.openxmlformats.org/drawingml/2006/main">
            <a:r>
              <a:t>alembic==1.20.0</a:t>
            </a:r>
          </a:p>
          <a:p xmlns:a="http://schemas.openxmlformats.org/drawingml/2006/main">
            <a:r>
              <a:t>Classement de référence : Installé sans usage métier direct.</a:t>
            </a:r>
          </a:p>
          <a:p xmlns:a="http://schemas.openxmlformats.org/drawingml/2006/main">
            <a:r>
              <a:t>Fonction : Versionne et applique les évolutions de schéma d’une base SQLAlchemy.</a:t>
            </a:r>
          </a:p>
          <a:p xmlns:a="http://schemas.openxmlformats.org/drawingml/2006/main">
            <a:r>
              <a:t>Utilisation Genesis : Est installé pour l’architecture SQL, mais aucune migration Alembic active n’est appelée; le schéma local est créé par le code.</a:t>
            </a:r>
          </a:p>
          <a:p xmlns:a="http://schemas.openxmlformats.org/drawingml/2006/main">
            <a:r>
              <a:t>Pourquoi présent : Version épinglée dans requirements.txt; aucun parent d’exécution dans les 87 distributions de cet inventaire.</a:t>
            </a:r>
          </a:p>
          <a:p xmlns:a="http://schemas.openxmlformats.org/drawingml/2006/main">
            <a:r>
              <a:t>Exemple : Une révision Alembic décrirait l’ajout d’une colonne et sa réversion; Genesis n’exécute pas ce mécanisme actuellement.</a:t>
            </a:r>
          </a:p>
          <a:p xmlns:a="http://schemas.openxmlformats.org/drawingml/2006/main">
            <a:r>
              <a:t>Sources :</a:t>
            </a:r>
          </a:p>
          <a:p xmlns:a="http://schemas.openxmlformats.org/drawingml/2006/main">
            <a:r>
              <a:t>services/genesis/db.py</a:t>
            </a:r>
          </a:p>
          <a:p xmlns:a="http://schemas.openxmlformats.org/drawingml/2006/main">
            <a:r>
              <a:t>.venv/Lib/site-packages/alembic-1.20.0.dist-info/METADATA</a:t>
            </a:r>
          </a:p>
          <a:p xmlns:a="http://schemas.openxmlformats.org/drawingml/2006/main">
            <a:r>
              <a:t>requirements.txt</a:t>
            </a:r>
          </a:p>
          <a:p xmlns:a="http://schemas.openxmlformats.org/drawingml/2006/main">
            <a:r>
              <a:t>https://alembic.sqlalchemy.org</a:t>
            </a:r>
          </a:p>
          <a:p xmlns:a="http://schemas.openxmlformats.org/drawingml/2006/main">
            <a:r>
              <a:t/>
            </a:r>
          </a:p>
          <a:p xmlns:a="http://schemas.openxmlformats.org/drawingml/2006/main">
            <a:r>
              <a:t>langgraph-checkpoint-postgres==3.1.2</a:t>
            </a:r>
          </a:p>
          <a:p xmlns:a="http://schemas.openxmlformats.org/drawingml/2006/main">
            <a:r>
              <a:t>Classement de référence : Installé sans usage métier direct.</a:t>
            </a:r>
          </a:p>
          <a:p xmlns:a="http://schemas.openxmlformats.org/drawingml/2006/main">
            <a:r>
              <a:t>Fonction : Implémente la persistance des checkpoints LangGraph dans PostgreSQL.</a:t>
            </a:r>
          </a:p>
          <a:p xmlns:a="http://schemas.openxmlformats.org/drawingml/2006/main">
            <a:r>
              <a:t>Utilisation Genesis : Est installé, mais le workflow importe SqliteSaver; aucune exécution du saver PostgreSQL n’est établie.</a:t>
            </a:r>
          </a:p>
          <a:p xmlns:a="http://schemas.openxmlformats.org/drawingml/2006/main">
            <a:r>
              <a:t>Pourquoi présent : Version épinglée dans requirements.txt; aucun parent d’exécution dans les 87 distributions de cet inventaire.</a:t>
            </a:r>
          </a:p>
          <a:p xmlns:a="http://schemas.openxmlformats.org/drawingml/2006/main">
            <a:r>
              <a:t>Exemple : PostgresSaver pourrait enregistrer l’état dans PostgreSQL, mais sa présence n’atteste pas la reprise du profil local.</a:t>
            </a:r>
          </a:p>
          <a:p xmlns:a="http://schemas.openxmlformats.org/drawingml/2006/main">
            <a:r>
              <a:t>Sources :</a:t>
            </a:r>
          </a:p>
          <a:p xmlns:a="http://schemas.openxmlformats.org/drawingml/2006/main">
            <a:r>
              <a:t>services/genesis/workflow.py</a:t>
            </a:r>
          </a:p>
          <a:p xmlns:a="http://schemas.openxmlformats.org/drawingml/2006/main">
            <a:r>
              <a:t>.venv/Lib/site-packages/langgraph_checkpoint_postgres-3.1.2.dist-info/METADATA</a:t>
            </a:r>
          </a:p>
          <a:p xmlns:a="http://schemas.openxmlformats.org/drawingml/2006/main">
            <a:r>
              <a:t>requirements.txt</a:t>
            </a:r>
          </a:p>
          <a:p xmlns:a="http://schemas.openxmlformats.org/drawingml/2006/main">
            <a:r>
              <a:t>https://github.com/langchain-ai/langgraph/tree/main/libs/checkpoint-postgres</a:t>
            </a:r>
          </a:p>
          <a:p xmlns:a="http://schemas.openxmlformats.org/drawingml/2006/main">
            <a:r>
              <a:t/>
            </a:r>
          </a:p>
          <a:p xmlns:a="http://schemas.openxmlformats.org/drawingml/2006/main">
            <a:r>
              <a:t>Mako==1.4.3</a:t>
            </a:r>
          </a:p>
          <a:p xmlns:a="http://schemas.openxmlformats.org/drawingml/2006/main">
            <a:r>
              <a:t>Classement de référence : Installé sans usage métier direct.</a:t>
            </a:r>
          </a:p>
          <a:p xmlns:a="http://schemas.openxmlformats.org/drawingml/2006/main">
            <a:r>
              <a:t>Fonction : Transforme des modèles textuels contenant expressions et blocs Python en documents.</a:t>
            </a:r>
          </a:p>
          <a:p xmlns:a="http://schemas.openxmlformats.org/drawingml/2006/main">
            <a:r>
              <a:t>Utilisation Genesis : Est requis par Alembic installé, sans génération de page web métier Genesis.</a:t>
            </a:r>
          </a:p>
          <a:p xmlns:a="http://schemas.openxmlformats.org/drawingml/2006/main">
            <a:r>
              <a:t>Pourquoi présent : Version épinglée dans requirements.txt; requis immédiatement par alembic.</a:t>
            </a:r>
          </a:p>
          <a:p xmlns:a="http://schemas.openxmlformats.org/drawingml/2006/main">
            <a:r>
              <a:t>Exemple : Alembic peut générer un fichier de révision depuis un modèle Mako; aucune migration active n’est observée.</a:t>
            </a:r>
          </a:p>
          <a:p xmlns:a="http://schemas.openxmlformats.org/drawingml/2006/main">
            <a:r>
              <a:t>Sources :</a:t>
            </a:r>
          </a:p>
          <a:p xmlns:a="http://schemas.openxmlformats.org/drawingml/2006/main">
            <a:r>
              <a:t>requirements.txt</a:t>
            </a:r>
          </a:p>
          <a:p xmlns:a="http://schemas.openxmlformats.org/drawingml/2006/main">
            <a:r>
              <a:t>.venv/Lib/site-packages/mako-1.4.3.dist-info/METADATA</a:t>
            </a:r>
          </a:p>
          <a:p xmlns:a="http://schemas.openxmlformats.org/drawingml/2006/main">
            <a:r>
              <a:t>requirements.txt</a:t>
            </a:r>
          </a:p>
          <a:p xmlns:a="http://schemas.openxmlformats.org/drawingml/2006/main">
            <a:r>
              <a:t>https://www.makotemplates.org/</a:t>
            </a:r>
          </a:p>
          <a:p xmlns:a="http://schemas.openxmlformats.org/drawingml/2006/main">
            <a:r>
              <a:t/>
            </a:r>
          </a:p>
          <a:p xmlns:a="http://schemas.openxmlformats.org/drawingml/2006/main">
            <a:r>
              <a:t>numpy==2.5.3</a:t>
            </a:r>
          </a:p>
          <a:p xmlns:a="http://schemas.openxmlformats.org/drawingml/2006/main">
            <a:r>
              <a:t>Classement de référence : Installé sans usage métier direct.</a:t>
            </a:r>
          </a:p>
          <a:p xmlns:a="http://schemas.openxmlformats.org/drawingml/2006/main">
            <a:r>
              <a:t>Fonction : Fournit des tableaux numériques multidimensionnels et opérations vectorisées.</a:t>
            </a:r>
          </a:p>
          <a:p xmlns:a="http://schemas.openxmlformats.org/drawingml/2006/main">
            <a:r>
              <a:t>Utilisation Genesis : Est requis par OR-Tools et pandas; aucun import numérique direct n’est observé dans le code métier.</a:t>
            </a:r>
          </a:p>
          <a:p xmlns:a="http://schemas.openxmlformats.org/drawingml/2006/main">
            <a:r>
              <a:t>Pourquoi présent : Version épinglée dans requirements.txt; requis immédiatement par ortools, pandas (python_version &lt; "3.14"); liens conditionnels distincts : pandas (python_version &gt;= "3.14").</a:t>
            </a:r>
          </a:p>
          <a:p xmlns:a="http://schemas.openxmlformats.org/drawingml/2006/main">
            <a:r>
              <a:t>Exemple : Une dépendance peut convertir des données en tableaux; les capacités et horaires Genesis sont définis dans ses propres contrats.</a:t>
            </a:r>
          </a:p>
          <a:p xmlns:a="http://schemas.openxmlformats.org/drawingml/2006/main">
            <a:r>
              <a:t>Sources :</a:t>
            </a:r>
          </a:p>
          <a:p xmlns:a="http://schemas.openxmlformats.org/drawingml/2006/main">
            <a:r>
              <a:t>services/genesis/solver.py</a:t>
            </a:r>
          </a:p>
          <a:p xmlns:a="http://schemas.openxmlformats.org/drawingml/2006/main">
            <a:r>
              <a:t>.venv/Lib/site-packages/numpy-2.5.3.dist-info/METADATA</a:t>
            </a:r>
          </a:p>
          <a:p xmlns:a="http://schemas.openxmlformats.org/drawingml/2006/main">
            <a:r>
              <a:t>requirements.txt</a:t>
            </a:r>
          </a:p>
          <a:p xmlns:a="http://schemas.openxmlformats.org/drawingml/2006/main">
            <a:r>
              <a:t>https://numpy.org</a:t>
            </a:r>
          </a:p>
          <a:p xmlns:a="http://schemas.openxmlformats.org/drawingml/2006/main">
            <a:r>
              <a:t/>
            </a:r>
          </a:p>
          <a:p xmlns:a="http://schemas.openxmlformats.org/drawingml/2006/main">
            <a:r>
              <a:t>pandas==3.0.6</a:t>
            </a:r>
          </a:p>
          <a:p xmlns:a="http://schemas.openxmlformats.org/drawingml/2006/main">
            <a:r>
              <a:t>Classement de référence : Installé sans usage métier direct.</a:t>
            </a:r>
          </a:p>
          <a:p xmlns:a="http://schemas.openxmlformats.org/drawingml/2006/main">
            <a:r>
              <a:t>Fonction : Fournit DataFrame, regroupements et traitements de données tabulaires.</a:t>
            </a:r>
          </a:p>
          <a:p xmlns:a="http://schemas.openxmlformats.org/drawingml/2006/main">
            <a:r>
              <a:t>Utilisation Genesis : Est requis par OR-Tools, mais aucun import applicatif direct ne génère les analyses Genesis.</a:t>
            </a:r>
          </a:p>
          <a:p xmlns:a="http://schemas.openxmlformats.org/drawingml/2006/main">
            <a:r>
              <a:t>Pourquoi présent : Version épinglée dans requirements.txt; requis immédiatement par ortools.</a:t>
            </a:r>
          </a:p>
          <a:p xmlns:a="http://schemas.openxmlformats.org/drawingml/2006/main">
            <a:r>
              <a:t>Exemple : Une dépendance peut exposer des résultats tabulaires; le rapport et les CSV Genesis utilisent leurs propres données et fonctions.</a:t>
            </a:r>
          </a:p>
          <a:p xmlns:a="http://schemas.openxmlformats.org/drawingml/2006/main">
            <a:r>
              <a:t>Sources :</a:t>
            </a:r>
          </a:p>
          <a:p xmlns:a="http://schemas.openxmlformats.org/drawingml/2006/main">
            <a:r>
              <a:t>services/genesis/solver.py</a:t>
            </a:r>
          </a:p>
          <a:p xmlns:a="http://schemas.openxmlformats.org/drawingml/2006/main">
            <a:r>
              <a:t>.venv/Lib/site-packages/pandas-3.0.6.dist-info/METADATA</a:t>
            </a:r>
          </a:p>
          <a:p xmlns:a="http://schemas.openxmlformats.org/drawingml/2006/main">
            <a:r>
              <a:t>requirements.txt</a:t>
            </a:r>
          </a:p>
          <a:p xmlns:a="http://schemas.openxmlformats.org/drawingml/2006/main">
            <a:r>
              <a:t>https://pandas.pydata.org</a:t>
            </a:r>
          </a:p>
          <a:p xmlns:a="http://schemas.openxmlformats.org/drawingml/2006/main">
            <a:r>
              <a:t/>
            </a:r>
          </a:p>
          <a:p xmlns:a="http://schemas.openxmlformats.org/drawingml/2006/main">
            <a:r>
              <a:t>requests==2.34.2</a:t>
            </a:r>
          </a:p>
          <a:p xmlns:a="http://schemas.openxmlformats.org/drawingml/2006/main">
            <a:r>
              <a:t>Classement de référence : Installé sans usage métier direct.</a:t>
            </a:r>
          </a:p>
          <a:p xmlns:a="http://schemas.openxmlformats.org/drawingml/2006/main">
            <a:r>
              <a:t>Fonction : Fournit un client HTTP synchrone avec sessions, réponses et gestion TLS.</a:t>
            </a:r>
          </a:p>
          <a:p xmlns:a="http://schemas.openxmlformats.org/drawingml/2006/main">
            <a:r>
              <a:t>Utilisation Genesis : Supporte notamment Langsmith et l’exporteur OTLP; les requêtes routières Genesis utilisent HTTPX.</a:t>
            </a:r>
          </a:p>
          <a:p xmlns:a="http://schemas.openxmlformats.org/drawingml/2006/main">
            <a:r>
              <a:t>Pourquoi présent : Version épinglée dans requirements.txt; requis immédiatement par langsmith, opentelemetry-exporter-otlp-proto-http, requests-toolbelt, tiktoken.</a:t>
            </a:r>
          </a:p>
          <a:p xmlns:a="http://schemas.openxmlformats.org/drawingml/2006/main">
            <a:r>
              <a:t>Exemple : Un exporteur configuré peut envoyer son lot de télémétrie via une session Requests.</a:t>
            </a:r>
          </a:p>
          <a:p xmlns:a="http://schemas.openxmlformats.org/drawingml/2006/main">
            <a:r>
              <a:t>Sources :</a:t>
            </a:r>
          </a:p>
          <a:p xmlns:a="http://schemas.openxmlformats.org/drawingml/2006/main">
            <a:r>
              <a:t>services/genesis/worker.py</a:t>
            </a:r>
          </a:p>
          <a:p xmlns:a="http://schemas.openxmlformats.org/drawingml/2006/main">
            <a:r>
              <a:t>.venv/Lib/site-packages/requests-2.34.2.dist-info/METADATA</a:t>
            </a:r>
          </a:p>
          <a:p xmlns:a="http://schemas.openxmlformats.org/drawingml/2006/main">
            <a:r>
              <a:t>requirements.txt</a:t>
            </a:r>
          </a:p>
          <a:p xmlns:a="http://schemas.openxmlformats.org/drawingml/2006/main">
            <a:r>
              <a:t>https://requests.readthedocs.io</a:t>
            </a:r>
          </a:p>
          <a:p xmlns:a="http://schemas.openxmlformats.org/drawingml/2006/main">
            <a:r>
              <a:t/>
            </a:r>
          </a:p>
          <a:p xmlns:a="http://schemas.openxmlformats.org/drawingml/2006/main">
            <a:r>
              <a:t>sqlite-vec==0.1.9</a:t>
            </a:r>
          </a:p>
          <a:p xmlns:a="http://schemas.openxmlformats.org/drawingml/2006/main">
            <a:r>
              <a:t>Classement de référence : Installé sans usage métier direct.</a:t>
            </a:r>
          </a:p>
          <a:p xmlns:a="http://schemas.openxmlformats.org/drawingml/2006/main">
            <a:r>
              <a:t>Fonction : Ajoute à SQLite des fonctions et tables de recherche vectorielle.</a:t>
            </a:r>
          </a:p>
          <a:p xmlns:a="http://schemas.openxmlformats.org/drawingml/2006/main">
            <a:r>
              <a:t>Utilisation Genesis : Est requis par le paquet de checkpoints SQLite, mais Genesis ne charge pas de recherche vectorielle applicative.</a:t>
            </a:r>
          </a:p>
          <a:p xmlns:a="http://schemas.openxmlformats.org/drawingml/2006/main">
            <a:r>
              <a:t>Pourquoi présent : Version épinglée dans requirements.txt; requis immédiatement par langgraph-checkpoint-sqlite.</a:t>
            </a:r>
          </a:p>
          <a:p xmlns:a="http://schemas.openxmlformats.org/drawingml/2006/main">
            <a:r>
              <a:t>Exemple : Le store fourni par la dépendance peut rechercher des vecteurs similaires; la mémoire de routes Genesis interroge son historique SQL.</a:t>
            </a:r>
          </a:p>
          <a:p xmlns:a="http://schemas.openxmlformats.org/drawingml/2006/main">
            <a:r>
              <a:t>Sources :</a:t>
            </a:r>
          </a:p>
          <a:p xmlns:a="http://schemas.openxmlformats.org/drawingml/2006/main">
            <a:r>
              <a:t>services/genesis/route_memory.py</a:t>
            </a:r>
          </a:p>
          <a:p xmlns:a="http://schemas.openxmlformats.org/drawingml/2006/main">
            <a:r>
              <a:t>.venv/Lib/site-packages/sqlite_vec-0.1.9.dist-info/METADATA</a:t>
            </a:r>
          </a:p>
          <a:p xmlns:a="http://schemas.openxmlformats.org/drawingml/2006/main">
            <a:r>
              <a:t>requirements.txt</a:t>
            </a:r>
          </a:p>
          <a:p xmlns:a="http://schemas.openxmlformats.org/drawingml/2006/main">
            <a:r>
              <a:t>https://github.com/asg017/sqlite-vec</a:t>
            </a:r>
          </a:p>
          <a:p xmlns:a="http://schemas.openxmlformats.org/drawingml/2006/main">
            <a:r>
              <a:t/>
            </a:r>
          </a:p>
          <a:p xmlns:a="http://schemas.openxmlformats.org/drawingml/2006/main">
            <a:r>
              <a:t>tiktoken==0.14.0</a:t>
            </a:r>
          </a:p>
          <a:p xmlns:a="http://schemas.openxmlformats.org/drawingml/2006/main">
            <a:r>
              <a:t>Classement de référence : Installé sans usage métier direct.</a:t>
            </a:r>
          </a:p>
          <a:p xmlns:a="http://schemas.openxmlformats.org/drawingml/2006/main">
            <a:r>
              <a:t>Fonction : Encode du texte en tokens BPE pour certaines familles de modèles.</a:t>
            </a:r>
          </a:p>
          <a:p xmlns:a="http://schemas.openxmlformats.org/drawingml/2006/main">
            <a:r>
              <a:t>Utilisation Genesis : Est déclaré et installé, mais aucun module métier Genesis ne l’utilise pour mesurer les tokens Anthropic.</a:t>
            </a:r>
          </a:p>
          <a:p xmlns:a="http://schemas.openxmlformats.org/drawingml/2006/main">
            <a:r>
              <a:t>Pourquoi présent : Version épinglée dans requirements.txt; aucun parent d’exécution dans les 87 distributions de cet inventaire.</a:t>
            </a:r>
          </a:p>
          <a:p xmlns:a="http://schemas.openxmlformats.org/drawingml/2006/main">
            <a:r>
              <a:t>Exemple : Le SDK fournit l’usage réellement retourné; la présence de tiktoken ne prouve pas un comptage local de ces appels.</a:t>
            </a:r>
          </a:p>
          <a:p xmlns:a="http://schemas.openxmlformats.org/drawingml/2006/main">
            <a:r>
              <a:t>Sources :</a:t>
            </a:r>
          </a:p>
          <a:p xmlns:a="http://schemas.openxmlformats.org/drawingml/2006/main">
            <a:r>
              <a:t>services/genesis/llm.py</a:t>
            </a:r>
          </a:p>
          <a:p xmlns:a="http://schemas.openxmlformats.org/drawingml/2006/main">
            <a:r>
              <a:t>.venv/Lib/site-packages/tiktoken-0.14.0.dist-info/METADATA</a:t>
            </a:r>
          </a:p>
          <a:p xmlns:a="http://schemas.openxmlformats.org/drawingml/2006/main">
            <a:r>
              <a:t>requirements.txt</a:t>
            </a:r>
          </a:p>
          <a:p xmlns:a="http://schemas.openxmlformats.org/drawingml/2006/main">
            <a:r>
              <a:t>https://github.com/openai/tiktoken</a:t>
            </a:r>
          </a:p>
          <a:p xmlns:a="http://schemas.openxmlformats.org/drawingml/2006/main">
            <a:r>
              <a:t/>
            </a:r>
          </a:p>
          <a:p xmlns:a="http://schemas.openxmlformats.org/drawingml/2006/main">
            <a:r>
              <a:t>Sources du dépôt, état au 11 octobre 2026 (U17–U19, présentation U22)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Chaque dépendance directe déclarée est conservée ci-dessous. Les arbres transitifs npm restent dans les deux package-lock.json. Un paquet de développement peut produire du code livré au navigateur, sans que son moteur soit lui-même exécuté par le site.</a:t>
            </a:r>
          </a:p>
          <a:p xmlns:a="http://schemas.openxmlformats.org/drawingml/2006/main">
            <a:r>
              <a:t/>
            </a:r>
          </a:p>
          <a:p xmlns:a="http://schemas.openxmlformats.org/drawingml/2006/main">
            <a:r>
              <a:t>Manifeste : apps/web/package.json.</a:t>
            </a:r>
          </a:p>
          <a:p xmlns:a="http://schemas.openxmlformats.org/drawingml/2006/main">
            <a:r>
              <a:t>@fontsource-variable/inter@5.2.8</a:t>
            </a:r>
          </a:p>
          <a:p xmlns:a="http://schemas.openxmlformats.org/drawingml/2006/main">
            <a:r>
              <a:t>Classement de référence : Usage direct.</a:t>
            </a:r>
          </a:p>
          <a:p xmlns:a="http://schemas.openxmlformats.org/drawingml/2006/main">
            <a:r>
              <a:t>Fonction : Distribue les fichiers et styles de la police Inter à graisse variable.</a:t>
            </a:r>
          </a:p>
          <a:p xmlns:a="http://schemas.openxmlformats.org/drawingml/2006/main">
            <a:r>
              <a:t>Utilisation Genesis : main.tsx l’importe pour servir la police avec l’application locale.</a:t>
            </a:r>
          </a:p>
          <a:p xmlns:a="http://schemas.openxmlformats.org/drawingml/2006/main">
            <a:r>
              <a:t>Pourquoi présent : Déclaré directement dans apps/web/package.json (dependencies); résolution 5.2.8 conservée dans son package-lock.json.</a:t>
            </a:r>
          </a:p>
          <a:p xmlns:a="http://schemas.openxmlformats.org/drawingml/2006/main">
            <a:r>
              <a:t>Exemple : Les titres et textes peuvent varier de graisse sans requête vers un service de polices tiers.</a:t>
            </a:r>
          </a:p>
          <a:p xmlns:a="http://schemas.openxmlformats.org/drawingml/2006/main">
            <a:r>
              <a:t>Sources :</a:t>
            </a:r>
          </a:p>
          <a:p xmlns:a="http://schemas.openxmlformats.org/drawingml/2006/main">
            <a:r>
              <a:t>apps/web/src/main.tsx</a:t>
            </a:r>
          </a:p>
          <a:p xmlns:a="http://schemas.openxmlformats.org/drawingml/2006/main">
            <a:r>
              <a:t>apps/web/package.json</a:t>
            </a:r>
          </a:p>
          <a:p xmlns:a="http://schemas.openxmlformats.org/drawingml/2006/main">
            <a:r>
              <a:t>apps/web/package-lock.json</a:t>
            </a:r>
          </a:p>
          <a:p xmlns:a="http://schemas.openxmlformats.org/drawingml/2006/main">
            <a:r>
              <a:t>https://fontsource.org/docs/getting-started/variable</a:t>
            </a:r>
          </a:p>
          <a:p xmlns:a="http://schemas.openxmlformats.org/drawingml/2006/main">
            <a:r>
              <a:t/>
            </a:r>
          </a:p>
          <a:p xmlns:a="http://schemas.openxmlformats.org/drawingml/2006/main">
            <a:r>
              <a:t>Manifeste : apps/web/package.json.</a:t>
            </a:r>
          </a:p>
          <a:p xmlns:a="http://schemas.openxmlformats.org/drawingml/2006/main">
            <a:r>
              <a:t>@xyflow/react@12.10.0</a:t>
            </a:r>
          </a:p>
          <a:p xmlns:a="http://schemas.openxmlformats.org/drawingml/2006/main">
            <a:r>
              <a:t>Classement de référence : Usage direct.</a:t>
            </a:r>
          </a:p>
          <a:p xmlns:a="http://schemas.openxmlformats.org/drawingml/2006/main">
            <a:r>
              <a:t>Fonction : Fournit des nœuds, liens et interactions pour dessiner des graphes dans React.</a:t>
            </a:r>
          </a:p>
          <a:p xmlns:a="http://schemas.openxmlformats.org/drawingml/2006/main">
            <a:r>
              <a:t>Utilisation Genesis : Observability construit le graphe des rôles et transmissions observées avec ReactFlow.</a:t>
            </a:r>
          </a:p>
          <a:p xmlns:a="http://schemas.openxmlformats.org/drawingml/2006/main">
            <a:r>
              <a:t>Pourquoi présent : Déclaré directement dans apps/web/package.json (dependencies); résolution 12.10.0 conservée dans son package-lock.json.</a:t>
            </a:r>
          </a:p>
          <a:p xmlns:a="http://schemas.openxmlformats.org/drawingml/2006/main">
            <a:r>
              <a:t>Exemple : Sélectionner une étape relie son rôle, ses liens et son résultat; le graphe ne calcule pas de route.</a:t>
            </a:r>
          </a:p>
          <a:p xmlns:a="http://schemas.openxmlformats.org/drawingml/2006/main">
            <a:r>
              <a:t>Sources :</a:t>
            </a:r>
          </a:p>
          <a:p xmlns:a="http://schemas.openxmlformats.org/drawingml/2006/main">
            <a:r>
              <a:t>apps/web/src/Observability.tsx</a:t>
            </a:r>
          </a:p>
          <a:p xmlns:a="http://schemas.openxmlformats.org/drawingml/2006/main">
            <a:r>
              <a:t>apps/web/package.json</a:t>
            </a:r>
          </a:p>
          <a:p xmlns:a="http://schemas.openxmlformats.org/drawingml/2006/main">
            <a:r>
              <a:t>apps/web/package-lock.json</a:t>
            </a:r>
          </a:p>
          <a:p xmlns:a="http://schemas.openxmlformats.org/drawingml/2006/main">
            <a:r>
              <a:t>https://reactflow.dev/learn</a:t>
            </a:r>
          </a:p>
          <a:p xmlns:a="http://schemas.openxmlformats.org/drawingml/2006/main">
            <a:r>
              <a:t/>
            </a:r>
          </a:p>
          <a:p xmlns:a="http://schemas.openxmlformats.org/drawingml/2006/main">
            <a:r>
              <a:t>Manifeste : apps/web/package.json.</a:t>
            </a:r>
          </a:p>
          <a:p xmlns:a="http://schemas.openxmlformats.org/drawingml/2006/main">
            <a:r>
              <a:t>echarts@6.1.0</a:t>
            </a:r>
          </a:p>
          <a:p xmlns:a="http://schemas.openxmlformats.org/drawingml/2006/main">
            <a:r>
              <a:t>Classement de référence : Usage direct.</a:t>
            </a:r>
          </a:p>
          <a:p xmlns:a="http://schemas.openxmlformats.org/drawingml/2006/main">
            <a:r>
              <a:t>Fonction : Fournit des graphiques interactifs, axes, légendes et moteurs de rendu SVG/Canvas.</a:t>
            </a:r>
          </a:p>
          <a:p xmlns:a="http://schemas.openxmlformats.org/drawingml/2006/main">
            <a:r>
              <a:t>Utilisation Genesis : Chart enregistre les séries barre, heatmap, Sankey et camembert et utilise le moteur SVG.</a:t>
            </a:r>
          </a:p>
          <a:p xmlns:a="http://schemas.openxmlformats.org/drawingml/2006/main">
            <a:r>
              <a:t>Pourquoi présent : Déclaré directement dans apps/web/package.json (dependencies); résolution 6.1.0 conservée dans son package-lock.json.</a:t>
            </a:r>
          </a:p>
          <a:p xmlns:a="http://schemas.openxmlformats.org/drawingml/2006/main">
            <a:r>
              <a:t>Exemple : La répartition des coûts et la matrice de latence présentent les données observées avec des alternatives tabulaires.</a:t>
            </a:r>
          </a:p>
          <a:p xmlns:a="http://schemas.openxmlformats.org/drawingml/2006/main">
            <a:r>
              <a:t>Sources :</a:t>
            </a:r>
          </a:p>
          <a:p xmlns:a="http://schemas.openxmlformats.org/drawingml/2006/main">
            <a:r>
              <a:t>apps/web/src/Chart.tsx</a:t>
            </a:r>
          </a:p>
          <a:p xmlns:a="http://schemas.openxmlformats.org/drawingml/2006/main">
            <a:r>
              <a:t>apps/web/package.json</a:t>
            </a:r>
          </a:p>
          <a:p xmlns:a="http://schemas.openxmlformats.org/drawingml/2006/main">
            <a:r>
              <a:t>apps/web/package-lock.json</a:t>
            </a:r>
          </a:p>
          <a:p xmlns:a="http://schemas.openxmlformats.org/drawingml/2006/main">
            <a:r>
              <a:t>https://echarts.apache.org/handbook/en/get-started/</a:t>
            </a:r>
          </a:p>
          <a:p xmlns:a="http://schemas.openxmlformats.org/drawingml/2006/main">
            <a:r>
              <a:t/>
            </a:r>
          </a:p>
          <a:p xmlns:a="http://schemas.openxmlformats.org/drawingml/2006/main">
            <a:r>
              <a:t>Manifeste : apps/web/package.json.</a:t>
            </a:r>
          </a:p>
          <a:p xmlns:a="http://schemas.openxmlformats.org/drawingml/2006/main">
            <a:r>
              <a:t>lucide-react@0.577.0</a:t>
            </a:r>
          </a:p>
          <a:p xmlns:a="http://schemas.openxmlformats.org/drawingml/2006/main">
            <a:r>
              <a:t>Classement de référence : Usage direct.</a:t>
            </a:r>
          </a:p>
          <a:p xmlns:a="http://schemas.openxmlformats.org/drawingml/2006/main">
            <a:r>
              <a:t>Fonction : Fournit des icônes SVG sous forme de composants React.</a:t>
            </a:r>
          </a:p>
          <a:p xmlns:a="http://schemas.openxmlformats.org/drawingml/2006/main">
            <a:r>
              <a:t>Utilisation Genesis : Habille les commandes de navigation, rafraîchissement, export et états de l’interface.</a:t>
            </a:r>
          </a:p>
          <a:p xmlns:a="http://schemas.openxmlformats.org/drawingml/2006/main">
            <a:r>
              <a:t>Pourquoi présent : Déclaré directement dans apps/web/package.json (dependencies); résolution 0.577.0 conservée dans son package-lock.json.</a:t>
            </a:r>
          </a:p>
          <a:p xmlns:a="http://schemas.openxmlformats.org/drawingml/2006/main">
            <a:r>
              <a:t>Exemple : Download accompagne une commande d’export CSV; son libellé reste nécessaire à la compréhension.</a:t>
            </a:r>
          </a:p>
          <a:p xmlns:a="http://schemas.openxmlformats.org/drawingml/2006/main">
            <a:r>
              <a:t>Sources :</a:t>
            </a:r>
          </a:p>
          <a:p xmlns:a="http://schemas.openxmlformats.org/drawingml/2006/main">
            <a:r>
              <a:t>apps/web/src/Analytics.tsx</a:t>
            </a:r>
          </a:p>
          <a:p xmlns:a="http://schemas.openxmlformats.org/drawingml/2006/main">
            <a:r>
              <a:t>apps/web/package.json</a:t>
            </a:r>
          </a:p>
          <a:p xmlns:a="http://schemas.openxmlformats.org/drawingml/2006/main">
            <a:r>
              <a:t>apps/web/package-lock.json</a:t>
            </a:r>
          </a:p>
          <a:p xmlns:a="http://schemas.openxmlformats.org/drawingml/2006/main">
            <a:r>
              <a:t>https://lucide.dev/guide/packages/lucide-react</a:t>
            </a:r>
          </a:p>
          <a:p xmlns:a="http://schemas.openxmlformats.org/drawingml/2006/main">
            <a:r>
              <a:t/>
            </a:r>
          </a:p>
          <a:p xmlns:a="http://schemas.openxmlformats.org/drawingml/2006/main">
            <a:r>
              <a:t>Manifeste : apps/web/package.json.</a:t>
            </a:r>
          </a:p>
          <a:p xmlns:a="http://schemas.openxmlformats.org/drawingml/2006/main">
            <a:r>
              <a:t>maplibre-gl@6.13.0</a:t>
            </a:r>
          </a:p>
          <a:p xmlns:a="http://schemas.openxmlformats.org/drawingml/2006/main">
            <a:r>
              <a:t>Classement de référence : Usage direct.</a:t>
            </a:r>
          </a:p>
          <a:p xmlns:a="http://schemas.openxmlformats.org/drawingml/2006/main">
            <a:r>
              <a:t>Fonction : Dessine des cartes WebGL avec sources GeoJSON, couches et contrôles.</a:t>
            </a:r>
          </a:p>
          <a:p xmlns:a="http://schemas.openxmlformats.org/drawingml/2006/main">
            <a:r>
              <a:t>Utilisation Genesis : RouteMap et DispatchMap montrent les géométries, arrêts et véhicules dont le mouvement reste simulé.</a:t>
            </a:r>
          </a:p>
          <a:p xmlns:a="http://schemas.openxmlformats.org/drawingml/2006/main">
            <a:r>
              <a:t>Pourquoi présent : Déclaré directement dans apps/web/package.json (dependencies); résolution 6.13.0 conservée dans son package-lock.json.</a:t>
            </a:r>
          </a:p>
          <a:p xmlns:a="http://schemas.openxmlformats.org/drawingml/2006/main">
            <a:r>
              <a:t>Exemple : Une couche relie un arrêt sélectionné au tracé conservé; elle ne calcule ni tournée ni trafic réel.</a:t>
            </a:r>
          </a:p>
          <a:p xmlns:a="http://schemas.openxmlformats.org/drawingml/2006/main">
            <a:r>
              <a:t>Sources :</a:t>
            </a:r>
          </a:p>
          <a:p xmlns:a="http://schemas.openxmlformats.org/drawingml/2006/main">
            <a:r>
              <a:t>apps/web/src/DispatchMap.tsx</a:t>
            </a:r>
          </a:p>
          <a:p xmlns:a="http://schemas.openxmlformats.org/drawingml/2006/main">
            <a:r>
              <a:t>apps/web/package.json</a:t>
            </a:r>
          </a:p>
          <a:p xmlns:a="http://schemas.openxmlformats.org/drawingml/2006/main">
            <a:r>
              <a:t>apps/web/package-lock.json</a:t>
            </a:r>
          </a:p>
          <a:p xmlns:a="http://schemas.openxmlformats.org/drawingml/2006/main">
            <a:r>
              <a:t>https://maplibre.org/maplibre-gl-js/docs/</a:t>
            </a:r>
          </a:p>
          <a:p xmlns:a="http://schemas.openxmlformats.org/drawingml/2006/main">
            <a:r>
              <a:t/>
            </a:r>
          </a:p>
          <a:p xmlns:a="http://schemas.openxmlformats.org/drawingml/2006/main">
            <a:r>
              <a:t>Manifeste : apps/web/package.json.</a:t>
            </a:r>
          </a:p>
          <a:p xmlns:a="http://schemas.openxmlformats.org/drawingml/2006/main">
            <a:r>
              <a:t>react@19.2.0</a:t>
            </a:r>
          </a:p>
          <a:p xmlns:a="http://schemas.openxmlformats.org/drawingml/2006/main">
            <a:r>
              <a:t>Classement de référence : Usage direct.</a:t>
            </a:r>
          </a:p>
          <a:p xmlns:a="http://schemas.openxmlformats.org/drawingml/2006/main">
            <a:r>
              <a:t>Fonction : Construit l’interface en composants déclaratifs avec état et effets.</a:t>
            </a:r>
          </a:p>
          <a:p xmlns:a="http://schemas.openxmlformats.org/drawingml/2006/main">
            <a:r>
              <a:t>Utilisation Genesis : Les vues opérations, analytique et agents composent les formulaires, filtres et données de l’API.</a:t>
            </a:r>
          </a:p>
          <a:p xmlns:a="http://schemas.openxmlformats.org/drawingml/2006/main">
            <a:r>
              <a:t>Pourquoi présent : Déclaré directement dans apps/web/package.json (dependencies); résolution 19.2.0 conservée dans son package-lock.json; peer requis par react-dom, @xyflow/react et lucide-react.</a:t>
            </a:r>
          </a:p>
          <a:p xmlns:a="http://schemas.openxmlformats.org/drawingml/2006/main">
            <a:r>
              <a:t>Exemple : Changer un filtre met à jour l’état puis les vues et requêtes dépendantes.</a:t>
            </a:r>
          </a:p>
          <a:p xmlns:a="http://schemas.openxmlformats.org/drawingml/2006/main">
            <a:r>
              <a:t>Sources :</a:t>
            </a:r>
          </a:p>
          <a:p xmlns:a="http://schemas.openxmlformats.org/drawingml/2006/main">
            <a:r>
              <a:t>apps/web/src/App.tsx</a:t>
            </a:r>
          </a:p>
          <a:p xmlns:a="http://schemas.openxmlformats.org/drawingml/2006/main">
            <a:r>
              <a:t>apps/web/package.json</a:t>
            </a:r>
          </a:p>
          <a:p xmlns:a="http://schemas.openxmlformats.org/drawingml/2006/main">
            <a:r>
              <a:t>apps/web/package-lock.json</a:t>
            </a:r>
          </a:p>
          <a:p xmlns:a="http://schemas.openxmlformats.org/drawingml/2006/main">
            <a:r>
              <a:t>https://react.dev/learn</a:t>
            </a:r>
          </a:p>
          <a:p xmlns:a="http://schemas.openxmlformats.org/drawingml/2006/main">
            <a:r>
              <a:t/>
            </a:r>
          </a:p>
          <a:p xmlns:a="http://schemas.openxmlformats.org/drawingml/2006/main">
            <a:r>
              <a:t>Manifeste : apps/web/package.json.</a:t>
            </a:r>
          </a:p>
          <a:p xmlns:a="http://schemas.openxmlformats.org/drawingml/2006/main">
            <a:r>
              <a:t>react-dom@19.2.0</a:t>
            </a:r>
          </a:p>
          <a:p xmlns:a="http://schemas.openxmlformats.org/drawingml/2006/main">
            <a:r>
              <a:t>Classement de référence : Usage direct.</a:t>
            </a:r>
          </a:p>
          <a:p xmlns:a="http://schemas.openxmlformats.org/drawingml/2006/main">
            <a:r>
              <a:t>Fonction : Relie React au DOM du navigateur et fournit aussi un rendu serveur.</a:t>
            </a:r>
          </a:p>
          <a:p xmlns:a="http://schemas.openxmlformats.org/drawingml/2006/main">
            <a:r>
              <a:t>Utilisation Genesis : main.tsx monte App avec createRoot; certains tests utilisent renderToStaticMarkup.</a:t>
            </a:r>
          </a:p>
          <a:p xmlns:a="http://schemas.openxmlformats.org/drawingml/2006/main">
            <a:r>
              <a:t>Pourquoi présent : Déclaré directement dans apps/web/package.json (dependencies); résolution 19.2.0 conservée dans son package-lock.json; peer requis par @xyflow/react.</a:t>
            </a:r>
          </a:p>
          <a:p xmlns:a="http://schemas.openxmlformats.org/drawingml/2006/main">
            <a:r>
              <a:t>Exemple : Le conteneur HTML reçoit l’arbre de composants et ses mises à jour.</a:t>
            </a:r>
          </a:p>
          <a:p xmlns:a="http://schemas.openxmlformats.org/drawingml/2006/main">
            <a:r>
              <a:t>Sources :</a:t>
            </a:r>
          </a:p>
          <a:p xmlns:a="http://schemas.openxmlformats.org/drawingml/2006/main">
            <a:r>
              <a:t>apps/web/src/main.tsx</a:t>
            </a:r>
          </a:p>
          <a:p xmlns:a="http://schemas.openxmlformats.org/drawingml/2006/main">
            <a:r>
              <a:t>apps/web/package.json</a:t>
            </a:r>
          </a:p>
          <a:p xmlns:a="http://schemas.openxmlformats.org/drawingml/2006/main">
            <a:r>
              <a:t>apps/web/package-lock.json</a:t>
            </a:r>
          </a:p>
          <a:p xmlns:a="http://schemas.openxmlformats.org/drawingml/2006/main">
            <a:r>
              <a:t>https://react.dev/reference/react-dom/client/createRoot</a:t>
            </a:r>
          </a:p>
          <a:p xmlns:a="http://schemas.openxmlformats.org/drawingml/2006/main">
            <a:r>
              <a:t/>
            </a:r>
          </a:p>
          <a:p xmlns:a="http://schemas.openxmlformats.org/drawingml/2006/main">
            <a:r>
              <a:t>Manifeste : apps/web/package.json.</a:t>
            </a:r>
          </a:p>
          <a:p xmlns:a="http://schemas.openxmlformats.org/drawingml/2006/main">
            <a:r>
              <a:t>@types/react@19.2.14</a:t>
            </a:r>
          </a:p>
          <a:p xmlns:a="http://schemas.openxmlformats.org/drawingml/2006/main">
            <a:r>
              <a:t>Classement de référence : Développement et tests.</a:t>
            </a:r>
          </a:p>
          <a:p xmlns:a="http://schemas.openxmlformats.org/drawingml/2006/main">
            <a:r>
              <a:t>Fonction : Décrit les signatures React pour la vérification TypeScript.</a:t>
            </a:r>
          </a:p>
          <a:p xmlns:a="http://schemas.openxmlformats.org/drawingml/2006/main">
            <a:r>
              <a:t>Utilisation Genesis : Contrôle les props, hooks et références à la compilation; aucun code de ce paquet n’est exécuté par le navigateur.</a:t>
            </a:r>
          </a:p>
          <a:p xmlns:a="http://schemas.openxmlformats.org/drawingml/2006/main">
            <a:r>
              <a:t>Pourquoi présent : Déclaré directement dans apps/web/package.json (devDependencies); résolution 19.2.14 conservée dans son package-lock.json; peer requis par @types/react-dom.</a:t>
            </a:r>
          </a:p>
          <a:p xmlns:a="http://schemas.openxmlformats.org/drawingml/2006/main">
            <a:r>
              <a:t>Exemple : Une prop d’un type erroné peut être détectée avant le build.</a:t>
            </a:r>
          </a:p>
          <a:p xmlns:a="http://schemas.openxmlformats.org/drawingml/2006/main">
            <a:r>
              <a:t>Sources :</a:t>
            </a:r>
          </a:p>
          <a:p xmlns:a="http://schemas.openxmlformats.org/drawingml/2006/main">
            <a:r>
              <a:t>apps/web/tsconfig.json</a:t>
            </a:r>
          </a:p>
          <a:p xmlns:a="http://schemas.openxmlformats.org/drawingml/2006/main">
            <a:r>
              <a:t>apps/web/package.json</a:t>
            </a:r>
          </a:p>
          <a:p xmlns:a="http://schemas.openxmlformats.org/drawingml/2006/main">
            <a:r>
              <a:t>apps/web/package-lock.json</a:t>
            </a:r>
          </a:p>
          <a:p xmlns:a="http://schemas.openxmlformats.org/drawingml/2006/main">
            <a:r>
              <a:t>https://github.com/DefinitelyTyped/DefinitelyTyped/tree/master/types/react</a:t>
            </a:r>
          </a:p>
          <a:p xmlns:a="http://schemas.openxmlformats.org/drawingml/2006/main">
            <a:r>
              <a:t/>
            </a:r>
          </a:p>
          <a:p xmlns:a="http://schemas.openxmlformats.org/drawingml/2006/main">
            <a:r>
              <a:t>Manifeste : apps/web/package.json.</a:t>
            </a:r>
          </a:p>
          <a:p xmlns:a="http://schemas.openxmlformats.org/drawingml/2006/main">
            <a:r>
              <a:t>@types/react-dom@19.2.3</a:t>
            </a:r>
          </a:p>
          <a:p xmlns:a="http://schemas.openxmlformats.org/drawingml/2006/main">
            <a:r>
              <a:t>Classement de référence : Développement et tests.</a:t>
            </a:r>
          </a:p>
          <a:p xmlns:a="http://schemas.openxmlformats.org/drawingml/2006/main">
            <a:r>
              <a:t>Fonction : Décrit les API React DOM pour TypeScript.</a:t>
            </a:r>
          </a:p>
          <a:p xmlns:a="http://schemas.openxmlformats.org/drawingml/2006/main">
            <a:r>
              <a:t>Utilisation Genesis : Vérifie les appels de montage et rendu à la compilation.</a:t>
            </a:r>
          </a:p>
          <a:p xmlns:a="http://schemas.openxmlformats.org/drawingml/2006/main">
            <a:r>
              <a:t>Pourquoi présent : Déclaré directement dans apps/web/package.json (devDependencies); résolution 19.2.3 conservée dans son package-lock.json.</a:t>
            </a:r>
          </a:p>
          <a:p xmlns:a="http://schemas.openxmlformats.org/drawingml/2006/main">
            <a:r>
              <a:t>Exemple : Le compilateur vérifie le type du conteneur donné à createRoot.</a:t>
            </a:r>
          </a:p>
          <a:p xmlns:a="http://schemas.openxmlformats.org/drawingml/2006/main">
            <a:r>
              <a:t>Sources :</a:t>
            </a:r>
          </a:p>
          <a:p xmlns:a="http://schemas.openxmlformats.org/drawingml/2006/main">
            <a:r>
              <a:t>apps/web/src/main.tsx</a:t>
            </a:r>
          </a:p>
          <a:p xmlns:a="http://schemas.openxmlformats.org/drawingml/2006/main">
            <a:r>
              <a:t>apps/web/package.json</a:t>
            </a:r>
          </a:p>
          <a:p xmlns:a="http://schemas.openxmlformats.org/drawingml/2006/main">
            <a:r>
              <a:t>apps/web/package-lock.json</a:t>
            </a:r>
          </a:p>
          <a:p xmlns:a="http://schemas.openxmlformats.org/drawingml/2006/main">
            <a:r>
              <a:t>https://github.com/DefinitelyTyped/DefinitelyTyped/tree/master/types/react-dom</a:t>
            </a:r>
          </a:p>
          <a:p xmlns:a="http://schemas.openxmlformats.org/drawingml/2006/main">
            <a:r>
              <a:t/>
            </a:r>
          </a:p>
          <a:p xmlns:a="http://schemas.openxmlformats.org/drawingml/2006/main">
            <a:r>
              <a:t>Manifeste : apps/web/package.json.</a:t>
            </a:r>
          </a:p>
          <a:p xmlns:a="http://schemas.openxmlformats.org/drawingml/2006/main">
            <a:r>
              <a:t>@vitejs/plugin-react@5.1.4</a:t>
            </a:r>
          </a:p>
          <a:p xmlns:a="http://schemas.openxmlformats.org/drawingml/2006/main">
            <a:r>
              <a:t>Classement de référence : Développement et tests.</a:t>
            </a:r>
          </a:p>
          <a:p xmlns:a="http://schemas.openxmlformats.org/drawingml/2006/main">
            <a:r>
              <a:t>Fonction : Intègre la transformation JSX et le rafraîchissement React à Vite.</a:t>
            </a:r>
          </a:p>
          <a:p xmlns:a="http://schemas.openxmlformats.org/drawingml/2006/main">
            <a:r>
              <a:t>Utilisation Genesis : vite.config.ts l’enregistre dans plugins pour le développement et le build.</a:t>
            </a:r>
          </a:p>
          <a:p xmlns:a="http://schemas.openxmlformats.org/drawingml/2006/main">
            <a:r>
              <a:t>Pourquoi présent : Déclaré directement dans apps/web/package.json (devDependencies); résolution 5.1.4 conservée dans son package-lock.json.</a:t>
            </a:r>
          </a:p>
          <a:p xmlns:a="http://schemas.openxmlformats.org/drawingml/2006/main">
            <a:r>
              <a:t>Exemple : Modifier un composant peut actualiser son rendu par Fast Refresh pendant le développement.</a:t>
            </a:r>
          </a:p>
          <a:p xmlns:a="http://schemas.openxmlformats.org/drawingml/2006/main">
            <a:r>
              <a:t>Sources :</a:t>
            </a:r>
          </a:p>
          <a:p xmlns:a="http://schemas.openxmlformats.org/drawingml/2006/main">
            <a:r>
              <a:t>apps/web/vite.config.ts</a:t>
            </a:r>
          </a:p>
          <a:p xmlns:a="http://schemas.openxmlformats.org/drawingml/2006/main">
            <a:r>
              <a:t>apps/web/package.json</a:t>
            </a:r>
          </a:p>
          <a:p xmlns:a="http://schemas.openxmlformats.org/drawingml/2006/main">
            <a:r>
              <a:t>apps/web/package-lock.json</a:t>
            </a:r>
          </a:p>
          <a:p xmlns:a="http://schemas.openxmlformats.org/drawingml/2006/main">
            <a:r>
              <a:t>https://github.com/vitejs/vite-plugin-react/tree/main/packages/plugin-react</a:t>
            </a:r>
          </a:p>
          <a:p xmlns:a="http://schemas.openxmlformats.org/drawingml/2006/main">
            <a:r>
              <a:t/>
            </a:r>
          </a:p>
          <a:p xmlns:a="http://schemas.openxmlformats.org/drawingml/2006/main">
            <a:r>
              <a:t>Manifeste : apps/web/package.json.</a:t>
            </a:r>
          </a:p>
          <a:p xmlns:a="http://schemas.openxmlformats.org/drawingml/2006/main">
            <a:r>
              <a:t>prettier@3.9.10</a:t>
            </a:r>
          </a:p>
          <a:p xmlns:a="http://schemas.openxmlformats.org/drawingml/2006/main">
            <a:r>
              <a:t>Classement de référence : Installé sans usage métier direct.</a:t>
            </a:r>
          </a:p>
          <a:p xmlns:a="http://schemas.openxmlformats.org/drawingml/2006/main">
            <a:r>
              <a:t>Fonction : Reformate le code selon des règles cohérentes de présentation.</a:t>
            </a:r>
          </a:p>
          <a:p xmlns:a="http://schemas.openxmlformats.org/drawingml/2006/main">
            <a:r>
              <a:t>Utilisation Genesis : Est déclaré dans le frontend, mais aucun script de formatage Genesis ne l’appelle; le générateur de types QA installé le requiert aussi.</a:t>
            </a:r>
          </a:p>
          <a:p xmlns:a="http://schemas.openxmlformats.org/drawingml/2006/main">
            <a:r>
              <a:t>Pourquoi présent : Déclaré directement dans apps/web/package.json (devDependencies); résolution 3.9.10 conservée dans son package-lock.json; requis aussi par json-schema-to-typescript dans le lock QA.</a:t>
            </a:r>
          </a:p>
          <a:p xmlns:a="http://schemas.openxmlformats.org/drawingml/2006/main">
            <a:r>
              <a:t>Exemple : json-schema-to-typescript peut formater son texte généré avec Prettier, sans génération effectivement exécutée dans Genesis.</a:t>
            </a:r>
          </a:p>
          <a:p xmlns:a="http://schemas.openxmlformats.org/drawingml/2006/main">
            <a:r>
              <a:t>Sources :</a:t>
            </a:r>
          </a:p>
          <a:p xmlns:a="http://schemas.openxmlformats.org/drawingml/2006/main">
            <a:r>
              <a:t>apps/web/package.json</a:t>
            </a:r>
          </a:p>
          <a:p xmlns:a="http://schemas.openxmlformats.org/drawingml/2006/main">
            <a:r>
              <a:t>apps/web/package.json</a:t>
            </a:r>
          </a:p>
          <a:p xmlns:a="http://schemas.openxmlformats.org/drawingml/2006/main">
            <a:r>
              <a:t>apps/web/package-lock.json</a:t>
            </a:r>
          </a:p>
          <a:p xmlns:a="http://schemas.openxmlformats.org/drawingml/2006/main">
            <a:r>
              <a:t>https://prettier.io/docs/</a:t>
            </a:r>
          </a:p>
          <a:p xmlns:a="http://schemas.openxmlformats.org/drawingml/2006/main">
            <a:r>
              <a:t/>
            </a:r>
          </a:p>
          <a:p xmlns:a="http://schemas.openxmlformats.org/drawingml/2006/main">
            <a:r>
              <a:t>Manifeste : apps/web/package.json.</a:t>
            </a:r>
          </a:p>
          <a:p xmlns:a="http://schemas.openxmlformats.org/drawingml/2006/main">
            <a:r>
              <a:t>typescript@5.9.3</a:t>
            </a:r>
          </a:p>
          <a:p xmlns:a="http://schemas.openxmlformats.org/drawingml/2006/main">
            <a:r>
              <a:t>Classement de référence : Développement et tests.</a:t>
            </a:r>
          </a:p>
          <a:p xmlns:a="http://schemas.openxmlformats.org/drawingml/2006/main">
            <a:r>
              <a:t>Fonction : Vérifie les types et compile TypeScript vers JavaScript.</a:t>
            </a:r>
          </a:p>
          <a:p xmlns:a="http://schemas.openxmlformats.org/drawingml/2006/main">
            <a:r>
              <a:t>Utilisation Genesis : Le script build exécute tsc -b avant Vite pour vérifier le frontend.</a:t>
            </a:r>
          </a:p>
          <a:p xmlns:a="http://schemas.openxmlformats.org/drawingml/2006/main">
            <a:r>
              <a:t>Pourquoi présent : Déclaré directement dans apps/web/package.json (devDependencies); résolution 5.9.3 conservée dans son package-lock.json.</a:t>
            </a:r>
          </a:p>
          <a:p xmlns:a="http://schemas.openxmlformats.org/drawingml/2006/main">
            <a:r>
              <a:t>Exemple : Une incompatibilité entre une réponse API typée et son utilisateur peut interrompre le build.</a:t>
            </a:r>
          </a:p>
          <a:p xmlns:a="http://schemas.openxmlformats.org/drawingml/2006/main">
            <a:r>
              <a:t>Sources :</a:t>
            </a:r>
          </a:p>
          <a:p xmlns:a="http://schemas.openxmlformats.org/drawingml/2006/main">
            <a:r>
              <a:t>apps/web/package.json</a:t>
            </a:r>
          </a:p>
          <a:p xmlns:a="http://schemas.openxmlformats.org/drawingml/2006/main">
            <a:r>
              <a:t>apps/web/package.json</a:t>
            </a:r>
          </a:p>
          <a:p xmlns:a="http://schemas.openxmlformats.org/drawingml/2006/main">
            <a:r>
              <a:t>apps/web/package-lock.json</a:t>
            </a:r>
          </a:p>
          <a:p xmlns:a="http://schemas.openxmlformats.org/drawingml/2006/main">
            <a:r>
              <a:t>https://www.typescriptlang.org/docs/</a:t>
            </a:r>
          </a:p>
          <a:p xmlns:a="http://schemas.openxmlformats.org/drawingml/2006/main">
            <a:r>
              <a:t/>
            </a:r>
          </a:p>
          <a:p xmlns:a="http://schemas.openxmlformats.org/drawingml/2006/main">
            <a:r>
              <a:t>Manifeste : apps/web/package.json.</a:t>
            </a:r>
          </a:p>
          <a:p xmlns:a="http://schemas.openxmlformats.org/drawingml/2006/main">
            <a:r>
              <a:t>vite@7.3.7</a:t>
            </a:r>
          </a:p>
          <a:p xmlns:a="http://schemas.openxmlformats.org/drawingml/2006/main">
            <a:r>
              <a:t>Classement de référence : Développement et tests.</a:t>
            </a:r>
          </a:p>
          <a:p xmlns:a="http://schemas.openxmlformats.org/drawingml/2006/main">
            <a:r>
              <a:t>Fonction : Fournit le serveur de développement et le regroupement des modules pour distribution.</a:t>
            </a:r>
          </a:p>
          <a:p xmlns:a="http://schemas.openxmlformats.org/drawingml/2006/main">
            <a:r>
              <a:t>Utilisation Genesis : Les scripts dev et build lancent l’interface locale et produisent son bundle.</a:t>
            </a:r>
          </a:p>
          <a:p xmlns:a="http://schemas.openxmlformats.org/drawingml/2006/main">
            <a:r>
              <a:t>Pourquoi présent : Déclaré directement dans apps/web/package.json (devDependencies); résolution 7.3.7 conservée dans son package-lock.json; requis par vitest et peer de @vitejs/plugin-react.</a:t>
            </a:r>
          </a:p>
          <a:p xmlns:a="http://schemas.openxmlformats.org/drawingml/2006/main">
            <a:r>
              <a:t>Exemple : Le serveur écoute sur loopback et le build assemble modules, styles et workers de carte.</a:t>
            </a:r>
          </a:p>
          <a:p xmlns:a="http://schemas.openxmlformats.org/drawingml/2006/main">
            <a:r>
              <a:t>Sources :</a:t>
            </a:r>
          </a:p>
          <a:p xmlns:a="http://schemas.openxmlformats.org/drawingml/2006/main">
            <a:r>
              <a:t>apps/web/vite.config.ts</a:t>
            </a:r>
          </a:p>
          <a:p xmlns:a="http://schemas.openxmlformats.org/drawingml/2006/main">
            <a:r>
              <a:t>apps/web/package.json</a:t>
            </a:r>
          </a:p>
          <a:p xmlns:a="http://schemas.openxmlformats.org/drawingml/2006/main">
            <a:r>
              <a:t>apps/web/package-lock.json</a:t>
            </a:r>
          </a:p>
          <a:p xmlns:a="http://schemas.openxmlformats.org/drawingml/2006/main">
            <a:r>
              <a:t>https://vite.dev/guide/</a:t>
            </a:r>
          </a:p>
          <a:p xmlns:a="http://schemas.openxmlformats.org/drawingml/2006/main">
            <a:r>
              <a:t/>
            </a:r>
          </a:p>
          <a:p xmlns:a="http://schemas.openxmlformats.org/drawingml/2006/main">
            <a:r>
              <a:t>Manifeste : apps/web/package.json.</a:t>
            </a:r>
          </a:p>
          <a:p xmlns:a="http://schemas.openxmlformats.org/drawingml/2006/main">
            <a:r>
              <a:t>vitest@4.1.11</a:t>
            </a:r>
          </a:p>
          <a:p xmlns:a="http://schemas.openxmlformats.org/drawingml/2006/main">
            <a:r>
              <a:t>Classement de référence : Développement et tests.</a:t>
            </a:r>
          </a:p>
          <a:p xmlns:a="http://schemas.openxmlformats.org/drawingml/2006/main">
            <a:r>
              <a:t>Fonction : Exécute des tests JavaScript/TypeScript dans l’environnement Vite.</a:t>
            </a:r>
          </a:p>
          <a:p xmlns:a="http://schemas.openxmlformats.org/drawingml/2006/main">
            <a:r>
              <a:t>Utilisation Genesis : Le frontend l’utilise pour filtres, exports, replay et certains rendus statiques de composants.</a:t>
            </a:r>
          </a:p>
          <a:p xmlns:a="http://schemas.openxmlformats.org/drawingml/2006/main">
            <a:r>
              <a:t>Pourquoi présent : Déclaré directement dans apps/web/package.json (devDependencies); résolution 4.1.11 conservée dans son package-lock.json.</a:t>
            </a:r>
          </a:p>
          <a:p xmlns:a="http://schemas.openxmlformats.org/drawingml/2006/main">
            <a:r>
              <a:t>Exemple : analyticsExport.test.ts contrôle les valeurs, unités et protections CSV.</a:t>
            </a:r>
          </a:p>
          <a:p xmlns:a="http://schemas.openxmlformats.org/drawingml/2006/main">
            <a:r>
              <a:t>Sources :</a:t>
            </a:r>
          </a:p>
          <a:p xmlns:a="http://schemas.openxmlformats.org/drawingml/2006/main">
            <a:r>
              <a:t>apps/web/src/analyticsExport.test.ts</a:t>
            </a:r>
          </a:p>
          <a:p xmlns:a="http://schemas.openxmlformats.org/drawingml/2006/main">
            <a:r>
              <a:t>apps/web/package.json</a:t>
            </a:r>
          </a:p>
          <a:p xmlns:a="http://schemas.openxmlformats.org/drawingml/2006/main">
            <a:r>
              <a:t>apps/web/package-lock.json</a:t>
            </a:r>
          </a:p>
          <a:p xmlns:a="http://schemas.openxmlformats.org/drawingml/2006/main">
            <a:r>
              <a:t>https://vitest.dev/guide/</a:t>
            </a:r>
          </a:p>
          <a:p xmlns:a="http://schemas.openxmlformats.org/drawingml/2006/main">
            <a:r>
              <a:t/>
            </a:r>
          </a:p>
          <a:p xmlns:a="http://schemas.openxmlformats.org/drawingml/2006/main">
            <a:r>
              <a:t>Manifeste : qa/package.json.</a:t>
            </a:r>
          </a:p>
          <a:p xmlns:a="http://schemas.openxmlformats.org/drawingml/2006/main">
            <a:r>
              <a:t>@axe-core/playwright@4.11.1</a:t>
            </a:r>
          </a:p>
          <a:p xmlns:a="http://schemas.openxmlformats.org/drawingml/2006/main">
            <a:r>
              <a:t>Classement de référence : Développement et tests.</a:t>
            </a:r>
          </a:p>
          <a:p xmlns:a="http://schemas.openxmlformats.org/drawingml/2006/main">
            <a:r>
              <a:t>Fonction : Intègre le moteur axe-core à Playwright pour détecter des violations d’accessibilité.</a:t>
            </a:r>
          </a:p>
          <a:p xmlns:a="http://schemas.openxmlformats.org/drawingml/2006/main">
            <a:r>
              <a:t>Utilisation Genesis : Les tests QA importent AxeBuilder pour auditer les pages à des étapes précises.</a:t>
            </a:r>
          </a:p>
          <a:p xmlns:a="http://schemas.openxmlformats.org/drawingml/2006/main">
            <a:r>
              <a:t>Pourquoi présent : Déclaré directement dans qa/package.json (devDependencies); résolution 4.11.1 conservée dans son package-lock.json.</a:t>
            </a:r>
          </a:p>
          <a:p xmlns:a="http://schemas.openxmlformats.org/drawingml/2006/main">
            <a:r>
              <a:t>Exemple : Une analyse peut détecter un contrôle sans nom accessible; ce contrôle n’est pas un audit WCAG complet.</a:t>
            </a:r>
          </a:p>
          <a:p xmlns:a="http://schemas.openxmlformats.org/drawingml/2006/main">
            <a:r>
              <a:t>Sources :</a:t>
            </a:r>
          </a:p>
          <a:p xmlns:a="http://schemas.openxmlformats.org/drawingml/2006/main">
            <a:r>
              <a:t>qa/tests/observatory.spec.ts</a:t>
            </a:r>
          </a:p>
          <a:p xmlns:a="http://schemas.openxmlformats.org/drawingml/2006/main">
            <a:r>
              <a:t>qa/package.json</a:t>
            </a:r>
          </a:p>
          <a:p xmlns:a="http://schemas.openxmlformats.org/drawingml/2006/main">
            <a:r>
              <a:t>qa/package-lock.json</a:t>
            </a:r>
          </a:p>
          <a:p xmlns:a="http://schemas.openxmlformats.org/drawingml/2006/main">
            <a:r>
              <a:t>https://github.com/dequelabs/axe-core-npm/tree/develop/packages/playwright</a:t>
            </a:r>
          </a:p>
          <a:p xmlns:a="http://schemas.openxmlformats.org/drawingml/2006/main">
            <a:r>
              <a:t/>
            </a:r>
          </a:p>
          <a:p xmlns:a="http://schemas.openxmlformats.org/drawingml/2006/main">
            <a:r>
              <a:t>Manifeste : qa/package.json.</a:t>
            </a:r>
          </a:p>
          <a:p xmlns:a="http://schemas.openxmlformats.org/drawingml/2006/main">
            <a:r>
              <a:t>@playwright/test@1.59.1</a:t>
            </a:r>
          </a:p>
          <a:p xmlns:a="http://schemas.openxmlformats.org/drawingml/2006/main">
            <a:r>
              <a:t>Classement de référence : Développement et tests.</a:t>
            </a:r>
          </a:p>
          <a:p xmlns:a="http://schemas.openxmlformats.org/drawingml/2006/main">
            <a:r>
              <a:t>Fonction : Pilote des navigateurs et exécute des parcours avec assertions, fixtures et attentes.</a:t>
            </a:r>
          </a:p>
          <a:p xmlns:a="http://schemas.openxmlformats.org/drawingml/2006/main">
            <a:r>
              <a:t>Utilisation Genesis : La suite QA décrit commandes, budgets, cartes et parcours de routes dans des profils locaux.</a:t>
            </a:r>
          </a:p>
          <a:p xmlns:a="http://schemas.openxmlformats.org/drawingml/2006/main">
            <a:r>
              <a:t>Pourquoi présent : Déclaré directement dans qa/package.json (devDependencies); résolution 1.59.1 conservée dans son package-lock.json.</a:t>
            </a:r>
          </a:p>
          <a:p xmlns:a="http://schemas.openxmlformats.org/drawingml/2006/main">
            <a:r>
              <a:t>Exemple : Un scénario peut remplir un formulaire puis vérifier la proposition et le départ explicite de la simulation.</a:t>
            </a:r>
          </a:p>
          <a:p xmlns:a="http://schemas.openxmlformats.org/drawingml/2006/main">
            <a:r>
              <a:t>Sources :</a:t>
            </a:r>
          </a:p>
          <a:p xmlns:a="http://schemas.openxmlformats.org/drawingml/2006/main">
            <a:r>
              <a:t>qa/tests/routes.browser.spec.ts</a:t>
            </a:r>
          </a:p>
          <a:p xmlns:a="http://schemas.openxmlformats.org/drawingml/2006/main">
            <a:r>
              <a:t>qa/package.json</a:t>
            </a:r>
          </a:p>
          <a:p xmlns:a="http://schemas.openxmlformats.org/drawingml/2006/main">
            <a:r>
              <a:t>qa/package-lock.json</a:t>
            </a:r>
          </a:p>
          <a:p xmlns:a="http://schemas.openxmlformats.org/drawingml/2006/main">
            <a:r>
              <a:t>https://playwright.dev/docs/intro</a:t>
            </a:r>
          </a:p>
          <a:p xmlns:a="http://schemas.openxmlformats.org/drawingml/2006/main">
            <a:r>
              <a:t/>
            </a:r>
          </a:p>
          <a:p xmlns:a="http://schemas.openxmlformats.org/drawingml/2006/main">
            <a:r>
              <a:t>Manifeste : qa/package.json.</a:t>
            </a:r>
          </a:p>
          <a:p xmlns:a="http://schemas.openxmlformats.org/drawingml/2006/main">
            <a:r>
              <a:t>json-schema-to-typescript@^15.0.4</a:t>
            </a:r>
          </a:p>
          <a:p xmlns:a="http://schemas.openxmlformats.org/drawingml/2006/main">
            <a:r>
              <a:t>Classement de référence : Installé sans usage métier direct.</a:t>
            </a:r>
          </a:p>
          <a:p xmlns:a="http://schemas.openxmlformats.org/drawingml/2006/main">
            <a:r>
              <a:t>Fonction : Génère des déclarations TypeScript à partir de schémas JSON.</a:t>
            </a:r>
          </a:p>
          <a:p xmlns:a="http://schemas.openxmlformats.org/drawingml/2006/main">
            <a:r>
              <a:t>Utilisation Genesis : Est déclaré dans QA mais aucun script ni appel de génération Genesis n’est trouvé; les contrats web présents sont écrits dans le dépôt.</a:t>
            </a:r>
          </a:p>
          <a:p xmlns:a="http://schemas.openxmlformats.org/drawingml/2006/main">
            <a:r>
              <a:t>Pourquoi présent : Déclaré directement dans qa/package.json (devDependencies); résolution 15.0.4 conservée dans son package-lock.json.</a:t>
            </a:r>
          </a:p>
          <a:p xmlns:a="http://schemas.openxmlformats.org/drawingml/2006/main">
            <a:r>
              <a:t>Exemple : Il pourrait produire une interface depuis un schéma; sa présence n’atteste pas une synchronisation automatique des contrats.</a:t>
            </a:r>
          </a:p>
          <a:p xmlns:a="http://schemas.openxmlformats.org/drawingml/2006/main">
            <a:r>
              <a:t>Sources :</a:t>
            </a:r>
          </a:p>
          <a:p xmlns:a="http://schemas.openxmlformats.org/drawingml/2006/main">
            <a:r>
              <a:t>qa/package.json</a:t>
            </a:r>
          </a:p>
          <a:p xmlns:a="http://schemas.openxmlformats.org/drawingml/2006/main">
            <a:r>
              <a:t>qa/package.json</a:t>
            </a:r>
          </a:p>
          <a:p xmlns:a="http://schemas.openxmlformats.org/drawingml/2006/main">
            <a:r>
              <a:t>qa/package-lock.json</a:t>
            </a:r>
          </a:p>
          <a:p xmlns:a="http://schemas.openxmlformats.org/drawingml/2006/main">
            <a:r>
              <a:t>https://github.com/bcherny/json-schema-to-typescript</a:t>
            </a:r>
          </a:p>
          <a:p xmlns:a="http://schemas.openxmlformats.org/drawingml/2006/main">
            <a:r>
              <a:t/>
            </a:r>
          </a:p>
          <a:p xmlns:a="http://schemas.openxmlformats.org/drawingml/2006/main">
            <a:r>
              <a:t>Sources du dépôt, état au 11 octobre 2026 (U17–U19, présentation U22) :</a:t>
            </a:r>
          </a:p>
          <a:p xmlns:a="http://schemas.openxmlformats.org/drawingml/2006/main">
            <a:r>
              <a:t>apps/web/package.json</a:t>
            </a:r>
          </a:p>
          <a:p xmlns:a="http://schemas.openxmlformats.org/drawingml/2006/main">
            <a:r>
              <a:t>qa/package.json</a:t>
            </a:r>
          </a:p>
          <a:p xmlns:a="http://schemas.openxmlformats.org/drawingml/2006/main">
            <a:r>
              <a:t>apps/web/package-lock.json</a:t>
            </a:r>
          </a:p>
          <a:p xmlns:a="http://schemas.openxmlformats.org/drawingml/2006/main">
            <a:r>
              <a:t>qa/package-lock.json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78b13e4fa340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23f75b085c4d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bdff5a041545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6e8a71fbc645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ab6b01e7f046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fc3b089a2143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DD771-76B1-4378-8EC1-521EE999E8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9BD818-F9AF-484E-B59F-27C17B6045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0AA0D1-E946-461F-8D89-95B855085F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AB2C4-D9F2-4558-BA3E-1026B98CE8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F045DC-C5FD-4192-B00A-751EEF1B12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4678CD-B849-457A-A582-174E4435A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128E26-D3F2-44E3-A751-88D2CF4729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E128C9-560D-44F5-91A3-857FE47EB7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637538-E8BB-4FD2-93A4-9FA92976B8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8C46EF-6248-4725-8D08-240DF918DB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62beaf299448f8" /><Relationship Type="http://schemas.openxmlformats.org/officeDocument/2006/relationships/slideLayout" Target="/ppt/slideLayouts/slideLayout1.xml" Id="Rc6509c717e2745c0" /><Relationship Type="http://schemas.openxmlformats.org/officeDocument/2006/relationships/slideLayout" Target="/ppt/slideLayouts/slideLayout2.xml" Id="Rd0937c00d8de4716" /><Relationship Type="http://schemas.openxmlformats.org/officeDocument/2006/relationships/slideLayout" Target="/ppt/slideLayouts/slideLayout3.xml" Id="R03049d648d6447ac" /><Relationship Type="http://schemas.openxmlformats.org/officeDocument/2006/relationships/slideLayout" Target="/ppt/slideLayouts/slideLayout4.xml" Id="Re67b774e453049e0" /><Relationship Type="http://schemas.openxmlformats.org/officeDocument/2006/relationships/slideLayout" Target="/ppt/slideLayouts/slideLayout5.xml" Id="R301ed3ed881b4781" /><Relationship Type="http://schemas.openxmlformats.org/officeDocument/2006/relationships/slideLayout" Target="/ppt/slideLayouts/slideLayout6.xml" Id="R5aad523db6de45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509c717e2745c0"/>
    <p:sldLayoutId xmlns:r="http://schemas.openxmlformats.org/officeDocument/2006/relationships" id="2147483650" r:id="Rd0937c00d8de4716"/>
    <p:sldLayoutId xmlns:r="http://schemas.openxmlformats.org/officeDocument/2006/relationships" id="2147483651" r:id="R03049d648d6447ac"/>
    <p:sldLayoutId xmlns:r="http://schemas.openxmlformats.org/officeDocument/2006/relationships" id="2147483652" r:id="Re67b774e453049e0"/>
    <p:sldLayoutId xmlns:r="http://schemas.openxmlformats.org/officeDocument/2006/relationships" id="2147483653" r:id="R301ed3ed881b4781"/>
    <p:sldLayoutId xmlns:r="http://schemas.openxmlformats.org/officeDocument/2006/relationships" id="2147483654" r:id="R5aad523db6de45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62d9eb1bf742f4" /><Relationship Type="http://schemas.openxmlformats.org/officeDocument/2006/relationships/notesSlide" Target="/ppt/notesSlides/notesSlide1.xml" Id="Rd71819ad05534b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9ae90dc86a745ef" /><Relationship Type="http://schemas.openxmlformats.org/officeDocument/2006/relationships/notesSlide" Target="/ppt/notesSlides/notesSlide2.xml" Id="R475fa9f5910148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8518f235ce40e5" /><Relationship Type="http://schemas.openxmlformats.org/officeDocument/2006/relationships/notesSlide" Target="/ppt/notesSlides/notesSlide3.xml" Id="R3622f3740adb4d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43f36d8c5a422a" /><Relationship Type="http://schemas.openxmlformats.org/officeDocument/2006/relationships/image" Target="/ppt/media/image.png" Id="Re72ea07f70e54d7c" /><Relationship Type="http://schemas.openxmlformats.org/officeDocument/2006/relationships/notesSlide" Target="/ppt/notesSlides/notesSlide4.xml" Id="Rae1b9e5a2c9340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714c7c6f984637" /><Relationship Type="http://schemas.openxmlformats.org/officeDocument/2006/relationships/notesSlide" Target="/ppt/notesSlides/notesSlide5.xml" Id="Raf4ebcb51dbf47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c26b7cee9740d1" /><Relationship Type="http://schemas.openxmlformats.org/officeDocument/2006/relationships/notesSlide" Target="/ppt/notesSlides/notesSlide6.xml" Id="R9b37f2372dee45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779715e7805424c" /><Relationship Type="http://schemas.openxmlformats.org/officeDocument/2006/relationships/notesSlide" Target="/ppt/notesSlides/notesSlide7.xml" Id="Rb302c015f56e4e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01d5f0a5aa451c" /><Relationship Type="http://schemas.openxmlformats.org/officeDocument/2006/relationships/notesSlide" Target="/ppt/notesSlides/notesSlide8.xml" Id="R71aa56bea65644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eb1c3730c0b41c2" /><Relationship Type="http://schemas.openxmlformats.org/officeDocument/2006/relationships/notesSlide" Target="/ppt/notesSlides/notesSlide9.xml" Id="Rc57626c5c62545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7b4c295f801489d" /><Relationship Type="http://schemas.openxmlformats.org/officeDocument/2006/relationships/image" Target="/ppt/media/image2.png" Id="Rb372a8b95a1f4819" /><Relationship Type="http://schemas.openxmlformats.org/officeDocument/2006/relationships/notesSlide" Target="/ppt/notesSlides/notesSlide10.xml" Id="R0596f20a6a954c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34235d08c1447c6" /><Relationship Type="http://schemas.openxmlformats.org/officeDocument/2006/relationships/notesSlide" Target="/ppt/notesSlides/notesSlide11.xml" Id="Rc743d9f9776d41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9ff720885a346a8" /><Relationship Type="http://schemas.openxmlformats.org/officeDocument/2006/relationships/notesSlide" Target="/ppt/notesSlides/notesSlide12.xml" Id="Rbe4a8b87b9024a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9da091d3f1845c4" /><Relationship Type="http://schemas.openxmlformats.org/officeDocument/2006/relationships/image" Target="/ppt/media/image3.png" Id="R170ebe77c46344f0" /><Relationship Type="http://schemas.openxmlformats.org/officeDocument/2006/relationships/notesSlide" Target="/ppt/notesSlides/notesSlide13.xml" Id="Rd2e6a765bd574b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1fa538d0fc4971" /><Relationship Type="http://schemas.openxmlformats.org/officeDocument/2006/relationships/image" Target="/ppt/media/image.jpeg" Id="R1ebd57c0945449e4" /><Relationship Type="http://schemas.openxmlformats.org/officeDocument/2006/relationships/notesSlide" Target="/ppt/notesSlides/notesSlide14.xml" Id="Re5286481d4b444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da82cd96f2b4a3f" /><Relationship Type="http://schemas.openxmlformats.org/officeDocument/2006/relationships/notesSlide" Target="/ppt/notesSlides/notesSlide15.xml" Id="Rab30e4e3c6914c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fd550ba3557427c" /><Relationship Type="http://schemas.openxmlformats.org/officeDocument/2006/relationships/notesSlide" Target="/ppt/notesSlides/notesSlide16.xml" Id="R2896d83913184f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26a0fbec3514aa7" /><Relationship Type="http://schemas.openxmlformats.org/officeDocument/2006/relationships/notesSlide" Target="/ppt/notesSlides/notesSlide17.xml" Id="R392f3c4915d144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5b73b1e95bf4934" /><Relationship Type="http://schemas.openxmlformats.org/officeDocument/2006/relationships/notesSlide" Target="/ppt/notesSlides/notesSlide18.xml" Id="R1edad89cddf64d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038bb417444b87" /><Relationship Type="http://schemas.openxmlformats.org/officeDocument/2006/relationships/image" Target="/ppt/media/image4.png" Id="R38148cb50e9042a2" /><Relationship Type="http://schemas.openxmlformats.org/officeDocument/2006/relationships/notesSlide" Target="/ppt/notesSlides/notesSlide19.xml" Id="R157ebbb2d95b432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5eb5cf1b6cd4490" /><Relationship Type="http://schemas.openxmlformats.org/officeDocument/2006/relationships/notesSlide" Target="/ppt/notesSlides/notesSlide20.xml" Id="Recf1f4e7c1924f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c8b135aae4e4dd8" /><Relationship Type="http://schemas.openxmlformats.org/officeDocument/2006/relationships/notesSlide" Target="/ppt/notesSlides/notesSlide21.xml" Id="R649473eebe2d45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d60d67c7dad42cd" /><Relationship Type="http://schemas.openxmlformats.org/officeDocument/2006/relationships/notesSlide" Target="/ppt/notesSlides/notesSlide22.xml" Id="Ra0293192c5bd425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3abf1d3161a481a" /><Relationship Type="http://schemas.openxmlformats.org/officeDocument/2006/relationships/image" Target="/ppt/media/image5.png" Id="R13ac758a89764db2" /><Relationship Type="http://schemas.openxmlformats.org/officeDocument/2006/relationships/notesSlide" Target="/ppt/notesSlides/notesSlide23.xml" Id="Re678b4c41887496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75e454bc7584f2e" /><Relationship Type="http://schemas.openxmlformats.org/officeDocument/2006/relationships/notesSlide" Target="/ppt/notesSlides/notesSlide24.xml" Id="R138b10a0b1a2454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7a7f2b39b134994" /><Relationship Type="http://schemas.openxmlformats.org/officeDocument/2006/relationships/notesSlide" Target="/ppt/notesSlides/notesSlide25.xml" Id="Rf732632132be439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d54e40282204907" /><Relationship Type="http://schemas.openxmlformats.org/officeDocument/2006/relationships/notesSlide" Target="/ppt/notesSlides/notesSlide26.xml" Id="R546f3f2502d94ac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95d93c06d5641bb" /><Relationship Type="http://schemas.openxmlformats.org/officeDocument/2006/relationships/notesSlide" Target="/ppt/notesSlides/notesSlide27.xml" Id="R595858caeb2f453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30ac94f94064892" /><Relationship Type="http://schemas.openxmlformats.org/officeDocument/2006/relationships/notesSlide" Target="/ppt/notesSlides/notesSlide28.xml" Id="R130fd620f0b84de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4bb75df40e04d9a" /><Relationship Type="http://schemas.openxmlformats.org/officeDocument/2006/relationships/notesSlide" Target="/ppt/notesSlides/notesSlide29.xml" Id="R149bcd729f0e465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6f1faaa39064e3c" /><Relationship Type="http://schemas.openxmlformats.org/officeDocument/2006/relationships/notesSlide" Target="/ppt/notesSlides/notesSlide30.xml" Id="Rc3d7b9c64d17402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a01b83672a34a0e" /><Relationship Type="http://schemas.openxmlformats.org/officeDocument/2006/relationships/notesSlide" Target="/ppt/notesSlides/notesSlide31.xml" Id="Rabd2486a04924f2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25e121ff3ca4415" /><Relationship Type="http://schemas.openxmlformats.org/officeDocument/2006/relationships/notesSlide" Target="/ppt/notesSlides/notesSlide32.xml" Id="R988deca53ade488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7a5e5d974284955" /><Relationship Type="http://schemas.openxmlformats.org/officeDocument/2006/relationships/notesSlide" Target="/ppt/notesSlides/notesSlide33.xml" Id="R27752efe66b042e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a7dfc6deedc417a" /><Relationship Type="http://schemas.openxmlformats.org/officeDocument/2006/relationships/notesSlide" Target="/ppt/notesSlides/notesSlide34.xml" Id="R56cfd9ea24b94b0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c4bfea6ab53476d" /><Relationship Type="http://schemas.openxmlformats.org/officeDocument/2006/relationships/notesSlide" Target="/ppt/notesSlides/notesSlide35.xml" Id="R8621b697cfaa4bd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1385ba1d3224924" /><Relationship Type="http://schemas.openxmlformats.org/officeDocument/2006/relationships/notesSlide" Target="/ppt/notesSlides/notesSlide36.xml" Id="R66ef7ef0258348e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bb1969dd1504e72" /><Relationship Type="http://schemas.openxmlformats.org/officeDocument/2006/relationships/notesSlide" Target="/ppt/notesSlides/notesSlide37.xml" Id="Rfc0de1f441bc44a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3d761ff28cb43f7" /><Relationship Type="http://schemas.openxmlformats.org/officeDocument/2006/relationships/notesSlide" Target="/ppt/notesSlides/notesSlide38.xml" Id="Ra69657e74df14415" /></Relationships>
</file>

<file path=ppt/slides/slide1.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9DA191-83A5-421C-8D6F-4CFB4A7AAB2A}"/>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B5DED7"/>
                </a:solidFill>
                <a:latin typeface="Arial"/>
                <a:ea typeface="Arial"/>
                <a:cs typeface="Arial"/>
              </a:defRPr>
            </a:defPPr>
          </a:lstStyle>
          <a:p xmlns:a="http://schemas.openxmlformats.org/drawingml/2006/main">
            <a:pPr>
              <a:buNone/>
              <a:defRPr sz="1200" b="1">
                <a:solidFill>
                  <a:srgbClr val="B5DED7"/>
                </a:solidFill>
                <a:latin typeface="Arial"/>
                <a:ea typeface="Arial"/>
                <a:cs typeface="Arial"/>
              </a:defRPr>
            </a:pPr>
            <a:r>
              <a:rPr sz="1200" b="1">
                <a:solidFill>
                  <a:srgbClr val="B5DED7"/>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29714827-5B16-4A29-B5B5-48CC802407A4}"/>
              </a:ext>
            </a:extLst>
          </p:cNvPr>
          <p:cNvSpPr>
            <a:spLocks xmlns:a="http://schemas.openxmlformats.org/drawingml/2006/main" noGrp="1"/>
          </p:cNvSpPr>
          <p:nvPr/>
        </p:nvSpPr>
        <p:spPr>
          <a:xfrm xmlns:a="http://schemas.openxmlformats.org/drawingml/2006/main">
            <a:off x="609600" y="14382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600" b="1">
                <a:solidFill>
                  <a:srgbClr val="FFFFFF"/>
                </a:solidFill>
                <a:latin typeface="Arial"/>
                <a:ea typeface="Arial"/>
                <a:cs typeface="Arial"/>
              </a:defRPr>
            </a:defPPr>
          </a:lstStyle>
          <a:p xmlns:a="http://schemas.openxmlformats.org/drawingml/2006/main">
            <a:pPr>
              <a:buNone/>
              <a:defRPr sz="6600" b="1">
                <a:solidFill>
                  <a:srgbClr val="FFFFFF"/>
                </a:solidFill>
                <a:latin typeface="Arial"/>
                <a:ea typeface="Arial"/>
                <a:cs typeface="Arial"/>
              </a:defRPr>
            </a:pPr>
            <a:r>
              <a:rPr sz="6600" b="1">
                <a:solidFill>
                  <a:srgbClr val="FFFFFF"/>
                </a:solidFill>
                <a:latin typeface="Arial"/>
                <a:ea typeface="Arial"/>
                <a:cs typeface="Arial"/>
              </a:rPr>
              <a:t>genesis</a:t>
            </a:r>
          </a:p>
        </p:txBody>
      </p:sp>
      <p:sp>
        <p:nvSpPr>
          <p:cNvPr id="3" name="">
            <a:extLst xmlns:a="http://schemas.openxmlformats.org/drawingml/2006/main">
              <a:ext uri="{FF2B5EF4-FFF2-40B4-BE49-F238E27FC236}">
                <a16:creationId xmlns:a16="http://schemas.microsoft.com/office/drawing/2014/main" id="{74A3AA28-4D3E-420B-A130-BFF6682C4DF1}"/>
              </a:ext>
            </a:extLst>
          </p:cNvPr>
          <p:cNvSpPr>
            <a:spLocks xmlns:a="http://schemas.openxmlformats.org/drawingml/2006/main" noGrp="1"/>
          </p:cNvSpPr>
          <p:nvPr/>
        </p:nvSpPr>
        <p:spPr>
          <a:xfrm xmlns:a="http://schemas.openxmlformats.org/drawingml/2006/main">
            <a:off x="647700" y="2667000"/>
            <a:ext cx="1000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FFFFF"/>
                </a:solidFill>
                <a:latin typeface="Arial"/>
                <a:ea typeface="Arial"/>
                <a:cs typeface="Arial"/>
              </a:defRPr>
            </a:defPPr>
          </a:lstStyle>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Architecture, technologies</a:t>
            </a:r>
          </a:p>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et fonctionnement</a:t>
            </a:r>
          </a:p>
        </p:txBody>
      </p:sp>
      <p:sp>
        <p:nvSpPr>
          <p:cNvPr id="4" name="">
            <a:extLst xmlns:a="http://schemas.openxmlformats.org/drawingml/2006/main">
              <a:ext uri="{FF2B5EF4-FFF2-40B4-BE49-F238E27FC236}">
                <a16:creationId xmlns:a16="http://schemas.microsoft.com/office/drawing/2014/main" id="{47B6F337-4621-4516-B302-8D4504CF2EFA}"/>
              </a:ext>
            </a:extLst>
          </p:cNvPr>
          <p:cNvSpPr>
            <a:spLocks xmlns:a="http://schemas.openxmlformats.org/drawingml/2006/main" noGrp="1"/>
          </p:cNvSpPr>
          <p:nvPr/>
        </p:nvSpPr>
        <p:spPr>
          <a:xfrm xmlns:a="http://schemas.openxmlformats.org/drawingml/2006/main">
            <a:off x="647700" y="4619625"/>
            <a:ext cx="962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5DED7"/>
                </a:solidFill>
                <a:latin typeface="Arial"/>
                <a:ea typeface="Arial"/>
                <a:cs typeface="Arial"/>
              </a:defRPr>
            </a:defPPr>
          </a:lstStyle>
          <a:p xmlns:a="http://schemas.openxmlformats.org/drawingml/2006/main">
            <a:pPr>
              <a:buNone/>
              <a:defRPr sz="1875" b="0">
                <a:solidFill>
                  <a:srgbClr val="B5DED7"/>
                </a:solidFill>
                <a:latin typeface="Arial"/>
                <a:ea typeface="Arial"/>
                <a:cs typeface="Arial"/>
              </a:defRPr>
            </a:pPr>
            <a:r>
              <a:rPr sz="1875" b="0">
                <a:solidFill>
                  <a:srgbClr val="B5DED7"/>
                </a:solidFill>
                <a:latin typeface="Arial"/>
                <a:ea typeface="Arial"/>
                <a:cs typeface="Arial"/>
              </a:rPr>
              <a:t>Observatoire multiagents pour la logistique montréalaise</a:t>
            </a:r>
          </a:p>
          <a:p xmlns:a="http://schemas.openxmlformats.org/drawingml/2006/main">
            <a:pPr>
              <a:buNone/>
              <a:defRPr sz="1875" b="0">
                <a:solidFill>
                  <a:srgbClr val="B5DED7"/>
                </a:solidFill>
                <a:latin typeface="Arial"/>
                <a:ea typeface="Arial"/>
                <a:cs typeface="Arial"/>
              </a:defRPr>
            </a:pPr>
            <a:r>
              <a:rPr sz="1875" b="0">
                <a:solidFill>
                  <a:srgbClr val="B5DED7"/>
                </a:solidFill>
                <a:latin typeface="Arial"/>
                <a:ea typeface="Arial"/>
                <a:cs typeface="Arial"/>
              </a:rPr>
              <a:t>Dossier technique · 11 octobre 2026</a:t>
            </a:r>
          </a:p>
        </p:txBody>
      </p:sp>
      <p:sp>
        <p:nvSpPr>
          <p:cNvPr id="5" name="">
            <a:extLst xmlns:a="http://schemas.openxmlformats.org/drawingml/2006/main">
              <a:ext uri="{FF2B5EF4-FFF2-40B4-BE49-F238E27FC236}">
                <a16:creationId xmlns:a16="http://schemas.microsoft.com/office/drawing/2014/main" id="{5AD531BC-210F-4BB6-9F45-9AFA8D1458C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buNone/>
              <a:defRPr sz="1125" b="0">
                <a:solidFill>
                  <a:srgbClr val="B5DED7"/>
                </a:solidFill>
                <a:latin typeface="Arial"/>
                <a:ea typeface="Arial"/>
                <a:cs typeface="Arial"/>
              </a:defRPr>
            </a:pPr>
            <a:r>
              <a:rPr sz="1125" b="0">
                <a:solidFill>
                  <a:srgbClr val="B5DED7"/>
                </a:solidFill>
                <a:latin typeface="Arial"/>
                <a:ea typeface="Arial"/>
                <a:cs typeface="Arial"/>
              </a:rPr>
              <a:t>01</a:t>
            </a:r>
          </a:p>
        </p:txBody>
      </p:sp>
    </p:spTree>
    <p:extLst>
      <p:ext uri="{BB962C8B-B14F-4D97-AF65-F5344CB8AC3E}">
        <p14:creationId xmlns:p14="http://schemas.microsoft.com/office/powerpoint/2010/main" val="282065504"/>
      </p:ext>
    </p:extLst>
  </p:cSld>
</p:sld>
</file>

<file path=ppt/slides/slide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A9D7A4-69F7-484A-95E1-8777B1D3A5B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La commande qui servira d’exemple</a:t>
            </a:r>
          </a:p>
        </p:txBody>
      </p:sp>
      <p:sp>
        <p:nvSpPr>
          <p:cNvPr id="2" name="">
            <a:extLst xmlns:a="http://schemas.openxmlformats.org/drawingml/2006/main">
              <a:ext uri="{FF2B5EF4-FFF2-40B4-BE49-F238E27FC236}">
                <a16:creationId xmlns:a16="http://schemas.microsoft.com/office/drawing/2014/main" id="{0FDF8019-F6EC-40E4-BD4F-56EE80B3E51F}"/>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4A5CAE8-91F0-4C66-BCB4-356A0EF6A9AB}"/>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Exemple pédagogique fictif. L’enregistrement d’une commande ne déclenche pas automatiquement son départ.</a:t>
            </a:r>
          </a:p>
        </p:txBody>
      </p:sp>
      <p:sp>
        <p:nvSpPr>
          <p:cNvPr id="4" name="">
            <a:extLst xmlns:a="http://schemas.openxmlformats.org/drawingml/2006/main">
              <a:ext uri="{FF2B5EF4-FFF2-40B4-BE49-F238E27FC236}">
                <a16:creationId xmlns:a16="http://schemas.microsoft.com/office/drawing/2014/main" id="{5DE6F281-B371-445E-8320-D551139D03C8}"/>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Livrer deux colis</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dans Montréal</a:t>
            </a:r>
          </a:p>
        </p:txBody>
      </p:sp>
      <p:sp>
        <p:nvSpPr>
          <p:cNvPr id="5" name="">
            <a:extLst xmlns:a="http://schemas.openxmlformats.org/drawingml/2006/main">
              <a:ext uri="{FF2B5EF4-FFF2-40B4-BE49-F238E27FC236}">
                <a16:creationId xmlns:a16="http://schemas.microsoft.com/office/drawing/2014/main" id="{F0AEE00F-6B32-43E3-A78E-09A48B703321}"/>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La demande</a:t>
            </a:r>
          </a:p>
        </p:txBody>
      </p:sp>
      <p:sp>
        <p:nvSpPr>
          <p:cNvPr id="6" name="">
            <a:extLst xmlns:a="http://schemas.openxmlformats.org/drawingml/2006/main">
              <a:ext uri="{FF2B5EF4-FFF2-40B4-BE49-F238E27FC236}">
                <a16:creationId xmlns:a16="http://schemas.microsoft.com/office/drawing/2014/main" id="{E641544B-CB31-4D06-94EB-47B4BBE1346D}"/>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 lieu de ramassage, un destinataire, deux colis et un délai.</a:t>
            </a:r>
          </a:p>
        </p:txBody>
      </p:sp>
      <p:sp>
        <p:nvSpPr>
          <p:cNvPr id="7" name="">
            <a:extLst xmlns:a="http://schemas.openxmlformats.org/drawingml/2006/main">
              <a:ext uri="{FF2B5EF4-FFF2-40B4-BE49-F238E27FC236}">
                <a16:creationId xmlns:a16="http://schemas.microsoft.com/office/drawing/2014/main" id="{800917E3-AFF2-4DA5-85B1-0BA055F7DE98}"/>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La décision</a:t>
            </a:r>
          </a:p>
        </p:txBody>
      </p:sp>
      <p:sp>
        <p:nvSpPr>
          <p:cNvPr id="8" name="">
            <a:extLst xmlns:a="http://schemas.openxmlformats.org/drawingml/2006/main">
              <a:ext uri="{FF2B5EF4-FFF2-40B4-BE49-F238E27FC236}">
                <a16:creationId xmlns:a16="http://schemas.microsoft.com/office/drawing/2014/main" id="{D2E87023-03C7-49CF-9C18-AC70934EC761}"/>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Choisir un véhicule disponible et un ordre de passage faisable.</a:t>
            </a:r>
          </a:p>
        </p:txBody>
      </p:sp>
      <p:sp>
        <p:nvSpPr>
          <p:cNvPr id="9" name="">
            <a:extLst xmlns:a="http://schemas.openxmlformats.org/drawingml/2006/main">
              <a:ext uri="{FF2B5EF4-FFF2-40B4-BE49-F238E27FC236}">
                <a16:creationId xmlns:a16="http://schemas.microsoft.com/office/drawing/2014/main" id="{C3AFCBEA-E340-4E2E-9AC6-5F3CF557CBF1}"/>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Le résultat attendu</a:t>
            </a:r>
          </a:p>
        </p:txBody>
      </p:sp>
      <p:sp>
        <p:nvSpPr>
          <p:cNvPr id="10" name="">
            <a:extLst xmlns:a="http://schemas.openxmlformats.org/drawingml/2006/main">
              <a:ext uri="{FF2B5EF4-FFF2-40B4-BE49-F238E27FC236}">
                <a16:creationId xmlns:a16="http://schemas.microsoft.com/office/drawing/2014/main" id="{15B68069-3429-4FA9-A35A-D31BD053BF52}"/>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Une proposition de tournée, ses coûts estimés et les contrôles effectués.</a:t>
            </a:r>
          </a:p>
        </p:txBody>
      </p:sp>
    </p:spTree>
    <p:extLst>
      <p:ext uri="{BB962C8B-B14F-4D97-AF65-F5344CB8AC3E}">
        <p14:creationId xmlns:p14="http://schemas.microsoft.com/office/powerpoint/2010/main" val="112403951"/>
      </p:ext>
    </p:extLst>
  </p:cSld>
</p:sld>
</file>

<file path=ppt/slides/slide3.xml><?xml version="1.0" encoding="utf-8"?>
<p:sld xmlns:p="http://schemas.openxmlformats.org/presentationml/2006/main">
  <p:cSld>
    <p:bg>
      <p:bgPr>
        <a:solidFill xmlns:a="http://schemas.openxmlformats.org/drawingml/2006/main">
          <a:srgbClr val="F1E9D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66DEB63-A9CF-40ED-BF80-1EBEA381B52F}"/>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Bibliothèque, dépendance et service</a:t>
            </a:r>
          </a:p>
        </p:txBody>
      </p:sp>
      <p:sp>
        <p:nvSpPr>
          <p:cNvPr id="2" name="">
            <a:extLst xmlns:a="http://schemas.openxmlformats.org/drawingml/2006/main">
              <a:ext uri="{FF2B5EF4-FFF2-40B4-BE49-F238E27FC236}">
                <a16:creationId xmlns:a16="http://schemas.microsoft.com/office/drawing/2014/main" id="{BA519E60-87F0-4552-9FAD-3CCF1CFD1B06}"/>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A19E43E-25A8-4DE6-8ED7-A5D708FA95BB}"/>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Installer une bibliothèque et contacter un service sont deux opérations distinctes.</a:t>
            </a:r>
          </a:p>
        </p:txBody>
      </p:sp>
      <p:sp>
        <p:nvSpPr>
          <p:cNvPr id="4" name="">
            <a:extLst xmlns:a="http://schemas.openxmlformats.org/drawingml/2006/main">
              <a:ext uri="{FF2B5EF4-FFF2-40B4-BE49-F238E27FC236}">
                <a16:creationId xmlns:a16="http://schemas.microsoft.com/office/drawing/2014/main" id="{21492E65-7B73-43EB-831D-EE7375E179E1}"/>
              </a:ext>
            </a:extLst>
          </p:cNvPr>
          <p:cNvSpPr>
            <a:spLocks xmlns:a="http://schemas.openxmlformats.org/drawingml/2006/main" noGrp="1"/>
          </p:cNvSpPr>
          <p:nvPr/>
        </p:nvSpPr>
        <p:spPr>
          <a:xfrm xmlns:a="http://schemas.openxmlformats.org/drawingml/2006/main">
            <a:off x="6096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17C2106A-C54B-4071-BAC3-33BF341870BD}"/>
              </a:ext>
            </a:extLst>
          </p:cNvPr>
          <p:cNvSpPr>
            <a:spLocks xmlns:a="http://schemas.openxmlformats.org/drawingml/2006/main" noGrp="1"/>
          </p:cNvSpPr>
          <p:nvPr/>
        </p:nvSpPr>
        <p:spPr>
          <a:xfrm xmlns:a="http://schemas.openxmlformats.org/drawingml/2006/main">
            <a:off x="6096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Bibliothèque</a:t>
            </a:r>
          </a:p>
        </p:txBody>
      </p:sp>
      <p:sp>
        <p:nvSpPr>
          <p:cNvPr id="6" name="">
            <a:extLst xmlns:a="http://schemas.openxmlformats.org/drawingml/2006/main">
              <a:ext uri="{FF2B5EF4-FFF2-40B4-BE49-F238E27FC236}">
                <a16:creationId xmlns:a16="http://schemas.microsoft.com/office/drawing/2014/main" id="{AC309B19-3CBE-4F30-AAE2-8A5569D32D94}"/>
              </a:ext>
            </a:extLst>
          </p:cNvPr>
          <p:cNvSpPr>
            <a:spLocks xmlns:a="http://schemas.openxmlformats.org/drawingml/2006/main" noGrp="1"/>
          </p:cNvSpPr>
          <p:nvPr/>
        </p:nvSpPr>
        <p:spPr>
          <a:xfrm xmlns:a="http://schemas.openxmlformats.org/drawingml/2006/main">
            <a:off x="6096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Une boîte à outils de code. React aide à construire l’écran.</a:t>
            </a:r>
          </a:p>
        </p:txBody>
      </p:sp>
      <p:sp>
        <p:nvSpPr>
          <p:cNvPr id="7" name="">
            <a:extLst xmlns:a="http://schemas.openxmlformats.org/drawingml/2006/main">
              <a:ext uri="{FF2B5EF4-FFF2-40B4-BE49-F238E27FC236}">
                <a16:creationId xmlns:a16="http://schemas.microsoft.com/office/drawing/2014/main" id="{F4601729-0AE9-48C7-9BB3-CB4BDC9D8B56}"/>
              </a:ext>
            </a:extLst>
          </p:cNvPr>
          <p:cNvSpPr>
            <a:spLocks xmlns:a="http://schemas.openxmlformats.org/drawingml/2006/main" noGrp="1"/>
          </p:cNvSpPr>
          <p:nvPr/>
        </p:nvSpPr>
        <p:spPr>
          <a:xfrm xmlns:a="http://schemas.openxmlformats.org/drawingml/2006/main">
            <a:off x="43815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09172441-998E-446C-8B7D-104EEB0B31E2}"/>
              </a:ext>
            </a:extLst>
          </p:cNvPr>
          <p:cNvSpPr>
            <a:spLocks xmlns:a="http://schemas.openxmlformats.org/drawingml/2006/main" noGrp="1"/>
          </p:cNvSpPr>
          <p:nvPr/>
        </p:nvSpPr>
        <p:spPr>
          <a:xfrm xmlns:a="http://schemas.openxmlformats.org/drawingml/2006/main">
            <a:off x="43815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Dépendance</a:t>
            </a:r>
          </a:p>
        </p:txBody>
      </p:sp>
      <p:sp>
        <p:nvSpPr>
          <p:cNvPr id="9" name="">
            <a:extLst xmlns:a="http://schemas.openxmlformats.org/drawingml/2006/main">
              <a:ext uri="{FF2B5EF4-FFF2-40B4-BE49-F238E27FC236}">
                <a16:creationId xmlns:a16="http://schemas.microsoft.com/office/drawing/2014/main" id="{6F994199-F3B2-4BD3-AA4A-8F3162CA4944}"/>
              </a:ext>
            </a:extLst>
          </p:cNvPr>
          <p:cNvSpPr>
            <a:spLocks xmlns:a="http://schemas.openxmlformats.org/drawingml/2006/main" noGrp="1"/>
          </p:cNvSpPr>
          <p:nvPr/>
        </p:nvSpPr>
        <p:spPr>
          <a:xfrm xmlns:a="http://schemas.openxmlformats.org/drawingml/2006/main">
            <a:off x="43815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Un outil dont un autre a besoin. FastAPI utilise Pydantic.</a:t>
            </a:r>
          </a:p>
        </p:txBody>
      </p:sp>
      <p:sp>
        <p:nvSpPr>
          <p:cNvPr id="10" name="">
            <a:extLst xmlns:a="http://schemas.openxmlformats.org/drawingml/2006/main">
              <a:ext uri="{FF2B5EF4-FFF2-40B4-BE49-F238E27FC236}">
                <a16:creationId xmlns:a16="http://schemas.microsoft.com/office/drawing/2014/main" id="{D9B07CF5-FC99-4414-A1AA-5A9B7220C0A3}"/>
              </a:ext>
            </a:extLst>
          </p:cNvPr>
          <p:cNvSpPr>
            <a:spLocks xmlns:a="http://schemas.openxmlformats.org/drawingml/2006/main" noGrp="1"/>
          </p:cNvSpPr>
          <p:nvPr/>
        </p:nvSpPr>
        <p:spPr>
          <a:xfrm xmlns:a="http://schemas.openxmlformats.org/drawingml/2006/main">
            <a:off x="81534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CEA2F635-848D-44D8-B71F-A023498E25FF}"/>
              </a:ext>
            </a:extLst>
          </p:cNvPr>
          <p:cNvSpPr>
            <a:spLocks xmlns:a="http://schemas.openxmlformats.org/drawingml/2006/main" noGrp="1"/>
          </p:cNvSpPr>
          <p:nvPr/>
        </p:nvSpPr>
        <p:spPr>
          <a:xfrm xmlns:a="http://schemas.openxmlformats.org/drawingml/2006/main">
            <a:off x="81534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Service externe</a:t>
            </a:r>
          </a:p>
        </p:txBody>
      </p:sp>
      <p:sp>
        <p:nvSpPr>
          <p:cNvPr id="12" name="">
            <a:extLst xmlns:a="http://schemas.openxmlformats.org/drawingml/2006/main">
              <a:ext uri="{FF2B5EF4-FFF2-40B4-BE49-F238E27FC236}">
                <a16:creationId xmlns:a16="http://schemas.microsoft.com/office/drawing/2014/main" id="{E8C1B0B0-C8F5-48E4-B930-1408119A01CC}"/>
              </a:ext>
            </a:extLst>
          </p:cNvPr>
          <p:cNvSpPr>
            <a:spLocks xmlns:a="http://schemas.openxmlformats.org/drawingml/2006/main" noGrp="1"/>
          </p:cNvSpPr>
          <p:nvPr/>
        </p:nvSpPr>
        <p:spPr>
          <a:xfrm xmlns:a="http://schemas.openxmlformats.org/drawingml/2006/main">
            <a:off x="81534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Un système contacté par réseau. Photon recherche des adresses.</a:t>
            </a:r>
          </a:p>
        </p:txBody>
      </p:sp>
    </p:spTree>
    <p:extLst>
      <p:ext uri="{BB962C8B-B14F-4D97-AF65-F5344CB8AC3E}">
        <p14:creationId xmlns:p14="http://schemas.microsoft.com/office/powerpoint/2010/main" val="1108482548"/>
      </p:ext>
    </p:extLst>
  </p:cSld>
</p:sld>
</file>

<file path=ppt/slides/slide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B2888C-11E4-4C2B-A6AD-E92E6AAD647A}"/>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L’architecture, comme un atelier de répartition</a:t>
            </a:r>
          </a:p>
        </p:txBody>
      </p:sp>
      <p:sp>
        <p:nvSpPr>
          <p:cNvPr id="2" name="">
            <a:extLst xmlns:a="http://schemas.openxmlformats.org/drawingml/2006/main">
              <a:ext uri="{FF2B5EF4-FFF2-40B4-BE49-F238E27FC236}">
                <a16:creationId xmlns:a16="http://schemas.microsoft.com/office/drawing/2014/main" id="{00ED1C02-E696-49C9-9142-BDD95AEA988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B71D2C8E-CA47-40D8-B4F1-01E89FA56D12}"/>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L’accueil enregistre la demande. L’atelier la prend dans le registre, puis y dépose ses résultats.</a:t>
            </a:r>
          </a:p>
        </p:txBody>
      </p:sp>
      <p:pic>
        <p:nvPicPr>
          <p:cNvPr id="4" name="">
            <a:extLst xmlns:a="http://schemas.openxmlformats.org/drawingml/2006/main">
              <a:ext uri="{FF2B5EF4-FFF2-40B4-BE49-F238E27FC236}">
                <a16:creationId xmlns:a16="http://schemas.microsoft.com/office/drawing/2014/main" id="{E13132EB-392E-4471-B9EC-D03C8923C785}"/>
              </a:ext>
            </a:extLst>
          </p:cNvPr>
          <p:cNvPicPr>
            <a:picLocks xmlns:a="http://schemas.openxmlformats.org/drawingml/2006/main" noChangeAspect="1"/>
          </p:cNvPicPr>
          <p:nvPr/>
        </p:nvPicPr>
        <p:blipFill>
          <a:blip xmlns:r="http://schemas.openxmlformats.org/officeDocument/2006/relationships" xmlns:a="http://schemas.openxmlformats.org/drawingml/2006/main" r:embed="Re72ea07f70e54d7c"/>
          <a:stretch xmlns:a="http://schemas.openxmlformats.org/drawingml/2006/main"/>
        </p:blipFill>
        <p:spPr>
          <a:xfrm xmlns:a="http://schemas.openxmlformats.org/drawingml/2006/main">
            <a:off x="2288024" y="1638300"/>
            <a:ext cx="7615951" cy="4286250"/>
          </a:xfrm>
          <a:prstGeom xmlns:a="http://schemas.openxmlformats.org/drawingml/2006/main" prst="rect">
            <a:avLst/>
          </a:prstGeom>
        </p:spPr>
      </p:pic>
    </p:spTree>
    <p:extLst>
      <p:ext uri="{BB962C8B-B14F-4D97-AF65-F5344CB8AC3E}">
        <p14:creationId xmlns:p14="http://schemas.microsoft.com/office/powerpoint/2010/main" val="2015191160"/>
      </p:ext>
    </p:extLst>
  </p:cSld>
</p:sld>
</file>

<file path=ppt/slides/slide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010014-425F-4B34-BF2F-3762DFA59197}"/>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Où s’exécute chaque partie du projet</a:t>
            </a:r>
          </a:p>
        </p:txBody>
      </p:sp>
      <p:sp>
        <p:nvSpPr>
          <p:cNvPr id="2" name="">
            <a:extLst xmlns:a="http://schemas.openxmlformats.org/drawingml/2006/main">
              <a:ext uri="{FF2B5EF4-FFF2-40B4-BE49-F238E27FC236}">
                <a16:creationId xmlns:a16="http://schemas.microsoft.com/office/drawing/2014/main" id="{CB230C88-9BB5-4579-A560-8F642A83006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5E310E98-4992-45DB-AD94-0FE08FA7B517}"/>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Dans le profil local, ces parties peuvent tourner sur le même ordinateur tout en gardant des rôles séparés.</a:t>
            </a:r>
          </a:p>
        </p:txBody>
      </p:sp>
      <p:graphicFrame>
        <p:nvGraphicFramePr>
          <p:cNvPr id="4" name="">
            <a:extLst xmlns:a="http://schemas.openxmlformats.org/drawingml/2006/main">
              <a:ext uri="{FF2B5EF4-FFF2-40B4-BE49-F238E27FC236}">
                <a16:creationId xmlns:a16="http://schemas.microsoft.com/office/drawing/2014/main" id="{F4E35FDF-94F2-44FD-A5D8-213F4DA0A350}"/>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667000"/>
                <a:gridCol w="3714750"/>
                <a:gridCol w="4591050"/>
              </a:tblGrid>
              <a:tr h="457200">
                <a:tc>
                  <a:txBody>
                    <a:bodyPr/>
                    <a:lstStyle/>
                    <a:p>
                      <a:r>
                        <a:rPr sz="1725" b="1">
                          <a:solidFill>
                            <a:srgbClr val="FFFFFF"/>
                          </a:solidFill>
                          <a:latin typeface="Arial"/>
                          <a:ea typeface="Arial"/>
                          <a:cs typeface="Arial"/>
                        </a:rPr>
                        <a:t>EMPLACEMENT</a:t>
                      </a:r>
                    </a:p>
                  </a:txBody>
                  <a:tcPr marL="91440" marR="91440" marT="45720" marB="45720">
                    <a:solidFill>
                      <a:srgbClr val="173039"/>
                    </a:solidFill>
                  </a:tcPr>
                </a:tc>
                <a:tc>
                  <a:txBody>
                    <a:bodyPr/>
                    <a:lstStyle/>
                    <a:p>
                      <a:r>
                        <a:rPr sz="1725" b="1">
                          <a:solidFill>
                            <a:srgbClr val="FFFFFF"/>
                          </a:solidFill>
                          <a:latin typeface="Arial"/>
                          <a:ea typeface="Arial"/>
                          <a:cs typeface="Arial"/>
                        </a:rPr>
                        <a:t>TECHNOLOGIE</a:t>
                      </a:r>
                    </a:p>
                  </a:txBody>
                  <a:tcPr marL="91440" marR="91440" marT="45720" marB="45720">
                    <a:solidFill>
                      <a:srgbClr val="173039"/>
                    </a:solidFill>
                  </a:tcPr>
                </a:tc>
                <a:tc>
                  <a:txBody>
                    <a:bodyPr/>
                    <a:lstStyle/>
                    <a:p>
                      <a:r>
                        <a:rPr sz="1725" b="1">
                          <a:solidFill>
                            <a:srgbClr val="FFFFFF"/>
                          </a:solidFill>
                          <a:latin typeface="Arial"/>
                          <a:ea typeface="Arial"/>
                          <a:cs typeface="Arial"/>
                        </a:rPr>
                        <a:t>TRAVAIL EFFECTUÉ</a:t>
                      </a:r>
                    </a:p>
                  </a:txBody>
                  <a:tcPr marL="91440" marR="91440" marT="45720" marB="45720">
                    <a:solidFill>
                      <a:srgbClr val="173039"/>
                    </a:solidFill>
                  </a:tcPr>
                </a:tc>
              </a:tr>
              <a:tr h="862013">
                <a:tc>
                  <a:txBody>
                    <a:bodyPr/>
                    <a:lstStyle/>
                    <a:p>
                      <a:r>
                        <a:rPr sz="1725" b="1">
                          <a:solidFill>
                            <a:srgbClr val="173039"/>
                          </a:solidFill>
                          <a:latin typeface="Arial"/>
                          <a:ea typeface="Arial"/>
                          <a:cs typeface="Arial"/>
                        </a:rPr>
                        <a:t>Navigateur</a:t>
                      </a:r>
                    </a:p>
                  </a:txBody>
                  <a:tcPr marL="91440" marR="91440" marT="45720" marB="45720">
                    <a:solidFill>
                      <a:srgbClr val="FFFFFF"/>
                    </a:solidFill>
                  </a:tcPr>
                </a:tc>
                <a:tc>
                  <a:txBody>
                    <a:bodyPr/>
                    <a:lstStyle/>
                    <a:p>
                      <a:r>
                        <a:rPr sz="1725" b="0">
                          <a:solidFill>
                            <a:srgbClr val="173039"/>
                          </a:solidFill>
                          <a:latin typeface="Arial"/>
                          <a:ea typeface="Arial"/>
                          <a:cs typeface="Arial"/>
                        </a:rPr>
                        <a:t>JavaScript produit à partir de TypeScript et React.</a:t>
                      </a:r>
                    </a:p>
                  </a:txBody>
                  <a:tcPr marL="91440" marR="91440" marT="45720" marB="45720">
                    <a:solidFill>
                      <a:srgbClr val="FFFFFF"/>
                    </a:solidFill>
                  </a:tcPr>
                </a:tc>
                <a:tc>
                  <a:txBody>
                    <a:bodyPr/>
                    <a:lstStyle/>
                    <a:p>
                      <a:r>
                        <a:rPr sz="1725" b="0">
                          <a:solidFill>
                            <a:srgbClr val="173039"/>
                          </a:solidFill>
                          <a:latin typeface="Arial"/>
                          <a:ea typeface="Arial"/>
                          <a:cs typeface="Arial"/>
                        </a:rPr>
                        <a:t>Afficher les écrans et envoyer les choix du répartiteur.</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Processus API</a:t>
                      </a:r>
                    </a:p>
                  </a:txBody>
                  <a:tcPr marL="91440" marR="91440" marT="45720" marB="45720">
                    <a:solidFill>
                      <a:srgbClr val="EAF0F1"/>
                    </a:solidFill>
                  </a:tcPr>
                </a:tc>
                <a:tc>
                  <a:txBody>
                    <a:bodyPr/>
                    <a:lstStyle/>
                    <a:p>
                      <a:r>
                        <a:rPr sz="1725" b="0">
                          <a:solidFill>
                            <a:srgbClr val="173039"/>
                          </a:solidFill>
                          <a:latin typeface="Arial"/>
                          <a:ea typeface="Arial"/>
                          <a:cs typeface="Arial"/>
                        </a:rPr>
                        <a:t>Python, FastAPI et Uvicorn.</a:t>
                      </a:r>
                    </a:p>
                  </a:txBody>
                  <a:tcPr marL="91440" marR="91440" marT="45720" marB="45720">
                    <a:solidFill>
                      <a:srgbClr val="EAF0F1"/>
                    </a:solidFill>
                  </a:tcPr>
                </a:tc>
                <a:tc>
                  <a:txBody>
                    <a:bodyPr/>
                    <a:lstStyle/>
                    <a:p>
                      <a:r>
                        <a:rPr sz="1725" b="0">
                          <a:solidFill>
                            <a:srgbClr val="173039"/>
                          </a:solidFill>
                          <a:latin typeface="Arial"/>
                          <a:ea typeface="Arial"/>
                          <a:cs typeface="Arial"/>
                        </a:rPr>
                        <a:t>Recevoir les demandes et exposer les résultats.</a:t>
                      </a:r>
                    </a:p>
                  </a:txBody>
                  <a:tcPr marL="91440" marR="91440" marT="45720" marB="45720">
                    <a:solidFill>
                      <a:srgbClr val="EAF0F1"/>
                    </a:solidFill>
                  </a:tcPr>
                </a:tc>
              </a:tr>
              <a:tr h="862013">
                <a:tc>
                  <a:txBody>
                    <a:bodyPr/>
                    <a:lstStyle/>
                    <a:p>
                      <a:r>
                        <a:rPr sz="1725" b="1">
                          <a:solidFill>
                            <a:srgbClr val="173039"/>
                          </a:solidFill>
                          <a:latin typeface="Arial"/>
                          <a:ea typeface="Arial"/>
                          <a:cs typeface="Arial"/>
                        </a:rPr>
                        <a:t>Processus worker</a:t>
                      </a:r>
                    </a:p>
                  </a:txBody>
                  <a:tcPr marL="91440" marR="91440" marT="45720" marB="45720">
                    <a:solidFill>
                      <a:srgbClr val="FFFFFF"/>
                    </a:solidFill>
                  </a:tcPr>
                </a:tc>
                <a:tc>
                  <a:txBody>
                    <a:bodyPr/>
                    <a:lstStyle/>
                    <a:p>
                      <a:r>
                        <a:rPr sz="1725" b="0">
                          <a:solidFill>
                            <a:srgbClr val="173039"/>
                          </a:solidFill>
                          <a:latin typeface="Arial"/>
                          <a:ea typeface="Arial"/>
                          <a:cs typeface="Arial"/>
                        </a:rPr>
                        <a:t>Python, LangGraph et OR-Tools.</a:t>
                      </a:r>
                    </a:p>
                  </a:txBody>
                  <a:tcPr marL="91440" marR="91440" marT="45720" marB="45720">
                    <a:solidFill>
                      <a:srgbClr val="FFFFFF"/>
                    </a:solidFill>
                  </a:tcPr>
                </a:tc>
                <a:tc>
                  <a:txBody>
                    <a:bodyPr/>
                    <a:lstStyle/>
                    <a:p>
                      <a:r>
                        <a:rPr sz="1725" b="0">
                          <a:solidFill>
                            <a:srgbClr val="173039"/>
                          </a:solidFill>
                          <a:latin typeface="Arial"/>
                          <a:ea typeface="Arial"/>
                          <a:cs typeface="Arial"/>
                        </a:rPr>
                        <a:t>Prendre les travaux enregistrés et exécuter les calculs.</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Fichiers locaux</a:t>
                      </a:r>
                    </a:p>
                  </a:txBody>
                  <a:tcPr marL="91440" marR="91440" marT="45720" marB="45720">
                    <a:solidFill>
                      <a:srgbClr val="EAF0F1"/>
                    </a:solidFill>
                  </a:tcPr>
                </a:tc>
                <a:tc>
                  <a:txBody>
                    <a:bodyPr/>
                    <a:lstStyle/>
                    <a:p>
                      <a:r>
                        <a:rPr sz="1725" b="0">
                          <a:solidFill>
                            <a:srgbClr val="173039"/>
                          </a:solidFill>
                          <a:latin typeface="Arial"/>
                          <a:ea typeface="Arial"/>
                          <a:cs typeface="Arial"/>
                        </a:rPr>
                        <a:t>SQLite, avec accès applicatif via SQLAlchemy.</a:t>
                      </a:r>
                    </a:p>
                  </a:txBody>
                  <a:tcPr marL="91440" marR="91440" marT="45720" marB="45720">
                    <a:solidFill>
                      <a:srgbClr val="EAF0F1"/>
                    </a:solidFill>
                  </a:tcPr>
                </a:tc>
                <a:tc>
                  <a:txBody>
                    <a:bodyPr/>
                    <a:lstStyle/>
                    <a:p>
                      <a:r>
                        <a:rPr sz="1725" b="0">
                          <a:solidFill>
                            <a:srgbClr val="173039"/>
                          </a:solidFill>
                          <a:latin typeface="Arial"/>
                          <a:ea typeface="Arial"/>
                          <a:cs typeface="Arial"/>
                        </a:rPr>
                        <a:t>Conserver les données entre les requêtes et redémarrages.</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185945186"/>
      </p:ext>
    </p:extLst>
  </p:cSld>
</p:sld>
</file>

<file path=ppt/slides/slide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5A6F37-EDA9-4B2D-9E93-C7EB08C920F1}"/>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La demande reste enregistrée pendant le calcul</a:t>
            </a:r>
          </a:p>
        </p:txBody>
      </p:sp>
      <p:sp>
        <p:nvSpPr>
          <p:cNvPr id="2" name="">
            <a:extLst xmlns:a="http://schemas.openxmlformats.org/drawingml/2006/main">
              <a:ext uri="{FF2B5EF4-FFF2-40B4-BE49-F238E27FC236}">
                <a16:creationId xmlns:a16="http://schemas.microsoft.com/office/drawing/2014/main" id="{791AAB0B-B3C8-409C-9293-4FA8CC54274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0B16A23-8D40-4F21-8823-AD9985C0382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HTTP 202 signifie « demande acceptée pour traitement ». Il ne signifie pas « tournée terminée ».</a:t>
            </a:r>
          </a:p>
        </p:txBody>
      </p:sp>
      <p:sp>
        <p:nvSpPr>
          <p:cNvPr id="4" name="">
            <a:extLst xmlns:a="http://schemas.openxmlformats.org/drawingml/2006/main">
              <a:ext uri="{FF2B5EF4-FFF2-40B4-BE49-F238E27FC236}">
                <a16:creationId xmlns:a16="http://schemas.microsoft.com/office/drawing/2014/main" id="{58F34A6C-872A-47F1-9717-CC19DBE90DCA}"/>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9EF2BEC-D381-4E94-AE40-F0C86C8B70CB}"/>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Accepter</a:t>
            </a:r>
          </a:p>
        </p:txBody>
      </p:sp>
      <p:sp>
        <p:nvSpPr>
          <p:cNvPr id="6" name="">
            <a:extLst xmlns:a="http://schemas.openxmlformats.org/drawingml/2006/main">
              <a:ext uri="{FF2B5EF4-FFF2-40B4-BE49-F238E27FC236}">
                <a16:creationId xmlns:a16="http://schemas.microsoft.com/office/drawing/2014/main" id="{2683AB47-4729-4EFD-B007-09F089177856}"/>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L’API contrôle la demande et lui donne un identifiant.</a:t>
            </a:r>
          </a:p>
        </p:txBody>
      </p:sp>
      <p:sp>
        <p:nvSpPr>
          <p:cNvPr id="7" name="">
            <a:extLst xmlns:a="http://schemas.openxmlformats.org/drawingml/2006/main">
              <a:ext uri="{FF2B5EF4-FFF2-40B4-BE49-F238E27FC236}">
                <a16:creationId xmlns:a16="http://schemas.microsoft.com/office/drawing/2014/main" id="{CAAF72DE-B939-4E98-80AC-9B52F042093B}"/>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3E65480-43F6-4A0E-8DD4-BB506C306FE1}"/>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Mettre en attente</a:t>
            </a:r>
          </a:p>
        </p:txBody>
      </p:sp>
      <p:sp>
        <p:nvSpPr>
          <p:cNvPr id="9" name="">
            <a:extLst xmlns:a="http://schemas.openxmlformats.org/drawingml/2006/main">
              <a:ext uri="{FF2B5EF4-FFF2-40B4-BE49-F238E27FC236}">
                <a16:creationId xmlns:a16="http://schemas.microsoft.com/office/drawing/2014/main" id="{057AB484-CCF2-49DB-B72B-CBFA5B899577}"/>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La base conserve la demande avant le début du calcul.</a:t>
            </a:r>
          </a:p>
        </p:txBody>
      </p:sp>
      <p:sp>
        <p:nvSpPr>
          <p:cNvPr id="10" name="">
            <a:extLst xmlns:a="http://schemas.openxmlformats.org/drawingml/2006/main">
              <a:ext uri="{FF2B5EF4-FFF2-40B4-BE49-F238E27FC236}">
                <a16:creationId xmlns:a16="http://schemas.microsoft.com/office/drawing/2014/main" id="{791843DF-B5A1-4218-A2C4-CBDB5B244D56}"/>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7A57C73-87AD-49EB-8239-9AE99C7A0CE3}"/>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Prendre le travail</a:t>
            </a:r>
          </a:p>
        </p:txBody>
      </p:sp>
      <p:sp>
        <p:nvSpPr>
          <p:cNvPr id="12" name="">
            <a:extLst xmlns:a="http://schemas.openxmlformats.org/drawingml/2006/main">
              <a:ext uri="{FF2B5EF4-FFF2-40B4-BE49-F238E27FC236}">
                <a16:creationId xmlns:a16="http://schemas.microsoft.com/office/drawing/2014/main" id="{E28247DC-EF3F-4C67-B712-8C82E9E97E22}"/>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Le worker réclame une demande et exécute les étapes.</a:t>
            </a:r>
          </a:p>
        </p:txBody>
      </p:sp>
      <p:sp>
        <p:nvSpPr>
          <p:cNvPr id="13" name="">
            <a:extLst xmlns:a="http://schemas.openxmlformats.org/drawingml/2006/main">
              <a:ext uri="{FF2B5EF4-FFF2-40B4-BE49-F238E27FC236}">
                <a16:creationId xmlns:a16="http://schemas.microsoft.com/office/drawing/2014/main" id="{CBB169C0-17E3-4169-95BE-7B8450B4524C}"/>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451B4EF-882E-4828-9197-716377FCDEB3}"/>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Relire le résultat</a:t>
            </a:r>
          </a:p>
        </p:txBody>
      </p:sp>
      <p:sp>
        <p:nvSpPr>
          <p:cNvPr id="15" name="">
            <a:extLst xmlns:a="http://schemas.openxmlformats.org/drawingml/2006/main">
              <a:ext uri="{FF2B5EF4-FFF2-40B4-BE49-F238E27FC236}">
                <a16:creationId xmlns:a16="http://schemas.microsoft.com/office/drawing/2014/main" id="{C3204540-9D89-4750-9BD5-8B02D955AB59}"/>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L’écran obtient l’état et les données depuis l’API.</a:t>
            </a:r>
          </a:p>
        </p:txBody>
      </p:sp>
    </p:spTree>
    <p:extLst>
      <p:ext uri="{BB962C8B-B14F-4D97-AF65-F5344CB8AC3E}">
        <p14:creationId xmlns:p14="http://schemas.microsoft.com/office/powerpoint/2010/main" val="565661093"/>
      </p:ext>
    </p:extLst>
  </p:cSld>
</p:sld>
</file>

<file path=ppt/slides/slide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246C4E-DF03-4AE8-8AE7-8D75225DF7FE}"/>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React et React DOM : l’écran réagit aux choix</a:t>
            </a:r>
          </a:p>
        </p:txBody>
      </p:sp>
      <p:sp>
        <p:nvSpPr>
          <p:cNvPr id="2" name="">
            <a:extLst xmlns:a="http://schemas.openxmlformats.org/drawingml/2006/main">
              <a:ext uri="{FF2B5EF4-FFF2-40B4-BE49-F238E27FC236}">
                <a16:creationId xmlns:a16="http://schemas.microsoft.com/office/drawing/2014/main" id="{D2DB6EFE-B04A-4435-84F4-030B22A08E0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65F82A4-CA71-451E-A341-510392BE3158}"/>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Dans Genesis, la liste, le marqueur et la fiche utilisent le même arrêt sélectionné.</a:t>
            </a:r>
          </a:p>
        </p:txBody>
      </p:sp>
      <p:sp>
        <p:nvSpPr>
          <p:cNvPr id="4" name="">
            <a:extLst xmlns:a="http://schemas.openxmlformats.org/drawingml/2006/main">
              <a:ext uri="{FF2B5EF4-FFF2-40B4-BE49-F238E27FC236}">
                <a16:creationId xmlns:a16="http://schemas.microsoft.com/office/drawing/2014/main" id="{378454B4-6736-4058-95AD-9842B6468DC3}"/>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React organise ce que l’on voit</a:t>
            </a:r>
          </a:p>
        </p:txBody>
      </p:sp>
      <p:sp>
        <p:nvSpPr>
          <p:cNvPr id="5" name="">
            <a:extLst xmlns:a="http://schemas.openxmlformats.org/drawingml/2006/main">
              <a:ext uri="{FF2B5EF4-FFF2-40B4-BE49-F238E27FC236}">
                <a16:creationId xmlns:a16="http://schemas.microsoft.com/office/drawing/2014/main" id="{E7142357-081C-41A0-8577-BED94FC9A857}"/>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Le formulaire, la liste et la carte sont des composants.</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 état retient la commande ou l’arrêt sélectionné.</a:t>
            </a:r>
          </a:p>
        </p:txBody>
      </p:sp>
      <p:sp>
        <p:nvSpPr>
          <p:cNvPr id="6" name="">
            <a:extLst xmlns:a="http://schemas.openxmlformats.org/drawingml/2006/main">
              <a:ext uri="{FF2B5EF4-FFF2-40B4-BE49-F238E27FC236}">
                <a16:creationId xmlns:a16="http://schemas.microsoft.com/office/drawing/2014/main" id="{2B11DE08-76C6-4D60-B51B-7156DFDBF085}"/>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React DOM actualise la page</a:t>
            </a:r>
          </a:p>
        </p:txBody>
      </p:sp>
      <p:sp>
        <p:nvSpPr>
          <p:cNvPr id="7" name="">
            <a:extLst xmlns:a="http://schemas.openxmlformats.org/drawingml/2006/main">
              <a:ext uri="{FF2B5EF4-FFF2-40B4-BE49-F238E27FC236}">
                <a16:creationId xmlns:a16="http://schemas.microsoft.com/office/drawing/2014/main" id="{EFE3DCBC-3821-4668-BA57-7559D3D74367}"/>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 clic change cet état.</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React DOM reporte le nouvel affichage dans le navigateur, sans reconstruire toute la page à la main.</a:t>
            </a:r>
          </a:p>
        </p:txBody>
      </p:sp>
    </p:spTree>
    <p:extLst>
      <p:ext uri="{BB962C8B-B14F-4D97-AF65-F5344CB8AC3E}">
        <p14:creationId xmlns:p14="http://schemas.microsoft.com/office/powerpoint/2010/main" val="501860974"/>
      </p:ext>
    </p:extLst>
  </p:cSld>
</p:sld>
</file>

<file path=ppt/slides/slide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932894-2FFE-4D0B-B3A7-D84C1E13281A}"/>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TypeScript et Pydantic : des contrôles à deux moments</a:t>
            </a:r>
          </a:p>
        </p:txBody>
      </p:sp>
      <p:sp>
        <p:nvSpPr>
          <p:cNvPr id="2" name="">
            <a:extLst xmlns:a="http://schemas.openxmlformats.org/drawingml/2006/main">
              <a:ext uri="{FF2B5EF4-FFF2-40B4-BE49-F238E27FC236}">
                <a16:creationId xmlns:a16="http://schemas.microsoft.com/office/drawing/2014/main" id="{66924873-2B3E-4DB5-9236-336B32D8D7C0}"/>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3C8BF80-DA5B-4BAF-BDCB-37837434473B}"/>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 champ bien formé ne garantit pas qu’une livraison soit possible.</a:t>
            </a:r>
          </a:p>
        </p:txBody>
      </p:sp>
      <p:graphicFrame>
        <p:nvGraphicFramePr>
          <p:cNvPr id="4" name="">
            <a:extLst xmlns:a="http://schemas.openxmlformats.org/drawingml/2006/main">
              <a:ext uri="{FF2B5EF4-FFF2-40B4-BE49-F238E27FC236}">
                <a16:creationId xmlns:a16="http://schemas.microsoft.com/office/drawing/2014/main" id="{CE48E49A-BE69-4FC1-9FA9-6DE3A8EC3E54}"/>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190750"/>
                <a:gridCol w="3638550"/>
                <a:gridCol w="5143500"/>
              </a:tblGrid>
              <a:tr h="457200">
                <a:tc>
                  <a:txBody>
                    <a:bodyPr/>
                    <a:lstStyle/>
                    <a:p>
                      <a:r>
                        <a:rPr sz="1725" b="1">
                          <a:solidFill>
                            <a:srgbClr val="FFFFFF"/>
                          </a:solidFill>
                          <a:latin typeface="Arial"/>
                          <a:ea typeface="Arial"/>
                          <a:cs typeface="Arial"/>
                        </a:rPr>
                        <a:t>OUTIL</a:t>
                      </a:r>
                    </a:p>
                  </a:txBody>
                  <a:tcPr marL="91440" marR="91440" marT="45720" marB="45720">
                    <a:solidFill>
                      <a:srgbClr val="173039"/>
                    </a:solidFill>
                  </a:tcPr>
                </a:tc>
                <a:tc>
                  <a:txBody>
                    <a:bodyPr/>
                    <a:lstStyle/>
                    <a:p>
                      <a:r>
                        <a:rPr sz="1725" b="1">
                          <a:solidFill>
                            <a:srgbClr val="FFFFFF"/>
                          </a:solidFill>
                          <a:latin typeface="Arial"/>
                          <a:ea typeface="Arial"/>
                          <a:cs typeface="Arial"/>
                        </a:rPr>
                        <a:t>MOMENT DU CONTRÔLE</a:t>
                      </a:r>
                    </a:p>
                  </a:txBody>
                  <a:tcPr marL="91440" marR="91440" marT="45720" marB="45720">
                    <a:solidFill>
                      <a:srgbClr val="173039"/>
                    </a:solidFill>
                  </a:tcPr>
                </a:tc>
                <a:tc>
                  <a:txBody>
                    <a:bodyPr/>
                    <a:lstStyle/>
                    <a:p>
                      <a:r>
                        <a:rPr sz="1725" b="1">
                          <a:solidFill>
                            <a:srgbClr val="FFFFFF"/>
                          </a:solidFill>
                          <a:latin typeface="Arial"/>
                          <a:ea typeface="Arial"/>
                          <a:cs typeface="Arial"/>
                        </a:rPr>
                        <a:t>EXEMPLE CONCRET</a:t>
                      </a:r>
                    </a:p>
                  </a:txBody>
                  <a:tcPr marL="91440" marR="91440" marT="45720" marB="45720">
                    <a:solidFill>
                      <a:srgbClr val="173039"/>
                    </a:solidFill>
                  </a:tcPr>
                </a:tc>
              </a:tr>
              <a:tr h="1149350">
                <a:tc>
                  <a:txBody>
                    <a:bodyPr/>
                    <a:lstStyle/>
                    <a:p>
                      <a:r>
                        <a:rPr sz="1725" b="1">
                          <a:solidFill>
                            <a:srgbClr val="173039"/>
                          </a:solidFill>
                          <a:latin typeface="Arial"/>
                          <a:ea typeface="Arial"/>
                          <a:cs typeface="Arial"/>
                        </a:rPr>
                        <a:t>TypeScript</a:t>
                      </a:r>
                    </a:p>
                  </a:txBody>
                  <a:tcPr marL="91440" marR="91440" marT="45720" marB="45720">
                    <a:solidFill>
                      <a:srgbClr val="FFFFFF"/>
                    </a:solidFill>
                  </a:tcPr>
                </a:tc>
                <a:tc>
                  <a:txBody>
                    <a:bodyPr/>
                    <a:lstStyle/>
                    <a:p>
                      <a:r>
                        <a:rPr sz="1725" b="0">
                          <a:solidFill>
                            <a:srgbClr val="173039"/>
                          </a:solidFill>
                          <a:latin typeface="Arial"/>
                          <a:ea typeface="Arial"/>
                          <a:cs typeface="Arial"/>
                        </a:rPr>
                        <a:t>Pendant la préparation du site.</a:t>
                      </a:r>
                    </a:p>
                  </a:txBody>
                  <a:tcPr marL="91440" marR="91440" marT="45720" marB="45720">
                    <a:solidFill>
                      <a:srgbClr val="FFFFFF"/>
                    </a:solidFill>
                  </a:tcPr>
                </a:tc>
                <a:tc>
                  <a:txBody>
                    <a:bodyPr/>
                    <a:lstStyle/>
                    <a:p>
                      <a:r>
                        <a:rPr sz="1725" b="0">
                          <a:solidFill>
                            <a:srgbClr val="173039"/>
                          </a:solidFill>
                          <a:latin typeface="Arial"/>
                          <a:ea typeface="Arial"/>
                          <a:cs typeface="Arial"/>
                        </a:rPr>
                        <a:t>Le code attend une liste d’arrêts mais reçoit un texte: erreur de type.</a:t>
                      </a:r>
                    </a:p>
                  </a:txBody>
                  <a:tcPr marL="91440" marR="91440" marT="45720" marB="45720">
                    <a:solidFill>
                      <a:srgbClr val="FFFFFF"/>
                    </a:solidFill>
                  </a:tcPr>
                </a:tc>
              </a:tr>
              <a:tr h="1149350">
                <a:tc>
                  <a:txBody>
                    <a:bodyPr/>
                    <a:lstStyle/>
                    <a:p>
                      <a:r>
                        <a:rPr sz="1725" b="1">
                          <a:solidFill>
                            <a:srgbClr val="173039"/>
                          </a:solidFill>
                          <a:latin typeface="Arial"/>
                          <a:ea typeface="Arial"/>
                          <a:cs typeface="Arial"/>
                        </a:rPr>
                        <a:t>Pydantic</a:t>
                      </a:r>
                    </a:p>
                  </a:txBody>
                  <a:tcPr marL="91440" marR="91440" marT="45720" marB="45720">
                    <a:solidFill>
                      <a:srgbClr val="EAF0F1"/>
                    </a:solidFill>
                  </a:tcPr>
                </a:tc>
                <a:tc>
                  <a:txBody>
                    <a:bodyPr/>
                    <a:lstStyle/>
                    <a:p>
                      <a:r>
                        <a:rPr sz="1725" b="0">
                          <a:solidFill>
                            <a:srgbClr val="173039"/>
                          </a:solidFill>
                          <a:latin typeface="Arial"/>
                          <a:ea typeface="Arial"/>
                          <a:cs typeface="Arial"/>
                        </a:rPr>
                        <a:t>Quand le serveur reçoit des données.</a:t>
                      </a:r>
                    </a:p>
                  </a:txBody>
                  <a:tcPr marL="91440" marR="91440" marT="45720" marB="45720">
                    <a:solidFill>
                      <a:srgbClr val="EAF0F1"/>
                    </a:solidFill>
                  </a:tcPr>
                </a:tc>
                <a:tc>
                  <a:txBody>
                    <a:bodyPr/>
                    <a:lstStyle/>
                    <a:p>
                      <a:r>
                        <a:rPr sz="1725" b="0">
                          <a:solidFill>
                            <a:srgbClr val="173039"/>
                          </a:solidFill>
                          <a:latin typeface="Arial"/>
                          <a:ea typeface="Arial"/>
                          <a:cs typeface="Arial"/>
                        </a:rPr>
                        <a:t>Le nombre de colis ou les coordonnées sortent des bornes: refus.</a:t>
                      </a:r>
                    </a:p>
                  </a:txBody>
                  <a:tcPr marL="91440" marR="91440" marT="45720" marB="45720">
                    <a:solidFill>
                      <a:srgbClr val="EAF0F1"/>
                    </a:solidFill>
                  </a:tcPr>
                </a:tc>
              </a:tr>
              <a:tr h="1149350">
                <a:tc>
                  <a:txBody>
                    <a:bodyPr/>
                    <a:lstStyle/>
                    <a:p>
                      <a:r>
                        <a:rPr sz="1725" b="1">
                          <a:solidFill>
                            <a:srgbClr val="173039"/>
                          </a:solidFill>
                          <a:latin typeface="Arial"/>
                          <a:ea typeface="Arial"/>
                          <a:cs typeface="Arial"/>
                        </a:rPr>
                        <a:t>Règles Genesis</a:t>
                      </a:r>
                    </a:p>
                  </a:txBody>
                  <a:tcPr marL="91440" marR="91440" marT="45720" marB="45720">
                    <a:solidFill>
                      <a:srgbClr val="FFFFFF"/>
                    </a:solidFill>
                  </a:tcPr>
                </a:tc>
                <a:tc>
                  <a:txBody>
                    <a:bodyPr/>
                    <a:lstStyle/>
                    <a:p>
                      <a:r>
                        <a:rPr sz="1725" b="0">
                          <a:solidFill>
                            <a:srgbClr val="173039"/>
                          </a:solidFill>
                          <a:latin typeface="Arial"/>
                          <a:ea typeface="Arial"/>
                          <a:cs typeface="Arial"/>
                        </a:rPr>
                        <a:t>Après les contrôles de forme.</a:t>
                      </a:r>
                    </a:p>
                  </a:txBody>
                  <a:tcPr marL="91440" marR="91440" marT="45720" marB="45720">
                    <a:solidFill>
                      <a:srgbClr val="FFFFFF"/>
                    </a:solidFill>
                  </a:tcPr>
                </a:tc>
                <a:tc>
                  <a:txBody>
                    <a:bodyPr/>
                    <a:lstStyle/>
                    <a:p>
                      <a:r>
                        <a:rPr sz="1725" b="0">
                          <a:solidFill>
                            <a:srgbClr val="173039"/>
                          </a:solidFill>
                          <a:latin typeface="Arial"/>
                          <a:ea typeface="Arial"/>
                          <a:cs typeface="Arial"/>
                        </a:rPr>
                        <a:t>Un véhicule déjà réservé ne peut pas accepter une nouvelle tournée.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55225232"/>
      </p:ext>
    </p:extLst>
  </p:cSld>
</p:sld>
</file>

<file path=ppt/slides/slide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D11E4D-682F-4029-BB9D-11E8737EB94D}"/>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Uvicorn et FastAPI : le guichet du serveur</a:t>
            </a:r>
          </a:p>
        </p:txBody>
      </p:sp>
      <p:sp>
        <p:nvSpPr>
          <p:cNvPr id="2" name="">
            <a:extLst xmlns:a="http://schemas.openxmlformats.org/drawingml/2006/main">
              <a:ext uri="{FF2B5EF4-FFF2-40B4-BE49-F238E27FC236}">
                <a16:creationId xmlns:a16="http://schemas.microsoft.com/office/drawing/2014/main" id="{E1A8A4A5-AECC-4EE3-A97E-E355D5711248}"/>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2755A21-BD41-4F99-A687-0BE7AEA032BD}"/>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L’API renvoie une réponse structurée que le navigateur peut comprendre.</a:t>
            </a:r>
          </a:p>
        </p:txBody>
      </p:sp>
      <p:sp>
        <p:nvSpPr>
          <p:cNvPr id="4" name="">
            <a:extLst xmlns:a="http://schemas.openxmlformats.org/drawingml/2006/main">
              <a:ext uri="{FF2B5EF4-FFF2-40B4-BE49-F238E27FC236}">
                <a16:creationId xmlns:a16="http://schemas.microsoft.com/office/drawing/2014/main" id="{FD944E12-59B2-4593-9016-EE246C22F3C8}"/>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Une requête est</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un message envoyé</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au serveur</a:t>
            </a:r>
          </a:p>
        </p:txBody>
      </p:sp>
      <p:sp>
        <p:nvSpPr>
          <p:cNvPr id="5" name="">
            <a:extLst xmlns:a="http://schemas.openxmlformats.org/drawingml/2006/main">
              <a:ext uri="{FF2B5EF4-FFF2-40B4-BE49-F238E27FC236}">
                <a16:creationId xmlns:a16="http://schemas.microsoft.com/office/drawing/2014/main" id="{B75BE29F-E841-4955-B24A-C9092FB2FB6B}"/>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Uvicorn reçoit</a:t>
            </a:r>
          </a:p>
        </p:txBody>
      </p:sp>
      <p:sp>
        <p:nvSpPr>
          <p:cNvPr id="6" name="">
            <a:extLst xmlns:a="http://schemas.openxmlformats.org/drawingml/2006/main">
              <a:ext uri="{FF2B5EF4-FFF2-40B4-BE49-F238E27FC236}">
                <a16:creationId xmlns:a16="http://schemas.microsoft.com/office/drawing/2014/main" id="{AFBA46EA-D193-4D4B-95B9-98B73B75FBD1}"/>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serveur écoute une adresse réseau et transmet les messages à l’application.</a:t>
            </a:r>
          </a:p>
        </p:txBody>
      </p:sp>
      <p:sp>
        <p:nvSpPr>
          <p:cNvPr id="7" name="">
            <a:extLst xmlns:a="http://schemas.openxmlformats.org/drawingml/2006/main">
              <a:ext uri="{FF2B5EF4-FFF2-40B4-BE49-F238E27FC236}">
                <a16:creationId xmlns:a16="http://schemas.microsoft.com/office/drawing/2014/main" id="{5055D8C0-44D3-41C3-88D3-AAF5A94E55D5}"/>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FastAPI oriente</a:t>
            </a:r>
          </a:p>
        </p:txBody>
      </p:sp>
      <p:sp>
        <p:nvSpPr>
          <p:cNvPr id="8" name="">
            <a:extLst xmlns:a="http://schemas.openxmlformats.org/drawingml/2006/main">
              <a:ext uri="{FF2B5EF4-FFF2-40B4-BE49-F238E27FC236}">
                <a16:creationId xmlns:a16="http://schemas.microsoft.com/office/drawing/2014/main" id="{F6C25356-BD9C-435D-8F62-6C363DA15878}"/>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L’adresse demandée choisit la fonction: créer, consulter ou planifier.</a:t>
            </a:r>
          </a:p>
        </p:txBody>
      </p:sp>
      <p:sp>
        <p:nvSpPr>
          <p:cNvPr id="9" name="">
            <a:extLst xmlns:a="http://schemas.openxmlformats.org/drawingml/2006/main">
              <a:ext uri="{FF2B5EF4-FFF2-40B4-BE49-F238E27FC236}">
                <a16:creationId xmlns:a16="http://schemas.microsoft.com/office/drawing/2014/main" id="{1616F27E-49DA-4FEA-A877-67F948349F00}"/>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Le contrat décrit</a:t>
            </a:r>
          </a:p>
        </p:txBody>
      </p:sp>
      <p:sp>
        <p:nvSpPr>
          <p:cNvPr id="10" name="">
            <a:extLst xmlns:a="http://schemas.openxmlformats.org/drawingml/2006/main">
              <a:ext uri="{FF2B5EF4-FFF2-40B4-BE49-F238E27FC236}">
                <a16:creationId xmlns:a16="http://schemas.microsoft.com/office/drawing/2014/main" id="{AE6D6A4C-6D03-4CA6-8EAC-CBAC6E2E57C3}"/>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OpenAPI indique les champs attendus et les réponses possibles.</a:t>
            </a:r>
          </a:p>
        </p:txBody>
      </p:sp>
    </p:spTree>
    <p:extLst>
      <p:ext uri="{BB962C8B-B14F-4D97-AF65-F5344CB8AC3E}">
        <p14:creationId xmlns:p14="http://schemas.microsoft.com/office/powerpoint/2010/main" val="292071151"/>
      </p:ext>
    </p:extLst>
  </p:cSld>
</p:sld>
</file>

<file path=ppt/slides/slide1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D77FAC-3EE1-4B1D-8F32-4939EDD6B84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Pydantic : contrôler le dossier reçu</a:t>
            </a:r>
          </a:p>
        </p:txBody>
      </p:sp>
      <p:sp>
        <p:nvSpPr>
          <p:cNvPr id="2" name="">
            <a:extLst xmlns:a="http://schemas.openxmlformats.org/drawingml/2006/main">
              <a:ext uri="{FF2B5EF4-FFF2-40B4-BE49-F238E27FC236}">
                <a16:creationId xmlns:a16="http://schemas.microsoft.com/office/drawing/2014/main" id="{D5C5FE66-10C8-4435-9DEF-C757CB638E64}"/>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5A9DFB7-D918-4090-9156-25EF7757BDC6}"/>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Exemple réel corrigé : le contrat d’adresse accepte le libellé et les coordonnées, pas l’identifiant du géocodeur.</a:t>
            </a:r>
          </a:p>
        </p:txBody>
      </p:sp>
      <p:pic>
        <p:nvPicPr>
          <p:cNvPr id="4" name="">
            <a:extLst xmlns:a="http://schemas.openxmlformats.org/drawingml/2006/main">
              <a:ext uri="{FF2B5EF4-FFF2-40B4-BE49-F238E27FC236}">
                <a16:creationId xmlns:a16="http://schemas.microsoft.com/office/drawing/2014/main" id="{1D69D702-0E66-4954-AFE2-94158F11613C}"/>
              </a:ext>
            </a:extLst>
          </p:cNvPr>
          <p:cNvPicPr>
            <a:picLocks xmlns:a="http://schemas.openxmlformats.org/drawingml/2006/main" noChangeAspect="1"/>
          </p:cNvPicPr>
          <p:nvPr/>
        </p:nvPicPr>
        <p:blipFill>
          <a:blip xmlns:r="http://schemas.openxmlformats.org/officeDocument/2006/relationships" xmlns:a="http://schemas.openxmlformats.org/drawingml/2006/main" r:embed="Rb372a8b95a1f4819"/>
          <a:stretch xmlns:a="http://schemas.openxmlformats.org/drawingml/2006/main"/>
        </p:blipFill>
        <p:spPr>
          <a:xfrm xmlns:a="http://schemas.openxmlformats.org/drawingml/2006/main">
            <a:off x="5491163" y="1685925"/>
            <a:ext cx="5448300" cy="408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2C9C4D-45D9-45F1-9DA8-D452D80AE132}"/>
              </a:ext>
            </a:extLst>
          </p:cNvPr>
          <p:cNvSpPr>
            <a:spLocks xmlns:a="http://schemas.openxmlformats.org/drawingml/2006/main" noGrp="1"/>
          </p:cNvSpPr>
          <p:nvPr/>
        </p:nvSpPr>
        <p:spPr>
          <a:xfrm xmlns:a="http://schemas.openxmlformats.org/drawingml/2006/main">
            <a:off x="609600" y="197167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Entrée</a:t>
            </a:r>
          </a:p>
        </p:txBody>
      </p:sp>
      <p:sp>
        <p:nvSpPr>
          <p:cNvPr id="6" name="">
            <a:extLst xmlns:a="http://schemas.openxmlformats.org/drawingml/2006/main">
              <a:ext uri="{FF2B5EF4-FFF2-40B4-BE49-F238E27FC236}">
                <a16:creationId xmlns:a16="http://schemas.microsoft.com/office/drawing/2014/main" id="{AC22FEE3-0B9D-4C9B-B3FB-1F7BE698F11A}"/>
              </a:ext>
            </a:extLst>
          </p:cNvPr>
          <p:cNvSpPr>
            <a:spLocks xmlns:a="http://schemas.openxmlformats.org/drawingml/2006/main" noGrp="1"/>
          </p:cNvSpPr>
          <p:nvPr/>
        </p:nvSpPr>
        <p:spPr>
          <a:xfrm xmlns:a="http://schemas.openxmlformats.org/drawingml/2006/main">
            <a:off x="609600" y="240030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Les champs envoyés par le formulaire.</a:t>
            </a:r>
          </a:p>
        </p:txBody>
      </p:sp>
      <p:sp>
        <p:nvSpPr>
          <p:cNvPr id="7" name="">
            <a:extLst xmlns:a="http://schemas.openxmlformats.org/drawingml/2006/main">
              <a:ext uri="{FF2B5EF4-FFF2-40B4-BE49-F238E27FC236}">
                <a16:creationId xmlns:a16="http://schemas.microsoft.com/office/drawing/2014/main" id="{5C86CE54-6ADF-491A-91BD-A13B2BEC6F86}"/>
              </a:ext>
            </a:extLst>
          </p:cNvPr>
          <p:cNvSpPr>
            <a:spLocks xmlns:a="http://schemas.openxmlformats.org/drawingml/2006/main" noGrp="1"/>
          </p:cNvSpPr>
          <p:nvPr/>
        </p:nvSpPr>
        <p:spPr>
          <a:xfrm xmlns:a="http://schemas.openxmlformats.org/drawingml/2006/main">
            <a:off x="609600" y="321945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Contrôle</a:t>
            </a:r>
          </a:p>
        </p:txBody>
      </p:sp>
      <p:sp>
        <p:nvSpPr>
          <p:cNvPr id="8" name="">
            <a:extLst xmlns:a="http://schemas.openxmlformats.org/drawingml/2006/main">
              <a:ext uri="{FF2B5EF4-FFF2-40B4-BE49-F238E27FC236}">
                <a16:creationId xmlns:a16="http://schemas.microsoft.com/office/drawing/2014/main" id="{36546CC5-1C32-4F8E-948C-917546DEF197}"/>
              </a:ext>
            </a:extLst>
          </p:cNvPr>
          <p:cNvSpPr>
            <a:spLocks xmlns:a="http://schemas.openxmlformats.org/drawingml/2006/main" noGrp="1"/>
          </p:cNvSpPr>
          <p:nvPr/>
        </p:nvSpPr>
        <p:spPr>
          <a:xfrm xmlns:a="http://schemas.openxmlformats.org/drawingml/2006/main">
            <a:off x="609600" y="3648075"/>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Types, limites et propriétés autorisées.</a:t>
            </a:r>
          </a:p>
        </p:txBody>
      </p:sp>
      <p:sp>
        <p:nvSpPr>
          <p:cNvPr id="9" name="">
            <a:extLst xmlns:a="http://schemas.openxmlformats.org/drawingml/2006/main">
              <a:ext uri="{FF2B5EF4-FFF2-40B4-BE49-F238E27FC236}">
                <a16:creationId xmlns:a16="http://schemas.microsoft.com/office/drawing/2014/main" id="{A5004031-A7EE-4523-9AC5-59A4BB413477}"/>
              </a:ext>
            </a:extLst>
          </p:cNvPr>
          <p:cNvSpPr>
            <a:spLocks xmlns:a="http://schemas.openxmlformats.org/drawingml/2006/main" noGrp="1"/>
          </p:cNvSpPr>
          <p:nvPr/>
        </p:nvSpPr>
        <p:spPr>
          <a:xfrm xmlns:a="http://schemas.openxmlformats.org/drawingml/2006/main">
            <a:off x="609600" y="44672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Sortie</a:t>
            </a:r>
          </a:p>
        </p:txBody>
      </p:sp>
      <p:sp>
        <p:nvSpPr>
          <p:cNvPr id="10" name="">
            <a:extLst xmlns:a="http://schemas.openxmlformats.org/drawingml/2006/main">
              <a:ext uri="{FF2B5EF4-FFF2-40B4-BE49-F238E27FC236}">
                <a16:creationId xmlns:a16="http://schemas.microsoft.com/office/drawing/2014/main" id="{AF99079E-5204-45DB-B07D-2E534D6FAB75}"/>
              </a:ext>
            </a:extLst>
          </p:cNvPr>
          <p:cNvSpPr>
            <a:spLocks xmlns:a="http://schemas.openxmlformats.org/drawingml/2006/main" noGrp="1"/>
          </p:cNvSpPr>
          <p:nvPr/>
        </p:nvSpPr>
        <p:spPr>
          <a:xfrm xmlns:a="http://schemas.openxmlformats.org/drawingml/2006/main">
            <a:off x="609600" y="48958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Des données utilisables ou une erreur de validation.</a:t>
            </a:r>
          </a:p>
        </p:txBody>
      </p:sp>
    </p:spTree>
    <p:extLst>
      <p:ext uri="{BB962C8B-B14F-4D97-AF65-F5344CB8AC3E}">
        <p14:creationId xmlns:p14="http://schemas.microsoft.com/office/powerpoint/2010/main" val="946444986"/>
      </p:ext>
    </p:extLst>
  </p:cSld>
</p:sld>
</file>

<file path=ppt/slides/slide1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70E5B4-C5FE-4C13-8451-1B0F4DBB0E8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HTTPX et Photon : transformer une adresse en point</a:t>
            </a:r>
          </a:p>
        </p:txBody>
      </p:sp>
      <p:sp>
        <p:nvSpPr>
          <p:cNvPr id="2" name="">
            <a:extLst xmlns:a="http://schemas.openxmlformats.org/drawingml/2006/main">
              <a:ext uri="{FF2B5EF4-FFF2-40B4-BE49-F238E27FC236}">
                <a16:creationId xmlns:a16="http://schemas.microsoft.com/office/drawing/2014/main" id="{93BED60B-B5B3-433F-9B94-258944E37FDD}"/>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FAF59507-B137-441B-8DC8-2DAC64BA5E7F}"/>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HTTPX est une bibliothèque cliente. Photon est le service de recherche contacté.</a:t>
            </a:r>
          </a:p>
        </p:txBody>
      </p:sp>
      <p:sp>
        <p:nvSpPr>
          <p:cNvPr id="4" name="">
            <a:extLst xmlns:a="http://schemas.openxmlformats.org/drawingml/2006/main">
              <a:ext uri="{FF2B5EF4-FFF2-40B4-BE49-F238E27FC236}">
                <a16:creationId xmlns:a16="http://schemas.microsoft.com/office/drawing/2014/main" id="{561716C0-752C-4986-ADC4-DCB0693C8E8D}"/>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HTTPX transporte le message</a:t>
            </a:r>
          </a:p>
        </p:txBody>
      </p:sp>
      <p:sp>
        <p:nvSpPr>
          <p:cNvPr id="5" name="">
            <a:extLst xmlns:a="http://schemas.openxmlformats.org/drawingml/2006/main">
              <a:ext uri="{FF2B5EF4-FFF2-40B4-BE49-F238E27FC236}">
                <a16:creationId xmlns:a16="http://schemas.microsoft.com/office/drawing/2014/main" id="{97A1D00B-C257-43FB-80DD-B1BDD78D0067}"/>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Genesis prépare une requête vers le service.</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HTTPX envoie les paramètres, attend la réponse et permet de borner l’attente.</a:t>
            </a:r>
          </a:p>
        </p:txBody>
      </p:sp>
      <p:sp>
        <p:nvSpPr>
          <p:cNvPr id="6" name="">
            <a:extLst xmlns:a="http://schemas.openxmlformats.org/drawingml/2006/main">
              <a:ext uri="{FF2B5EF4-FFF2-40B4-BE49-F238E27FC236}">
                <a16:creationId xmlns:a16="http://schemas.microsoft.com/office/drawing/2014/main" id="{AC02EF32-98BC-4CC8-B92F-717AB8B05E96}"/>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Photon recherche le lieu</a:t>
            </a:r>
          </a:p>
        </p:txBody>
      </p:sp>
      <p:sp>
        <p:nvSpPr>
          <p:cNvPr id="7" name="">
            <a:extLst xmlns:a="http://schemas.openxmlformats.org/drawingml/2006/main">
              <a:ext uri="{FF2B5EF4-FFF2-40B4-BE49-F238E27FC236}">
                <a16:creationId xmlns:a16="http://schemas.microsoft.com/office/drawing/2014/main" id="{360D44D6-9EC8-44BB-83D1-63FE949B5202}"/>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Une adresse saisie produit plusieurs candidats.</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Le répartiteur choisit le bon lieu, avec son libellé et ses coordonnées.</a:t>
            </a:r>
          </a:p>
        </p:txBody>
      </p:sp>
    </p:spTree>
    <p:extLst>
      <p:ext uri="{BB962C8B-B14F-4D97-AF65-F5344CB8AC3E}">
        <p14:creationId xmlns:p14="http://schemas.microsoft.com/office/powerpoint/2010/main" val="394550396"/>
      </p:ext>
    </p:extLst>
  </p:cSld>
</p:sld>
</file>

<file path=ppt/slides/slide1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A40238-FF25-4110-AF50-AE8C25E757A9}"/>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OSRM : les temps entre les lieux</a:t>
            </a:r>
          </a:p>
        </p:txBody>
      </p:sp>
      <p:sp>
        <p:nvSpPr>
          <p:cNvPr id="2" name="">
            <a:extLst xmlns:a="http://schemas.openxmlformats.org/drawingml/2006/main">
              <a:ext uri="{FF2B5EF4-FFF2-40B4-BE49-F238E27FC236}">
                <a16:creationId xmlns:a16="http://schemas.microsoft.com/office/drawing/2014/main" id="{9757A850-2B5B-4DA1-8190-F81CE3BACEE3}"/>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DE375D2C-E0CC-4507-9D27-4615AEE9E78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Chiffres fictifs pour lire une matrice. A vers B peut différer de B vers A, par exemple à cause des sens uniques.</a:t>
            </a:r>
          </a:p>
        </p:txBody>
      </p:sp>
      <p:graphicFrame>
        <p:nvGraphicFramePr>
          <p:cNvPr id="4" name="">
            <a:extLst xmlns:a="http://schemas.openxmlformats.org/drawingml/2006/main">
              <a:ext uri="{FF2B5EF4-FFF2-40B4-BE49-F238E27FC236}">
                <a16:creationId xmlns:a16="http://schemas.microsoft.com/office/drawing/2014/main" id="{F6B7BE9C-5049-42C2-B9CA-05C9E96FA808}"/>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3333750"/>
                <a:gridCol w="2524125"/>
                <a:gridCol w="2524125"/>
                <a:gridCol w="2590800"/>
              </a:tblGrid>
              <a:tr h="457200">
                <a:tc>
                  <a:txBody>
                    <a:bodyPr/>
                    <a:lstStyle/>
                    <a:p>
                      <a:r>
                        <a:rPr sz="1725" b="1">
                          <a:solidFill>
                            <a:srgbClr val="FFFFFF"/>
                          </a:solidFill>
                          <a:latin typeface="Arial"/>
                          <a:ea typeface="Arial"/>
                          <a:cs typeface="Arial"/>
                        </a:rPr>
                        <a:t>DÉPART / ARRIVÉE</a:t>
                      </a:r>
                    </a:p>
                  </a:txBody>
                  <a:tcPr marL="91440" marR="91440" marT="45720" marB="45720">
                    <a:solidFill>
                      <a:srgbClr val="173039"/>
                    </a:solidFill>
                  </a:tcPr>
                </a:tc>
                <a:tc>
                  <a:txBody>
                    <a:bodyPr/>
                    <a:lstStyle/>
                    <a:p>
                      <a:r>
                        <a:rPr sz="1725" b="1">
                          <a:solidFill>
                            <a:srgbClr val="FFFFFF"/>
                          </a:solidFill>
                          <a:latin typeface="Arial"/>
                          <a:ea typeface="Arial"/>
                          <a:cs typeface="Arial"/>
                        </a:rPr>
                        <a:t>DÉPÔT</a:t>
                      </a:r>
                    </a:p>
                  </a:txBody>
                  <a:tcPr marL="91440" marR="91440" marT="45720" marB="45720">
                    <a:solidFill>
                      <a:srgbClr val="173039"/>
                    </a:solidFill>
                  </a:tcPr>
                </a:tc>
                <a:tc>
                  <a:txBody>
                    <a:bodyPr/>
                    <a:lstStyle/>
                    <a:p>
                      <a:r>
                        <a:rPr sz="1725" b="1">
                          <a:solidFill>
                            <a:srgbClr val="FFFFFF"/>
                          </a:solidFill>
                          <a:latin typeface="Arial"/>
                          <a:ea typeface="Arial"/>
                          <a:cs typeface="Arial"/>
                        </a:rPr>
                        <a:t>A</a:t>
                      </a:r>
                    </a:p>
                  </a:txBody>
                  <a:tcPr marL="91440" marR="91440" marT="45720" marB="45720">
                    <a:solidFill>
                      <a:srgbClr val="173039"/>
                    </a:solidFill>
                  </a:tcPr>
                </a:tc>
                <a:tc>
                  <a:txBody>
                    <a:bodyPr/>
                    <a:lstStyle/>
                    <a:p>
                      <a:r>
                        <a:rPr sz="1725" b="1">
                          <a:solidFill>
                            <a:srgbClr val="FFFFFF"/>
                          </a:solidFill>
                          <a:latin typeface="Arial"/>
                          <a:ea typeface="Arial"/>
                          <a:cs typeface="Arial"/>
                        </a:rPr>
                        <a:t>B</a:t>
                      </a:r>
                    </a:p>
                  </a:txBody>
                  <a:tcPr marL="91440" marR="91440" marT="45720" marB="45720">
                    <a:solidFill>
                      <a:srgbClr val="173039"/>
                    </a:solidFill>
                  </a:tcPr>
                </a:tc>
              </a:tr>
              <a:tr h="1149350">
                <a:tc>
                  <a:txBody>
                    <a:bodyPr/>
                    <a:lstStyle/>
                    <a:p>
                      <a:r>
                        <a:rPr sz="1725" b="1">
                          <a:solidFill>
                            <a:srgbClr val="173039"/>
                          </a:solidFill>
                          <a:latin typeface="Arial"/>
                          <a:ea typeface="Arial"/>
                          <a:cs typeface="Arial"/>
                        </a:rPr>
                        <a:t>Dépôt</a:t>
                      </a:r>
                    </a:p>
                  </a:txBody>
                  <a:tcPr marL="91440" marR="91440" marT="45720" marB="45720">
                    <a:solidFill>
                      <a:srgbClr val="FFFFFF"/>
                    </a:solidFill>
                  </a:tcPr>
                </a:tc>
                <a:tc>
                  <a:txBody>
                    <a:bodyPr/>
                    <a:lstStyle/>
                    <a:p>
                      <a:r>
                        <a:rPr sz="1725" b="0">
                          <a:solidFill>
                            <a:srgbClr val="173039"/>
                          </a:solidFill>
                          <a:latin typeface="Arial"/>
                          <a:ea typeface="Arial"/>
                          <a:cs typeface="Arial"/>
                        </a:rPr>
                        <a:t>0 min</a:t>
                      </a:r>
                    </a:p>
                  </a:txBody>
                  <a:tcPr marL="91440" marR="91440" marT="45720" marB="45720">
                    <a:solidFill>
                      <a:srgbClr val="FFFFFF"/>
                    </a:solidFill>
                  </a:tcPr>
                </a:tc>
                <a:tc>
                  <a:txBody>
                    <a:bodyPr/>
                    <a:lstStyle/>
                    <a:p>
                      <a:r>
                        <a:rPr sz="1725" b="0">
                          <a:solidFill>
                            <a:srgbClr val="173039"/>
                          </a:solidFill>
                          <a:latin typeface="Arial"/>
                          <a:ea typeface="Arial"/>
                          <a:cs typeface="Arial"/>
                        </a:rPr>
                        <a:t>12 min</a:t>
                      </a:r>
                    </a:p>
                  </a:txBody>
                  <a:tcPr marL="91440" marR="91440" marT="45720" marB="45720">
                    <a:solidFill>
                      <a:srgbClr val="FFFFFF"/>
                    </a:solidFill>
                  </a:tcPr>
                </a:tc>
                <a:tc>
                  <a:txBody>
                    <a:bodyPr/>
                    <a:lstStyle/>
                    <a:p>
                      <a:r>
                        <a:rPr sz="1725" b="0">
                          <a:solidFill>
                            <a:srgbClr val="173039"/>
                          </a:solidFill>
                          <a:latin typeface="Arial"/>
                          <a:ea typeface="Arial"/>
                          <a:cs typeface="Arial"/>
                        </a:rPr>
                        <a:t>18 min</a:t>
                      </a:r>
                    </a:p>
                  </a:txBody>
                  <a:tcPr marL="91440" marR="91440" marT="45720" marB="45720">
                    <a:solidFill>
                      <a:srgbClr val="FFFFFF"/>
                    </a:solidFill>
                  </a:tcPr>
                </a:tc>
              </a:tr>
              <a:tr h="1149350">
                <a:tc>
                  <a:txBody>
                    <a:bodyPr/>
                    <a:lstStyle/>
                    <a:p>
                      <a:r>
                        <a:rPr sz="1725" b="1">
                          <a:solidFill>
                            <a:srgbClr val="173039"/>
                          </a:solidFill>
                          <a:latin typeface="Arial"/>
                          <a:ea typeface="Arial"/>
                          <a:cs typeface="Arial"/>
                        </a:rPr>
                        <a:t>A</a:t>
                      </a:r>
                    </a:p>
                  </a:txBody>
                  <a:tcPr marL="91440" marR="91440" marT="45720" marB="45720">
                    <a:solidFill>
                      <a:srgbClr val="EAF0F1"/>
                    </a:solidFill>
                  </a:tcPr>
                </a:tc>
                <a:tc>
                  <a:txBody>
                    <a:bodyPr/>
                    <a:lstStyle/>
                    <a:p>
                      <a:r>
                        <a:rPr sz="1725" b="0">
                          <a:solidFill>
                            <a:srgbClr val="173039"/>
                          </a:solidFill>
                          <a:latin typeface="Arial"/>
                          <a:ea typeface="Arial"/>
                          <a:cs typeface="Arial"/>
                        </a:rPr>
                        <a:t>14 min</a:t>
                      </a:r>
                    </a:p>
                  </a:txBody>
                  <a:tcPr marL="91440" marR="91440" marT="45720" marB="45720">
                    <a:solidFill>
                      <a:srgbClr val="EAF0F1"/>
                    </a:solidFill>
                  </a:tcPr>
                </a:tc>
                <a:tc>
                  <a:txBody>
                    <a:bodyPr/>
                    <a:lstStyle/>
                    <a:p>
                      <a:r>
                        <a:rPr sz="1725" b="0">
                          <a:solidFill>
                            <a:srgbClr val="173039"/>
                          </a:solidFill>
                          <a:latin typeface="Arial"/>
                          <a:ea typeface="Arial"/>
                          <a:cs typeface="Arial"/>
                        </a:rPr>
                        <a:t>0 min</a:t>
                      </a:r>
                    </a:p>
                  </a:txBody>
                  <a:tcPr marL="91440" marR="91440" marT="45720" marB="45720">
                    <a:solidFill>
                      <a:srgbClr val="EAF0F1"/>
                    </a:solidFill>
                  </a:tcPr>
                </a:tc>
                <a:tc>
                  <a:txBody>
                    <a:bodyPr/>
                    <a:lstStyle/>
                    <a:p>
                      <a:r>
                        <a:rPr sz="1725" b="0">
                          <a:solidFill>
                            <a:srgbClr val="173039"/>
                          </a:solidFill>
                          <a:latin typeface="Arial"/>
                          <a:ea typeface="Arial"/>
                          <a:cs typeface="Arial"/>
                        </a:rPr>
                        <a:t>8 min</a:t>
                      </a:r>
                    </a:p>
                  </a:txBody>
                  <a:tcPr marL="91440" marR="91440" marT="45720" marB="45720">
                    <a:solidFill>
                      <a:srgbClr val="EAF0F1"/>
                    </a:solidFill>
                  </a:tcPr>
                </a:tc>
              </a:tr>
              <a:tr h="1149350">
                <a:tc>
                  <a:txBody>
                    <a:bodyPr/>
                    <a:lstStyle/>
                    <a:p>
                      <a:r>
                        <a:rPr sz="1725" b="1">
                          <a:solidFill>
                            <a:srgbClr val="173039"/>
                          </a:solidFill>
                          <a:latin typeface="Arial"/>
                          <a:ea typeface="Arial"/>
                          <a:cs typeface="Arial"/>
                        </a:rPr>
                        <a:t>B</a:t>
                      </a:r>
                    </a:p>
                  </a:txBody>
                  <a:tcPr marL="91440" marR="91440" marT="45720" marB="45720">
                    <a:solidFill>
                      <a:srgbClr val="FFFFFF"/>
                    </a:solidFill>
                  </a:tcPr>
                </a:tc>
                <a:tc>
                  <a:txBody>
                    <a:bodyPr/>
                    <a:lstStyle/>
                    <a:p>
                      <a:r>
                        <a:rPr sz="1725" b="0">
                          <a:solidFill>
                            <a:srgbClr val="173039"/>
                          </a:solidFill>
                          <a:latin typeface="Arial"/>
                          <a:ea typeface="Arial"/>
                          <a:cs typeface="Arial"/>
                        </a:rPr>
                        <a:t>19 min</a:t>
                      </a:r>
                    </a:p>
                  </a:txBody>
                  <a:tcPr marL="91440" marR="91440" marT="45720" marB="45720">
                    <a:solidFill>
                      <a:srgbClr val="FFFFFF"/>
                    </a:solidFill>
                  </a:tcPr>
                </a:tc>
                <a:tc>
                  <a:txBody>
                    <a:bodyPr/>
                    <a:lstStyle/>
                    <a:p>
                      <a:r>
                        <a:rPr sz="1725" b="0">
                          <a:solidFill>
                            <a:srgbClr val="173039"/>
                          </a:solidFill>
                          <a:latin typeface="Arial"/>
                          <a:ea typeface="Arial"/>
                          <a:cs typeface="Arial"/>
                        </a:rPr>
                        <a:t>10 min</a:t>
                      </a:r>
                    </a:p>
                  </a:txBody>
                  <a:tcPr marL="91440" marR="91440" marT="45720" marB="45720">
                    <a:solidFill>
                      <a:srgbClr val="FFFFFF"/>
                    </a:solidFill>
                  </a:tcPr>
                </a:tc>
                <a:tc>
                  <a:txBody>
                    <a:bodyPr/>
                    <a:lstStyle/>
                    <a:p>
                      <a:r>
                        <a:rPr sz="1725" b="0">
                          <a:solidFill>
                            <a:srgbClr val="173039"/>
                          </a:solidFill>
                          <a:latin typeface="Arial"/>
                          <a:ea typeface="Arial"/>
                          <a:cs typeface="Arial"/>
                        </a:rPr>
                        <a:t>0 min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61771624"/>
      </p:ext>
    </p:extLst>
  </p:cSld>
</p:sld>
</file>

<file path=ppt/slides/slide1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C71DDD-BC5B-43DE-903F-72815C989B9E}"/>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MapLibre : assembler la carte visible</a:t>
            </a:r>
          </a:p>
        </p:txBody>
      </p:sp>
      <p:sp>
        <p:nvSpPr>
          <p:cNvPr id="2" name="">
            <a:extLst xmlns:a="http://schemas.openxmlformats.org/drawingml/2006/main">
              <a:ext uri="{FF2B5EF4-FFF2-40B4-BE49-F238E27FC236}">
                <a16:creationId xmlns:a16="http://schemas.microsoft.com/office/drawing/2014/main" id="{7E51AF7E-E47A-4D19-BC88-60B0E662C1D5}"/>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2B601B73-A9B9-401D-B07F-B292EBEAEEDA}"/>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positions des véhicules du prototype sont simulées. Une carte animée ne constitue pas un suivi GPS.</a:t>
            </a:r>
          </a:p>
        </p:txBody>
      </p:sp>
      <p:pic>
        <p:nvPicPr>
          <p:cNvPr id="4" name="">
            <a:extLst xmlns:a="http://schemas.openxmlformats.org/drawingml/2006/main">
              <a:ext uri="{FF2B5EF4-FFF2-40B4-BE49-F238E27FC236}">
                <a16:creationId xmlns:a16="http://schemas.microsoft.com/office/drawing/2014/main" id="{88085AED-600B-4C61-9934-AB91528CE05E}"/>
              </a:ext>
            </a:extLst>
          </p:cNvPr>
          <p:cNvPicPr>
            <a:picLocks xmlns:a="http://schemas.openxmlformats.org/drawingml/2006/main" noChangeAspect="1"/>
          </p:cNvPicPr>
          <p:nvPr/>
        </p:nvPicPr>
        <p:blipFill>
          <a:blip xmlns:r="http://schemas.openxmlformats.org/officeDocument/2006/relationships" xmlns:a="http://schemas.openxmlformats.org/drawingml/2006/main" r:embed="R170ebe77c46344f0"/>
          <a:stretch xmlns:a="http://schemas.openxmlformats.org/drawingml/2006/main"/>
        </p:blipFill>
        <p:spPr>
          <a:xfrm xmlns:a="http://schemas.openxmlformats.org/drawingml/2006/main">
            <a:off x="5491163" y="1685925"/>
            <a:ext cx="5448300" cy="408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09F14E6-FA25-4929-80CB-8F3D038FB3D4}"/>
              </a:ext>
            </a:extLst>
          </p:cNvPr>
          <p:cNvSpPr>
            <a:spLocks xmlns:a="http://schemas.openxmlformats.org/drawingml/2006/main" noGrp="1"/>
          </p:cNvSpPr>
          <p:nvPr/>
        </p:nvSpPr>
        <p:spPr>
          <a:xfrm xmlns:a="http://schemas.openxmlformats.org/drawingml/2006/main">
            <a:off x="609600" y="197167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OpenFreeMap</a:t>
            </a:r>
          </a:p>
        </p:txBody>
      </p:sp>
      <p:sp>
        <p:nvSpPr>
          <p:cNvPr id="6" name="">
            <a:extLst xmlns:a="http://schemas.openxmlformats.org/drawingml/2006/main">
              <a:ext uri="{FF2B5EF4-FFF2-40B4-BE49-F238E27FC236}">
                <a16:creationId xmlns:a16="http://schemas.microsoft.com/office/drawing/2014/main" id="{04D877C2-363B-418C-8C50-FE5E9262217F}"/>
              </a:ext>
            </a:extLst>
          </p:cNvPr>
          <p:cNvSpPr>
            <a:spLocks xmlns:a="http://schemas.openxmlformats.org/drawingml/2006/main" noGrp="1"/>
          </p:cNvSpPr>
          <p:nvPr/>
        </p:nvSpPr>
        <p:spPr>
          <a:xfrm xmlns:a="http://schemas.openxmlformats.org/drawingml/2006/main">
            <a:off x="609600" y="240030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Fournit les tuiles du fond de carte.</a:t>
            </a:r>
          </a:p>
        </p:txBody>
      </p:sp>
      <p:sp>
        <p:nvSpPr>
          <p:cNvPr id="7" name="">
            <a:extLst xmlns:a="http://schemas.openxmlformats.org/drawingml/2006/main">
              <a:ext uri="{FF2B5EF4-FFF2-40B4-BE49-F238E27FC236}">
                <a16:creationId xmlns:a16="http://schemas.microsoft.com/office/drawing/2014/main" id="{338B66C1-824A-424A-A18E-90C6E4D12C6A}"/>
              </a:ext>
            </a:extLst>
          </p:cNvPr>
          <p:cNvSpPr>
            <a:spLocks xmlns:a="http://schemas.openxmlformats.org/drawingml/2006/main" noGrp="1"/>
          </p:cNvSpPr>
          <p:nvPr/>
        </p:nvSpPr>
        <p:spPr>
          <a:xfrm xmlns:a="http://schemas.openxmlformats.org/drawingml/2006/main">
            <a:off x="609600" y="321945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OSRM</a:t>
            </a:r>
          </a:p>
        </p:txBody>
      </p:sp>
      <p:sp>
        <p:nvSpPr>
          <p:cNvPr id="8" name="">
            <a:extLst xmlns:a="http://schemas.openxmlformats.org/drawingml/2006/main">
              <a:ext uri="{FF2B5EF4-FFF2-40B4-BE49-F238E27FC236}">
                <a16:creationId xmlns:a16="http://schemas.microsoft.com/office/drawing/2014/main" id="{AC5D55BA-B88D-4411-9E80-59D0DBFB7BE6}"/>
              </a:ext>
            </a:extLst>
          </p:cNvPr>
          <p:cNvSpPr>
            <a:spLocks xmlns:a="http://schemas.openxmlformats.org/drawingml/2006/main" noGrp="1"/>
          </p:cNvSpPr>
          <p:nvPr/>
        </p:nvSpPr>
        <p:spPr>
          <a:xfrm xmlns:a="http://schemas.openxmlformats.org/drawingml/2006/main">
            <a:off x="609600" y="3648075"/>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Fournit les points du trajet routier.</a:t>
            </a:r>
          </a:p>
        </p:txBody>
      </p:sp>
      <p:sp>
        <p:nvSpPr>
          <p:cNvPr id="9" name="">
            <a:extLst xmlns:a="http://schemas.openxmlformats.org/drawingml/2006/main">
              <a:ext uri="{FF2B5EF4-FFF2-40B4-BE49-F238E27FC236}">
                <a16:creationId xmlns:a16="http://schemas.microsoft.com/office/drawing/2014/main" id="{09045BDB-C9D2-45BD-ABE7-DEB4B05468BA}"/>
              </a:ext>
            </a:extLst>
          </p:cNvPr>
          <p:cNvSpPr>
            <a:spLocks xmlns:a="http://schemas.openxmlformats.org/drawingml/2006/main" noGrp="1"/>
          </p:cNvSpPr>
          <p:nvPr/>
        </p:nvSpPr>
        <p:spPr>
          <a:xfrm xmlns:a="http://schemas.openxmlformats.org/drawingml/2006/main">
            <a:off x="609600" y="44672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MapLibre GL</a:t>
            </a:r>
          </a:p>
        </p:txBody>
      </p:sp>
      <p:sp>
        <p:nvSpPr>
          <p:cNvPr id="10" name="">
            <a:extLst xmlns:a="http://schemas.openxmlformats.org/drawingml/2006/main">
              <a:ext uri="{FF2B5EF4-FFF2-40B4-BE49-F238E27FC236}">
                <a16:creationId xmlns:a16="http://schemas.microsoft.com/office/drawing/2014/main" id="{DBF0D3DD-6014-4C7D-A6E3-8C4EE2831056}"/>
              </a:ext>
            </a:extLst>
          </p:cNvPr>
          <p:cNvSpPr>
            <a:spLocks xmlns:a="http://schemas.openxmlformats.org/drawingml/2006/main" noGrp="1"/>
          </p:cNvSpPr>
          <p:nvPr/>
        </p:nvSpPr>
        <p:spPr>
          <a:xfrm xmlns:a="http://schemas.openxmlformats.org/drawingml/2006/main">
            <a:off x="609600" y="48958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Affiche les couches et les marqueurs interactifs.</a:t>
            </a:r>
          </a:p>
        </p:txBody>
      </p:sp>
    </p:spTree>
    <p:extLst>
      <p:ext uri="{BB962C8B-B14F-4D97-AF65-F5344CB8AC3E}">
        <p14:creationId xmlns:p14="http://schemas.microsoft.com/office/powerpoint/2010/main" val="36444444"/>
      </p:ext>
    </p:extLst>
  </p:cSld>
</p:sld>
</file>

<file path=ppt/slides/slide1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164DF1-7022-490A-AF2D-255EAA5A7A8F}"/>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même arrêt dans la liste, la carte et la fiche</a:t>
            </a:r>
          </a:p>
        </p:txBody>
      </p:sp>
      <p:sp>
        <p:nvSpPr>
          <p:cNvPr id="2" name="">
            <a:extLst xmlns:a="http://schemas.openxmlformats.org/drawingml/2006/main">
              <a:ext uri="{FF2B5EF4-FFF2-40B4-BE49-F238E27FC236}">
                <a16:creationId xmlns:a16="http://schemas.microsoft.com/office/drawing/2014/main" id="{A9D309A3-DD91-4B1D-89FC-3F3FA45299BD}"/>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19D9F15D-7943-4836-9230-79C970F10134}"/>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Capture du scénario QA synthétique. Les adresses publiques et le résultat servent à tester l’interface.</a:t>
            </a:r>
          </a:p>
        </p:txBody>
      </p:sp>
      <p:sp>
        <p:nvSpPr>
          <p:cNvPr id="4" name="">
            <a:extLst xmlns:a="http://schemas.openxmlformats.org/drawingml/2006/main">
              <a:ext uri="{FF2B5EF4-FFF2-40B4-BE49-F238E27FC236}">
                <a16:creationId xmlns:a16="http://schemas.microsoft.com/office/drawing/2014/main" id="{FF9CA0B4-3011-480B-9596-BE44CF493E38}"/>
              </a:ext>
            </a:extLst>
          </p:cNvPr>
          <p:cNvSpPr>
            <a:spLocks xmlns:a="http://schemas.openxmlformats.org/drawingml/2006/main" noGrp="1"/>
          </p:cNvSpPr>
          <p:nvPr/>
        </p:nvSpPr>
        <p:spPr>
          <a:xfrm xmlns:a="http://schemas.openxmlformats.org/drawingml/2006/main">
            <a:off x="609600" y="21621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6C78"/>
                </a:solidFill>
                <a:latin typeface="Arial"/>
                <a:ea typeface="Arial"/>
                <a:cs typeface="Arial"/>
              </a:defRPr>
            </a:defPPr>
          </a:lstStyle>
          <a:p xmlns:a="http://schemas.openxmlformats.org/drawingml/2006/main">
            <a:pPr>
              <a:defRPr sz="3150" b="1">
                <a:solidFill>
                  <a:srgbClr val="146C78"/>
                </a:solidFill>
                <a:latin typeface="Arial"/>
                <a:ea typeface="Arial"/>
                <a:cs typeface="Arial"/>
              </a:defRPr>
            </a:pPr>
            <a:r>
              <a:rPr sz="3150" b="1">
                <a:solidFill>
                  <a:srgbClr val="146C78"/>
                </a:solidFill>
                <a:latin typeface="Arial"/>
                <a:ea typeface="Arial"/>
                <a:cs typeface="Arial"/>
              </a:rPr>
              <a:t>Quatre arrêts.</a:t>
            </a:r>
          </a:p>
          <a:p xmlns:a="http://schemas.openxmlformats.org/drawingml/2006/main">
            <a:pPr>
              <a:defRPr sz="3150" b="1">
                <a:solidFill>
                  <a:srgbClr val="146C78"/>
                </a:solidFill>
                <a:latin typeface="Arial"/>
                <a:ea typeface="Arial"/>
                <a:cs typeface="Arial"/>
              </a:defRPr>
            </a:pPr>
            <a:r>
              <a:rPr sz="3150" b="1">
                <a:solidFill>
                  <a:srgbClr val="146C78"/>
                </a:solidFill>
                <a:latin typeface="Arial"/>
                <a:ea typeface="Arial"/>
                <a:cs typeface="Arial"/>
              </a:rPr>
              <a:t>Un certificat.</a:t>
            </a:r>
          </a:p>
        </p:txBody>
      </p:sp>
      <p:sp>
        <p:nvSpPr>
          <p:cNvPr id="5" name="">
            <a:extLst xmlns:a="http://schemas.openxmlformats.org/drawingml/2006/main">
              <a:ext uri="{FF2B5EF4-FFF2-40B4-BE49-F238E27FC236}">
                <a16:creationId xmlns:a16="http://schemas.microsoft.com/office/drawing/2014/main" id="{A4CEDA47-58F7-44C6-BE59-16E134E5349E}"/>
              </a:ext>
            </a:extLst>
          </p:cNvPr>
          <p:cNvSpPr>
            <a:spLocks xmlns:a="http://schemas.openxmlformats.org/drawingml/2006/main" noGrp="1"/>
          </p:cNvSpPr>
          <p:nvPr/>
        </p:nvSpPr>
        <p:spPr>
          <a:xfrm xmlns:a="http://schemas.openxmlformats.org/drawingml/2006/main">
            <a:off x="609600" y="4086225"/>
            <a:ext cx="28765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Le planning, le marqueur et la fiche montrent le même arrêt.</a:t>
            </a:r>
          </a:p>
        </p:txBody>
      </p:sp>
      <p:pic>
        <p:nvPicPr>
          <p:cNvPr id="6" name="">
            <a:extLst xmlns:a="http://schemas.openxmlformats.org/drawingml/2006/main">
              <a:ext uri="{FF2B5EF4-FFF2-40B4-BE49-F238E27FC236}">
                <a16:creationId xmlns:a16="http://schemas.microsoft.com/office/drawing/2014/main" id="{7D958729-E0B1-4139-AD52-99ADFB4B9CA9}"/>
              </a:ext>
            </a:extLst>
          </p:cNvPr>
          <p:cNvPicPr>
            <a:picLocks xmlns:a="http://schemas.openxmlformats.org/drawingml/2006/main" noChangeAspect="1"/>
          </p:cNvPicPr>
          <p:nvPr/>
        </p:nvPicPr>
        <p:blipFill>
          <a:blip xmlns:r="http://schemas.openxmlformats.org/officeDocument/2006/relationships" xmlns:a="http://schemas.openxmlformats.org/drawingml/2006/main" r:embed="R1ebd57c0945449e4"/>
          <a:stretch xmlns:a="http://schemas.openxmlformats.org/drawingml/2006/main"/>
        </p:blipFill>
        <p:spPr>
          <a:xfrm xmlns:a="http://schemas.openxmlformats.org/drawingml/2006/main">
            <a:off x="4652530" y="1609725"/>
            <a:ext cx="6087341" cy="4229100"/>
          </a:xfrm>
          <a:prstGeom xmlns:a="http://schemas.openxmlformats.org/drawingml/2006/main" prst="rect">
            <a:avLst/>
          </a:prstGeom>
        </p:spPr>
      </p:pic>
    </p:spTree>
    <p:extLst>
      <p:ext uri="{BB962C8B-B14F-4D97-AF65-F5344CB8AC3E}">
        <p14:creationId xmlns:p14="http://schemas.microsoft.com/office/powerpoint/2010/main" val="1363378065"/>
      </p:ext>
    </p:extLst>
  </p:cSld>
</p:sld>
</file>

<file path=ppt/slides/slide1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D7944F6-422C-4DA7-B281-56322098EAD8}"/>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LangGraph : organiser les cinq rôles</a:t>
            </a:r>
          </a:p>
        </p:txBody>
      </p:sp>
      <p:sp>
        <p:nvSpPr>
          <p:cNvPr id="2" name="">
            <a:extLst xmlns:a="http://schemas.openxmlformats.org/drawingml/2006/main">
              <a:ext uri="{FF2B5EF4-FFF2-40B4-BE49-F238E27FC236}">
                <a16:creationId xmlns:a16="http://schemas.microsoft.com/office/drawing/2014/main" id="{673A16A0-4BE2-4503-A041-8F2ECD63FAF0}"/>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B30A226B-5D9C-4C93-B061-851CA3A724BE}"/>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 rôle est une étape du logiciel. Son outil peut travailler sans appel à un modèle IA.</a:t>
            </a:r>
          </a:p>
        </p:txBody>
      </p:sp>
      <p:sp>
        <p:nvSpPr>
          <p:cNvPr id="4" name="">
            <a:extLst xmlns:a="http://schemas.openxmlformats.org/drawingml/2006/main">
              <a:ext uri="{FF2B5EF4-FFF2-40B4-BE49-F238E27FC236}">
                <a16:creationId xmlns:a16="http://schemas.microsoft.com/office/drawing/2014/main" id="{CA0F92A3-5E81-4EC6-A5E7-1A15ADB32F38}"/>
              </a:ext>
            </a:extLst>
          </p:cNvPr>
          <p:cNvSpPr>
            <a:spLocks xmlns:a="http://schemas.openxmlformats.org/drawingml/2006/main" noGrp="1"/>
          </p:cNvSpPr>
          <p:nvPr/>
        </p:nvSpPr>
        <p:spPr>
          <a:xfrm xmlns:a="http://schemas.openxmlformats.org/drawingml/2006/main">
            <a:off x="609600" y="1943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235BDE4-2705-45CD-BC3D-76A2BBE57113}"/>
              </a:ext>
            </a:extLst>
          </p:cNvPr>
          <p:cNvSpPr>
            <a:spLocks xmlns:a="http://schemas.openxmlformats.org/drawingml/2006/main" noGrp="1"/>
          </p:cNvSpPr>
          <p:nvPr/>
        </p:nvSpPr>
        <p:spPr>
          <a:xfrm xmlns:a="http://schemas.openxmlformats.org/drawingml/2006/main">
            <a:off x="1657350" y="2000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Planification</a:t>
            </a:r>
          </a:p>
        </p:txBody>
      </p:sp>
      <p:sp>
        <p:nvSpPr>
          <p:cNvPr id="6" name="">
            <a:extLst xmlns:a="http://schemas.openxmlformats.org/drawingml/2006/main">
              <a:ext uri="{FF2B5EF4-FFF2-40B4-BE49-F238E27FC236}">
                <a16:creationId xmlns:a16="http://schemas.microsoft.com/office/drawing/2014/main" id="{0000D7BD-6545-488D-8DAF-4D2861939FC3}"/>
              </a:ext>
            </a:extLst>
          </p:cNvPr>
          <p:cNvSpPr>
            <a:spLocks xmlns:a="http://schemas.openxmlformats.org/drawingml/2006/main" noGrp="1"/>
          </p:cNvSpPr>
          <p:nvPr/>
        </p:nvSpPr>
        <p:spPr>
          <a:xfrm xmlns:a="http://schemas.openxmlformats.org/drawingml/2006/main">
            <a:off x="4876800" y="2009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Figer la demande et la flotte utilisable.</a:t>
            </a:r>
          </a:p>
        </p:txBody>
      </p:sp>
      <p:sp>
        <p:nvSpPr>
          <p:cNvPr id="7" name="">
            <a:extLst xmlns:a="http://schemas.openxmlformats.org/drawingml/2006/main">
              <a:ext uri="{FF2B5EF4-FFF2-40B4-BE49-F238E27FC236}">
                <a16:creationId xmlns:a16="http://schemas.microsoft.com/office/drawing/2014/main" id="{46FA9D74-C4FD-416E-BC94-E0AF8710AC6E}"/>
              </a:ext>
            </a:extLst>
          </p:cNvPr>
          <p:cNvSpPr>
            <a:spLocks xmlns:a="http://schemas.openxmlformats.org/drawingml/2006/main" noGrp="1"/>
          </p:cNvSpPr>
          <p:nvPr/>
        </p:nvSpPr>
        <p:spPr>
          <a:xfrm xmlns:a="http://schemas.openxmlformats.org/drawingml/2006/main">
            <a:off x="609600" y="2705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322A7B3-73C4-4C34-B1B0-48D3A37F1ABC}"/>
              </a:ext>
            </a:extLst>
          </p:cNvPr>
          <p:cNvSpPr>
            <a:spLocks xmlns:a="http://schemas.openxmlformats.org/drawingml/2006/main" noGrp="1"/>
          </p:cNvSpPr>
          <p:nvPr/>
        </p:nvSpPr>
        <p:spPr>
          <a:xfrm xmlns:a="http://schemas.openxmlformats.org/drawingml/2006/main">
            <a:off x="1657350" y="2762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Trafic et réseau</a:t>
            </a:r>
          </a:p>
        </p:txBody>
      </p:sp>
      <p:sp>
        <p:nvSpPr>
          <p:cNvPr id="9" name="">
            <a:extLst xmlns:a="http://schemas.openxmlformats.org/drawingml/2006/main">
              <a:ext uri="{FF2B5EF4-FFF2-40B4-BE49-F238E27FC236}">
                <a16:creationId xmlns:a16="http://schemas.microsoft.com/office/drawing/2014/main" id="{38753133-1E39-4248-A8F8-9271ADEFA5CA}"/>
              </a:ext>
            </a:extLst>
          </p:cNvPr>
          <p:cNvSpPr>
            <a:spLocks xmlns:a="http://schemas.openxmlformats.org/drawingml/2006/main" noGrp="1"/>
          </p:cNvSpPr>
          <p:nvPr/>
        </p:nvSpPr>
        <p:spPr>
          <a:xfrm xmlns:a="http://schemas.openxmlformats.org/drawingml/2006/main">
            <a:off x="4876800" y="2771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Obtenir la matrice des temps et distances.</a:t>
            </a:r>
          </a:p>
        </p:txBody>
      </p:sp>
      <p:sp>
        <p:nvSpPr>
          <p:cNvPr id="10" name="">
            <a:extLst xmlns:a="http://schemas.openxmlformats.org/drawingml/2006/main">
              <a:ext uri="{FF2B5EF4-FFF2-40B4-BE49-F238E27FC236}">
                <a16:creationId xmlns:a16="http://schemas.microsoft.com/office/drawing/2014/main" id="{A9C785B8-FCAD-4CFD-94A5-FF6834D32E03}"/>
              </a:ext>
            </a:extLst>
          </p:cNvPr>
          <p:cNvSpPr>
            <a:spLocks xmlns:a="http://schemas.openxmlformats.org/drawingml/2006/main" noGrp="1"/>
          </p:cNvSpPr>
          <p:nvPr/>
        </p:nvSpPr>
        <p:spPr>
          <a:xfrm xmlns:a="http://schemas.openxmlformats.org/drawingml/2006/main">
            <a:off x="609600" y="3467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90F76BA-9F93-4E1C-BE39-AC90E8839977}"/>
              </a:ext>
            </a:extLst>
          </p:cNvPr>
          <p:cNvSpPr>
            <a:spLocks xmlns:a="http://schemas.openxmlformats.org/drawingml/2006/main" noGrp="1"/>
          </p:cNvSpPr>
          <p:nvPr/>
        </p:nvSpPr>
        <p:spPr>
          <a:xfrm xmlns:a="http://schemas.openxmlformats.org/drawingml/2006/main">
            <a:off x="1657350" y="3524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Optimisation</a:t>
            </a:r>
          </a:p>
        </p:txBody>
      </p:sp>
      <p:sp>
        <p:nvSpPr>
          <p:cNvPr id="12" name="">
            <a:extLst xmlns:a="http://schemas.openxmlformats.org/drawingml/2006/main">
              <a:ext uri="{FF2B5EF4-FFF2-40B4-BE49-F238E27FC236}">
                <a16:creationId xmlns:a16="http://schemas.microsoft.com/office/drawing/2014/main" id="{A6D43D3D-3047-4896-98D4-11F0D5B3562B}"/>
              </a:ext>
            </a:extLst>
          </p:cNvPr>
          <p:cNvSpPr>
            <a:spLocks xmlns:a="http://schemas.openxmlformats.org/drawingml/2006/main" noGrp="1"/>
          </p:cNvSpPr>
          <p:nvPr/>
        </p:nvSpPr>
        <p:spPr>
          <a:xfrm xmlns:a="http://schemas.openxmlformats.org/drawingml/2006/main">
            <a:off x="4876800" y="3533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Comparer les stratégies et proposer un plan.</a:t>
            </a:r>
          </a:p>
        </p:txBody>
      </p:sp>
      <p:sp>
        <p:nvSpPr>
          <p:cNvPr id="13" name="">
            <a:extLst xmlns:a="http://schemas.openxmlformats.org/drawingml/2006/main">
              <a:ext uri="{FF2B5EF4-FFF2-40B4-BE49-F238E27FC236}">
                <a16:creationId xmlns:a16="http://schemas.microsoft.com/office/drawing/2014/main" id="{1CADCF81-0DBF-484E-8442-75C3E0CBA77C}"/>
              </a:ext>
            </a:extLst>
          </p:cNvPr>
          <p:cNvSpPr>
            <a:spLocks xmlns:a="http://schemas.openxmlformats.org/drawingml/2006/main" noGrp="1"/>
          </p:cNvSpPr>
          <p:nvPr/>
        </p:nvSpPr>
        <p:spPr>
          <a:xfrm xmlns:a="http://schemas.openxmlformats.org/drawingml/2006/main">
            <a:off x="609600" y="4229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A58288F3-C000-4693-B0DC-814D649FCBD3}"/>
              </a:ext>
            </a:extLst>
          </p:cNvPr>
          <p:cNvSpPr>
            <a:spLocks xmlns:a="http://schemas.openxmlformats.org/drawingml/2006/main" noGrp="1"/>
          </p:cNvSpPr>
          <p:nvPr/>
        </p:nvSpPr>
        <p:spPr>
          <a:xfrm xmlns:a="http://schemas.openxmlformats.org/drawingml/2006/main">
            <a:off x="1657350" y="4286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Contrôle</a:t>
            </a:r>
          </a:p>
        </p:txBody>
      </p:sp>
      <p:sp>
        <p:nvSpPr>
          <p:cNvPr id="15" name="">
            <a:extLst xmlns:a="http://schemas.openxmlformats.org/drawingml/2006/main">
              <a:ext uri="{FF2B5EF4-FFF2-40B4-BE49-F238E27FC236}">
                <a16:creationId xmlns:a16="http://schemas.microsoft.com/office/drawing/2014/main" id="{321A9909-70AB-4C11-94A0-88A1323794F5}"/>
              </a:ext>
            </a:extLst>
          </p:cNvPr>
          <p:cNvSpPr>
            <a:spLocks xmlns:a="http://schemas.openxmlformats.org/drawingml/2006/main" noGrp="1"/>
          </p:cNvSpPr>
          <p:nvPr/>
        </p:nvSpPr>
        <p:spPr>
          <a:xfrm xmlns:a="http://schemas.openxmlformats.org/drawingml/2006/main">
            <a:off x="4876800" y="4295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Recalculer les contraintes du candidat.</a:t>
            </a:r>
          </a:p>
        </p:txBody>
      </p:sp>
      <p:sp>
        <p:nvSpPr>
          <p:cNvPr id="16" name="">
            <a:extLst xmlns:a="http://schemas.openxmlformats.org/drawingml/2006/main">
              <a:ext uri="{FF2B5EF4-FFF2-40B4-BE49-F238E27FC236}">
                <a16:creationId xmlns:a16="http://schemas.microsoft.com/office/drawing/2014/main" id="{373497B4-9EF2-40B2-A1D1-7AB22FDDD8C8}"/>
              </a:ext>
            </a:extLst>
          </p:cNvPr>
          <p:cNvSpPr>
            <a:spLocks xmlns:a="http://schemas.openxmlformats.org/drawingml/2006/main" noGrp="1"/>
          </p:cNvSpPr>
          <p:nvPr/>
        </p:nvSpPr>
        <p:spPr>
          <a:xfrm xmlns:a="http://schemas.openxmlformats.org/drawingml/2006/main">
            <a:off x="609600" y="4991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11386BC9-7037-4674-95E7-87388A6136AE}"/>
              </a:ext>
            </a:extLst>
          </p:cNvPr>
          <p:cNvSpPr>
            <a:spLocks xmlns:a="http://schemas.openxmlformats.org/drawingml/2006/main" noGrp="1"/>
          </p:cNvSpPr>
          <p:nvPr/>
        </p:nvSpPr>
        <p:spPr>
          <a:xfrm xmlns:a="http://schemas.openxmlformats.org/drawingml/2006/main">
            <a:off x="1657350" y="5048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Exceptions</a:t>
            </a:r>
          </a:p>
        </p:txBody>
      </p:sp>
      <p:sp>
        <p:nvSpPr>
          <p:cNvPr id="18" name="">
            <a:extLst xmlns:a="http://schemas.openxmlformats.org/drawingml/2006/main">
              <a:ext uri="{FF2B5EF4-FFF2-40B4-BE49-F238E27FC236}">
                <a16:creationId xmlns:a16="http://schemas.microsoft.com/office/drawing/2014/main" id="{86F2A001-7C82-4864-8B3A-8252F1F8EA4D}"/>
              </a:ext>
            </a:extLst>
          </p:cNvPr>
          <p:cNvSpPr>
            <a:spLocks xmlns:a="http://schemas.openxmlformats.org/drawingml/2006/main" noGrp="1"/>
          </p:cNvSpPr>
          <p:nvPr/>
        </p:nvSpPr>
        <p:spPr>
          <a:xfrm xmlns:a="http://schemas.openxmlformats.org/drawingml/2006/main">
            <a:off x="4876800" y="5057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Expliquer les anomalies et la suite du traitement.</a:t>
            </a:r>
          </a:p>
        </p:txBody>
      </p:sp>
    </p:spTree>
    <p:extLst>
      <p:ext uri="{BB962C8B-B14F-4D97-AF65-F5344CB8AC3E}">
        <p14:creationId xmlns:p14="http://schemas.microsoft.com/office/powerpoint/2010/main" val="1831273083"/>
      </p:ext>
    </p:extLst>
  </p:cSld>
</p:sld>
</file>

<file path=ppt/slides/slide1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EDC25FE-2ECF-423D-A592-B46A32DCE5B0}"/>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dossier transmis entre les étapes</a:t>
            </a:r>
          </a:p>
        </p:txBody>
      </p:sp>
      <p:sp>
        <p:nvSpPr>
          <p:cNvPr id="2" name="">
            <a:extLst xmlns:a="http://schemas.openxmlformats.org/drawingml/2006/main">
              <a:ext uri="{FF2B5EF4-FFF2-40B4-BE49-F238E27FC236}">
                <a16:creationId xmlns:a16="http://schemas.microsoft.com/office/drawing/2014/main" id="{40948E92-6B96-4702-AE50-9F627B0C85D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559B9A7-7A75-420F-8B07-98A8A26F132C}"/>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L’état partagé permet de savoir quelles données ont produit chaque résultat.</a:t>
            </a:r>
          </a:p>
        </p:txBody>
      </p:sp>
      <p:sp>
        <p:nvSpPr>
          <p:cNvPr id="4" name="">
            <a:extLst xmlns:a="http://schemas.openxmlformats.org/drawingml/2006/main">
              <a:ext uri="{FF2B5EF4-FFF2-40B4-BE49-F238E27FC236}">
                <a16:creationId xmlns:a16="http://schemas.microsoft.com/office/drawing/2014/main" id="{DA3C6634-53CA-4058-848C-DBBDA8D3EF7E}"/>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7ADA593-C1A4-4F30-B1F4-6732130ED396}"/>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Données figées</a:t>
            </a:r>
          </a:p>
        </p:txBody>
      </p:sp>
      <p:sp>
        <p:nvSpPr>
          <p:cNvPr id="6" name="">
            <a:extLst xmlns:a="http://schemas.openxmlformats.org/drawingml/2006/main">
              <a:ext uri="{FF2B5EF4-FFF2-40B4-BE49-F238E27FC236}">
                <a16:creationId xmlns:a16="http://schemas.microsoft.com/office/drawing/2014/main" id="{49A32464-9F00-4FCB-A768-C2946188173F}"/>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La commande et les véhicules au moment de la demande.</a:t>
            </a:r>
          </a:p>
        </p:txBody>
      </p:sp>
      <p:sp>
        <p:nvSpPr>
          <p:cNvPr id="7" name="">
            <a:extLst xmlns:a="http://schemas.openxmlformats.org/drawingml/2006/main">
              <a:ext uri="{FF2B5EF4-FFF2-40B4-BE49-F238E27FC236}">
                <a16:creationId xmlns:a16="http://schemas.microsoft.com/office/drawing/2014/main" id="{F11468A0-5C8E-4F7C-9B07-4A607ED84418}"/>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A05B382-EDB8-459A-ABBF-43AD889DBBCA}"/>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Contexte routier</a:t>
            </a:r>
          </a:p>
        </p:txBody>
      </p:sp>
      <p:sp>
        <p:nvSpPr>
          <p:cNvPr id="9" name="">
            <a:extLst xmlns:a="http://schemas.openxmlformats.org/drawingml/2006/main">
              <a:ext uri="{FF2B5EF4-FFF2-40B4-BE49-F238E27FC236}">
                <a16:creationId xmlns:a16="http://schemas.microsoft.com/office/drawing/2014/main" id="{1CBACFE3-4AD8-4F8C-B242-96659B0A0C20}"/>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Les temps et distances utilisés pour les calculs.</a:t>
            </a:r>
          </a:p>
        </p:txBody>
      </p:sp>
      <p:sp>
        <p:nvSpPr>
          <p:cNvPr id="10" name="">
            <a:extLst xmlns:a="http://schemas.openxmlformats.org/drawingml/2006/main">
              <a:ext uri="{FF2B5EF4-FFF2-40B4-BE49-F238E27FC236}">
                <a16:creationId xmlns:a16="http://schemas.microsoft.com/office/drawing/2014/main" id="{71EE340B-5631-4D95-B991-34786436AAF5}"/>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9FAA55C-83C0-4770-914B-ABE970BD4AAC}"/>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Proposition</a:t>
            </a:r>
          </a:p>
        </p:txBody>
      </p:sp>
      <p:sp>
        <p:nvSpPr>
          <p:cNvPr id="12" name="">
            <a:extLst xmlns:a="http://schemas.openxmlformats.org/drawingml/2006/main">
              <a:ext uri="{FF2B5EF4-FFF2-40B4-BE49-F238E27FC236}">
                <a16:creationId xmlns:a16="http://schemas.microsoft.com/office/drawing/2014/main" id="{1D7A2493-3C0E-43C5-BC6F-EBB90712D029}"/>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Le véhicule et l’ordre des arrêts trouvés.</a:t>
            </a:r>
          </a:p>
        </p:txBody>
      </p:sp>
      <p:sp>
        <p:nvSpPr>
          <p:cNvPr id="13" name="">
            <a:extLst xmlns:a="http://schemas.openxmlformats.org/drawingml/2006/main">
              <a:ext uri="{FF2B5EF4-FFF2-40B4-BE49-F238E27FC236}">
                <a16:creationId xmlns:a16="http://schemas.microsoft.com/office/drawing/2014/main" id="{3912AB7A-10CE-4DE6-8E2D-077EEB896988}"/>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4A19D61D-DD3C-4601-BB05-3FCB43AE2D81}"/>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Preuves</a:t>
            </a:r>
          </a:p>
        </p:txBody>
      </p:sp>
      <p:sp>
        <p:nvSpPr>
          <p:cNvPr id="15" name="">
            <a:extLst xmlns:a="http://schemas.openxmlformats.org/drawingml/2006/main">
              <a:ext uri="{FF2B5EF4-FFF2-40B4-BE49-F238E27FC236}">
                <a16:creationId xmlns:a16="http://schemas.microsoft.com/office/drawing/2014/main" id="{2EB3015E-4D23-4F9A-B664-FF22D5A5E6CB}"/>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Le certificat, les diagnostics et les événements.</a:t>
            </a:r>
          </a:p>
        </p:txBody>
      </p:sp>
    </p:spTree>
    <p:extLst>
      <p:ext uri="{BB962C8B-B14F-4D97-AF65-F5344CB8AC3E}">
        <p14:creationId xmlns:p14="http://schemas.microsoft.com/office/powerpoint/2010/main" val="1340409574"/>
      </p:ext>
    </p:extLst>
  </p:cSld>
</p:sld>
</file>

<file path=ppt/slides/slide1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282464-FBBA-4AB5-AA1E-A2933620F41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OR-Tools : rechercher une tournée sous contraintes</a:t>
            </a:r>
          </a:p>
        </p:txBody>
      </p:sp>
      <p:sp>
        <p:nvSpPr>
          <p:cNvPr id="2" name="">
            <a:extLst xmlns:a="http://schemas.openxmlformats.org/drawingml/2006/main">
              <a:ext uri="{FF2B5EF4-FFF2-40B4-BE49-F238E27FC236}">
                <a16:creationId xmlns:a16="http://schemas.microsoft.com/office/drawing/2014/main" id="{8C79CA57-868C-4017-A26C-0608F5E72C8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A2DD3EF7-814F-44CE-BA93-FE95E93A2977}"/>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 recherche est limitée dans le temps. Un candidat valide ne prouve pas un optimum global.</a:t>
            </a:r>
          </a:p>
        </p:txBody>
      </p:sp>
      <p:sp>
        <p:nvSpPr>
          <p:cNvPr id="4" name="">
            <a:extLst xmlns:a="http://schemas.openxmlformats.org/drawingml/2006/main">
              <a:ext uri="{FF2B5EF4-FFF2-40B4-BE49-F238E27FC236}">
                <a16:creationId xmlns:a16="http://schemas.microsoft.com/office/drawing/2014/main" id="{14B8B8F1-380F-4BBA-81B2-793A56A7D70D}"/>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Ce que Genesis lui fournit</a:t>
            </a:r>
          </a:p>
        </p:txBody>
      </p:sp>
      <p:sp>
        <p:nvSpPr>
          <p:cNvPr id="5" name="">
            <a:extLst xmlns:a="http://schemas.openxmlformats.org/drawingml/2006/main">
              <a:ext uri="{FF2B5EF4-FFF2-40B4-BE49-F238E27FC236}">
                <a16:creationId xmlns:a16="http://schemas.microsoft.com/office/drawing/2014/main" id="{E48682D9-ED25-4A88-B0A9-F7E6E2C43FED}"/>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Les temps et distances entre arrêts.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La capacité de chaque véhicule.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Les ramassages avant les livraisons.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Les délais et les coûts configurés.</a:t>
            </a:r>
          </a:p>
        </p:txBody>
      </p:sp>
      <p:sp>
        <p:nvSpPr>
          <p:cNvPr id="6" name="">
            <a:extLst xmlns:a="http://schemas.openxmlformats.org/drawingml/2006/main">
              <a:ext uri="{FF2B5EF4-FFF2-40B4-BE49-F238E27FC236}">
                <a16:creationId xmlns:a16="http://schemas.microsoft.com/office/drawing/2014/main" id="{56050ED4-7275-4A9C-A1A3-7F4742451CDA}"/>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Ce qu’il renvoie</a:t>
            </a:r>
          </a:p>
        </p:txBody>
      </p:sp>
      <p:sp>
        <p:nvSpPr>
          <p:cNvPr id="7" name="">
            <a:extLst xmlns:a="http://schemas.openxmlformats.org/drawingml/2006/main">
              <a:ext uri="{FF2B5EF4-FFF2-40B4-BE49-F238E27FC236}">
                <a16:creationId xmlns:a16="http://schemas.microsoft.com/office/drawing/2014/main" id="{19F237AF-8A03-4AEA-8FAF-866535415F0B}"/>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Une affectation aux véhicules.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 ordre de passage proposé.</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 coût calculé selon ces hypothèses.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Ou l’absence de solution trouvée.</a:t>
            </a:r>
          </a:p>
        </p:txBody>
      </p:sp>
    </p:spTree>
    <p:extLst>
      <p:ext uri="{BB962C8B-B14F-4D97-AF65-F5344CB8AC3E}">
        <p14:creationId xmlns:p14="http://schemas.microsoft.com/office/powerpoint/2010/main" val="1963011555"/>
      </p:ext>
    </p:extLst>
  </p:cSld>
</p:sld>
</file>

<file path=ppt/slides/slide1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9EB42D-C1A3-4473-898E-461E1420A4B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Partager un véhicule ou séparer les livraisons</a:t>
            </a:r>
          </a:p>
        </p:txBody>
      </p:sp>
      <p:sp>
        <p:nvSpPr>
          <p:cNvPr id="2" name="">
            <a:extLst xmlns:a="http://schemas.openxmlformats.org/drawingml/2006/main">
              <a:ext uri="{FF2B5EF4-FFF2-40B4-BE49-F238E27FC236}">
                <a16:creationId xmlns:a16="http://schemas.microsoft.com/office/drawing/2014/main" id="{FB44129F-21E5-42E9-B551-C40C0C2EA50C}"/>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BBB9C5F6-4429-4796-8611-1BFB7CE51E69}"/>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 choix vient des entrées et des contraintes. Il n’existe pas de stratégie toujours gagnante.</a:t>
            </a:r>
          </a:p>
        </p:txBody>
      </p:sp>
      <p:graphicFrame>
        <p:nvGraphicFramePr>
          <p:cNvPr id="4" name="">
            <a:extLst xmlns:a="http://schemas.openxmlformats.org/drawingml/2006/main">
              <a:ext uri="{FF2B5EF4-FFF2-40B4-BE49-F238E27FC236}">
                <a16:creationId xmlns:a16="http://schemas.microsoft.com/office/drawing/2014/main" id="{682488B5-CDC0-4F22-98D1-45859BED2022}"/>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286000"/>
                <a:gridCol w="3905250"/>
                <a:gridCol w="4781550"/>
              </a:tblGrid>
              <a:tr h="457200">
                <a:tc>
                  <a:txBody>
                    <a:bodyPr/>
                    <a:lstStyle/>
                    <a:p>
                      <a:r>
                        <a:rPr sz="1725" b="1">
                          <a:solidFill>
                            <a:srgbClr val="FFFFFF"/>
                          </a:solidFill>
                          <a:latin typeface="Arial"/>
                          <a:ea typeface="Arial"/>
                          <a:cs typeface="Arial"/>
                        </a:rPr>
                        <a:t>STRATÉGIE</a:t>
                      </a:r>
                    </a:p>
                  </a:txBody>
                  <a:tcPr marL="91440" marR="91440" marT="45720" marB="45720">
                    <a:solidFill>
                      <a:srgbClr val="173039"/>
                    </a:solidFill>
                  </a:tcPr>
                </a:tc>
                <a:tc>
                  <a:txBody>
                    <a:bodyPr/>
                    <a:lstStyle/>
                    <a:p>
                      <a:r>
                        <a:rPr sz="1725" b="1">
                          <a:solidFill>
                            <a:srgbClr val="FFFFFF"/>
                          </a:solidFill>
                          <a:latin typeface="Arial"/>
                          <a:ea typeface="Arial"/>
                          <a:cs typeface="Arial"/>
                        </a:rPr>
                        <a:t>CE QUI CHANGE</a:t>
                      </a:r>
                    </a:p>
                  </a:txBody>
                  <a:tcPr marL="91440" marR="91440" marT="45720" marB="45720">
                    <a:solidFill>
                      <a:srgbClr val="173039"/>
                    </a:solidFill>
                  </a:tcPr>
                </a:tc>
                <a:tc>
                  <a:txBody>
                    <a:bodyPr/>
                    <a:lstStyle/>
                    <a:p>
                      <a:r>
                        <a:rPr sz="1725" b="1">
                          <a:solidFill>
                            <a:srgbClr val="FFFFFF"/>
                          </a:solidFill>
                          <a:latin typeface="Arial"/>
                          <a:ea typeface="Arial"/>
                          <a:cs typeface="Arial"/>
                        </a:rPr>
                        <a:t>CE QU’IL FAUT VÉRIFIER</a:t>
                      </a:r>
                    </a:p>
                  </a:txBody>
                  <a:tcPr marL="91440" marR="91440" marT="45720" marB="45720">
                    <a:solidFill>
                      <a:srgbClr val="173039"/>
                    </a:solidFill>
                  </a:tcPr>
                </a:tc>
              </a:tr>
              <a:tr h="1149350">
                <a:tc>
                  <a:txBody>
                    <a:bodyPr/>
                    <a:lstStyle/>
                    <a:p>
                      <a:r>
                        <a:rPr sz="1725" b="1">
                          <a:solidFill>
                            <a:srgbClr val="173039"/>
                          </a:solidFill>
                          <a:latin typeface="Arial"/>
                          <a:ea typeface="Arial"/>
                          <a:cs typeface="Arial"/>
                        </a:rPr>
                        <a:t>Partagée</a:t>
                      </a:r>
                    </a:p>
                  </a:txBody>
                  <a:tcPr marL="91440" marR="91440" marT="45720" marB="45720">
                    <a:solidFill>
                      <a:srgbClr val="FFFFFF"/>
                    </a:solidFill>
                  </a:tcPr>
                </a:tc>
                <a:tc>
                  <a:txBody>
                    <a:bodyPr/>
                    <a:lstStyle/>
                    <a:p>
                      <a:r>
                        <a:rPr sz="1725" b="0">
                          <a:solidFill>
                            <a:srgbClr val="173039"/>
                          </a:solidFill>
                          <a:latin typeface="Arial"/>
                          <a:ea typeface="Arial"/>
                          <a:cs typeface="Arial"/>
                        </a:rPr>
                        <a:t>Plusieurs commandes dans une tournée.</a:t>
                      </a:r>
                    </a:p>
                  </a:txBody>
                  <a:tcPr marL="91440" marR="91440" marT="45720" marB="45720">
                    <a:solidFill>
                      <a:srgbClr val="FFFFFF"/>
                    </a:solidFill>
                  </a:tcPr>
                </a:tc>
                <a:tc>
                  <a:txBody>
                    <a:bodyPr/>
                    <a:lstStyle/>
                    <a:p>
                      <a:r>
                        <a:rPr sz="1725" b="0">
                          <a:solidFill>
                            <a:srgbClr val="173039"/>
                          </a:solidFill>
                          <a:latin typeface="Arial"/>
                          <a:ea typeface="Arial"/>
                          <a:cs typeface="Arial"/>
                        </a:rPr>
                        <a:t>La charge et les détours restent compatibles avec les délais.</a:t>
                      </a:r>
                    </a:p>
                  </a:txBody>
                  <a:tcPr marL="91440" marR="91440" marT="45720" marB="45720">
                    <a:solidFill>
                      <a:srgbClr val="FFFFFF"/>
                    </a:solidFill>
                  </a:tcPr>
                </a:tc>
              </a:tr>
              <a:tr h="1149350">
                <a:tc>
                  <a:txBody>
                    <a:bodyPr/>
                    <a:lstStyle/>
                    <a:p>
                      <a:r>
                        <a:rPr sz="1725" b="1">
                          <a:solidFill>
                            <a:srgbClr val="173039"/>
                          </a:solidFill>
                          <a:latin typeface="Arial"/>
                          <a:ea typeface="Arial"/>
                          <a:cs typeface="Arial"/>
                        </a:rPr>
                        <a:t>Séparée</a:t>
                      </a:r>
                    </a:p>
                  </a:txBody>
                  <a:tcPr marL="91440" marR="91440" marT="45720" marB="45720">
                    <a:solidFill>
                      <a:srgbClr val="EAF0F1"/>
                    </a:solidFill>
                  </a:tcPr>
                </a:tc>
                <a:tc>
                  <a:txBody>
                    <a:bodyPr/>
                    <a:lstStyle/>
                    <a:p>
                      <a:r>
                        <a:rPr sz="1725" b="0">
                          <a:solidFill>
                            <a:srgbClr val="173039"/>
                          </a:solidFill>
                          <a:latin typeface="Arial"/>
                          <a:ea typeface="Arial"/>
                          <a:cs typeface="Arial"/>
                        </a:rPr>
                        <a:t>Une affectation distincte par livraison.</a:t>
                      </a:r>
                    </a:p>
                  </a:txBody>
                  <a:tcPr marL="91440" marR="91440" marT="45720" marB="45720">
                    <a:solidFill>
                      <a:srgbClr val="EAF0F1"/>
                    </a:solidFill>
                  </a:tcPr>
                </a:tc>
                <a:tc>
                  <a:txBody>
                    <a:bodyPr/>
                    <a:lstStyle/>
                    <a:p>
                      <a:r>
                        <a:rPr sz="1725" b="0">
                          <a:solidFill>
                            <a:srgbClr val="173039"/>
                          </a:solidFill>
                          <a:latin typeface="Arial"/>
                          <a:ea typeface="Arial"/>
                          <a:cs typeface="Arial"/>
                        </a:rPr>
                        <a:t>Il existe assez de véhicules libres et le coût reste acceptable.</a:t>
                      </a:r>
                    </a:p>
                  </a:txBody>
                  <a:tcPr marL="91440" marR="91440" marT="45720" marB="45720">
                    <a:solidFill>
                      <a:srgbClr val="EAF0F1"/>
                    </a:solidFill>
                  </a:tcPr>
                </a:tc>
              </a:tr>
              <a:tr h="1149350">
                <a:tc>
                  <a:txBody>
                    <a:bodyPr/>
                    <a:lstStyle/>
                    <a:p>
                      <a:r>
                        <a:rPr sz="1725" b="1">
                          <a:solidFill>
                            <a:srgbClr val="173039"/>
                          </a:solidFill>
                          <a:latin typeface="Arial"/>
                          <a:ea typeface="Arial"/>
                          <a:cs typeface="Arial"/>
                        </a:rPr>
                        <a:t>Hybride</a:t>
                      </a:r>
                    </a:p>
                  </a:txBody>
                  <a:tcPr marL="91440" marR="91440" marT="45720" marB="45720">
                    <a:solidFill>
                      <a:srgbClr val="FFFFFF"/>
                    </a:solidFill>
                  </a:tcPr>
                </a:tc>
                <a:tc>
                  <a:txBody>
                    <a:bodyPr/>
                    <a:lstStyle/>
                    <a:p>
                      <a:r>
                        <a:rPr sz="1725" b="0">
                          <a:solidFill>
                            <a:srgbClr val="173039"/>
                          </a:solidFill>
                          <a:latin typeface="Arial"/>
                          <a:ea typeface="Arial"/>
                          <a:cs typeface="Arial"/>
                        </a:rPr>
                        <a:t>Regrouper certaines commandes.</a:t>
                      </a:r>
                    </a:p>
                  </a:txBody>
                  <a:tcPr marL="91440" marR="91440" marT="45720" marB="45720">
                    <a:solidFill>
                      <a:srgbClr val="FFFFFF"/>
                    </a:solidFill>
                  </a:tcPr>
                </a:tc>
                <a:tc>
                  <a:txBody>
                    <a:bodyPr/>
                    <a:lstStyle/>
                    <a:p>
                      <a:r>
                        <a:rPr sz="1725" b="0">
                          <a:solidFill>
                            <a:srgbClr val="173039"/>
                          </a:solidFill>
                          <a:latin typeface="Arial"/>
                          <a:ea typeface="Arial"/>
                          <a:cs typeface="Arial"/>
                        </a:rPr>
                        <a:t>Le regroupement retenu apporte un compromis faisable.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48340636"/>
      </p:ext>
    </p:extLst>
  </p:cSld>
</p:sld>
</file>

<file path=ppt/slides/slide1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DDBA98-5A14-46B5-AE87-359E1833CA59}"/>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contrôle indépendant de Genesis</a:t>
            </a:r>
          </a:p>
        </p:txBody>
      </p:sp>
      <p:sp>
        <p:nvSpPr>
          <p:cNvPr id="2" name="">
            <a:extLst xmlns:a="http://schemas.openxmlformats.org/drawingml/2006/main">
              <a:ext uri="{FF2B5EF4-FFF2-40B4-BE49-F238E27FC236}">
                <a16:creationId xmlns:a16="http://schemas.microsoft.com/office/drawing/2014/main" id="{79F4313E-8D26-460B-8C5C-A18471B618D9}"/>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0F7F1802-C5F7-4E44-8990-E4B4B3FDA6FD}"/>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 certificat établit des contrôles logiciels sur les entrées. Le départ reste une action explicite.</a:t>
            </a:r>
          </a:p>
        </p:txBody>
      </p:sp>
      <p:pic>
        <p:nvPicPr>
          <p:cNvPr id="4" name="">
            <a:extLst xmlns:a="http://schemas.openxmlformats.org/drawingml/2006/main">
              <a:ext uri="{FF2B5EF4-FFF2-40B4-BE49-F238E27FC236}">
                <a16:creationId xmlns:a16="http://schemas.microsoft.com/office/drawing/2014/main" id="{2A6F00C9-2911-4065-8F84-C726A99A1961}"/>
              </a:ext>
            </a:extLst>
          </p:cNvPr>
          <p:cNvPicPr>
            <a:picLocks xmlns:a="http://schemas.openxmlformats.org/drawingml/2006/main" noChangeAspect="1"/>
          </p:cNvPicPr>
          <p:nvPr/>
        </p:nvPicPr>
        <p:blipFill>
          <a:blip xmlns:r="http://schemas.openxmlformats.org/officeDocument/2006/relationships" xmlns:a="http://schemas.openxmlformats.org/drawingml/2006/main" r:embed="R38148cb50e9042a2"/>
          <a:stretch xmlns:a="http://schemas.openxmlformats.org/drawingml/2006/main"/>
        </p:blipFill>
        <p:spPr>
          <a:xfrm xmlns:a="http://schemas.openxmlformats.org/drawingml/2006/main">
            <a:off x="4810125" y="1812601"/>
            <a:ext cx="6810375" cy="383287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906C9E4-DCAA-4527-BAA6-57468484C98A}"/>
              </a:ext>
            </a:extLst>
          </p:cNvPr>
          <p:cNvSpPr>
            <a:spLocks xmlns:a="http://schemas.openxmlformats.org/drawingml/2006/main" noGrp="1"/>
          </p:cNvSpPr>
          <p:nvPr/>
        </p:nvSpPr>
        <p:spPr>
          <a:xfrm xmlns:a="http://schemas.openxmlformats.org/drawingml/2006/main">
            <a:off x="609600" y="197167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Recalculer</a:t>
            </a:r>
          </a:p>
        </p:txBody>
      </p:sp>
      <p:sp>
        <p:nvSpPr>
          <p:cNvPr id="6" name="">
            <a:extLst xmlns:a="http://schemas.openxmlformats.org/drawingml/2006/main">
              <a:ext uri="{FF2B5EF4-FFF2-40B4-BE49-F238E27FC236}">
                <a16:creationId xmlns:a16="http://schemas.microsoft.com/office/drawing/2014/main" id="{50F0862F-F134-489F-BE29-BA9235263288}"/>
              </a:ext>
            </a:extLst>
          </p:cNvPr>
          <p:cNvSpPr>
            <a:spLocks xmlns:a="http://schemas.openxmlformats.org/drawingml/2006/main" noGrp="1"/>
          </p:cNvSpPr>
          <p:nvPr/>
        </p:nvSpPr>
        <p:spPr>
          <a:xfrm xmlns:a="http://schemas.openxmlformats.org/drawingml/2006/main">
            <a:off x="609600" y="240030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Charge, délais, ordre et couverture des commandes.</a:t>
            </a:r>
          </a:p>
        </p:txBody>
      </p:sp>
      <p:sp>
        <p:nvSpPr>
          <p:cNvPr id="7" name="">
            <a:extLst xmlns:a="http://schemas.openxmlformats.org/drawingml/2006/main">
              <a:ext uri="{FF2B5EF4-FFF2-40B4-BE49-F238E27FC236}">
                <a16:creationId xmlns:a16="http://schemas.microsoft.com/office/drawing/2014/main" id="{9EEA6546-784D-47BD-A1AD-10ACF166EC8F}"/>
              </a:ext>
            </a:extLst>
          </p:cNvPr>
          <p:cNvSpPr>
            <a:spLocks xmlns:a="http://schemas.openxmlformats.org/drawingml/2006/main" noGrp="1"/>
          </p:cNvSpPr>
          <p:nvPr/>
        </p:nvSpPr>
        <p:spPr>
          <a:xfrm xmlns:a="http://schemas.openxmlformats.org/drawingml/2006/main">
            <a:off x="609600" y="321945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Contrôler la route</a:t>
            </a:r>
          </a:p>
        </p:txBody>
      </p:sp>
      <p:sp>
        <p:nvSpPr>
          <p:cNvPr id="8" name="">
            <a:extLst xmlns:a="http://schemas.openxmlformats.org/drawingml/2006/main">
              <a:ext uri="{FF2B5EF4-FFF2-40B4-BE49-F238E27FC236}">
                <a16:creationId xmlns:a16="http://schemas.microsoft.com/office/drawing/2014/main" id="{A37EB6B1-302A-415F-B397-BA952776F7E1}"/>
              </a:ext>
            </a:extLst>
          </p:cNvPr>
          <p:cNvSpPr>
            <a:spLocks xmlns:a="http://schemas.openxmlformats.org/drawingml/2006/main" noGrp="1"/>
          </p:cNvSpPr>
          <p:nvPr/>
        </p:nvSpPr>
        <p:spPr>
          <a:xfrm xmlns:a="http://schemas.openxmlformats.org/drawingml/2006/main">
            <a:off x="609600" y="3648075"/>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Vérifier les preuves et les géométries attendues.</a:t>
            </a:r>
          </a:p>
        </p:txBody>
      </p:sp>
      <p:sp>
        <p:nvSpPr>
          <p:cNvPr id="9" name="">
            <a:extLst xmlns:a="http://schemas.openxmlformats.org/drawingml/2006/main">
              <a:ext uri="{FF2B5EF4-FFF2-40B4-BE49-F238E27FC236}">
                <a16:creationId xmlns:a16="http://schemas.microsoft.com/office/drawing/2014/main" id="{81964567-E267-4F7B-B4C8-B5B7517CB154}"/>
              </a:ext>
            </a:extLst>
          </p:cNvPr>
          <p:cNvSpPr>
            <a:spLocks xmlns:a="http://schemas.openxmlformats.org/drawingml/2006/main" noGrp="1"/>
          </p:cNvSpPr>
          <p:nvPr/>
        </p:nvSpPr>
        <p:spPr>
          <a:xfrm xmlns:a="http://schemas.openxmlformats.org/drawingml/2006/main">
            <a:off x="609600" y="44672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Admettre le plan</a:t>
            </a:r>
          </a:p>
        </p:txBody>
      </p:sp>
      <p:sp>
        <p:nvSpPr>
          <p:cNvPr id="10" name="">
            <a:extLst xmlns:a="http://schemas.openxmlformats.org/drawingml/2006/main">
              <a:ext uri="{FF2B5EF4-FFF2-40B4-BE49-F238E27FC236}">
                <a16:creationId xmlns:a16="http://schemas.microsoft.com/office/drawing/2014/main" id="{CD490D3D-A288-478A-82A9-4975662AEE0D}"/>
              </a:ext>
            </a:extLst>
          </p:cNvPr>
          <p:cNvSpPr>
            <a:spLocks xmlns:a="http://schemas.openxmlformats.org/drawingml/2006/main" noGrp="1"/>
          </p:cNvSpPr>
          <p:nvPr/>
        </p:nvSpPr>
        <p:spPr>
          <a:xfrm xmlns:a="http://schemas.openxmlformats.org/drawingml/2006/main">
            <a:off x="609600" y="48958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Revérifier la disponibilité avant de réserver les véhicules.</a:t>
            </a:r>
          </a:p>
        </p:txBody>
      </p:sp>
    </p:spTree>
    <p:extLst>
      <p:ext uri="{BB962C8B-B14F-4D97-AF65-F5344CB8AC3E}">
        <p14:creationId xmlns:p14="http://schemas.microsoft.com/office/powerpoint/2010/main" val="53419896"/>
      </p:ext>
    </p:extLst>
  </p:cSld>
</p:sld>
</file>

<file path=ppt/slides/slide2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DF680C-B8FF-47C4-BF65-48D1427D2CDA}"/>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Anthropic : expliquer les preuves du calcul</a:t>
            </a:r>
          </a:p>
        </p:txBody>
      </p:sp>
      <p:sp>
        <p:nvSpPr>
          <p:cNvPr id="2" name="">
            <a:extLst xmlns:a="http://schemas.openxmlformats.org/drawingml/2006/main">
              <a:ext uri="{FF2B5EF4-FFF2-40B4-BE49-F238E27FC236}">
                <a16:creationId xmlns:a16="http://schemas.microsoft.com/office/drawing/2014/main" id="{5866A2F7-525C-451D-A836-3E6F05ACAF4C}"/>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D754C11B-BD83-4273-A881-99084620F1FB}"/>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Politique sans IA : aucun appel. Politique routine : appels conditionnels. Politique complète : cinq appels prévus.</a:t>
            </a:r>
          </a:p>
        </p:txBody>
      </p:sp>
      <p:sp>
        <p:nvSpPr>
          <p:cNvPr id="4" name="">
            <a:extLst xmlns:a="http://schemas.openxmlformats.org/drawingml/2006/main">
              <a:ext uri="{FF2B5EF4-FFF2-40B4-BE49-F238E27FC236}">
                <a16:creationId xmlns:a16="http://schemas.microsoft.com/office/drawing/2014/main" id="{6BC062FD-263B-4457-9025-0158422E0852}"/>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Le modèle produit</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une explication</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structurée</a:t>
            </a:r>
          </a:p>
        </p:txBody>
      </p:sp>
      <p:sp>
        <p:nvSpPr>
          <p:cNvPr id="5" name="">
            <a:extLst xmlns:a="http://schemas.openxmlformats.org/drawingml/2006/main">
              <a:ext uri="{FF2B5EF4-FFF2-40B4-BE49-F238E27FC236}">
                <a16:creationId xmlns:a16="http://schemas.microsoft.com/office/drawing/2014/main" id="{F06ED939-4DD6-4D7A-9B4C-7F04E2685B53}"/>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Entrée</a:t>
            </a:r>
          </a:p>
        </p:txBody>
      </p:sp>
      <p:sp>
        <p:nvSpPr>
          <p:cNvPr id="6" name="">
            <a:extLst xmlns:a="http://schemas.openxmlformats.org/drawingml/2006/main">
              <a:ext uri="{FF2B5EF4-FFF2-40B4-BE49-F238E27FC236}">
                <a16:creationId xmlns:a16="http://schemas.microsoft.com/office/drawing/2014/main" id="{198F5F78-9099-466F-A23F-7A85CE56D04E}"/>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Des résultats et indicateurs bornés, préparés par Genesis.</a:t>
            </a:r>
          </a:p>
        </p:txBody>
      </p:sp>
      <p:sp>
        <p:nvSpPr>
          <p:cNvPr id="7" name="">
            <a:extLst xmlns:a="http://schemas.openxmlformats.org/drawingml/2006/main">
              <a:ext uri="{FF2B5EF4-FFF2-40B4-BE49-F238E27FC236}">
                <a16:creationId xmlns:a16="http://schemas.microsoft.com/office/drawing/2014/main" id="{0F504E51-417E-460B-9B2A-C594DCFE149D}"/>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Traitement</a:t>
            </a:r>
          </a:p>
        </p:txBody>
      </p:sp>
      <p:sp>
        <p:nvSpPr>
          <p:cNvPr id="8" name="">
            <a:extLst xmlns:a="http://schemas.openxmlformats.org/drawingml/2006/main">
              <a:ext uri="{FF2B5EF4-FFF2-40B4-BE49-F238E27FC236}">
                <a16:creationId xmlns:a16="http://schemas.microsoft.com/office/drawing/2014/main" id="{1A292205-C5DC-4F3D-9130-D9CF7CA35634}"/>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SDK Anthropic envoie la demande au modèle distant choisi.</a:t>
            </a:r>
          </a:p>
        </p:txBody>
      </p:sp>
      <p:sp>
        <p:nvSpPr>
          <p:cNvPr id="9" name="">
            <a:extLst xmlns:a="http://schemas.openxmlformats.org/drawingml/2006/main">
              <a:ext uri="{FF2B5EF4-FFF2-40B4-BE49-F238E27FC236}">
                <a16:creationId xmlns:a16="http://schemas.microsoft.com/office/drawing/2014/main" id="{7DA5C9F1-90C1-4DC3-88C1-0C4849630F43}"/>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Sortie</a:t>
            </a:r>
          </a:p>
        </p:txBody>
      </p:sp>
      <p:sp>
        <p:nvSpPr>
          <p:cNvPr id="10" name="">
            <a:extLst xmlns:a="http://schemas.openxmlformats.org/drawingml/2006/main">
              <a:ext uri="{FF2B5EF4-FFF2-40B4-BE49-F238E27FC236}">
                <a16:creationId xmlns:a16="http://schemas.microsoft.com/office/drawing/2014/main" id="{AA038563-4F0E-411C-8C46-7E4A5825749B}"/>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Une explication contrôlée et rattachée au rôle concerné.</a:t>
            </a:r>
          </a:p>
        </p:txBody>
      </p:sp>
    </p:spTree>
    <p:extLst>
      <p:ext uri="{BB962C8B-B14F-4D97-AF65-F5344CB8AC3E}">
        <p14:creationId xmlns:p14="http://schemas.microsoft.com/office/powerpoint/2010/main" val="585351895"/>
      </p:ext>
    </p:extLst>
  </p:cSld>
</p:sld>
</file>

<file path=ppt/slides/slide2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43F4E8-8F89-4055-B36D-1A3F207E31A1}"/>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Tokens, durée et coût : trois mesures distinctes</a:t>
            </a:r>
          </a:p>
        </p:txBody>
      </p:sp>
      <p:sp>
        <p:nvSpPr>
          <p:cNvPr id="2" name="">
            <a:extLst xmlns:a="http://schemas.openxmlformats.org/drawingml/2006/main">
              <a:ext uri="{FF2B5EF4-FFF2-40B4-BE49-F238E27FC236}">
                <a16:creationId xmlns:a16="http://schemas.microsoft.com/office/drawing/2014/main" id="{6C4D6DDF-9025-4D92-B074-B5CBE4DD22FB}"/>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054F1DA7-5340-4513-B68A-85282A87DD1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Une case absente n’est pas forcément un zéro. Le périmètre, l’état et la source de la mesure comptent.</a:t>
            </a:r>
          </a:p>
        </p:txBody>
      </p:sp>
      <p:graphicFrame>
        <p:nvGraphicFramePr>
          <p:cNvPr id="4" name="">
            <a:extLst xmlns:a="http://schemas.openxmlformats.org/drawingml/2006/main">
              <a:ext uri="{FF2B5EF4-FFF2-40B4-BE49-F238E27FC236}">
                <a16:creationId xmlns:a16="http://schemas.microsoft.com/office/drawing/2014/main" id="{6E448BAC-FEEB-4BF7-9A2A-BC19D4C6ED6E}"/>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143125"/>
                <a:gridCol w="4095750"/>
                <a:gridCol w="4733925"/>
              </a:tblGrid>
              <a:tr h="457200">
                <a:tc>
                  <a:txBody>
                    <a:bodyPr/>
                    <a:lstStyle/>
                    <a:p>
                      <a:r>
                        <a:rPr sz="1725" b="1">
                          <a:solidFill>
                            <a:srgbClr val="FFFFFF"/>
                          </a:solidFill>
                          <a:latin typeface="Arial"/>
                          <a:ea typeface="Arial"/>
                          <a:cs typeface="Arial"/>
                        </a:rPr>
                        <a:t>MESURE</a:t>
                      </a:r>
                    </a:p>
                  </a:txBody>
                  <a:tcPr marL="91440" marR="91440" marT="45720" marB="45720">
                    <a:solidFill>
                      <a:srgbClr val="173039"/>
                    </a:solidFill>
                  </a:tcPr>
                </a:tc>
                <a:tc>
                  <a:txBody>
                    <a:bodyPr/>
                    <a:lstStyle/>
                    <a:p>
                      <a:r>
                        <a:rPr sz="1725" b="1">
                          <a:solidFill>
                            <a:srgbClr val="FFFFFF"/>
                          </a:solidFill>
                          <a:latin typeface="Arial"/>
                          <a:ea typeface="Arial"/>
                          <a:cs typeface="Arial"/>
                        </a:rPr>
                        <a:t>SIGNIFICATION</a:t>
                      </a:r>
                    </a:p>
                  </a:txBody>
                  <a:tcPr marL="91440" marR="91440" marT="45720" marB="45720">
                    <a:solidFill>
                      <a:srgbClr val="173039"/>
                    </a:solidFill>
                  </a:tcPr>
                </a:tc>
                <a:tc>
                  <a:txBody>
                    <a:bodyPr/>
                    <a:lstStyle/>
                    <a:p>
                      <a:r>
                        <a:rPr sz="1725" b="1">
                          <a:solidFill>
                            <a:srgbClr val="FFFFFF"/>
                          </a:solidFill>
                          <a:latin typeface="Arial"/>
                          <a:ea typeface="Arial"/>
                          <a:cs typeface="Arial"/>
                        </a:rPr>
                        <a:t>LECTURE DANS GENESIS</a:t>
                      </a:r>
                    </a:p>
                  </a:txBody>
                  <a:tcPr marL="91440" marR="91440" marT="45720" marB="45720">
                    <a:solidFill>
                      <a:srgbClr val="173039"/>
                    </a:solidFill>
                  </a:tcPr>
                </a:tc>
              </a:tr>
              <a:tr h="862013">
                <a:tc>
                  <a:txBody>
                    <a:bodyPr/>
                    <a:lstStyle/>
                    <a:p>
                      <a:r>
                        <a:rPr sz="1725" b="1">
                          <a:solidFill>
                            <a:srgbClr val="173039"/>
                          </a:solidFill>
                          <a:latin typeface="Arial"/>
                          <a:ea typeface="Arial"/>
                          <a:cs typeface="Arial"/>
                        </a:rPr>
                        <a:t>Tokens</a:t>
                      </a:r>
                    </a:p>
                  </a:txBody>
                  <a:tcPr marL="91440" marR="91440" marT="45720" marB="45720">
                    <a:solidFill>
                      <a:srgbClr val="FFFFFF"/>
                    </a:solidFill>
                  </a:tcPr>
                </a:tc>
                <a:tc>
                  <a:txBody>
                    <a:bodyPr/>
                    <a:lstStyle/>
                    <a:p>
                      <a:r>
                        <a:rPr sz="1725" b="0">
                          <a:solidFill>
                            <a:srgbClr val="173039"/>
                          </a:solidFill>
                          <a:latin typeface="Arial"/>
                          <a:ea typeface="Arial"/>
                          <a:cs typeface="Arial"/>
                        </a:rPr>
                        <a:t>Fragments de texte traités par le modèle.</a:t>
                      </a:r>
                    </a:p>
                  </a:txBody>
                  <a:tcPr marL="91440" marR="91440" marT="45720" marB="45720">
                    <a:solidFill>
                      <a:srgbClr val="FFFFFF"/>
                    </a:solidFill>
                  </a:tcPr>
                </a:tc>
                <a:tc>
                  <a:txBody>
                    <a:bodyPr/>
                    <a:lstStyle/>
                    <a:p>
                      <a:r>
                        <a:rPr sz="1725" b="0">
                          <a:solidFill>
                            <a:srgbClr val="173039"/>
                          </a:solidFill>
                          <a:latin typeface="Arial"/>
                          <a:ea typeface="Arial"/>
                          <a:cs typeface="Arial"/>
                        </a:rPr>
                        <a:t>Entrées, sorties et catégories de cache renvoyées par le fournisseur.</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Durée</a:t>
                      </a:r>
                    </a:p>
                  </a:txBody>
                  <a:tcPr marL="91440" marR="91440" marT="45720" marB="45720">
                    <a:solidFill>
                      <a:srgbClr val="EAF0F1"/>
                    </a:solidFill>
                  </a:tcPr>
                </a:tc>
                <a:tc>
                  <a:txBody>
                    <a:bodyPr/>
                    <a:lstStyle/>
                    <a:p>
                      <a:r>
                        <a:rPr sz="1725" b="0">
                          <a:solidFill>
                            <a:srgbClr val="173039"/>
                          </a:solidFill>
                          <a:latin typeface="Arial"/>
                          <a:ea typeface="Arial"/>
                          <a:cs typeface="Arial"/>
                        </a:rPr>
                        <a:t>Temps écoulé pendant une opération.</a:t>
                      </a:r>
                    </a:p>
                  </a:txBody>
                  <a:tcPr marL="91440" marR="91440" marT="45720" marB="45720">
                    <a:solidFill>
                      <a:srgbClr val="EAF0F1"/>
                    </a:solidFill>
                  </a:tcPr>
                </a:tc>
                <a:tc>
                  <a:txBody>
                    <a:bodyPr/>
                    <a:lstStyle/>
                    <a:p>
                      <a:r>
                        <a:rPr sz="1725" b="0">
                          <a:solidFill>
                            <a:srgbClr val="173039"/>
                          </a:solidFill>
                          <a:latin typeface="Arial"/>
                          <a:ea typeface="Arial"/>
                          <a:cs typeface="Arial"/>
                        </a:rPr>
                        <a:t>Une étape locale peut durer sans consommer de tokens.</a:t>
                      </a:r>
                    </a:p>
                  </a:txBody>
                  <a:tcPr marL="91440" marR="91440" marT="45720" marB="45720">
                    <a:solidFill>
                      <a:srgbClr val="EAF0F1"/>
                    </a:solidFill>
                  </a:tcPr>
                </a:tc>
              </a:tr>
              <a:tr h="862013">
                <a:tc>
                  <a:txBody>
                    <a:bodyPr/>
                    <a:lstStyle/>
                    <a:p>
                      <a:r>
                        <a:rPr sz="1725" b="1">
                          <a:solidFill>
                            <a:srgbClr val="173039"/>
                          </a:solidFill>
                          <a:latin typeface="Arial"/>
                          <a:ea typeface="Arial"/>
                          <a:cs typeface="Arial"/>
                        </a:rPr>
                        <a:t>Coût</a:t>
                      </a:r>
                    </a:p>
                  </a:txBody>
                  <a:tcPr marL="91440" marR="91440" marT="45720" marB="45720">
                    <a:solidFill>
                      <a:srgbClr val="FFFFFF"/>
                    </a:solidFill>
                  </a:tcPr>
                </a:tc>
                <a:tc>
                  <a:txBody>
                    <a:bodyPr/>
                    <a:lstStyle/>
                    <a:p>
                      <a:r>
                        <a:rPr sz="1725" b="0">
                          <a:solidFill>
                            <a:srgbClr val="173039"/>
                          </a:solidFill>
                          <a:latin typeface="Arial"/>
                          <a:ea typeface="Arial"/>
                          <a:cs typeface="Arial"/>
                        </a:rPr>
                        <a:t>Montant calculé à partir de l’usage et des tarifs.</a:t>
                      </a:r>
                    </a:p>
                  </a:txBody>
                  <a:tcPr marL="91440" marR="91440" marT="45720" marB="45720">
                    <a:solidFill>
                      <a:srgbClr val="FFFFFF"/>
                    </a:solidFill>
                  </a:tcPr>
                </a:tc>
                <a:tc>
                  <a:txBody>
                    <a:bodyPr/>
                    <a:lstStyle/>
                    <a:p>
                      <a:r>
                        <a:rPr sz="1725" b="0">
                          <a:solidFill>
                            <a:srgbClr val="173039"/>
                          </a:solidFill>
                          <a:latin typeface="Arial"/>
                          <a:ea typeface="Arial"/>
                          <a:cs typeface="Arial"/>
                        </a:rPr>
                        <a:t>Le registre agrège par tentative, agent, modèle et demande.</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Budget</a:t>
                      </a:r>
                    </a:p>
                  </a:txBody>
                  <a:tcPr marL="91440" marR="91440" marT="45720" marB="45720">
                    <a:solidFill>
                      <a:srgbClr val="EAF0F1"/>
                    </a:solidFill>
                  </a:tcPr>
                </a:tc>
                <a:tc>
                  <a:txBody>
                    <a:bodyPr/>
                    <a:lstStyle/>
                    <a:p>
                      <a:r>
                        <a:rPr sz="1725" b="0">
                          <a:solidFill>
                            <a:srgbClr val="173039"/>
                          </a:solidFill>
                          <a:latin typeface="Arial"/>
                          <a:ea typeface="Arial"/>
                          <a:cs typeface="Arial"/>
                        </a:rPr>
                        <a:t>Plafond et réservations avant les appels.</a:t>
                      </a:r>
                    </a:p>
                  </a:txBody>
                  <a:tcPr marL="91440" marR="91440" marT="45720" marB="45720">
                    <a:solidFill>
                      <a:srgbClr val="EAF0F1"/>
                    </a:solidFill>
                  </a:tcPr>
                </a:tc>
                <a:tc>
                  <a:txBody>
                    <a:bodyPr/>
                    <a:lstStyle/>
                    <a:p>
                      <a:r>
                        <a:rPr sz="1725" b="0">
                          <a:solidFill>
                            <a:srgbClr val="173039"/>
                          </a:solidFill>
                          <a:latin typeface="Arial"/>
                          <a:ea typeface="Arial"/>
                          <a:cs typeface="Arial"/>
                        </a:rPr>
                        <a:t>C$100 configurés, avec taux de conversion explicitement utilisé.</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336294251"/>
      </p:ext>
    </p:extLst>
  </p:cSld>
</p:sld>
</file>

<file path=ppt/slides/slide2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B8A826-7C61-4734-94B6-D1943BC84129}"/>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SQLAlchemy : enregistrer un ensemble cohérent</a:t>
            </a:r>
          </a:p>
        </p:txBody>
      </p:sp>
      <p:sp>
        <p:nvSpPr>
          <p:cNvPr id="2" name="">
            <a:extLst xmlns:a="http://schemas.openxmlformats.org/drawingml/2006/main">
              <a:ext uri="{FF2B5EF4-FFF2-40B4-BE49-F238E27FC236}">
                <a16:creationId xmlns:a16="http://schemas.microsoft.com/office/drawing/2014/main" id="{5AFFDDCD-1F23-4623-AB55-D755289483F9}"/>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896C3ADB-2D13-422E-A22C-3382D330169D}"/>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SQLAlchemy est la couche d’accès. SQLite est le moteur qui stocke les données.</a:t>
            </a:r>
          </a:p>
        </p:txBody>
      </p:sp>
      <p:sp>
        <p:nvSpPr>
          <p:cNvPr id="4" name="">
            <a:extLst xmlns:a="http://schemas.openxmlformats.org/drawingml/2006/main">
              <a:ext uri="{FF2B5EF4-FFF2-40B4-BE49-F238E27FC236}">
                <a16:creationId xmlns:a16="http://schemas.microsoft.com/office/drawing/2014/main" id="{E8EC4707-08E9-4275-B842-B90645C48F03}"/>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Une transaction regroupe les écritures</a:t>
            </a:r>
          </a:p>
        </p:txBody>
      </p:sp>
      <p:sp>
        <p:nvSpPr>
          <p:cNvPr id="5" name="">
            <a:extLst xmlns:a="http://schemas.openxmlformats.org/drawingml/2006/main">
              <a:ext uri="{FF2B5EF4-FFF2-40B4-BE49-F238E27FC236}">
                <a16:creationId xmlns:a16="http://schemas.microsoft.com/office/drawing/2014/main" id="{BC63EBB6-D139-4F32-A2C9-A47A35059D6D}"/>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Exemple : importer plusieurs commandes.</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Le lot est accepté ensemble, ou l’opération échoue sans import partiel.</a:t>
            </a:r>
          </a:p>
        </p:txBody>
      </p:sp>
      <p:sp>
        <p:nvSpPr>
          <p:cNvPr id="6" name="">
            <a:extLst xmlns:a="http://schemas.openxmlformats.org/drawingml/2006/main">
              <a:ext uri="{FF2B5EF4-FFF2-40B4-BE49-F238E27FC236}">
                <a16:creationId xmlns:a16="http://schemas.microsoft.com/office/drawing/2014/main" id="{26062F85-BBCD-4B4C-8C92-3577B0F4D5C0}"/>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SQLAlchemy parle à la base</a:t>
            </a:r>
          </a:p>
        </p:txBody>
      </p:sp>
      <p:sp>
        <p:nvSpPr>
          <p:cNvPr id="7" name="">
            <a:extLst xmlns:a="http://schemas.openxmlformats.org/drawingml/2006/main">
              <a:ext uri="{FF2B5EF4-FFF2-40B4-BE49-F238E27FC236}">
                <a16:creationId xmlns:a16="http://schemas.microsoft.com/office/drawing/2014/main" id="{9F71521B-52BF-4B10-AB01-A17CC9F300BB}"/>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Il prépare les requêtes et gère la transaction.</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SQLite conserve les données dans le profil local.</a:t>
            </a:r>
          </a:p>
        </p:txBody>
      </p:sp>
    </p:spTree>
    <p:extLst>
      <p:ext uri="{BB962C8B-B14F-4D97-AF65-F5344CB8AC3E}">
        <p14:creationId xmlns:p14="http://schemas.microsoft.com/office/powerpoint/2010/main" val="693393983"/>
      </p:ext>
    </p:extLst>
  </p:cSld>
</p:sld>
</file>

<file path=ppt/slides/slide2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EEE2BD-4B49-4E72-86B9-59B90CBDFEB8}"/>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SQLite et SqliteSaver : deux mémoires distinctes</a:t>
            </a:r>
          </a:p>
        </p:txBody>
      </p:sp>
      <p:sp>
        <p:nvSpPr>
          <p:cNvPr id="2" name="">
            <a:extLst xmlns:a="http://schemas.openxmlformats.org/drawingml/2006/main">
              <a:ext uri="{FF2B5EF4-FFF2-40B4-BE49-F238E27FC236}">
                <a16:creationId xmlns:a16="http://schemas.microsoft.com/office/drawing/2014/main" id="{22F8CEFB-C6F7-48E1-8329-8EA224BCC61F}"/>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47CD886E-6EF2-4AB6-860C-E46A20A1A5F9}"/>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 checkpoint est un point de reprise. La sauvegarde applicative actuelle exclut les checkpoints.</a:t>
            </a:r>
          </a:p>
        </p:txBody>
      </p:sp>
      <p:pic>
        <p:nvPicPr>
          <p:cNvPr id="4" name="">
            <a:extLst xmlns:a="http://schemas.openxmlformats.org/drawingml/2006/main">
              <a:ext uri="{FF2B5EF4-FFF2-40B4-BE49-F238E27FC236}">
                <a16:creationId xmlns:a16="http://schemas.microsoft.com/office/drawing/2014/main" id="{B69F1C75-2B65-4513-9BC4-DC6DBBA0565B}"/>
              </a:ext>
            </a:extLst>
          </p:cNvPr>
          <p:cNvPicPr>
            <a:picLocks xmlns:a="http://schemas.openxmlformats.org/drawingml/2006/main" noChangeAspect="1"/>
          </p:cNvPicPr>
          <p:nvPr/>
        </p:nvPicPr>
        <p:blipFill>
          <a:blip xmlns:r="http://schemas.openxmlformats.org/officeDocument/2006/relationships" xmlns:a="http://schemas.openxmlformats.org/drawingml/2006/main" r:embed="R13ac758a89764db2"/>
          <a:stretch xmlns:a="http://schemas.openxmlformats.org/drawingml/2006/main"/>
        </p:blipFill>
        <p:spPr>
          <a:xfrm xmlns:a="http://schemas.openxmlformats.org/drawingml/2006/main">
            <a:off x="5491163" y="1685925"/>
            <a:ext cx="5448300" cy="408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0668081-A33F-40D2-B764-E80FB41F796F}"/>
              </a:ext>
            </a:extLst>
          </p:cNvPr>
          <p:cNvSpPr>
            <a:spLocks xmlns:a="http://schemas.openxmlformats.org/drawingml/2006/main" noGrp="1"/>
          </p:cNvSpPr>
          <p:nvPr/>
        </p:nvSpPr>
        <p:spPr>
          <a:xfrm xmlns:a="http://schemas.openxmlformats.org/drawingml/2006/main">
            <a:off x="609600" y="197167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Registre métier</a:t>
            </a:r>
          </a:p>
        </p:txBody>
      </p:sp>
      <p:sp>
        <p:nvSpPr>
          <p:cNvPr id="6" name="">
            <a:extLst xmlns:a="http://schemas.openxmlformats.org/drawingml/2006/main">
              <a:ext uri="{FF2B5EF4-FFF2-40B4-BE49-F238E27FC236}">
                <a16:creationId xmlns:a16="http://schemas.microsoft.com/office/drawing/2014/main" id="{E05B52F8-C3FC-47A0-8674-89EBE37D5578}"/>
              </a:ext>
            </a:extLst>
          </p:cNvPr>
          <p:cNvSpPr>
            <a:spLocks xmlns:a="http://schemas.openxmlformats.org/drawingml/2006/main" noGrp="1"/>
          </p:cNvSpPr>
          <p:nvPr/>
        </p:nvSpPr>
        <p:spPr>
          <a:xfrm xmlns:a="http://schemas.openxmlformats.org/drawingml/2006/main">
            <a:off x="609600" y="240030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Commandes, demandes, événements et coûts.</a:t>
            </a:r>
          </a:p>
        </p:txBody>
      </p:sp>
      <p:sp>
        <p:nvSpPr>
          <p:cNvPr id="7" name="">
            <a:extLst xmlns:a="http://schemas.openxmlformats.org/drawingml/2006/main">
              <a:ext uri="{FF2B5EF4-FFF2-40B4-BE49-F238E27FC236}">
                <a16:creationId xmlns:a16="http://schemas.microsoft.com/office/drawing/2014/main" id="{EF4D12DC-18E3-476B-B1B9-3781772510B2}"/>
              </a:ext>
            </a:extLst>
          </p:cNvPr>
          <p:cNvSpPr>
            <a:spLocks xmlns:a="http://schemas.openxmlformats.org/drawingml/2006/main" noGrp="1"/>
          </p:cNvSpPr>
          <p:nvPr/>
        </p:nvSpPr>
        <p:spPr>
          <a:xfrm xmlns:a="http://schemas.openxmlformats.org/drawingml/2006/main">
            <a:off x="609600" y="321945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Checkpoint du graphe</a:t>
            </a:r>
          </a:p>
        </p:txBody>
      </p:sp>
      <p:sp>
        <p:nvSpPr>
          <p:cNvPr id="8" name="">
            <a:extLst xmlns:a="http://schemas.openxmlformats.org/drawingml/2006/main">
              <a:ext uri="{FF2B5EF4-FFF2-40B4-BE49-F238E27FC236}">
                <a16:creationId xmlns:a16="http://schemas.microsoft.com/office/drawing/2014/main" id="{70C4AD48-17E2-43DD-BC67-9B46963FB43C}"/>
              </a:ext>
            </a:extLst>
          </p:cNvPr>
          <p:cNvSpPr>
            <a:spLocks xmlns:a="http://schemas.openxmlformats.org/drawingml/2006/main" noGrp="1"/>
          </p:cNvSpPr>
          <p:nvPr/>
        </p:nvSpPr>
        <p:spPr>
          <a:xfrm xmlns:a="http://schemas.openxmlformats.org/drawingml/2006/main">
            <a:off x="609600" y="3648075"/>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État sauvegardé d’une étape de LangGraph.</a:t>
            </a:r>
          </a:p>
        </p:txBody>
      </p:sp>
      <p:sp>
        <p:nvSpPr>
          <p:cNvPr id="9" name="">
            <a:extLst xmlns:a="http://schemas.openxmlformats.org/drawingml/2006/main">
              <a:ext uri="{FF2B5EF4-FFF2-40B4-BE49-F238E27FC236}">
                <a16:creationId xmlns:a16="http://schemas.microsoft.com/office/drawing/2014/main" id="{7DA6A13B-0E29-4AB1-A1CA-4835C7DD4D1B}"/>
              </a:ext>
            </a:extLst>
          </p:cNvPr>
          <p:cNvSpPr>
            <a:spLocks xmlns:a="http://schemas.openxmlformats.org/drawingml/2006/main" noGrp="1"/>
          </p:cNvSpPr>
          <p:nvPr/>
        </p:nvSpPr>
        <p:spPr>
          <a:xfrm xmlns:a="http://schemas.openxmlformats.org/drawingml/2006/main">
            <a:off x="609600" y="4467225"/>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Fichiers séparés</a:t>
            </a:r>
          </a:p>
        </p:txBody>
      </p:sp>
      <p:sp>
        <p:nvSpPr>
          <p:cNvPr id="10" name="">
            <a:extLst xmlns:a="http://schemas.openxmlformats.org/drawingml/2006/main">
              <a:ext uri="{FF2B5EF4-FFF2-40B4-BE49-F238E27FC236}">
                <a16:creationId xmlns:a16="http://schemas.microsoft.com/office/drawing/2014/main" id="{4741A705-24E4-4A4F-8571-E91DA9EE63CD}"/>
              </a:ext>
            </a:extLst>
          </p:cNvPr>
          <p:cNvSpPr>
            <a:spLocks xmlns:a="http://schemas.openxmlformats.org/drawingml/2006/main" noGrp="1"/>
          </p:cNvSpPr>
          <p:nvPr/>
        </p:nvSpPr>
        <p:spPr>
          <a:xfrm xmlns:a="http://schemas.openxmlformats.org/drawingml/2006/main">
            <a:off x="609600" y="489585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genesis.db et checkpoints.sqlite ont des responsabilités différentes.</a:t>
            </a:r>
          </a:p>
        </p:txBody>
      </p:sp>
    </p:spTree>
    <p:extLst>
      <p:ext uri="{BB962C8B-B14F-4D97-AF65-F5344CB8AC3E}">
        <p14:creationId xmlns:p14="http://schemas.microsoft.com/office/powerpoint/2010/main" val="757394464"/>
      </p:ext>
    </p:extLst>
  </p:cSld>
</p:sld>
</file>

<file path=ppt/slides/slide2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121E1B6-243E-476A-907E-1CA6C7F1B717}"/>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La mémoire des routes réduit les explications répétées</a:t>
            </a:r>
          </a:p>
        </p:txBody>
      </p:sp>
      <p:sp>
        <p:nvSpPr>
          <p:cNvPr id="2" name="">
            <a:extLst xmlns:a="http://schemas.openxmlformats.org/drawingml/2006/main">
              <a:ext uri="{FF2B5EF4-FFF2-40B4-BE49-F238E27FC236}">
                <a16:creationId xmlns:a16="http://schemas.microsoft.com/office/drawing/2014/main" id="{AB0386C1-D416-4385-BD34-5905C8BD3940}"/>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A14884EE-7009-40FE-9218-E1BE94C89352}"/>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 mémoire conserve du contexte. Elle ne remplace pas les contrôles de la nouvelle demande.</a:t>
            </a:r>
          </a:p>
        </p:txBody>
      </p:sp>
      <p:sp>
        <p:nvSpPr>
          <p:cNvPr id="4" name="">
            <a:extLst xmlns:a="http://schemas.openxmlformats.org/drawingml/2006/main">
              <a:ext uri="{FF2B5EF4-FFF2-40B4-BE49-F238E27FC236}">
                <a16:creationId xmlns:a16="http://schemas.microsoft.com/office/drawing/2014/main" id="{7C4F7826-7DF2-417B-90A2-11210CA371F4}"/>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41E237A-9804-4CB7-83EB-F28A91D5A15D}"/>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Reconnaître</a:t>
            </a:r>
          </a:p>
        </p:txBody>
      </p:sp>
      <p:sp>
        <p:nvSpPr>
          <p:cNvPr id="6" name="">
            <a:extLst xmlns:a="http://schemas.openxmlformats.org/drawingml/2006/main">
              <a:ext uri="{FF2B5EF4-FFF2-40B4-BE49-F238E27FC236}">
                <a16:creationId xmlns:a16="http://schemas.microsoft.com/office/drawing/2014/main" id="{8D8E535D-5548-49C4-ADB1-190D4F8F000D}"/>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Retrouver un historique compatible avec la demande.</a:t>
            </a:r>
          </a:p>
        </p:txBody>
      </p:sp>
      <p:sp>
        <p:nvSpPr>
          <p:cNvPr id="7" name="">
            <a:extLst xmlns:a="http://schemas.openxmlformats.org/drawingml/2006/main">
              <a:ext uri="{FF2B5EF4-FFF2-40B4-BE49-F238E27FC236}">
                <a16:creationId xmlns:a16="http://schemas.microsoft.com/office/drawing/2014/main" id="{F2927999-079F-49D2-9AAC-632415D74538}"/>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D229126-E778-4FE6-9A83-5E53CC34D031}"/>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Comparer</a:t>
            </a:r>
          </a:p>
        </p:txBody>
      </p:sp>
      <p:sp>
        <p:nvSpPr>
          <p:cNvPr id="9" name="">
            <a:extLst xmlns:a="http://schemas.openxmlformats.org/drawingml/2006/main">
              <a:ext uri="{FF2B5EF4-FFF2-40B4-BE49-F238E27FC236}">
                <a16:creationId xmlns:a16="http://schemas.microsoft.com/office/drawing/2014/main" id="{3B03BA35-21FB-4285-A8C2-E544887F9F13}"/>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Examiner les durées simulées et les distances passées.</a:t>
            </a:r>
          </a:p>
        </p:txBody>
      </p:sp>
      <p:sp>
        <p:nvSpPr>
          <p:cNvPr id="10" name="">
            <a:extLst xmlns:a="http://schemas.openxmlformats.org/drawingml/2006/main">
              <a:ext uri="{FF2B5EF4-FFF2-40B4-BE49-F238E27FC236}">
                <a16:creationId xmlns:a16="http://schemas.microsoft.com/office/drawing/2014/main" id="{B7A7AF35-C79D-4214-A0F4-82C284A93A41}"/>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20B2B6B-B7A1-4D7A-9D03-E6CEA52F35A9}"/>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Revérifier</a:t>
            </a:r>
          </a:p>
        </p:txBody>
      </p:sp>
      <p:sp>
        <p:nvSpPr>
          <p:cNvPr id="12" name="">
            <a:extLst xmlns:a="http://schemas.openxmlformats.org/drawingml/2006/main">
              <a:ext uri="{FF2B5EF4-FFF2-40B4-BE49-F238E27FC236}">
                <a16:creationId xmlns:a16="http://schemas.microsoft.com/office/drawing/2014/main" id="{5BE7F9F2-9041-4B6D-A6D4-28E7104BE973}"/>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Tester le candidat avec les contraintes actuelles.</a:t>
            </a:r>
          </a:p>
        </p:txBody>
      </p:sp>
      <p:sp>
        <p:nvSpPr>
          <p:cNvPr id="13" name="">
            <a:extLst xmlns:a="http://schemas.openxmlformats.org/drawingml/2006/main">
              <a:ext uri="{FF2B5EF4-FFF2-40B4-BE49-F238E27FC236}">
                <a16:creationId xmlns:a16="http://schemas.microsoft.com/office/drawing/2014/main" id="{6CEAB535-9FFF-49F7-B69D-9626520EFF34}"/>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677D9DA7-7887-4185-B383-B73E21B8591E}"/>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Réutiliser</a:t>
            </a:r>
          </a:p>
        </p:txBody>
      </p:sp>
      <p:sp>
        <p:nvSpPr>
          <p:cNvPr id="15" name="">
            <a:extLst xmlns:a="http://schemas.openxmlformats.org/drawingml/2006/main">
              <a:ext uri="{FF2B5EF4-FFF2-40B4-BE49-F238E27FC236}">
                <a16:creationId xmlns:a16="http://schemas.microsoft.com/office/drawing/2014/main" id="{E5A72DA5-29C5-49B3-AC50-E20215FAB313}"/>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Omettre certaines explications IA si la politique le permet.</a:t>
            </a:r>
          </a:p>
        </p:txBody>
      </p:sp>
    </p:spTree>
    <p:extLst>
      <p:ext uri="{BB962C8B-B14F-4D97-AF65-F5344CB8AC3E}">
        <p14:creationId xmlns:p14="http://schemas.microsoft.com/office/powerpoint/2010/main" val="1376627116"/>
      </p:ext>
    </p:extLst>
  </p:cSld>
</p:sld>
</file>

<file path=ppt/slides/slide2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CB882F-E5F4-4FC3-B49A-45B19959C99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événements relient le calcul à l’écran</a:t>
            </a:r>
          </a:p>
        </p:txBody>
      </p:sp>
      <p:sp>
        <p:nvSpPr>
          <p:cNvPr id="2" name="">
            <a:extLst xmlns:a="http://schemas.openxmlformats.org/drawingml/2006/main">
              <a:ext uri="{FF2B5EF4-FFF2-40B4-BE49-F238E27FC236}">
                <a16:creationId xmlns:a16="http://schemas.microsoft.com/office/drawing/2014/main" id="{E9A23064-1893-4352-8C94-B4D756569C9B}"/>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EEA4BF67-A2A8-4568-B8F9-C09BDE1892D0}"/>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 rafraîchissement périodique complète le flux. La base garde les preuves consultables.</a:t>
            </a:r>
          </a:p>
        </p:txBody>
      </p:sp>
      <p:sp>
        <p:nvSpPr>
          <p:cNvPr id="4" name="">
            <a:extLst xmlns:a="http://schemas.openxmlformats.org/drawingml/2006/main">
              <a:ext uri="{FF2B5EF4-FFF2-40B4-BE49-F238E27FC236}">
                <a16:creationId xmlns:a16="http://schemas.microsoft.com/office/drawing/2014/main" id="{01EC54F6-F8D0-4BD3-AC9D-373B5AE78378}"/>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 L’optimisation</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est terminée »</a:t>
            </a:r>
          </a:p>
        </p:txBody>
      </p:sp>
      <p:sp>
        <p:nvSpPr>
          <p:cNvPr id="5" name="">
            <a:extLst xmlns:a="http://schemas.openxmlformats.org/drawingml/2006/main">
              <a:ext uri="{FF2B5EF4-FFF2-40B4-BE49-F238E27FC236}">
                <a16:creationId xmlns:a16="http://schemas.microsoft.com/office/drawing/2014/main" id="{C711D6AA-937D-4E5E-A477-B9F11FF40D1E}"/>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Enregistrer</a:t>
            </a:r>
          </a:p>
        </p:txBody>
      </p:sp>
      <p:sp>
        <p:nvSpPr>
          <p:cNvPr id="6" name="">
            <a:extLst xmlns:a="http://schemas.openxmlformats.org/drawingml/2006/main">
              <a:ext uri="{FF2B5EF4-FFF2-40B4-BE49-F238E27FC236}">
                <a16:creationId xmlns:a16="http://schemas.microsoft.com/office/drawing/2014/main" id="{7BECB95E-0360-4DD5-8D00-AD6C7B8618DF}"/>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worker ajoute un événement numéroté dans la base.</a:t>
            </a:r>
          </a:p>
        </p:txBody>
      </p:sp>
      <p:sp>
        <p:nvSpPr>
          <p:cNvPr id="7" name="">
            <a:extLst xmlns:a="http://schemas.openxmlformats.org/drawingml/2006/main">
              <a:ext uri="{FF2B5EF4-FFF2-40B4-BE49-F238E27FC236}">
                <a16:creationId xmlns:a16="http://schemas.microsoft.com/office/drawing/2014/main" id="{3F270DF8-DA33-4E29-A28D-21B06664F93D}"/>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Transmettre</a:t>
            </a:r>
          </a:p>
        </p:txBody>
      </p:sp>
      <p:sp>
        <p:nvSpPr>
          <p:cNvPr id="8" name="">
            <a:extLst xmlns:a="http://schemas.openxmlformats.org/drawingml/2006/main">
              <a:ext uri="{FF2B5EF4-FFF2-40B4-BE49-F238E27FC236}">
                <a16:creationId xmlns:a16="http://schemas.microsoft.com/office/drawing/2014/main" id="{FF3332B5-9795-49CB-9EBA-890E70B82735}"/>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L’API diffuse les événements par SSE, un flux du serveur vers l’écran.</a:t>
            </a:r>
          </a:p>
        </p:txBody>
      </p:sp>
      <p:sp>
        <p:nvSpPr>
          <p:cNvPr id="9" name="">
            <a:extLst xmlns:a="http://schemas.openxmlformats.org/drawingml/2006/main">
              <a:ext uri="{FF2B5EF4-FFF2-40B4-BE49-F238E27FC236}">
                <a16:creationId xmlns:a16="http://schemas.microsoft.com/office/drawing/2014/main" id="{0B471484-4AC2-4BAE-B05A-F576485EAC45}"/>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Actualiser</a:t>
            </a:r>
          </a:p>
        </p:txBody>
      </p:sp>
      <p:sp>
        <p:nvSpPr>
          <p:cNvPr id="10" name="">
            <a:extLst xmlns:a="http://schemas.openxmlformats.org/drawingml/2006/main">
              <a:ext uri="{FF2B5EF4-FFF2-40B4-BE49-F238E27FC236}">
                <a16:creationId xmlns:a16="http://schemas.microsoft.com/office/drawing/2014/main" id="{23F970CB-9ACF-446F-AE1D-59AC7011BDED}"/>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navigateur fusionne les séquences et relit les résultats utiles.</a:t>
            </a:r>
          </a:p>
        </p:txBody>
      </p:sp>
    </p:spTree>
    <p:extLst>
      <p:ext uri="{BB962C8B-B14F-4D97-AF65-F5344CB8AC3E}">
        <p14:creationId xmlns:p14="http://schemas.microsoft.com/office/powerpoint/2010/main" val="1297573988"/>
      </p:ext>
    </p:extLst>
  </p:cSld>
</p:sld>
</file>

<file path=ppt/slides/slide2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2B6594-F5CD-496F-BFC7-C665A6506BCE}"/>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ECharts et React Flow : lire les résultats</a:t>
            </a:r>
          </a:p>
        </p:txBody>
      </p:sp>
      <p:sp>
        <p:nvSpPr>
          <p:cNvPr id="2" name="">
            <a:extLst xmlns:a="http://schemas.openxmlformats.org/drawingml/2006/main">
              <a:ext uri="{FF2B5EF4-FFF2-40B4-BE49-F238E27FC236}">
                <a16:creationId xmlns:a16="http://schemas.microsoft.com/office/drawing/2014/main" id="{82789E37-5353-4945-8099-9A3DBA7FD01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B0EB16F1-842C-402E-B7F7-2FBBA8A907EC}"/>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 graphique aide à comprendre les données. Son moteur ne prouve pas leur exactitude.</a:t>
            </a:r>
          </a:p>
        </p:txBody>
      </p:sp>
      <p:sp>
        <p:nvSpPr>
          <p:cNvPr id="4" name="">
            <a:extLst xmlns:a="http://schemas.openxmlformats.org/drawingml/2006/main">
              <a:ext uri="{FF2B5EF4-FFF2-40B4-BE49-F238E27FC236}">
                <a16:creationId xmlns:a16="http://schemas.microsoft.com/office/drawing/2014/main" id="{D39F969C-A60B-4022-A227-6F2C85C4CBA3}"/>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ECharts dessine les mesures</a:t>
            </a:r>
          </a:p>
        </p:txBody>
      </p:sp>
      <p:sp>
        <p:nvSpPr>
          <p:cNvPr id="5" name="">
            <a:extLst xmlns:a="http://schemas.openxmlformats.org/drawingml/2006/main">
              <a:ext uri="{FF2B5EF4-FFF2-40B4-BE49-F238E27FC236}">
                <a16:creationId xmlns:a16="http://schemas.microsoft.com/office/drawing/2014/main" id="{4D73896E-DF73-4C82-8D80-912187EA3F7A}"/>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Barres, courbes, anneaux et cartes de chaleur.</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Genesis prépare les agrégats, unités et filtres avant de lui fournir les données.</a:t>
            </a:r>
          </a:p>
        </p:txBody>
      </p:sp>
      <p:sp>
        <p:nvSpPr>
          <p:cNvPr id="6" name="">
            <a:extLst xmlns:a="http://schemas.openxmlformats.org/drawingml/2006/main">
              <a:ext uri="{FF2B5EF4-FFF2-40B4-BE49-F238E27FC236}">
                <a16:creationId xmlns:a16="http://schemas.microsoft.com/office/drawing/2014/main" id="{0058500C-1143-4396-A868-9807ADE28569}"/>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React Flow dessine les relations</a:t>
            </a:r>
          </a:p>
        </p:txBody>
      </p:sp>
      <p:sp>
        <p:nvSpPr>
          <p:cNvPr id="7" name="">
            <a:extLst xmlns:a="http://schemas.openxmlformats.org/drawingml/2006/main">
              <a:ext uri="{FF2B5EF4-FFF2-40B4-BE49-F238E27FC236}">
                <a16:creationId xmlns:a16="http://schemas.microsoft.com/office/drawing/2014/main" id="{3A58752F-15F4-4FCA-A95B-4D8C0858AA6C}"/>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Nœuds pour les rôles et liens pour leurs transmissions.</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Le graphe affiché aide à inspecter le travail coordonné par LangGraph.</a:t>
            </a:r>
          </a:p>
        </p:txBody>
      </p:sp>
    </p:spTree>
    <p:extLst>
      <p:ext uri="{BB962C8B-B14F-4D97-AF65-F5344CB8AC3E}">
        <p14:creationId xmlns:p14="http://schemas.microsoft.com/office/powerpoint/2010/main" val="281342239"/>
      </p:ext>
    </p:extLst>
  </p:cSld>
</p:sld>
</file>

<file path=ppt/slides/slide2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F4D1686-A6EA-4DDD-980F-13B9A8880341}"/>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Vite prépare le site destiné au navigateur</a:t>
            </a:r>
          </a:p>
        </p:txBody>
      </p:sp>
      <p:sp>
        <p:nvSpPr>
          <p:cNvPr id="2" name="">
            <a:extLst xmlns:a="http://schemas.openxmlformats.org/drawingml/2006/main">
              <a:ext uri="{FF2B5EF4-FFF2-40B4-BE49-F238E27FC236}">
                <a16:creationId xmlns:a16="http://schemas.microsoft.com/office/drawing/2014/main" id="{23013797-705A-428B-9636-37B73937632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6CB35F72-F395-43B5-82F1-EBA1DFC02734}"/>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Une dépendance de développement aide à fabriquer le produit. Elle n’est pas forcément exécutée chez l’utilisateur.</a:t>
            </a:r>
          </a:p>
        </p:txBody>
      </p:sp>
      <p:sp>
        <p:nvSpPr>
          <p:cNvPr id="4" name="">
            <a:extLst xmlns:a="http://schemas.openxmlformats.org/drawingml/2006/main">
              <a:ext uri="{FF2B5EF4-FFF2-40B4-BE49-F238E27FC236}">
                <a16:creationId xmlns:a16="http://schemas.microsoft.com/office/drawing/2014/main" id="{3CE8CCBE-CB70-4051-A3AB-94BE3313C677}"/>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26EF4A6-21EC-4910-90BC-792C78ED5428}"/>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Écrire</a:t>
            </a:r>
          </a:p>
        </p:txBody>
      </p:sp>
      <p:sp>
        <p:nvSpPr>
          <p:cNvPr id="6" name="">
            <a:extLst xmlns:a="http://schemas.openxmlformats.org/drawingml/2006/main">
              <a:ext uri="{FF2B5EF4-FFF2-40B4-BE49-F238E27FC236}">
                <a16:creationId xmlns:a16="http://schemas.microsoft.com/office/drawing/2014/main" id="{E806BFFE-2CD6-4A21-A34B-D36E61100126}"/>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Le code React et TypeScript décrit les écrans.</a:t>
            </a:r>
          </a:p>
        </p:txBody>
      </p:sp>
      <p:sp>
        <p:nvSpPr>
          <p:cNvPr id="7" name="">
            <a:extLst xmlns:a="http://schemas.openxmlformats.org/drawingml/2006/main">
              <a:ext uri="{FF2B5EF4-FFF2-40B4-BE49-F238E27FC236}">
                <a16:creationId xmlns:a16="http://schemas.microsoft.com/office/drawing/2014/main" id="{12492EBB-0632-487A-874F-9611087D94EB}"/>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2681403-E594-4224-ABFF-A79EBF4ACD8D}"/>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Contrôler</a:t>
            </a:r>
          </a:p>
        </p:txBody>
      </p:sp>
      <p:sp>
        <p:nvSpPr>
          <p:cNvPr id="9" name="">
            <a:extLst xmlns:a="http://schemas.openxmlformats.org/drawingml/2006/main">
              <a:ext uri="{FF2B5EF4-FFF2-40B4-BE49-F238E27FC236}">
                <a16:creationId xmlns:a16="http://schemas.microsoft.com/office/drawing/2014/main" id="{600755E7-3437-4D65-A046-DBDCE0027708}"/>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TypeScript vérifie les contrats avant le build.</a:t>
            </a:r>
          </a:p>
        </p:txBody>
      </p:sp>
      <p:sp>
        <p:nvSpPr>
          <p:cNvPr id="10" name="">
            <a:extLst xmlns:a="http://schemas.openxmlformats.org/drawingml/2006/main">
              <a:ext uri="{FF2B5EF4-FFF2-40B4-BE49-F238E27FC236}">
                <a16:creationId xmlns:a16="http://schemas.microsoft.com/office/drawing/2014/main" id="{BF3F5942-6FE0-44FA-BADC-DA9C7DFDD64C}"/>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D7D35EA-C6C6-4A56-85A6-AC7F18B7D2BA}"/>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Transformer</a:t>
            </a:r>
          </a:p>
        </p:txBody>
      </p:sp>
      <p:sp>
        <p:nvSpPr>
          <p:cNvPr id="12" name="">
            <a:extLst xmlns:a="http://schemas.openxmlformats.org/drawingml/2006/main">
              <a:ext uri="{FF2B5EF4-FFF2-40B4-BE49-F238E27FC236}">
                <a16:creationId xmlns:a16="http://schemas.microsoft.com/office/drawing/2014/main" id="{44241884-68C4-405B-A7B2-B150DC9C3535}"/>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Vite et le plugin React préparent les modules web.</a:t>
            </a:r>
          </a:p>
        </p:txBody>
      </p:sp>
      <p:sp>
        <p:nvSpPr>
          <p:cNvPr id="13" name="">
            <a:extLst xmlns:a="http://schemas.openxmlformats.org/drawingml/2006/main">
              <a:ext uri="{FF2B5EF4-FFF2-40B4-BE49-F238E27FC236}">
                <a16:creationId xmlns:a16="http://schemas.microsoft.com/office/drawing/2014/main" id="{C4BB9DEC-933F-4661-8AC6-6ED39A36E681}"/>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18DFBE59-18E1-41CE-BB5D-6899DFD652ED}"/>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Distribuer</a:t>
            </a:r>
          </a:p>
        </p:txBody>
      </p:sp>
      <p:sp>
        <p:nvSpPr>
          <p:cNvPr id="15" name="">
            <a:extLst xmlns:a="http://schemas.openxmlformats.org/drawingml/2006/main">
              <a:ext uri="{FF2B5EF4-FFF2-40B4-BE49-F238E27FC236}">
                <a16:creationId xmlns:a16="http://schemas.microsoft.com/office/drawing/2014/main" id="{D22147E7-C808-4C0C-BF8F-AB3660C06D9D}"/>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Le build produit les fichiers du site à servir.</a:t>
            </a:r>
          </a:p>
        </p:txBody>
      </p:sp>
    </p:spTree>
    <p:extLst>
      <p:ext uri="{BB962C8B-B14F-4D97-AF65-F5344CB8AC3E}">
        <p14:creationId xmlns:p14="http://schemas.microsoft.com/office/powerpoint/2010/main" val="1388390685"/>
      </p:ext>
    </p:extLst>
  </p:cSld>
</p:sld>
</file>

<file path=ppt/slides/slide2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9B7B5C-EE2E-487A-AE96-E928BE4A7DE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bibliothèques qui vérifient le logiciel</a:t>
            </a:r>
          </a:p>
        </p:txBody>
      </p:sp>
      <p:sp>
        <p:nvSpPr>
          <p:cNvPr id="2" name="">
            <a:extLst xmlns:a="http://schemas.openxmlformats.org/drawingml/2006/main">
              <a:ext uri="{FF2B5EF4-FFF2-40B4-BE49-F238E27FC236}">
                <a16:creationId xmlns:a16="http://schemas.microsoft.com/office/drawing/2014/main" id="{F1DB8F7A-9F65-4FA6-A7A2-D6E2E5662BED}"/>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473E5656-2050-46BF-AE43-8DD6037422FE}"/>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Chaque outil couvre une catégorie d’erreur. Aucun ne garantit seul l’absence de défaut.</a:t>
            </a:r>
          </a:p>
        </p:txBody>
      </p:sp>
      <p:graphicFrame>
        <p:nvGraphicFramePr>
          <p:cNvPr id="4" name="">
            <a:extLst xmlns:a="http://schemas.openxmlformats.org/drawingml/2006/main">
              <a:ext uri="{FF2B5EF4-FFF2-40B4-BE49-F238E27FC236}">
                <a16:creationId xmlns:a16="http://schemas.microsoft.com/office/drawing/2014/main" id="{EC9B27CD-6C58-4278-AF72-6046154184C4}"/>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524125"/>
                <a:gridCol w="3810000"/>
                <a:gridCol w="4638675"/>
              </a:tblGrid>
              <a:tr h="457200">
                <a:tc>
                  <a:txBody>
                    <a:bodyPr/>
                    <a:lstStyle/>
                    <a:p>
                      <a:r>
                        <a:rPr sz="1725" b="1">
                          <a:solidFill>
                            <a:srgbClr val="FFFFFF"/>
                          </a:solidFill>
                          <a:latin typeface="Arial"/>
                          <a:ea typeface="Arial"/>
                          <a:cs typeface="Arial"/>
                        </a:rPr>
                        <a:t>OUTIL</a:t>
                      </a:r>
                    </a:p>
                  </a:txBody>
                  <a:tcPr marL="91440" marR="91440" marT="45720" marB="45720">
                    <a:solidFill>
                      <a:srgbClr val="173039"/>
                    </a:solidFill>
                  </a:tcPr>
                </a:tc>
                <a:tc>
                  <a:txBody>
                    <a:bodyPr/>
                    <a:lstStyle/>
                    <a:p>
                      <a:r>
                        <a:rPr sz="1725" b="1">
                          <a:solidFill>
                            <a:srgbClr val="FFFFFF"/>
                          </a:solidFill>
                          <a:latin typeface="Arial"/>
                          <a:ea typeface="Arial"/>
                          <a:cs typeface="Arial"/>
                        </a:rPr>
                        <a:t>COMMENT IL AIDE</a:t>
                      </a:r>
                    </a:p>
                  </a:txBody>
                  <a:tcPr marL="91440" marR="91440" marT="45720" marB="45720">
                    <a:solidFill>
                      <a:srgbClr val="173039"/>
                    </a:solidFill>
                  </a:tcPr>
                </a:tc>
                <a:tc>
                  <a:txBody>
                    <a:bodyPr/>
                    <a:lstStyle/>
                    <a:p>
                      <a:r>
                        <a:rPr sz="1725" b="1">
                          <a:solidFill>
                            <a:srgbClr val="FFFFFF"/>
                          </a:solidFill>
                          <a:latin typeface="Arial"/>
                          <a:ea typeface="Arial"/>
                          <a:cs typeface="Arial"/>
                        </a:rPr>
                        <a:t>EXEMPLE DANS GENESIS</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pytest</a:t>
                      </a:r>
                    </a:p>
                  </a:txBody>
                  <a:tcPr marL="91440" marR="91440" marT="45720" marB="45720">
                    <a:solidFill>
                      <a:srgbClr val="FFFFFF"/>
                    </a:solidFill>
                  </a:tcPr>
                </a:tc>
                <a:tc>
                  <a:txBody>
                    <a:bodyPr/>
                    <a:lstStyle/>
                    <a:p>
                      <a:r>
                        <a:rPr sz="1725" b="0">
                          <a:solidFill>
                            <a:srgbClr val="173039"/>
                          </a:solidFill>
                          <a:latin typeface="Arial"/>
                          <a:ea typeface="Arial"/>
                          <a:cs typeface="Arial"/>
                        </a:rPr>
                        <a:t>Exécuter les cas et assertions Python.</a:t>
                      </a:r>
                    </a:p>
                  </a:txBody>
                  <a:tcPr marL="91440" marR="91440" marT="45720" marB="45720">
                    <a:solidFill>
                      <a:srgbClr val="FFFFFF"/>
                    </a:solidFill>
                  </a:tcPr>
                </a:tc>
                <a:tc>
                  <a:txBody>
                    <a:bodyPr/>
                    <a:lstStyle/>
                    <a:p>
                      <a:r>
                        <a:rPr sz="1725" b="0">
                          <a:solidFill>
                            <a:srgbClr val="173039"/>
                          </a:solidFill>
                          <a:latin typeface="Arial"/>
                          <a:ea typeface="Arial"/>
                          <a:cs typeface="Arial"/>
                        </a:rPr>
                        <a:t>Refuser une surcharge ou vérifier la cohérence du budget.</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Vitest</a:t>
                      </a:r>
                    </a:p>
                  </a:txBody>
                  <a:tcPr marL="91440" marR="91440" marT="45720" marB="45720">
                    <a:solidFill>
                      <a:srgbClr val="EAF0F1"/>
                    </a:solidFill>
                  </a:tcPr>
                </a:tc>
                <a:tc>
                  <a:txBody>
                    <a:bodyPr/>
                    <a:lstStyle/>
                    <a:p>
                      <a:r>
                        <a:rPr sz="1725" b="0">
                          <a:solidFill>
                            <a:srgbClr val="173039"/>
                          </a:solidFill>
                          <a:latin typeface="Arial"/>
                          <a:ea typeface="Arial"/>
                          <a:cs typeface="Arial"/>
                        </a:rPr>
                        <a:t>Tester les fonctions et états web.</a:t>
                      </a:r>
                    </a:p>
                  </a:txBody>
                  <a:tcPr marL="91440" marR="91440" marT="45720" marB="45720">
                    <a:solidFill>
                      <a:srgbClr val="EAF0F1"/>
                    </a:solidFill>
                  </a:tcPr>
                </a:tc>
                <a:tc>
                  <a:txBody>
                    <a:bodyPr/>
                    <a:lstStyle/>
                    <a:p>
                      <a:r>
                        <a:rPr sz="1725" b="0">
                          <a:solidFill>
                            <a:srgbClr val="173039"/>
                          </a:solidFill>
                          <a:latin typeface="Arial"/>
                          <a:ea typeface="Arial"/>
                          <a:cs typeface="Arial"/>
                        </a:rPr>
                        <a:t>Vérifier filtres, sélections et transformations de données.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Playwright</a:t>
                      </a:r>
                    </a:p>
                  </a:txBody>
                  <a:tcPr marL="91440" marR="91440" marT="45720" marB="45720">
                    <a:solidFill>
                      <a:srgbClr val="FFFFFF"/>
                    </a:solidFill>
                  </a:tcPr>
                </a:tc>
                <a:tc>
                  <a:txBody>
                    <a:bodyPr/>
                    <a:lstStyle/>
                    <a:p>
                      <a:r>
                        <a:rPr sz="1725" b="0">
                          <a:solidFill>
                            <a:srgbClr val="173039"/>
                          </a:solidFill>
                          <a:latin typeface="Arial"/>
                          <a:ea typeface="Arial"/>
                          <a:cs typeface="Arial"/>
                        </a:rPr>
                        <a:t>Piloter des pages comme un utilisateur.</a:t>
                      </a:r>
                    </a:p>
                  </a:txBody>
                  <a:tcPr marL="91440" marR="91440" marT="45720" marB="45720">
                    <a:solidFill>
                      <a:srgbClr val="FFFFFF"/>
                    </a:solidFill>
                  </a:tcPr>
                </a:tc>
                <a:tc>
                  <a:txBody>
                    <a:bodyPr/>
                    <a:lstStyle/>
                    <a:p>
                      <a:r>
                        <a:rPr sz="1725" b="0">
                          <a:solidFill>
                            <a:srgbClr val="173039"/>
                          </a:solidFill>
                          <a:latin typeface="Arial"/>
                          <a:ea typeface="Arial"/>
                          <a:cs typeface="Arial"/>
                        </a:rPr>
                        <a:t>Saisir une commande puis contrôler le résultat affiché.</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axe</a:t>
                      </a:r>
                    </a:p>
                  </a:txBody>
                  <a:tcPr marL="91440" marR="91440" marT="45720" marB="45720">
                    <a:solidFill>
                      <a:srgbClr val="EAF0F1"/>
                    </a:solidFill>
                  </a:tcPr>
                </a:tc>
                <a:tc>
                  <a:txBody>
                    <a:bodyPr/>
                    <a:lstStyle/>
                    <a:p>
                      <a:r>
                        <a:rPr sz="1725" b="0">
                          <a:solidFill>
                            <a:srgbClr val="173039"/>
                          </a:solidFill>
                          <a:latin typeface="Arial"/>
                          <a:ea typeface="Arial"/>
                          <a:cs typeface="Arial"/>
                        </a:rPr>
                        <a:t>Repérer certaines erreurs d’accessibilité.</a:t>
                      </a:r>
                    </a:p>
                  </a:txBody>
                  <a:tcPr marL="91440" marR="91440" marT="45720" marB="45720">
                    <a:solidFill>
                      <a:srgbClr val="EAF0F1"/>
                    </a:solidFill>
                  </a:tcPr>
                </a:tc>
                <a:tc>
                  <a:txBody>
                    <a:bodyPr/>
                    <a:lstStyle/>
                    <a:p>
                      <a:r>
                        <a:rPr sz="1725" b="0">
                          <a:solidFill>
                            <a:srgbClr val="173039"/>
                          </a:solidFill>
                          <a:latin typeface="Arial"/>
                          <a:ea typeface="Arial"/>
                          <a:cs typeface="Arial"/>
                        </a:rPr>
                        <a:t>Signaler des éléments sans nom accessible.</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Ruff</a:t>
                      </a:r>
                    </a:p>
                  </a:txBody>
                  <a:tcPr marL="91440" marR="91440" marT="45720" marB="45720">
                    <a:solidFill>
                      <a:srgbClr val="FFFFFF"/>
                    </a:solidFill>
                  </a:tcPr>
                </a:tc>
                <a:tc>
                  <a:txBody>
                    <a:bodyPr/>
                    <a:lstStyle/>
                    <a:p>
                      <a:r>
                        <a:rPr sz="1725" b="0">
                          <a:solidFill>
                            <a:srgbClr val="173039"/>
                          </a:solidFill>
                          <a:latin typeface="Arial"/>
                          <a:ea typeface="Arial"/>
                          <a:cs typeface="Arial"/>
                        </a:rPr>
                        <a:t>Analyser le code sans exécuter le métier.</a:t>
                      </a:r>
                    </a:p>
                  </a:txBody>
                  <a:tcPr marL="91440" marR="91440" marT="45720" marB="45720">
                    <a:solidFill>
                      <a:srgbClr val="FFFFFF"/>
                    </a:solidFill>
                  </a:tcPr>
                </a:tc>
                <a:tc>
                  <a:txBody>
                    <a:bodyPr/>
                    <a:lstStyle/>
                    <a:p>
                      <a:r>
                        <a:rPr sz="1725" b="0">
                          <a:solidFill>
                            <a:srgbClr val="173039"/>
                          </a:solidFill>
                          <a:latin typeface="Arial"/>
                          <a:ea typeface="Arial"/>
                          <a:cs typeface="Arial"/>
                        </a:rPr>
                        <a:t>Détecter un import inutilisé ou une incohérence Python.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15076608"/>
      </p:ext>
    </p:extLst>
  </p:cSld>
</p:sld>
</file>

<file path=ppt/slides/slide2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C00DED-8418-473D-B0BD-AD711476FE7D}"/>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dépendances qui soutiennent les bibliothèques</a:t>
            </a:r>
          </a:p>
        </p:txBody>
      </p:sp>
      <p:sp>
        <p:nvSpPr>
          <p:cNvPr id="2" name="">
            <a:extLst xmlns:a="http://schemas.openxmlformats.org/drawingml/2006/main">
              <a:ext uri="{FF2B5EF4-FFF2-40B4-BE49-F238E27FC236}">
                <a16:creationId xmlns:a16="http://schemas.microsoft.com/office/drawing/2014/main" id="{00536B3B-013D-4C12-B05A-57D46E625B3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BA10A2C9-F973-49BE-A754-FF9CBCB7488C}"/>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Ce tableau décrit des relations d’installation. Il ne représente pas l’ordre d’une livraison.</a:t>
            </a:r>
          </a:p>
        </p:txBody>
      </p:sp>
      <p:graphicFrame>
        <p:nvGraphicFramePr>
          <p:cNvPr id="4" name="">
            <a:extLst xmlns:a="http://schemas.openxmlformats.org/drawingml/2006/main">
              <a:ext uri="{FF2B5EF4-FFF2-40B4-BE49-F238E27FC236}">
                <a16:creationId xmlns:a16="http://schemas.microsoft.com/office/drawing/2014/main" id="{9D2A96C5-A756-4A82-A868-7CE1CDB7E9A5}"/>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619375"/>
                <a:gridCol w="3714750"/>
                <a:gridCol w="4638675"/>
              </a:tblGrid>
              <a:tr h="457200">
                <a:tc>
                  <a:txBody>
                    <a:bodyPr/>
                    <a:lstStyle/>
                    <a:p>
                      <a:r>
                        <a:rPr sz="1725" b="1">
                          <a:solidFill>
                            <a:srgbClr val="FFFFFF"/>
                          </a:solidFill>
                          <a:latin typeface="Arial"/>
                          <a:ea typeface="Arial"/>
                          <a:cs typeface="Arial"/>
                        </a:rPr>
                        <a:t>PAQUET UTILISÉ</a:t>
                      </a:r>
                    </a:p>
                  </a:txBody>
                  <a:tcPr marL="91440" marR="91440" marT="45720" marB="45720">
                    <a:solidFill>
                      <a:srgbClr val="173039"/>
                    </a:solidFill>
                  </a:tcPr>
                </a:tc>
                <a:tc>
                  <a:txBody>
                    <a:bodyPr/>
                    <a:lstStyle/>
                    <a:p>
                      <a:r>
                        <a:rPr sz="1725" b="1">
                          <a:solidFill>
                            <a:srgbClr val="FFFFFF"/>
                          </a:solidFill>
                          <a:latin typeface="Arial"/>
                          <a:ea typeface="Arial"/>
                          <a:cs typeface="Arial"/>
                        </a:rPr>
                        <a:t>SUPPORT NÉCESSAIRE</a:t>
                      </a:r>
                    </a:p>
                  </a:txBody>
                  <a:tcPr marL="91440" marR="91440" marT="45720" marB="45720">
                    <a:solidFill>
                      <a:srgbClr val="173039"/>
                    </a:solidFill>
                  </a:tcPr>
                </a:tc>
                <a:tc>
                  <a:txBody>
                    <a:bodyPr/>
                    <a:lstStyle/>
                    <a:p>
                      <a:r>
                        <a:rPr sz="1725" b="1">
                          <a:solidFill>
                            <a:srgbClr val="FFFFFF"/>
                          </a:solidFill>
                          <a:latin typeface="Arial"/>
                          <a:ea typeface="Arial"/>
                          <a:cs typeface="Arial"/>
                        </a:rPr>
                        <a:t>CE QUE CE SUPPORT APPORTE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FastAPI</a:t>
                      </a:r>
                    </a:p>
                  </a:txBody>
                  <a:tcPr marL="91440" marR="91440" marT="45720" marB="45720">
                    <a:solidFill>
                      <a:srgbClr val="FFFFFF"/>
                    </a:solidFill>
                  </a:tcPr>
                </a:tc>
                <a:tc>
                  <a:txBody>
                    <a:bodyPr/>
                    <a:lstStyle/>
                    <a:p>
                      <a:r>
                        <a:rPr sz="1725" b="0">
                          <a:solidFill>
                            <a:srgbClr val="173039"/>
                          </a:solidFill>
                          <a:latin typeface="Arial"/>
                          <a:ea typeface="Arial"/>
                          <a:cs typeface="Arial"/>
                        </a:rPr>
                        <a:t>Starlette + Pydantic</a:t>
                      </a:r>
                    </a:p>
                  </a:txBody>
                  <a:tcPr marL="91440" marR="91440" marT="45720" marB="45720">
                    <a:solidFill>
                      <a:srgbClr val="FFFFFF"/>
                    </a:solidFill>
                  </a:tcPr>
                </a:tc>
                <a:tc>
                  <a:txBody>
                    <a:bodyPr/>
                    <a:lstStyle/>
                    <a:p>
                      <a:r>
                        <a:rPr sz="1725" b="0">
                          <a:solidFill>
                            <a:srgbClr val="173039"/>
                          </a:solidFill>
                          <a:latin typeface="Arial"/>
                          <a:ea typeface="Arial"/>
                          <a:cs typeface="Arial"/>
                        </a:rPr>
                        <a:t>Mécanismes web et validation des données.</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Pydantic</a:t>
                      </a:r>
                    </a:p>
                  </a:txBody>
                  <a:tcPr marL="91440" marR="91440" marT="45720" marB="45720">
                    <a:solidFill>
                      <a:srgbClr val="EAF0F1"/>
                    </a:solidFill>
                  </a:tcPr>
                </a:tc>
                <a:tc>
                  <a:txBody>
                    <a:bodyPr/>
                    <a:lstStyle/>
                    <a:p>
                      <a:r>
                        <a:rPr sz="1725" b="0">
                          <a:solidFill>
                            <a:srgbClr val="173039"/>
                          </a:solidFill>
                          <a:latin typeface="Arial"/>
                          <a:ea typeface="Arial"/>
                          <a:cs typeface="Arial"/>
                        </a:rPr>
                        <a:t>Pydantic-core</a:t>
                      </a:r>
                    </a:p>
                  </a:txBody>
                  <a:tcPr marL="91440" marR="91440" marT="45720" marB="45720">
                    <a:solidFill>
                      <a:srgbClr val="EAF0F1"/>
                    </a:solidFill>
                  </a:tcPr>
                </a:tc>
                <a:tc>
                  <a:txBody>
                    <a:bodyPr/>
                    <a:lstStyle/>
                    <a:p>
                      <a:r>
                        <a:rPr sz="1725" b="0">
                          <a:solidFill>
                            <a:srgbClr val="173039"/>
                          </a:solidFill>
                          <a:latin typeface="Arial"/>
                          <a:ea typeface="Arial"/>
                          <a:cs typeface="Arial"/>
                        </a:rPr>
                        <a:t>Exécution des règles de validation.</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OR-Tools</a:t>
                      </a:r>
                    </a:p>
                  </a:txBody>
                  <a:tcPr marL="91440" marR="91440" marT="45720" marB="45720">
                    <a:solidFill>
                      <a:srgbClr val="FFFFFF"/>
                    </a:solidFill>
                  </a:tcPr>
                </a:tc>
                <a:tc>
                  <a:txBody>
                    <a:bodyPr/>
                    <a:lstStyle/>
                    <a:p>
                      <a:r>
                        <a:rPr sz="1725" b="0">
                          <a:solidFill>
                            <a:srgbClr val="173039"/>
                          </a:solidFill>
                          <a:latin typeface="Arial"/>
                          <a:ea typeface="Arial"/>
                          <a:cs typeface="Arial"/>
                        </a:rPr>
                        <a:t>NumPy, Pandas, protobuf</a:t>
                      </a:r>
                    </a:p>
                  </a:txBody>
                  <a:tcPr marL="91440" marR="91440" marT="45720" marB="45720">
                    <a:solidFill>
                      <a:srgbClr val="FFFFFF"/>
                    </a:solidFill>
                  </a:tcPr>
                </a:tc>
                <a:tc>
                  <a:txBody>
                    <a:bodyPr/>
                    <a:lstStyle/>
                    <a:p>
                      <a:r>
                        <a:rPr sz="1725" b="0">
                          <a:solidFill>
                            <a:srgbClr val="173039"/>
                          </a:solidFill>
                          <a:latin typeface="Arial"/>
                          <a:ea typeface="Arial"/>
                          <a:cs typeface="Arial"/>
                        </a:rPr>
                        <a:t>Support numérique et représentation des données du paquet.</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LangGraph</a:t>
                      </a:r>
                    </a:p>
                  </a:txBody>
                  <a:tcPr marL="91440" marR="91440" marT="45720" marB="45720">
                    <a:solidFill>
                      <a:srgbClr val="EAF0F1"/>
                    </a:solidFill>
                  </a:tcPr>
                </a:tc>
                <a:tc>
                  <a:txBody>
                    <a:bodyPr/>
                    <a:lstStyle/>
                    <a:p>
                      <a:r>
                        <a:rPr sz="1725" b="0">
                          <a:solidFill>
                            <a:srgbClr val="173039"/>
                          </a:solidFill>
                          <a:latin typeface="Arial"/>
                          <a:ea typeface="Arial"/>
                          <a:cs typeface="Arial"/>
                        </a:rPr>
                        <a:t>Checkpoint + langchain-core</a:t>
                      </a:r>
                    </a:p>
                  </a:txBody>
                  <a:tcPr marL="91440" marR="91440" marT="45720" marB="45720">
                    <a:solidFill>
                      <a:srgbClr val="EAF0F1"/>
                    </a:solidFill>
                  </a:tcPr>
                </a:tc>
                <a:tc>
                  <a:txBody>
                    <a:bodyPr/>
                    <a:lstStyle/>
                    <a:p>
                      <a:r>
                        <a:rPr sz="1725" b="0">
                          <a:solidFill>
                            <a:srgbClr val="173039"/>
                          </a:solidFill>
                          <a:latin typeface="Arial"/>
                          <a:ea typeface="Arial"/>
                          <a:cs typeface="Arial"/>
                        </a:rPr>
                        <a:t>Sauvegarde d’état et abstractions utilisées par le moteur.</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SqliteSaver</a:t>
                      </a:r>
                    </a:p>
                  </a:txBody>
                  <a:tcPr marL="91440" marR="91440" marT="45720" marB="45720">
                    <a:solidFill>
                      <a:srgbClr val="FFFFFF"/>
                    </a:solidFill>
                  </a:tcPr>
                </a:tc>
                <a:tc>
                  <a:txBody>
                    <a:bodyPr/>
                    <a:lstStyle/>
                    <a:p>
                      <a:r>
                        <a:rPr sz="1725" b="0">
                          <a:solidFill>
                            <a:srgbClr val="173039"/>
                          </a:solidFill>
                          <a:latin typeface="Arial"/>
                          <a:ea typeface="Arial"/>
                          <a:cs typeface="Arial"/>
                        </a:rPr>
                        <a:t>aiosqlite + sqlite-vec</a:t>
                      </a:r>
                    </a:p>
                  </a:txBody>
                  <a:tcPr marL="91440" marR="91440" marT="45720" marB="45720">
                    <a:solidFill>
                      <a:srgbClr val="FFFFFF"/>
                    </a:solidFill>
                  </a:tcPr>
                </a:tc>
                <a:tc>
                  <a:txBody>
                    <a:bodyPr/>
                    <a:lstStyle/>
                    <a:p>
                      <a:r>
                        <a:rPr sz="1725" b="0">
                          <a:solidFill>
                            <a:srgbClr val="173039"/>
                          </a:solidFill>
                          <a:latin typeface="Arial"/>
                          <a:ea typeface="Arial"/>
                          <a:cs typeface="Arial"/>
                        </a:rPr>
                        <a:t>Capacités du paquet, sans usage vectoriel produit actif.</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03340461"/>
      </p:ext>
    </p:extLst>
  </p:cSld>
</p:sld>
</file>

<file path=ppt/slides/slide3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EEADF2-1376-488E-8AE3-E6DDB14B8E2A}"/>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Langfuse et SMTP : des sorties configurables</a:t>
            </a:r>
          </a:p>
        </p:txBody>
      </p:sp>
      <p:sp>
        <p:nvSpPr>
          <p:cNvPr id="2" name="">
            <a:extLst xmlns:a="http://schemas.openxmlformats.org/drawingml/2006/main">
              <a:ext uri="{FF2B5EF4-FFF2-40B4-BE49-F238E27FC236}">
                <a16:creationId xmlns:a16="http://schemas.microsoft.com/office/drawing/2014/main" id="{7208CF25-40F1-4B39-8893-0988285D5CB5}"/>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E8D87346-6892-4C44-A632-B4A7E5883610}"/>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 base locale garde les faits de référence. Les clés et mots de passe restent hors du dépôt et des diapositives.</a:t>
            </a:r>
          </a:p>
        </p:txBody>
      </p:sp>
      <p:sp>
        <p:nvSpPr>
          <p:cNvPr id="4" name="">
            <a:extLst xmlns:a="http://schemas.openxmlformats.org/drawingml/2006/main">
              <a:ext uri="{FF2B5EF4-FFF2-40B4-BE49-F238E27FC236}">
                <a16:creationId xmlns:a16="http://schemas.microsoft.com/office/drawing/2014/main" id="{CAC5972E-A4D0-4C57-80DF-1CE4D007F4D4}"/>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Langfuse pour inspecter les traces</a:t>
            </a:r>
          </a:p>
        </p:txBody>
      </p:sp>
      <p:sp>
        <p:nvSpPr>
          <p:cNvPr id="5" name="">
            <a:extLst xmlns:a="http://schemas.openxmlformats.org/drawingml/2006/main">
              <a:ext uri="{FF2B5EF4-FFF2-40B4-BE49-F238E27FC236}">
                <a16:creationId xmlns:a16="http://schemas.microsoft.com/office/drawing/2014/main" id="{0DFED546-1560-42EC-89B0-25D9A22BC706}"/>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Une copie expurgée attend dans une outbox, une boîte d’envoi persistante.</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 exporteur la transmet si le service est configuré.</a:t>
            </a:r>
          </a:p>
        </p:txBody>
      </p:sp>
      <p:sp>
        <p:nvSpPr>
          <p:cNvPr id="6" name="">
            <a:extLst xmlns:a="http://schemas.openxmlformats.org/drawingml/2006/main">
              <a:ext uri="{FF2B5EF4-FFF2-40B4-BE49-F238E27FC236}">
                <a16:creationId xmlns:a16="http://schemas.microsoft.com/office/drawing/2014/main" id="{10D3694E-F7A0-4D15-A2FC-E8063A948296}"/>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SMTP pour l’alerte de budget</a:t>
            </a:r>
          </a:p>
        </p:txBody>
      </p:sp>
      <p:sp>
        <p:nvSpPr>
          <p:cNvPr id="7" name="">
            <a:extLst xmlns:a="http://schemas.openxmlformats.org/drawingml/2006/main">
              <a:ext uri="{FF2B5EF4-FFF2-40B4-BE49-F238E27FC236}">
                <a16:creationId xmlns:a16="http://schemas.microsoft.com/office/drawing/2014/main" id="{5DF74865-058F-41F6-96EA-035B645F4C2E}"/>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Genesis prépare un message lorsque le seuil configuré est atteint.</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Le serveur SMTP l’envoie avec les identifiants privés configurés.</a:t>
            </a:r>
          </a:p>
        </p:txBody>
      </p:sp>
    </p:spTree>
    <p:extLst>
      <p:ext uri="{BB962C8B-B14F-4D97-AF65-F5344CB8AC3E}">
        <p14:creationId xmlns:p14="http://schemas.microsoft.com/office/powerpoint/2010/main" val="67847171"/>
      </p:ext>
    </p:extLst>
  </p:cSld>
</p:sld>
</file>

<file path=ppt/slides/slide3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C00482-8807-4CE8-8176-7BA5E1C2F0A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erreurs indiquent la couche à examiner</a:t>
            </a:r>
          </a:p>
        </p:txBody>
      </p:sp>
      <p:sp>
        <p:nvSpPr>
          <p:cNvPr id="2" name="">
            <a:extLst xmlns:a="http://schemas.openxmlformats.org/drawingml/2006/main">
              <a:ext uri="{FF2B5EF4-FFF2-40B4-BE49-F238E27FC236}">
                <a16:creationId xmlns:a16="http://schemas.microsoft.com/office/drawing/2014/main" id="{E82E2362-98ED-4796-A438-CCFCA1FC21C5}"/>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7481F617-2DAE-4228-B5BA-02F15C96D20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 diagnostic commence par les preuves de la couche concernée, puis remonte le parcours de la commande.</a:t>
            </a:r>
          </a:p>
        </p:txBody>
      </p:sp>
      <p:graphicFrame>
        <p:nvGraphicFramePr>
          <p:cNvPr id="4" name="">
            <a:extLst xmlns:a="http://schemas.openxmlformats.org/drawingml/2006/main">
              <a:ext uri="{FF2B5EF4-FFF2-40B4-BE49-F238E27FC236}">
                <a16:creationId xmlns:a16="http://schemas.microsoft.com/office/drawing/2014/main" id="{DB924FB2-AE37-4DBE-B00B-509FB326E555}"/>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3143250"/>
                <a:gridCol w="3429000"/>
                <a:gridCol w="4400550"/>
              </a:tblGrid>
              <a:tr h="457200">
                <a:tc>
                  <a:txBody>
                    <a:bodyPr/>
                    <a:lstStyle/>
                    <a:p>
                      <a:r>
                        <a:rPr sz="1725" b="1">
                          <a:solidFill>
                            <a:srgbClr val="FFFFFF"/>
                          </a:solidFill>
                          <a:latin typeface="Arial"/>
                          <a:ea typeface="Arial"/>
                          <a:cs typeface="Arial"/>
                        </a:rPr>
                        <a:t>SYMPTÔME</a:t>
                      </a:r>
                    </a:p>
                  </a:txBody>
                  <a:tcPr marL="91440" marR="91440" marT="45720" marB="45720">
                    <a:solidFill>
                      <a:srgbClr val="173039"/>
                    </a:solidFill>
                  </a:tcPr>
                </a:tc>
                <a:tc>
                  <a:txBody>
                    <a:bodyPr/>
                    <a:lstStyle/>
                    <a:p>
                      <a:r>
                        <a:rPr sz="1725" b="1">
                          <a:solidFill>
                            <a:srgbClr val="FFFFFF"/>
                          </a:solidFill>
                          <a:latin typeface="Arial"/>
                          <a:ea typeface="Arial"/>
                          <a:cs typeface="Arial"/>
                        </a:rPr>
                        <a:t>COUCHE À EXAMINER</a:t>
                      </a:r>
                    </a:p>
                  </a:txBody>
                  <a:tcPr marL="91440" marR="91440" marT="45720" marB="45720">
                    <a:solidFill>
                      <a:srgbClr val="173039"/>
                    </a:solidFill>
                  </a:tcPr>
                </a:tc>
                <a:tc>
                  <a:txBody>
                    <a:bodyPr/>
                    <a:lstStyle/>
                    <a:p>
                      <a:r>
                        <a:rPr sz="1725" b="1">
                          <a:solidFill>
                            <a:srgbClr val="FFFFFF"/>
                          </a:solidFill>
                          <a:latin typeface="Arial"/>
                          <a:ea typeface="Arial"/>
                          <a:cs typeface="Arial"/>
                        </a:rPr>
                        <a:t>PREUVE UTILE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 Champs invalides »</a:t>
                      </a:r>
                    </a:p>
                  </a:txBody>
                  <a:tcPr marL="91440" marR="91440" marT="45720" marB="45720">
                    <a:solidFill>
                      <a:srgbClr val="FFFFFF"/>
                    </a:solidFill>
                  </a:tcPr>
                </a:tc>
                <a:tc>
                  <a:txBody>
                    <a:bodyPr/>
                    <a:lstStyle/>
                    <a:p>
                      <a:r>
                        <a:rPr sz="1725" b="0">
                          <a:solidFill>
                            <a:srgbClr val="173039"/>
                          </a:solidFill>
                          <a:latin typeface="Arial"/>
                          <a:ea typeface="Arial"/>
                          <a:cs typeface="Arial"/>
                        </a:rPr>
                        <a:t>Contrat Pydantic et formulaire.</a:t>
                      </a:r>
                    </a:p>
                  </a:txBody>
                  <a:tcPr marL="91440" marR="91440" marT="45720" marB="45720">
                    <a:solidFill>
                      <a:srgbClr val="FFFFFF"/>
                    </a:solidFill>
                  </a:tcPr>
                </a:tc>
                <a:tc>
                  <a:txBody>
                    <a:bodyPr/>
                    <a:lstStyle/>
                    <a:p>
                      <a:r>
                        <a:rPr sz="1725" b="0">
                          <a:solidFill>
                            <a:srgbClr val="173039"/>
                          </a:solidFill>
                          <a:latin typeface="Arial"/>
                          <a:ea typeface="Arial"/>
                          <a:cs typeface="Arial"/>
                        </a:rPr>
                        <a:t>Champ rejeté et données attendues par l’API.</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Demande toujours en attente</a:t>
                      </a:r>
                    </a:p>
                  </a:txBody>
                  <a:tcPr marL="91440" marR="91440" marT="45720" marB="45720">
                    <a:solidFill>
                      <a:srgbClr val="EAF0F1"/>
                    </a:solidFill>
                  </a:tcPr>
                </a:tc>
                <a:tc>
                  <a:txBody>
                    <a:bodyPr/>
                    <a:lstStyle/>
                    <a:p>
                      <a:r>
                        <a:rPr sz="1725" b="0">
                          <a:solidFill>
                            <a:srgbClr val="173039"/>
                          </a:solidFill>
                          <a:latin typeface="Arial"/>
                          <a:ea typeface="Arial"/>
                          <a:cs typeface="Arial"/>
                        </a:rPr>
                        <a:t>Worker et registre des demandes.</a:t>
                      </a:r>
                    </a:p>
                  </a:txBody>
                  <a:tcPr marL="91440" marR="91440" marT="45720" marB="45720">
                    <a:solidFill>
                      <a:srgbClr val="EAF0F1"/>
                    </a:solidFill>
                  </a:tcPr>
                </a:tc>
                <a:tc>
                  <a:txBody>
                    <a:bodyPr/>
                    <a:lstStyle/>
                    <a:p>
                      <a:r>
                        <a:rPr sz="1725" b="0">
                          <a:solidFill>
                            <a:srgbClr val="173039"/>
                          </a:solidFill>
                          <a:latin typeface="Arial"/>
                          <a:ea typeface="Arial"/>
                          <a:cs typeface="Arial"/>
                        </a:rPr>
                        <a:t>État de la demande et prise en charge du travail.</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Aucune route possible</a:t>
                      </a:r>
                    </a:p>
                  </a:txBody>
                  <a:tcPr marL="91440" marR="91440" marT="45720" marB="45720">
                    <a:solidFill>
                      <a:srgbClr val="FFFFFF"/>
                    </a:solidFill>
                  </a:tcPr>
                </a:tc>
                <a:tc>
                  <a:txBody>
                    <a:bodyPr/>
                    <a:lstStyle/>
                    <a:p>
                      <a:r>
                        <a:rPr sz="1725" b="0">
                          <a:solidFill>
                            <a:srgbClr val="173039"/>
                          </a:solidFill>
                          <a:latin typeface="Arial"/>
                          <a:ea typeface="Arial"/>
                          <a:cs typeface="Arial"/>
                        </a:rPr>
                        <a:t>Données routières et contraintes.</a:t>
                      </a:r>
                    </a:p>
                  </a:txBody>
                  <a:tcPr marL="91440" marR="91440" marT="45720" marB="45720">
                    <a:solidFill>
                      <a:srgbClr val="FFFFFF"/>
                    </a:solidFill>
                  </a:tcPr>
                </a:tc>
                <a:tc>
                  <a:txBody>
                    <a:bodyPr/>
                    <a:lstStyle/>
                    <a:p>
                      <a:r>
                        <a:rPr sz="1725" b="0">
                          <a:solidFill>
                            <a:srgbClr val="173039"/>
                          </a:solidFill>
                          <a:latin typeface="Arial"/>
                          <a:ea typeface="Arial"/>
                          <a:cs typeface="Arial"/>
                        </a:rPr>
                        <a:t>Matrice, capacité, délais et diagnostic du solveur.</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Aucun appel de modèle sur un agent</a:t>
                      </a:r>
                    </a:p>
                  </a:txBody>
                  <a:tcPr marL="91440" marR="91440" marT="45720" marB="45720">
                    <a:solidFill>
                      <a:srgbClr val="EAF0F1"/>
                    </a:solidFill>
                  </a:tcPr>
                </a:tc>
                <a:tc>
                  <a:txBody>
                    <a:bodyPr/>
                    <a:lstStyle/>
                    <a:p>
                      <a:r>
                        <a:rPr sz="1725" b="0">
                          <a:solidFill>
                            <a:srgbClr val="173039"/>
                          </a:solidFill>
                          <a:latin typeface="Arial"/>
                          <a:ea typeface="Arial"/>
                          <a:cs typeface="Arial"/>
                        </a:rPr>
                        <a:t>Politique d’explication et usage.</a:t>
                      </a:r>
                    </a:p>
                  </a:txBody>
                  <a:tcPr marL="91440" marR="91440" marT="45720" marB="45720">
                    <a:solidFill>
                      <a:srgbClr val="EAF0F1"/>
                    </a:solidFill>
                  </a:tcPr>
                </a:tc>
                <a:tc>
                  <a:txBody>
                    <a:bodyPr/>
                    <a:lstStyle/>
                    <a:p>
                      <a:r>
                        <a:rPr sz="1725" b="0">
                          <a:solidFill>
                            <a:srgbClr val="173039"/>
                          </a:solidFill>
                          <a:latin typeface="Arial"/>
                          <a:ea typeface="Arial"/>
                          <a:cs typeface="Arial"/>
                        </a:rPr>
                        <a:t>Raison d’omission, outils exécutés et appels enregistrés.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Carte sans trajet</a:t>
                      </a:r>
                    </a:p>
                  </a:txBody>
                  <a:tcPr marL="91440" marR="91440" marT="45720" marB="45720">
                    <a:solidFill>
                      <a:srgbClr val="FFFFFF"/>
                    </a:solidFill>
                  </a:tcPr>
                </a:tc>
                <a:tc>
                  <a:txBody>
                    <a:bodyPr/>
                    <a:lstStyle/>
                    <a:p>
                      <a:r>
                        <a:rPr sz="1725" b="0">
                          <a:solidFill>
                            <a:srgbClr val="173039"/>
                          </a:solidFill>
                          <a:latin typeface="Arial"/>
                          <a:ea typeface="Arial"/>
                          <a:cs typeface="Arial"/>
                        </a:rPr>
                        <a:t>Géométrie et affichage MapLibre.</a:t>
                      </a:r>
                    </a:p>
                  </a:txBody>
                  <a:tcPr marL="91440" marR="91440" marT="45720" marB="45720">
                    <a:solidFill>
                      <a:srgbClr val="FFFFFF"/>
                    </a:solidFill>
                  </a:tcPr>
                </a:tc>
                <a:tc>
                  <a:txBody>
                    <a:bodyPr/>
                    <a:lstStyle/>
                    <a:p>
                      <a:r>
                        <a:rPr sz="1725" b="0">
                          <a:solidFill>
                            <a:srgbClr val="173039"/>
                          </a:solidFill>
                          <a:latin typeface="Arial"/>
                          <a:ea typeface="Arial"/>
                          <a:cs typeface="Arial"/>
                        </a:rPr>
                        <a:t>Résultat routier, couches et arrêt sélectionné.</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37299499"/>
      </p:ext>
    </p:extLst>
  </p:cSld>
</p:sld>
</file>

<file path=ppt/slides/slide3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946A91-4AFA-42D5-8FCA-22B4195ABE70}"/>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rôle de chaque couche dans la décision</a:t>
            </a:r>
          </a:p>
        </p:txBody>
      </p:sp>
      <p:sp>
        <p:nvSpPr>
          <p:cNvPr id="2" name="">
            <a:extLst xmlns:a="http://schemas.openxmlformats.org/drawingml/2006/main">
              <a:ext uri="{FF2B5EF4-FFF2-40B4-BE49-F238E27FC236}">
                <a16:creationId xmlns:a16="http://schemas.microsoft.com/office/drawing/2014/main" id="{CA50A5B0-9ECE-4A22-90B0-065BFEF191FF}"/>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B0C31A93-1EC0-4918-A6F5-56E6DD67E0B0}"/>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six pages suivantes détaillent les dépendances. Les notes recensent individuellement les 104 paquets déclarés.</a:t>
            </a:r>
          </a:p>
        </p:txBody>
      </p:sp>
      <p:graphicFrame>
        <p:nvGraphicFramePr>
          <p:cNvPr id="4" name="">
            <a:extLst xmlns:a="http://schemas.openxmlformats.org/drawingml/2006/main">
              <a:ext uri="{FF2B5EF4-FFF2-40B4-BE49-F238E27FC236}">
                <a16:creationId xmlns:a16="http://schemas.microsoft.com/office/drawing/2014/main" id="{79D70165-F991-47ED-B258-A39D77A64C5A}"/>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3238500"/>
                <a:gridCol w="3143250"/>
                <a:gridCol w="4591050"/>
              </a:tblGrid>
              <a:tr h="457200">
                <a:tc>
                  <a:txBody>
                    <a:bodyPr/>
                    <a:lstStyle/>
                    <a:p>
                      <a:r>
                        <a:rPr sz="1725" b="1">
                          <a:solidFill>
                            <a:srgbClr val="FFFFFF"/>
                          </a:solidFill>
                          <a:latin typeface="Arial"/>
                          <a:ea typeface="Arial"/>
                          <a:cs typeface="Arial"/>
                        </a:rPr>
                        <a:t>QUESTION</a:t>
                      </a:r>
                    </a:p>
                  </a:txBody>
                  <a:tcPr marL="91440" marR="91440" marT="45720" marB="45720">
                    <a:solidFill>
                      <a:srgbClr val="173039"/>
                    </a:solidFill>
                  </a:tcPr>
                </a:tc>
                <a:tc>
                  <a:txBody>
                    <a:bodyPr/>
                    <a:lstStyle/>
                    <a:p>
                      <a:r>
                        <a:rPr sz="1725" b="1">
                          <a:solidFill>
                            <a:srgbClr val="FFFFFF"/>
                          </a:solidFill>
                          <a:latin typeface="Arial"/>
                          <a:ea typeface="Arial"/>
                          <a:cs typeface="Arial"/>
                        </a:rPr>
                        <a:t>OUTIL PRINCIPAL</a:t>
                      </a:r>
                    </a:p>
                  </a:txBody>
                  <a:tcPr marL="91440" marR="91440" marT="45720" marB="45720">
                    <a:solidFill>
                      <a:srgbClr val="173039"/>
                    </a:solidFill>
                  </a:tcPr>
                </a:tc>
                <a:tc>
                  <a:txBody>
                    <a:bodyPr/>
                    <a:lstStyle/>
                    <a:p>
                      <a:r>
                        <a:rPr sz="1725" b="1">
                          <a:solidFill>
                            <a:srgbClr val="FFFFFF"/>
                          </a:solidFill>
                          <a:latin typeface="Arial"/>
                          <a:ea typeface="Arial"/>
                          <a:cs typeface="Arial"/>
                        </a:rPr>
                        <a:t>RESPONSABILITÉ DE GENESIS</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Que voit le répartiteur ?</a:t>
                      </a:r>
                    </a:p>
                  </a:txBody>
                  <a:tcPr marL="91440" marR="91440" marT="45720" marB="45720">
                    <a:solidFill>
                      <a:srgbClr val="FFFFFF"/>
                    </a:solidFill>
                  </a:tcPr>
                </a:tc>
                <a:tc>
                  <a:txBody>
                    <a:bodyPr/>
                    <a:lstStyle/>
                    <a:p>
                      <a:r>
                        <a:rPr sz="1725" b="0">
                          <a:solidFill>
                            <a:srgbClr val="173039"/>
                          </a:solidFill>
                          <a:latin typeface="Arial"/>
                          <a:ea typeface="Arial"/>
                          <a:cs typeface="Arial"/>
                        </a:rPr>
                        <a:t>React, MapLibre, ECharts</a:t>
                      </a:r>
                    </a:p>
                  </a:txBody>
                  <a:tcPr marL="91440" marR="91440" marT="45720" marB="45720">
                    <a:solidFill>
                      <a:srgbClr val="FFFFFF"/>
                    </a:solidFill>
                  </a:tcPr>
                </a:tc>
                <a:tc>
                  <a:txBody>
                    <a:bodyPr/>
                    <a:lstStyle/>
                    <a:p>
                      <a:r>
                        <a:rPr sz="1725" b="0">
                          <a:solidFill>
                            <a:srgbClr val="173039"/>
                          </a:solidFill>
                          <a:latin typeface="Arial"/>
                          <a:ea typeface="Arial"/>
                          <a:cs typeface="Arial"/>
                        </a:rPr>
                        <a:t>Préparer des données cohérentes et un affichage lisible.</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La demande est-elle recevable ?</a:t>
                      </a:r>
                    </a:p>
                  </a:txBody>
                  <a:tcPr marL="91440" marR="91440" marT="45720" marB="45720">
                    <a:solidFill>
                      <a:srgbClr val="EAF0F1"/>
                    </a:solidFill>
                  </a:tcPr>
                </a:tc>
                <a:tc>
                  <a:txBody>
                    <a:bodyPr/>
                    <a:lstStyle/>
                    <a:p>
                      <a:r>
                        <a:rPr sz="1725" b="0">
                          <a:solidFill>
                            <a:srgbClr val="173039"/>
                          </a:solidFill>
                          <a:latin typeface="Arial"/>
                          <a:ea typeface="Arial"/>
                          <a:cs typeface="Arial"/>
                        </a:rPr>
                        <a:t>FastAPI + Pydantic</a:t>
                      </a:r>
                    </a:p>
                  </a:txBody>
                  <a:tcPr marL="91440" marR="91440" marT="45720" marB="45720">
                    <a:solidFill>
                      <a:srgbClr val="EAF0F1"/>
                    </a:solidFill>
                  </a:tcPr>
                </a:tc>
                <a:tc>
                  <a:txBody>
                    <a:bodyPr/>
                    <a:lstStyle/>
                    <a:p>
                      <a:r>
                        <a:rPr sz="1725" b="0">
                          <a:solidFill>
                            <a:srgbClr val="173039"/>
                          </a:solidFill>
                          <a:latin typeface="Arial"/>
                          <a:ea typeface="Arial"/>
                          <a:cs typeface="Arial"/>
                        </a:rPr>
                        <a:t>Appliquer le contrat et les règles métier.</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Quel plan peut fonctionner ?</a:t>
                      </a:r>
                    </a:p>
                  </a:txBody>
                  <a:tcPr marL="91440" marR="91440" marT="45720" marB="45720">
                    <a:solidFill>
                      <a:srgbClr val="FFFFFF"/>
                    </a:solidFill>
                  </a:tcPr>
                </a:tc>
                <a:tc>
                  <a:txBody>
                    <a:bodyPr/>
                    <a:lstStyle/>
                    <a:p>
                      <a:r>
                        <a:rPr sz="1725" b="0">
                          <a:solidFill>
                            <a:srgbClr val="173039"/>
                          </a:solidFill>
                          <a:latin typeface="Arial"/>
                          <a:ea typeface="Arial"/>
                          <a:cs typeface="Arial"/>
                        </a:rPr>
                        <a:t>LangGraph + OR-Tools</a:t>
                      </a:r>
                    </a:p>
                  </a:txBody>
                  <a:tcPr marL="91440" marR="91440" marT="45720" marB="45720">
                    <a:solidFill>
                      <a:srgbClr val="FFFFFF"/>
                    </a:solidFill>
                  </a:tcPr>
                </a:tc>
                <a:tc>
                  <a:txBody>
                    <a:bodyPr/>
                    <a:lstStyle/>
                    <a:p>
                      <a:r>
                        <a:rPr sz="1725" b="0">
                          <a:solidFill>
                            <a:srgbClr val="173039"/>
                          </a:solidFill>
                          <a:latin typeface="Arial"/>
                          <a:ea typeface="Arial"/>
                          <a:cs typeface="Arial"/>
                        </a:rPr>
                        <a:t>Formuler les contraintes et contrôler le candidat.</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Pourquoi ce résultat ?</a:t>
                      </a:r>
                    </a:p>
                  </a:txBody>
                  <a:tcPr marL="91440" marR="91440" marT="45720" marB="45720">
                    <a:solidFill>
                      <a:srgbClr val="EAF0F1"/>
                    </a:solidFill>
                  </a:tcPr>
                </a:tc>
                <a:tc>
                  <a:txBody>
                    <a:bodyPr/>
                    <a:lstStyle/>
                    <a:p>
                      <a:r>
                        <a:rPr sz="1725" b="0">
                          <a:solidFill>
                            <a:srgbClr val="173039"/>
                          </a:solidFill>
                          <a:latin typeface="Arial"/>
                          <a:ea typeface="Arial"/>
                          <a:cs typeface="Arial"/>
                        </a:rPr>
                        <a:t>Preuves et Anthropic facultatif</a:t>
                      </a:r>
                    </a:p>
                  </a:txBody>
                  <a:tcPr marL="91440" marR="91440" marT="45720" marB="45720">
                    <a:solidFill>
                      <a:srgbClr val="EAF0F1"/>
                    </a:solidFill>
                  </a:tcPr>
                </a:tc>
                <a:tc>
                  <a:txBody>
                    <a:bodyPr/>
                    <a:lstStyle/>
                    <a:p>
                      <a:r>
                        <a:rPr sz="1725" b="0">
                          <a:solidFill>
                            <a:srgbClr val="173039"/>
                          </a:solidFill>
                          <a:latin typeface="Arial"/>
                          <a:ea typeface="Arial"/>
                          <a:cs typeface="Arial"/>
                        </a:rPr>
                        <a:t>Expliquer sans contourner le certificat.</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Que conserve-t-on pour demain ?</a:t>
                      </a:r>
                    </a:p>
                  </a:txBody>
                  <a:tcPr marL="91440" marR="91440" marT="45720" marB="45720">
                    <a:solidFill>
                      <a:srgbClr val="FFFFFF"/>
                    </a:solidFill>
                  </a:tcPr>
                </a:tc>
                <a:tc>
                  <a:txBody>
                    <a:bodyPr/>
                    <a:lstStyle/>
                    <a:p>
                      <a:r>
                        <a:rPr sz="1725" b="0">
                          <a:solidFill>
                            <a:srgbClr val="173039"/>
                          </a:solidFill>
                          <a:latin typeface="Arial"/>
                          <a:ea typeface="Arial"/>
                          <a:cs typeface="Arial"/>
                        </a:rPr>
                        <a:t>SQLAlchemy + SQLite</a:t>
                      </a:r>
                    </a:p>
                  </a:txBody>
                  <a:tcPr marL="91440" marR="91440" marT="45720" marB="45720">
                    <a:solidFill>
                      <a:srgbClr val="FFFFFF"/>
                    </a:solidFill>
                  </a:tcPr>
                </a:tc>
                <a:tc>
                  <a:txBody>
                    <a:bodyPr/>
                    <a:lstStyle/>
                    <a:p>
                      <a:r>
                        <a:rPr sz="1725" b="0">
                          <a:solidFill>
                            <a:srgbClr val="173039"/>
                          </a:solidFill>
                          <a:latin typeface="Arial"/>
                          <a:ea typeface="Arial"/>
                          <a:cs typeface="Arial"/>
                        </a:rPr>
                        <a:t>Conserver commandes, résultats, historique et coûts.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87136057"/>
      </p:ext>
    </p:extLst>
  </p:cSld>
</p:sld>
</file>

<file path=ppt/slides/slide3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72FE3F-62F7-471A-BAD6-5712BF200169}"/>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bibliothèques et leur support</a:t>
            </a:r>
          </a:p>
        </p:txBody>
      </p:sp>
      <p:sp>
        <p:nvSpPr>
          <p:cNvPr id="2" name="">
            <a:extLst xmlns:a="http://schemas.openxmlformats.org/drawingml/2006/main">
              <a:ext uri="{FF2B5EF4-FFF2-40B4-BE49-F238E27FC236}">
                <a16:creationId xmlns:a16="http://schemas.microsoft.com/office/drawing/2014/main" id="{E13D17F0-63B8-4FEE-8BB7-DAD5F258DD6B}"/>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33</a:t>
            </a:r>
          </a:p>
        </p:txBody>
      </p:sp>
      <p:sp>
        <p:nvSpPr>
          <p:cNvPr id="3" name="">
            <a:extLst xmlns:a="http://schemas.openxmlformats.org/drawingml/2006/main">
              <a:ext uri="{FF2B5EF4-FFF2-40B4-BE49-F238E27FC236}">
                <a16:creationId xmlns:a16="http://schemas.microsoft.com/office/drawing/2014/main" id="{9A9E4479-6ED5-49F2-B2A5-2275ADCD1B87}"/>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10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588156DD-51EF-402E-A16C-36DC962E9035}"/>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FastAPI</a:t>
                      </a:r>
                    </a:p>
                  </a:txBody>
                  <a:tcPr marL="91440" marR="91440" marT="45720" marB="45720">
                    <a:solidFill>
                      <a:srgbClr val="FFFFFF"/>
                    </a:solidFill>
                  </a:tcPr>
                </a:tc>
                <a:tc>
                  <a:txBody>
                    <a:bodyPr/>
                    <a:lstStyle/>
                    <a:p>
                      <a:r>
                        <a:rPr sz="1725" b="0">
                          <a:solidFill>
                            <a:srgbClr val="173039"/>
                          </a:solidFill>
                          <a:latin typeface="Arial"/>
                          <a:ea typeface="Arial"/>
                          <a:cs typeface="Arial"/>
                        </a:rPr>
                        <a:t>Starlette + Pydantic</a:t>
                      </a:r>
                    </a:p>
                  </a:txBody>
                  <a:tcPr marL="91440" marR="91440" marT="45720" marB="45720">
                    <a:solidFill>
                      <a:srgbClr val="FFFFFF"/>
                    </a:solidFill>
                  </a:tcPr>
                </a:tc>
                <a:tc>
                  <a:txBody>
                    <a:bodyPr/>
                    <a:lstStyle/>
                    <a:p>
                      <a:r>
                        <a:rPr sz="1725" b="0">
                          <a:solidFill>
                            <a:srgbClr val="173039"/>
                          </a:solidFill>
                          <a:latin typeface="Arial"/>
                          <a:ea typeface="Arial"/>
                          <a:cs typeface="Arial"/>
                        </a:rPr>
                        <a:t>Acheminer les requêtes et valider les données.</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LangGraph</a:t>
                      </a:r>
                    </a:p>
                  </a:txBody>
                  <a:tcPr marL="91440" marR="91440" marT="45720" marB="45720">
                    <a:solidFill>
                      <a:srgbClr val="EAF0F1"/>
                    </a:solidFill>
                  </a:tcPr>
                </a:tc>
                <a:tc>
                  <a:txBody>
                    <a:bodyPr/>
                    <a:lstStyle/>
                    <a:p>
                      <a:r>
                        <a:rPr sz="1725" b="0">
                          <a:solidFill>
                            <a:srgbClr val="173039"/>
                          </a:solidFill>
                          <a:latin typeface="Arial"/>
                          <a:ea typeface="Arial"/>
                          <a:cs typeface="Arial"/>
                        </a:rPr>
                        <a:t>Checkpoint + prebuilt + SDK</a:t>
                      </a:r>
                    </a:p>
                  </a:txBody>
                  <a:tcPr marL="91440" marR="91440" marT="45720" marB="45720">
                    <a:solidFill>
                      <a:srgbClr val="EAF0F1"/>
                    </a:solidFill>
                  </a:tcPr>
                </a:tc>
                <a:tc>
                  <a:txBody>
                    <a:bodyPr/>
                    <a:lstStyle/>
                    <a:p>
                      <a:r>
                        <a:rPr sz="1725" b="0">
                          <a:solidFill>
                            <a:srgbClr val="173039"/>
                          </a:solidFill>
                          <a:latin typeface="Arial"/>
                          <a:ea typeface="Arial"/>
                          <a:cs typeface="Arial"/>
                        </a:rPr>
                        <a:t>Fournir les composants du moteur de graphe.</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OR-Tools</a:t>
                      </a:r>
                    </a:p>
                  </a:txBody>
                  <a:tcPr marL="91440" marR="91440" marT="45720" marB="45720">
                    <a:solidFill>
                      <a:srgbClr val="FFFFFF"/>
                    </a:solidFill>
                  </a:tcPr>
                </a:tc>
                <a:tc>
                  <a:txBody>
                    <a:bodyPr/>
                    <a:lstStyle/>
                    <a:p>
                      <a:r>
                        <a:rPr sz="1725" b="0">
                          <a:solidFill>
                            <a:srgbClr val="173039"/>
                          </a:solidFill>
                          <a:latin typeface="Arial"/>
                          <a:ea typeface="Arial"/>
                          <a:cs typeface="Arial"/>
                        </a:rPr>
                        <a:t>NumPy + Pandas + protobuf</a:t>
                      </a:r>
                    </a:p>
                  </a:txBody>
                  <a:tcPr marL="91440" marR="91440" marT="45720" marB="45720">
                    <a:solidFill>
                      <a:srgbClr val="FFFFFF"/>
                    </a:solidFill>
                  </a:tcPr>
                </a:tc>
                <a:tc>
                  <a:txBody>
                    <a:bodyPr/>
                    <a:lstStyle/>
                    <a:p>
                      <a:r>
                        <a:rPr sz="1725" b="0">
                          <a:solidFill>
                            <a:srgbClr val="173039"/>
                          </a:solidFill>
                          <a:latin typeface="Arial"/>
                          <a:ea typeface="Arial"/>
                          <a:cs typeface="Arial"/>
                        </a:rPr>
                        <a:t>Support numérique et données du paquet solveur.</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Anthropic</a:t>
                      </a:r>
                    </a:p>
                  </a:txBody>
                  <a:tcPr marL="91440" marR="91440" marT="45720" marB="45720">
                    <a:solidFill>
                      <a:srgbClr val="EAF0F1"/>
                    </a:solidFill>
                  </a:tcPr>
                </a:tc>
                <a:tc>
                  <a:txBody>
                    <a:bodyPr/>
                    <a:lstStyle/>
                    <a:p>
                      <a:r>
                        <a:rPr sz="1725" b="0">
                          <a:solidFill>
                            <a:srgbClr val="173039"/>
                          </a:solidFill>
                          <a:latin typeface="Arial"/>
                          <a:ea typeface="Arial"/>
                          <a:cs typeface="Arial"/>
                        </a:rPr>
                        <a:t>HTTPX2 + Pydantic</a:t>
                      </a:r>
                    </a:p>
                  </a:txBody>
                  <a:tcPr marL="91440" marR="91440" marT="45720" marB="45720">
                    <a:solidFill>
                      <a:srgbClr val="EAF0F1"/>
                    </a:solidFill>
                  </a:tcPr>
                </a:tc>
                <a:tc>
                  <a:txBody>
                    <a:bodyPr/>
                    <a:lstStyle/>
                    <a:p>
                      <a:r>
                        <a:rPr sz="1725" b="0">
                          <a:solidFill>
                            <a:srgbClr val="173039"/>
                          </a:solidFill>
                          <a:latin typeface="Arial"/>
                          <a:ea typeface="Arial"/>
                          <a:cs typeface="Arial"/>
                        </a:rPr>
                        <a:t>Transport du SDK et représentation des réponses.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SQLAlchemy</a:t>
                      </a:r>
                    </a:p>
                  </a:txBody>
                  <a:tcPr marL="91440" marR="91440" marT="45720" marB="45720">
                    <a:solidFill>
                      <a:srgbClr val="FFFFFF"/>
                    </a:solidFill>
                  </a:tcPr>
                </a:tc>
                <a:tc>
                  <a:txBody>
                    <a:bodyPr/>
                    <a:lstStyle/>
                    <a:p>
                      <a:r>
                        <a:rPr sz="1725" b="0">
                          <a:solidFill>
                            <a:srgbClr val="173039"/>
                          </a:solidFill>
                          <a:latin typeface="Arial"/>
                          <a:ea typeface="Arial"/>
                          <a:cs typeface="Arial"/>
                        </a:rPr>
                        <a:t>typing-extensions</a:t>
                      </a:r>
                    </a:p>
                  </a:txBody>
                  <a:tcPr marL="91440" marR="91440" marT="45720" marB="45720">
                    <a:solidFill>
                      <a:srgbClr val="FFFFFF"/>
                    </a:solidFill>
                  </a:tcPr>
                </a:tc>
                <a:tc>
                  <a:txBody>
                    <a:bodyPr/>
                    <a:lstStyle/>
                    <a:p>
                      <a:r>
                        <a:rPr sz="1725" b="0">
                          <a:solidFill>
                            <a:srgbClr val="173039"/>
                          </a:solidFill>
                          <a:latin typeface="Arial"/>
                          <a:ea typeface="Arial"/>
                          <a:cs typeface="Arial"/>
                        </a:rPr>
                        <a:t>Support des annotations de types entre versions Python.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40455233"/>
      </p:ext>
    </p:extLst>
  </p:cSld>
</p:sld>
</file>

<file path=ppt/slides/slide3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8E2FF7-EE4B-43C9-931A-365512949746}"/>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Ce que font les dépendances de support</a:t>
            </a:r>
          </a:p>
        </p:txBody>
      </p:sp>
      <p:sp>
        <p:nvSpPr>
          <p:cNvPr id="2" name="">
            <a:extLst xmlns:a="http://schemas.openxmlformats.org/drawingml/2006/main">
              <a:ext uri="{FF2B5EF4-FFF2-40B4-BE49-F238E27FC236}">
                <a16:creationId xmlns:a16="http://schemas.microsoft.com/office/drawing/2014/main" id="{D7C4267A-3195-4E7A-9B8D-63E30F9BDD2B}"/>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34</a:t>
            </a:r>
          </a:p>
        </p:txBody>
      </p:sp>
      <p:sp>
        <p:nvSpPr>
          <p:cNvPr id="3" name="">
            <a:extLst xmlns:a="http://schemas.openxmlformats.org/drawingml/2006/main">
              <a:ext uri="{FF2B5EF4-FFF2-40B4-BE49-F238E27FC236}">
                <a16:creationId xmlns:a16="http://schemas.microsoft.com/office/drawing/2014/main" id="{6F695EC2-D3D6-4E2F-BD65-A19D205F74BD}"/>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60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521CAEC9-C9E5-4FED-8BAA-54DF8D0DE74B}"/>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Starlette + AnyIO</a:t>
                      </a:r>
                    </a:p>
                  </a:txBody>
                  <a:tcPr marL="91440" marR="91440" marT="45720" marB="45720">
                    <a:solidFill>
                      <a:srgbClr val="FFFFFF"/>
                    </a:solidFill>
                  </a:tcPr>
                </a:tc>
                <a:tc>
                  <a:txBody>
                    <a:bodyPr/>
                    <a:lstStyle/>
                    <a:p>
                      <a:r>
                        <a:rPr sz="1725" b="0">
                          <a:solidFill>
                            <a:srgbClr val="173039"/>
                          </a:solidFill>
                          <a:latin typeface="Arial"/>
                          <a:ea typeface="Arial"/>
                          <a:cs typeface="Arial"/>
                        </a:rPr>
                        <a:t>Web et concurrence</a:t>
                      </a:r>
                    </a:p>
                  </a:txBody>
                  <a:tcPr marL="91440" marR="91440" marT="45720" marB="45720">
                    <a:solidFill>
                      <a:srgbClr val="FFFFFF"/>
                    </a:solidFill>
                  </a:tcPr>
                </a:tc>
                <a:tc>
                  <a:txBody>
                    <a:bodyPr/>
                    <a:lstStyle/>
                    <a:p>
                      <a:r>
                        <a:rPr sz="1725" b="0">
                          <a:solidFill>
                            <a:srgbClr val="173039"/>
                          </a:solidFill>
                          <a:latin typeface="Arial"/>
                          <a:ea typeface="Arial"/>
                          <a:cs typeface="Arial"/>
                        </a:rPr>
                        <a:t>Supporter les requêtes, réponses et tâches ASGI.</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HTTPcore + certifi</a:t>
                      </a:r>
                    </a:p>
                  </a:txBody>
                  <a:tcPr marL="91440" marR="91440" marT="45720" marB="45720">
                    <a:solidFill>
                      <a:srgbClr val="EAF0F1"/>
                    </a:solidFill>
                  </a:tcPr>
                </a:tc>
                <a:tc>
                  <a:txBody>
                    <a:bodyPr/>
                    <a:lstStyle/>
                    <a:p>
                      <a:r>
                        <a:rPr sz="1725" b="0">
                          <a:solidFill>
                            <a:srgbClr val="173039"/>
                          </a:solidFill>
                          <a:latin typeface="Arial"/>
                          <a:ea typeface="Arial"/>
                          <a:cs typeface="Arial"/>
                        </a:rPr>
                        <a:t>Transport HTTPX</a:t>
                      </a:r>
                    </a:p>
                  </a:txBody>
                  <a:tcPr marL="91440" marR="91440" marT="45720" marB="45720">
                    <a:solidFill>
                      <a:srgbClr val="EAF0F1"/>
                    </a:solidFill>
                  </a:tcPr>
                </a:tc>
                <a:tc>
                  <a:txBody>
                    <a:bodyPr/>
                    <a:lstStyle/>
                    <a:p>
                      <a:r>
                        <a:rPr sz="1725" b="0">
                          <a:solidFill>
                            <a:srgbClr val="173039"/>
                          </a:solidFill>
                          <a:latin typeface="Arial"/>
                          <a:ea typeface="Arial"/>
                          <a:cs typeface="Arial"/>
                        </a:rPr>
                        <a:t>Gérer connexions HTTP et certificats TLS.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HTTPcore2 + truststore</a:t>
                      </a:r>
                    </a:p>
                  </a:txBody>
                  <a:tcPr marL="91440" marR="91440" marT="45720" marB="45720">
                    <a:solidFill>
                      <a:srgbClr val="FFFFFF"/>
                    </a:solidFill>
                  </a:tcPr>
                </a:tc>
                <a:tc>
                  <a:txBody>
                    <a:bodyPr/>
                    <a:lstStyle/>
                    <a:p>
                      <a:r>
                        <a:rPr sz="1725" b="0">
                          <a:solidFill>
                            <a:srgbClr val="173039"/>
                          </a:solidFill>
                          <a:latin typeface="Arial"/>
                          <a:ea typeface="Arial"/>
                          <a:cs typeface="Arial"/>
                        </a:rPr>
                        <a:t>Transport HTTPX2</a:t>
                      </a:r>
                    </a:p>
                  </a:txBody>
                  <a:tcPr marL="91440" marR="91440" marT="45720" marB="45720">
                    <a:solidFill>
                      <a:srgbClr val="FFFFFF"/>
                    </a:solidFill>
                  </a:tcPr>
                </a:tc>
                <a:tc>
                  <a:txBody>
                    <a:bodyPr/>
                    <a:lstStyle/>
                    <a:p>
                      <a:r>
                        <a:rPr sz="1725" b="0">
                          <a:solidFill>
                            <a:srgbClr val="173039"/>
                          </a:solidFill>
                          <a:latin typeface="Arial"/>
                          <a:ea typeface="Arial"/>
                          <a:cs typeface="Arial"/>
                        </a:rPr>
                        <a:t>Transport et certificats du SDK Anthropic.</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Pydantic-core</a:t>
                      </a:r>
                    </a:p>
                  </a:txBody>
                  <a:tcPr marL="91440" marR="91440" marT="45720" marB="45720">
                    <a:solidFill>
                      <a:srgbClr val="EAF0F1"/>
                    </a:solidFill>
                  </a:tcPr>
                </a:tc>
                <a:tc>
                  <a:txBody>
                    <a:bodyPr/>
                    <a:lstStyle/>
                    <a:p>
                      <a:r>
                        <a:rPr sz="1725" b="0">
                          <a:solidFill>
                            <a:srgbClr val="173039"/>
                          </a:solidFill>
                          <a:latin typeface="Arial"/>
                          <a:ea typeface="Arial"/>
                          <a:cs typeface="Arial"/>
                        </a:rPr>
                        <a:t>Validation compilée</a:t>
                      </a:r>
                    </a:p>
                  </a:txBody>
                  <a:tcPr marL="91440" marR="91440" marT="45720" marB="45720">
                    <a:solidFill>
                      <a:srgbClr val="EAF0F1"/>
                    </a:solidFill>
                  </a:tcPr>
                </a:tc>
                <a:tc>
                  <a:txBody>
                    <a:bodyPr/>
                    <a:lstStyle/>
                    <a:p>
                      <a:r>
                        <a:rPr sz="1725" b="0">
                          <a:solidFill>
                            <a:srgbClr val="173039"/>
                          </a:solidFill>
                          <a:latin typeface="Arial"/>
                          <a:ea typeface="Arial"/>
                          <a:cs typeface="Arial"/>
                        </a:rPr>
                        <a:t>Appliquer les règles des modèles Pydantic.</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OpenTelemetry</a:t>
                      </a:r>
                    </a:p>
                  </a:txBody>
                  <a:tcPr marL="91440" marR="91440" marT="45720" marB="45720">
                    <a:solidFill>
                      <a:srgbClr val="FFFFFF"/>
                    </a:solidFill>
                  </a:tcPr>
                </a:tc>
                <a:tc>
                  <a:txBody>
                    <a:bodyPr/>
                    <a:lstStyle/>
                    <a:p>
                      <a:r>
                        <a:rPr sz="1725" b="0">
                          <a:solidFill>
                            <a:srgbClr val="173039"/>
                          </a:solidFill>
                          <a:latin typeface="Arial"/>
                          <a:ea typeface="Arial"/>
                          <a:cs typeface="Arial"/>
                        </a:rPr>
                        <a:t>API, SDK, OTLP, protobuf</a:t>
                      </a:r>
                    </a:p>
                  </a:txBody>
                  <a:tcPr marL="91440" marR="91440" marT="45720" marB="45720">
                    <a:solidFill>
                      <a:srgbClr val="FFFFFF"/>
                    </a:solidFill>
                  </a:tcPr>
                </a:tc>
                <a:tc>
                  <a:txBody>
                    <a:bodyPr/>
                    <a:lstStyle/>
                    <a:p>
                      <a:r>
                        <a:rPr sz="1725" b="0">
                          <a:solidFill>
                            <a:srgbClr val="173039"/>
                          </a:solidFill>
                          <a:latin typeface="Arial"/>
                          <a:ea typeface="Arial"/>
                          <a:cs typeface="Arial"/>
                        </a:rPr>
                        <a:t>Décrire, traiter et transmettre les traces via Langfuse.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50335964"/>
      </p:ext>
    </p:extLst>
  </p:cSld>
</p:sld>
</file>

<file path=ppt/slides/slide3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E38166-7142-45E4-83CB-8B2289C079EA}"/>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intégrations optionnelles</a:t>
            </a:r>
          </a:p>
        </p:txBody>
      </p:sp>
      <p:sp>
        <p:nvSpPr>
          <p:cNvPr id="2" name="">
            <a:extLst xmlns:a="http://schemas.openxmlformats.org/drawingml/2006/main">
              <a:ext uri="{FF2B5EF4-FFF2-40B4-BE49-F238E27FC236}">
                <a16:creationId xmlns:a16="http://schemas.microsoft.com/office/drawing/2014/main" id="{96A8D5D9-8856-4305-8484-142D4FF9A40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35</a:t>
            </a:r>
          </a:p>
        </p:txBody>
      </p:sp>
      <p:sp>
        <p:nvSpPr>
          <p:cNvPr id="3" name="">
            <a:extLst xmlns:a="http://schemas.openxmlformats.org/drawingml/2006/main">
              <a:ext uri="{FF2B5EF4-FFF2-40B4-BE49-F238E27FC236}">
                <a16:creationId xmlns:a16="http://schemas.microsoft.com/office/drawing/2014/main" id="{CC146E8F-ED17-42F0-9B76-9A3982E6B66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4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0EC0944F-442F-449B-AF34-B94C7B98311E}"/>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862013">
                <a:tc>
                  <a:txBody>
                    <a:bodyPr/>
                    <a:lstStyle/>
                    <a:p>
                      <a:r>
                        <a:rPr sz="1725" b="1">
                          <a:solidFill>
                            <a:srgbClr val="173039"/>
                          </a:solidFill>
                          <a:latin typeface="Arial"/>
                          <a:ea typeface="Arial"/>
                          <a:cs typeface="Arial"/>
                        </a:rPr>
                        <a:t>Langfuse</a:t>
                      </a:r>
                    </a:p>
                  </a:txBody>
                  <a:tcPr marL="91440" marR="91440" marT="45720" marB="45720">
                    <a:solidFill>
                      <a:srgbClr val="FFFFFF"/>
                    </a:solidFill>
                  </a:tcPr>
                </a:tc>
                <a:tc>
                  <a:txBody>
                    <a:bodyPr/>
                    <a:lstStyle/>
                    <a:p>
                      <a:r>
                        <a:rPr sz="1725" b="0">
                          <a:solidFill>
                            <a:srgbClr val="173039"/>
                          </a:solidFill>
                          <a:latin typeface="Arial"/>
                          <a:ea typeface="Arial"/>
                          <a:cs typeface="Arial"/>
                        </a:rPr>
                        <a:t>Inspection de traces</a:t>
                      </a:r>
                    </a:p>
                  </a:txBody>
                  <a:tcPr marL="91440" marR="91440" marT="45720" marB="45720">
                    <a:solidFill>
                      <a:srgbClr val="FFFFFF"/>
                    </a:solidFill>
                  </a:tcPr>
                </a:tc>
                <a:tc>
                  <a:txBody>
                    <a:bodyPr/>
                    <a:lstStyle/>
                    <a:p>
                      <a:r>
                        <a:rPr sz="1725" b="0">
                          <a:solidFill>
                            <a:srgbClr val="173039"/>
                          </a:solidFill>
                          <a:latin typeface="Arial"/>
                          <a:ea typeface="Arial"/>
                          <a:cs typeface="Arial"/>
                        </a:rPr>
                        <a:t>Copie expurgée de l’outbox si configuré.</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Psycopg</a:t>
                      </a:r>
                    </a:p>
                  </a:txBody>
                  <a:tcPr marL="91440" marR="91440" marT="45720" marB="45720">
                    <a:solidFill>
                      <a:srgbClr val="EAF0F1"/>
                    </a:solidFill>
                  </a:tcPr>
                </a:tc>
                <a:tc>
                  <a:txBody>
                    <a:bodyPr/>
                    <a:lstStyle/>
                    <a:p>
                      <a:r>
                        <a:rPr sz="1725" b="0">
                          <a:solidFill>
                            <a:srgbClr val="173039"/>
                          </a:solidFill>
                          <a:latin typeface="Arial"/>
                          <a:ea typeface="Arial"/>
                          <a:cs typeface="Arial"/>
                        </a:rPr>
                        <a:t>Pilote PostgreSQL</a:t>
                      </a:r>
                    </a:p>
                  </a:txBody>
                  <a:tcPr marL="91440" marR="91440" marT="45720" marB="45720">
                    <a:solidFill>
                      <a:srgbClr val="EAF0F1"/>
                    </a:solidFill>
                  </a:tcPr>
                </a:tc>
                <a:tc>
                  <a:txBody>
                    <a:bodyPr/>
                    <a:lstStyle/>
                    <a:p>
                      <a:r>
                        <a:rPr sz="1725" b="0">
                          <a:solidFill>
                            <a:srgbClr val="173039"/>
                          </a:solidFill>
                          <a:latin typeface="Arial"/>
                          <a:ea typeface="Arial"/>
                          <a:cs typeface="Arial"/>
                        </a:rPr>
                        <a:t>Exécuter SQL contre le profil PostgreSQL choisi.</a:t>
                      </a:r>
                    </a:p>
                  </a:txBody>
                  <a:tcPr marL="91440" marR="91440" marT="45720" marB="45720">
                    <a:solidFill>
                      <a:srgbClr val="EAF0F1"/>
                    </a:solidFill>
                  </a:tcPr>
                </a:tc>
              </a:tr>
              <a:tr h="862013">
                <a:tc>
                  <a:txBody>
                    <a:bodyPr/>
                    <a:lstStyle/>
                    <a:p>
                      <a:r>
                        <a:rPr sz="1725" b="1">
                          <a:solidFill>
                            <a:srgbClr val="173039"/>
                          </a:solidFill>
                          <a:latin typeface="Arial"/>
                          <a:ea typeface="Arial"/>
                          <a:cs typeface="Arial"/>
                        </a:rPr>
                        <a:t>Psycopg-pool</a:t>
                      </a:r>
                    </a:p>
                  </a:txBody>
                  <a:tcPr marL="91440" marR="91440" marT="45720" marB="45720">
                    <a:solidFill>
                      <a:srgbClr val="FFFFFF"/>
                    </a:solidFill>
                  </a:tcPr>
                </a:tc>
                <a:tc>
                  <a:txBody>
                    <a:bodyPr/>
                    <a:lstStyle/>
                    <a:p>
                      <a:r>
                        <a:rPr sz="1725" b="0">
                          <a:solidFill>
                            <a:srgbClr val="173039"/>
                          </a:solidFill>
                          <a:latin typeface="Arial"/>
                          <a:ea typeface="Arial"/>
                          <a:cs typeface="Arial"/>
                        </a:rPr>
                        <a:t>Connexions réutilisables</a:t>
                      </a:r>
                    </a:p>
                  </a:txBody>
                  <a:tcPr marL="91440" marR="91440" marT="45720" marB="45720">
                    <a:solidFill>
                      <a:srgbClr val="FFFFFF"/>
                    </a:solidFill>
                  </a:tcPr>
                </a:tc>
                <a:tc>
                  <a:txBody>
                    <a:bodyPr/>
                    <a:lstStyle/>
                    <a:p>
                      <a:r>
                        <a:rPr sz="1725" b="0">
                          <a:solidFill>
                            <a:srgbClr val="173039"/>
                          </a:solidFill>
                          <a:latin typeface="Arial"/>
                          <a:ea typeface="Arial"/>
                          <a:cs typeface="Arial"/>
                        </a:rPr>
                        <a:t>Servir un pool si le chemin le sélectionne.</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Checkpoint PostgreSQL</a:t>
                      </a:r>
                    </a:p>
                  </a:txBody>
                  <a:tcPr marL="91440" marR="91440" marT="45720" marB="45720">
                    <a:solidFill>
                      <a:srgbClr val="EAF0F1"/>
                    </a:solidFill>
                  </a:tcPr>
                </a:tc>
                <a:tc>
                  <a:txBody>
                    <a:bodyPr/>
                    <a:lstStyle/>
                    <a:p>
                      <a:r>
                        <a:rPr sz="1725" b="0">
                          <a:solidFill>
                            <a:srgbClr val="173039"/>
                          </a:solidFill>
                          <a:latin typeface="Arial"/>
                          <a:ea typeface="Arial"/>
                          <a:cs typeface="Arial"/>
                        </a:rPr>
                        <a:t>État du graphe en SQL</a:t>
                      </a:r>
                    </a:p>
                  </a:txBody>
                  <a:tcPr marL="91440" marR="91440" marT="45720" marB="45720">
                    <a:solidFill>
                      <a:srgbClr val="EAF0F1"/>
                    </a:solidFill>
                  </a:tcPr>
                </a:tc>
                <a:tc>
                  <a:txBody>
                    <a:bodyPr/>
                    <a:lstStyle/>
                    <a:p>
                      <a:r>
                        <a:rPr sz="1725" b="0">
                          <a:solidFill>
                            <a:srgbClr val="173039"/>
                          </a:solidFill>
                          <a:latin typeface="Arial"/>
                          <a:ea typeface="Arial"/>
                          <a:cs typeface="Arial"/>
                        </a:rPr>
                        <a:t>Saver alternatif au SqliteSaver local.</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409661045"/>
      </p:ext>
    </p:extLst>
  </p:cSld>
</p:sld>
</file>

<file path=ppt/slides/slide3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C7F710-F6A9-45DE-85B5-C7BF23417E3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dépendances des tests Python</a:t>
            </a:r>
          </a:p>
        </p:txBody>
      </p:sp>
      <p:sp>
        <p:nvSpPr>
          <p:cNvPr id="2" name="">
            <a:extLst xmlns:a="http://schemas.openxmlformats.org/drawingml/2006/main">
              <a:ext uri="{FF2B5EF4-FFF2-40B4-BE49-F238E27FC236}">
                <a16:creationId xmlns:a16="http://schemas.microsoft.com/office/drawing/2014/main" id="{E80626CE-96DC-408E-890E-5EB4FC41F025}"/>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9337AF72-B227-4C1D-AC05-6E67BDB9C31D}"/>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4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2D26EAAD-65C5-4BFE-AA49-54A7B89A58A0}"/>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pytest</a:t>
                      </a:r>
                    </a:p>
                  </a:txBody>
                  <a:tcPr marL="91440" marR="91440" marT="45720" marB="45720">
                    <a:solidFill>
                      <a:srgbClr val="FFFFFF"/>
                    </a:solidFill>
                  </a:tcPr>
                </a:tc>
                <a:tc>
                  <a:txBody>
                    <a:bodyPr/>
                    <a:lstStyle/>
                    <a:p>
                      <a:r>
                        <a:rPr sz="1725" b="0">
                          <a:solidFill>
                            <a:srgbClr val="173039"/>
                          </a:solidFill>
                          <a:latin typeface="Arial"/>
                          <a:ea typeface="Arial"/>
                          <a:cs typeface="Arial"/>
                        </a:rPr>
                        <a:t>Moteur de tests</a:t>
                      </a:r>
                    </a:p>
                  </a:txBody>
                  <a:tcPr marL="91440" marR="91440" marT="45720" marB="45720">
                    <a:solidFill>
                      <a:srgbClr val="FFFFFF"/>
                    </a:solidFill>
                  </a:tcPr>
                </a:tc>
                <a:tc>
                  <a:txBody>
                    <a:bodyPr/>
                    <a:lstStyle/>
                    <a:p>
                      <a:r>
                        <a:rPr sz="1725" b="0">
                          <a:solidFill>
                            <a:srgbClr val="173039"/>
                          </a:solidFill>
                          <a:latin typeface="Arial"/>
                          <a:ea typeface="Arial"/>
                          <a:cs typeface="Arial"/>
                        </a:rPr>
                        <a:t>Découvrir les cas, fixtures et assertions backend.</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Pluggy</a:t>
                      </a:r>
                    </a:p>
                  </a:txBody>
                  <a:tcPr marL="91440" marR="91440" marT="45720" marB="45720">
                    <a:solidFill>
                      <a:srgbClr val="EAF0F1"/>
                    </a:solidFill>
                  </a:tcPr>
                </a:tc>
                <a:tc>
                  <a:txBody>
                    <a:bodyPr/>
                    <a:lstStyle/>
                    <a:p>
                      <a:r>
                        <a:rPr sz="1725" b="0">
                          <a:solidFill>
                            <a:srgbClr val="173039"/>
                          </a:solidFill>
                          <a:latin typeface="Arial"/>
                          <a:ea typeface="Arial"/>
                          <a:cs typeface="Arial"/>
                        </a:rPr>
                        <a:t>Points d’extension</a:t>
                      </a:r>
                    </a:p>
                  </a:txBody>
                  <a:tcPr marL="91440" marR="91440" marT="45720" marB="45720">
                    <a:solidFill>
                      <a:srgbClr val="EAF0F1"/>
                    </a:solidFill>
                  </a:tcPr>
                </a:tc>
                <a:tc>
                  <a:txBody>
                    <a:bodyPr/>
                    <a:lstStyle/>
                    <a:p>
                      <a:r>
                        <a:rPr sz="1725" b="0">
                          <a:solidFill>
                            <a:srgbClr val="173039"/>
                          </a:solidFill>
                          <a:latin typeface="Arial"/>
                          <a:ea typeface="Arial"/>
                          <a:cs typeface="Arial"/>
                        </a:rPr>
                        <a:t>Brancher les plugins dans le cycle de pytest.</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Iniconfig</a:t>
                      </a:r>
                    </a:p>
                  </a:txBody>
                  <a:tcPr marL="91440" marR="91440" marT="45720" marB="45720">
                    <a:solidFill>
                      <a:srgbClr val="FFFFFF"/>
                    </a:solidFill>
                  </a:tcPr>
                </a:tc>
                <a:tc>
                  <a:txBody>
                    <a:bodyPr/>
                    <a:lstStyle/>
                    <a:p>
                      <a:r>
                        <a:rPr sz="1725" b="0">
                          <a:solidFill>
                            <a:srgbClr val="173039"/>
                          </a:solidFill>
                          <a:latin typeface="Arial"/>
                          <a:ea typeface="Arial"/>
                          <a:cs typeface="Arial"/>
                        </a:rPr>
                        <a:t>Lecture de configuration</a:t>
                      </a:r>
                    </a:p>
                  </a:txBody>
                  <a:tcPr marL="91440" marR="91440" marT="45720" marB="45720">
                    <a:solidFill>
                      <a:srgbClr val="FFFFFF"/>
                    </a:solidFill>
                  </a:tcPr>
                </a:tc>
                <a:tc>
                  <a:txBody>
                    <a:bodyPr/>
                    <a:lstStyle/>
                    <a:p>
                      <a:r>
                        <a:rPr sz="1725" b="0">
                          <a:solidFill>
                            <a:srgbClr val="173039"/>
                          </a:solidFill>
                          <a:latin typeface="Arial"/>
                          <a:ea typeface="Arial"/>
                          <a:cs typeface="Arial"/>
                        </a:rPr>
                        <a:t>Interpréter les réglages INI utilisés par pytest.</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Pygments + Colorama</a:t>
                      </a:r>
                    </a:p>
                  </a:txBody>
                  <a:tcPr marL="91440" marR="91440" marT="45720" marB="45720">
                    <a:solidFill>
                      <a:srgbClr val="EAF0F1"/>
                    </a:solidFill>
                  </a:tcPr>
                </a:tc>
                <a:tc>
                  <a:txBody>
                    <a:bodyPr/>
                    <a:lstStyle/>
                    <a:p>
                      <a:r>
                        <a:rPr sz="1725" b="0">
                          <a:solidFill>
                            <a:srgbClr val="173039"/>
                          </a:solidFill>
                          <a:latin typeface="Arial"/>
                          <a:ea typeface="Arial"/>
                          <a:cs typeface="Arial"/>
                        </a:rPr>
                        <a:t>Sortie du terminal</a:t>
                      </a:r>
                    </a:p>
                  </a:txBody>
                  <a:tcPr marL="91440" marR="91440" marT="45720" marB="45720">
                    <a:solidFill>
                      <a:srgbClr val="EAF0F1"/>
                    </a:solidFill>
                  </a:tcPr>
                </a:tc>
                <a:tc>
                  <a:txBody>
                    <a:bodyPr/>
                    <a:lstStyle/>
                    <a:p>
                      <a:r>
                        <a:rPr sz="1725" b="0">
                          <a:solidFill>
                            <a:srgbClr val="173039"/>
                          </a:solidFill>
                          <a:latin typeface="Arial"/>
                          <a:ea typeface="Arial"/>
                          <a:cs typeface="Arial"/>
                        </a:rPr>
                        <a:t>Colorer les erreurs et adapter le terminal Windows.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Ruff</a:t>
                      </a:r>
                    </a:p>
                  </a:txBody>
                  <a:tcPr marL="91440" marR="91440" marT="45720" marB="45720">
                    <a:solidFill>
                      <a:srgbClr val="FFFFFF"/>
                    </a:solidFill>
                  </a:tcPr>
                </a:tc>
                <a:tc>
                  <a:txBody>
                    <a:bodyPr/>
                    <a:lstStyle/>
                    <a:p>
                      <a:r>
                        <a:rPr sz="1725" b="0">
                          <a:solidFill>
                            <a:srgbClr val="173039"/>
                          </a:solidFill>
                          <a:latin typeface="Arial"/>
                          <a:ea typeface="Arial"/>
                          <a:cs typeface="Arial"/>
                        </a:rPr>
                        <a:t>Analyse statique</a:t>
                      </a:r>
                    </a:p>
                  </a:txBody>
                  <a:tcPr marL="91440" marR="91440" marT="45720" marB="45720">
                    <a:solidFill>
                      <a:srgbClr val="FFFFFF"/>
                    </a:solidFill>
                  </a:tcPr>
                </a:tc>
                <a:tc>
                  <a:txBody>
                    <a:bodyPr/>
                    <a:lstStyle/>
                    <a:p>
                      <a:r>
                        <a:rPr sz="1725" b="0">
                          <a:solidFill>
                            <a:srgbClr val="173039"/>
                          </a:solidFill>
                          <a:latin typeface="Arial"/>
                          <a:ea typeface="Arial"/>
                          <a:cs typeface="Arial"/>
                        </a:rPr>
                        <a:t>Repérer les erreurs de code et imports incohérents.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6825999"/>
      </p:ext>
    </p:extLst>
  </p:cSld>
</p:sld>
</file>

<file path=ppt/slides/slide3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9F176D-83DE-4A1D-BD6B-B2A2FB27F502}"/>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Paquets sans import métier direct</a:t>
            </a:r>
          </a:p>
        </p:txBody>
      </p:sp>
      <p:sp>
        <p:nvSpPr>
          <p:cNvPr id="2" name="">
            <a:extLst xmlns:a="http://schemas.openxmlformats.org/drawingml/2006/main">
              <a:ext uri="{FF2B5EF4-FFF2-40B4-BE49-F238E27FC236}">
                <a16:creationId xmlns:a16="http://schemas.microsoft.com/office/drawing/2014/main" id="{85DE0F59-F07D-4539-BA36-9954B3FB21D8}"/>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37</a:t>
            </a:r>
          </a:p>
        </p:txBody>
      </p:sp>
      <p:sp>
        <p:nvSpPr>
          <p:cNvPr id="3" name="">
            <a:extLst xmlns:a="http://schemas.openxmlformats.org/drawingml/2006/main">
              <a:ext uri="{FF2B5EF4-FFF2-40B4-BE49-F238E27FC236}">
                <a16:creationId xmlns:a16="http://schemas.microsoft.com/office/drawing/2014/main" id="{D7509A26-1F34-43B7-8CB7-5D637B2A0648}"/>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9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0914E0D9-4136-44C5-9498-9D1A8C0FD061}"/>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NumPy + Pandas</a:t>
                      </a:r>
                    </a:p>
                  </a:txBody>
                  <a:tcPr marL="91440" marR="91440" marT="45720" marB="45720">
                    <a:solidFill>
                      <a:srgbClr val="FFFFFF"/>
                    </a:solidFill>
                  </a:tcPr>
                </a:tc>
                <a:tc>
                  <a:txBody>
                    <a:bodyPr/>
                    <a:lstStyle/>
                    <a:p>
                      <a:r>
                        <a:rPr sz="1725" b="0">
                          <a:solidFill>
                            <a:srgbClr val="173039"/>
                          </a:solidFill>
                          <a:latin typeface="Arial"/>
                          <a:ea typeface="Arial"/>
                          <a:cs typeface="Arial"/>
                        </a:rPr>
                        <a:t>Calcul et tables</a:t>
                      </a:r>
                    </a:p>
                  </a:txBody>
                  <a:tcPr marL="91440" marR="91440" marT="45720" marB="45720">
                    <a:solidFill>
                      <a:srgbClr val="FFFFFF"/>
                    </a:solidFill>
                  </a:tcPr>
                </a:tc>
                <a:tc>
                  <a:txBody>
                    <a:bodyPr/>
                    <a:lstStyle/>
                    <a:p>
                      <a:r>
                        <a:rPr sz="1725" b="0">
                          <a:solidFill>
                            <a:srgbClr val="173039"/>
                          </a:solidFill>
                          <a:latin typeface="Arial"/>
                          <a:ea typeface="Arial"/>
                          <a:cs typeface="Arial"/>
                        </a:rPr>
                        <a:t>Requis par OR-Tools, sans analyse métier directe ici.</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sqlite-vec</a:t>
                      </a:r>
                    </a:p>
                  </a:txBody>
                  <a:tcPr marL="91440" marR="91440" marT="45720" marB="45720">
                    <a:solidFill>
                      <a:srgbClr val="EAF0F1"/>
                    </a:solidFill>
                  </a:tcPr>
                </a:tc>
                <a:tc>
                  <a:txBody>
                    <a:bodyPr/>
                    <a:lstStyle/>
                    <a:p>
                      <a:r>
                        <a:rPr sz="1725" b="0">
                          <a:solidFill>
                            <a:srgbClr val="173039"/>
                          </a:solidFill>
                          <a:latin typeface="Arial"/>
                          <a:ea typeface="Arial"/>
                          <a:cs typeface="Arial"/>
                        </a:rPr>
                        <a:t>Vecteurs dans SQLite</a:t>
                      </a:r>
                    </a:p>
                  </a:txBody>
                  <a:tcPr marL="91440" marR="91440" marT="45720" marB="45720">
                    <a:solidFill>
                      <a:srgbClr val="EAF0F1"/>
                    </a:solidFill>
                  </a:tcPr>
                </a:tc>
                <a:tc>
                  <a:txBody>
                    <a:bodyPr/>
                    <a:lstStyle/>
                    <a:p>
                      <a:r>
                        <a:rPr sz="1725" b="0">
                          <a:solidFill>
                            <a:srgbClr val="173039"/>
                          </a:solidFill>
                          <a:latin typeface="Arial"/>
                          <a:ea typeface="Arial"/>
                          <a:cs typeface="Arial"/>
                        </a:rPr>
                        <a:t>Requis par le saver, sans mémoire vectorielle produit.</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aiosqlite</a:t>
                      </a:r>
                    </a:p>
                  </a:txBody>
                  <a:tcPr marL="91440" marR="91440" marT="45720" marB="45720">
                    <a:solidFill>
                      <a:srgbClr val="FFFFFF"/>
                    </a:solidFill>
                  </a:tcPr>
                </a:tc>
                <a:tc>
                  <a:txBody>
                    <a:bodyPr/>
                    <a:lstStyle/>
                    <a:p>
                      <a:r>
                        <a:rPr sz="1725" b="0">
                          <a:solidFill>
                            <a:srgbClr val="173039"/>
                          </a:solidFill>
                          <a:latin typeface="Arial"/>
                          <a:ea typeface="Arial"/>
                          <a:cs typeface="Arial"/>
                        </a:rPr>
                        <a:t>SQLite asynchrone</a:t>
                      </a:r>
                    </a:p>
                  </a:txBody>
                  <a:tcPr marL="91440" marR="91440" marT="45720" marB="45720">
                    <a:solidFill>
                      <a:srgbClr val="FFFFFF"/>
                    </a:solidFill>
                  </a:tcPr>
                </a:tc>
                <a:tc>
                  <a:txBody>
                    <a:bodyPr/>
                    <a:lstStyle/>
                    <a:p>
                      <a:r>
                        <a:rPr sz="1725" b="0">
                          <a:solidFill>
                            <a:srgbClr val="173039"/>
                          </a:solidFill>
                          <a:latin typeface="Arial"/>
                          <a:ea typeface="Arial"/>
                          <a:cs typeface="Arial"/>
                        </a:rPr>
                        <a:t>Support du saver, Genesis choisit le mode synchrone.</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Alembic + Mako</a:t>
                      </a:r>
                    </a:p>
                  </a:txBody>
                  <a:tcPr marL="91440" marR="91440" marT="45720" marB="45720">
                    <a:solidFill>
                      <a:srgbClr val="EAF0F1"/>
                    </a:solidFill>
                  </a:tcPr>
                </a:tc>
                <a:tc>
                  <a:txBody>
                    <a:bodyPr/>
                    <a:lstStyle/>
                    <a:p>
                      <a:r>
                        <a:rPr sz="1725" b="0">
                          <a:solidFill>
                            <a:srgbClr val="173039"/>
                          </a:solidFill>
                          <a:latin typeface="Arial"/>
                          <a:ea typeface="Arial"/>
                          <a:cs typeface="Arial"/>
                        </a:rPr>
                        <a:t>Migrations et gabarits</a:t>
                      </a:r>
                    </a:p>
                  </a:txBody>
                  <a:tcPr marL="91440" marR="91440" marT="45720" marB="45720">
                    <a:solidFill>
                      <a:srgbClr val="EAF0F1"/>
                    </a:solidFill>
                  </a:tcPr>
                </a:tc>
                <a:tc>
                  <a:txBody>
                    <a:bodyPr/>
                    <a:lstStyle/>
                    <a:p>
                      <a:r>
                        <a:rPr sz="1725" b="0">
                          <a:solidFill>
                            <a:srgbClr val="173039"/>
                          </a:solidFill>
                          <a:latin typeface="Arial"/>
                          <a:ea typeface="Arial"/>
                          <a:cs typeface="Arial"/>
                        </a:rPr>
                        <a:t>Installés, sans migrations Alembic actives démontrées.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Requests</a:t>
                      </a:r>
                    </a:p>
                  </a:txBody>
                  <a:tcPr marL="91440" marR="91440" marT="45720" marB="45720">
                    <a:solidFill>
                      <a:srgbClr val="FFFFFF"/>
                    </a:solidFill>
                  </a:tcPr>
                </a:tc>
                <a:tc>
                  <a:txBody>
                    <a:bodyPr/>
                    <a:lstStyle/>
                    <a:p>
                      <a:r>
                        <a:rPr sz="1725" b="0">
                          <a:solidFill>
                            <a:srgbClr val="173039"/>
                          </a:solidFill>
                          <a:latin typeface="Arial"/>
                          <a:ea typeface="Arial"/>
                          <a:cs typeface="Arial"/>
                        </a:rPr>
                        <a:t>Client HTTP</a:t>
                      </a:r>
                    </a:p>
                  </a:txBody>
                  <a:tcPr marL="91440" marR="91440" marT="45720" marB="45720">
                    <a:solidFill>
                      <a:srgbClr val="FFFFFF"/>
                    </a:solidFill>
                  </a:tcPr>
                </a:tc>
                <a:tc>
                  <a:txBody>
                    <a:bodyPr/>
                    <a:lstStyle/>
                    <a:p>
                      <a:r>
                        <a:rPr sz="1725" b="0">
                          <a:solidFill>
                            <a:srgbClr val="173039"/>
                          </a:solidFill>
                          <a:latin typeface="Arial"/>
                          <a:ea typeface="Arial"/>
                          <a:cs typeface="Arial"/>
                        </a:rPr>
                        <a:t>Présent via des dépendances, sans client métier direct.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5572129"/>
      </p:ext>
    </p:extLst>
  </p:cSld>
</p:sld>
</file>

<file path=ppt/slides/slide3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677DE2-0ADE-4395-9BF9-827943A775D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dépendances web et QA</a:t>
            </a:r>
          </a:p>
        </p:txBody>
      </p:sp>
      <p:sp>
        <p:nvSpPr>
          <p:cNvPr id="2" name="">
            <a:extLst xmlns:a="http://schemas.openxmlformats.org/drawingml/2006/main">
              <a:ext uri="{FF2B5EF4-FFF2-40B4-BE49-F238E27FC236}">
                <a16:creationId xmlns:a16="http://schemas.microsoft.com/office/drawing/2014/main" id="{776E2242-76F8-4E45-B74C-8740D7A74D3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38</a:t>
            </a:r>
          </a:p>
        </p:txBody>
      </p:sp>
      <p:sp>
        <p:nvSpPr>
          <p:cNvPr id="3" name="">
            <a:extLst xmlns:a="http://schemas.openxmlformats.org/drawingml/2006/main">
              <a:ext uri="{FF2B5EF4-FFF2-40B4-BE49-F238E27FC236}">
                <a16:creationId xmlns:a16="http://schemas.microsoft.com/office/drawing/2014/main" id="{44BF26FF-67C4-45B3-A761-355EC765AD94}"/>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17 paquets directs détaillés en notes. Les lockfiles conservent les transitifs.</a:t>
            </a:r>
          </a:p>
        </p:txBody>
      </p:sp>
      <p:graphicFrame>
        <p:nvGraphicFramePr>
          <p:cNvPr id="4" name="">
            <a:extLst xmlns:a="http://schemas.openxmlformats.org/drawingml/2006/main">
              <a:ext uri="{FF2B5EF4-FFF2-40B4-BE49-F238E27FC236}">
                <a16:creationId xmlns:a16="http://schemas.microsoft.com/office/drawing/2014/main" id="{5E3BC2E1-A0AD-4F8E-A7B2-95166B1E26FF}"/>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190750"/>
                <a:gridCol w="4210050"/>
                <a:gridCol w="4572000"/>
              </a:tblGrid>
              <a:tr h="457200">
                <a:tc>
                  <a:txBody>
                    <a:bodyPr/>
                    <a:lstStyle/>
                    <a:p>
                      <a:r>
                        <a:rPr sz="1725" b="1">
                          <a:solidFill>
                            <a:srgbClr val="FFFFFF"/>
                          </a:solidFill>
                          <a:latin typeface="Arial"/>
                          <a:ea typeface="Arial"/>
                          <a:cs typeface="Arial"/>
                        </a:rPr>
                        <a:t>GROUPE</a:t>
                      </a:r>
                    </a:p>
                  </a:txBody>
                  <a:tcPr marL="91440" marR="91440" marT="45720" marB="45720">
                    <a:solidFill>
                      <a:srgbClr val="173039"/>
                    </a:solidFill>
                  </a:tcPr>
                </a:tc>
                <a:tc>
                  <a:txBody>
                    <a:bodyPr/>
                    <a:lstStyle/>
                    <a:p>
                      <a:r>
                        <a:rPr sz="1725" b="1">
                          <a:solidFill>
                            <a:srgbClr val="FFFFFF"/>
                          </a:solidFill>
                          <a:latin typeface="Arial"/>
                          <a:ea typeface="Arial"/>
                          <a:cs typeface="Arial"/>
                        </a:rPr>
                        <a:t>PAQUETS</a:t>
                      </a:r>
                    </a:p>
                  </a:txBody>
                  <a:tcPr marL="91440" marR="91440" marT="45720" marB="45720">
                    <a:solidFill>
                      <a:srgbClr val="173039"/>
                    </a:solidFill>
                  </a:tcPr>
                </a:tc>
                <a:tc>
                  <a:txBody>
                    <a:bodyPr/>
                    <a:lstStyle/>
                    <a:p>
                      <a:r>
                        <a:rPr sz="1725" b="1">
                          <a:solidFill>
                            <a:srgbClr val="FFFFFF"/>
                          </a:solidFill>
                          <a:latin typeface="Arial"/>
                          <a:ea typeface="Arial"/>
                          <a:cs typeface="Arial"/>
                        </a:rPr>
                        <a:t>USAGE CONCRET</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Interface</a:t>
                      </a:r>
                    </a:p>
                  </a:txBody>
                  <a:tcPr marL="91440" marR="91440" marT="45720" marB="45720">
                    <a:solidFill>
                      <a:srgbClr val="FFFFFF"/>
                    </a:solidFill>
                  </a:tcPr>
                </a:tc>
                <a:tc>
                  <a:txBody>
                    <a:bodyPr/>
                    <a:lstStyle/>
                    <a:p>
                      <a:r>
                        <a:rPr sz="1725" b="0">
                          <a:solidFill>
                            <a:srgbClr val="173039"/>
                          </a:solidFill>
                          <a:latin typeface="Arial"/>
                          <a:ea typeface="Arial"/>
                          <a:cs typeface="Arial"/>
                        </a:rPr>
                        <a:t>React + React DOM</a:t>
                      </a:r>
                    </a:p>
                  </a:txBody>
                  <a:tcPr marL="91440" marR="91440" marT="45720" marB="45720">
                    <a:solidFill>
                      <a:srgbClr val="FFFFFF"/>
                    </a:solidFill>
                  </a:tcPr>
                </a:tc>
                <a:tc>
                  <a:txBody>
                    <a:bodyPr/>
                    <a:lstStyle/>
                    <a:p>
                      <a:r>
                        <a:rPr sz="1725" b="0">
                          <a:solidFill>
                            <a:srgbClr val="173039"/>
                          </a:solidFill>
                          <a:latin typeface="Arial"/>
                          <a:ea typeface="Arial"/>
                          <a:cs typeface="Arial"/>
                        </a:rPr>
                        <a:t>État et affichage dans le navigateur.</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Données visuelles</a:t>
                      </a:r>
                    </a:p>
                  </a:txBody>
                  <a:tcPr marL="91440" marR="91440" marT="45720" marB="45720">
                    <a:solidFill>
                      <a:srgbClr val="EAF0F1"/>
                    </a:solidFill>
                  </a:tcPr>
                </a:tc>
                <a:tc>
                  <a:txBody>
                    <a:bodyPr/>
                    <a:lstStyle/>
                    <a:p>
                      <a:r>
                        <a:rPr sz="1725" b="0">
                          <a:solidFill>
                            <a:srgbClr val="173039"/>
                          </a:solidFill>
                          <a:latin typeface="Arial"/>
                          <a:ea typeface="Arial"/>
                          <a:cs typeface="Arial"/>
                        </a:rPr>
                        <a:t>ECharts + React Flow + MapLibre</a:t>
                      </a:r>
                    </a:p>
                  </a:txBody>
                  <a:tcPr marL="91440" marR="91440" marT="45720" marB="45720">
                    <a:solidFill>
                      <a:srgbClr val="EAF0F1"/>
                    </a:solidFill>
                  </a:tcPr>
                </a:tc>
                <a:tc>
                  <a:txBody>
                    <a:bodyPr/>
                    <a:lstStyle/>
                    <a:p>
                      <a:r>
                        <a:rPr sz="1725" b="0">
                          <a:solidFill>
                            <a:srgbClr val="173039"/>
                          </a:solidFill>
                          <a:latin typeface="Arial"/>
                          <a:ea typeface="Arial"/>
                          <a:cs typeface="Arial"/>
                        </a:rPr>
                        <a:t>Graphiques, rôles et carte géographique.</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Présentation</a:t>
                      </a:r>
                    </a:p>
                  </a:txBody>
                  <a:tcPr marL="91440" marR="91440" marT="45720" marB="45720">
                    <a:solidFill>
                      <a:srgbClr val="FFFFFF"/>
                    </a:solidFill>
                  </a:tcPr>
                </a:tc>
                <a:tc>
                  <a:txBody>
                    <a:bodyPr/>
                    <a:lstStyle/>
                    <a:p>
                      <a:r>
                        <a:rPr sz="1725" b="0">
                          <a:solidFill>
                            <a:srgbClr val="173039"/>
                          </a:solidFill>
                          <a:latin typeface="Arial"/>
                          <a:ea typeface="Arial"/>
                          <a:cs typeface="Arial"/>
                        </a:rPr>
                        <a:t>Lucide + Inter</a:t>
                      </a:r>
                    </a:p>
                  </a:txBody>
                  <a:tcPr marL="91440" marR="91440" marT="45720" marB="45720">
                    <a:solidFill>
                      <a:srgbClr val="FFFFFF"/>
                    </a:solidFill>
                  </a:tcPr>
                </a:tc>
                <a:tc>
                  <a:txBody>
                    <a:bodyPr/>
                    <a:lstStyle/>
                    <a:p>
                      <a:r>
                        <a:rPr sz="1725" b="0">
                          <a:solidFill>
                            <a:srgbClr val="173039"/>
                          </a:solidFill>
                          <a:latin typeface="Arial"/>
                          <a:ea typeface="Arial"/>
                          <a:cs typeface="Arial"/>
                        </a:rPr>
                        <a:t>Icônes et police servie localement.</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Développement</a:t>
                      </a:r>
                    </a:p>
                  </a:txBody>
                  <a:tcPr marL="91440" marR="91440" marT="45720" marB="45720">
                    <a:solidFill>
                      <a:srgbClr val="EAF0F1"/>
                    </a:solidFill>
                  </a:tcPr>
                </a:tc>
                <a:tc>
                  <a:txBody>
                    <a:bodyPr/>
                    <a:lstStyle/>
                    <a:p>
                      <a:r>
                        <a:rPr sz="1725" b="0">
                          <a:solidFill>
                            <a:srgbClr val="173039"/>
                          </a:solidFill>
                          <a:latin typeface="Arial"/>
                          <a:ea typeface="Arial"/>
                          <a:cs typeface="Arial"/>
                        </a:rPr>
                        <a:t>Vite, plugin React, TypeScript, types, Prettier</a:t>
                      </a:r>
                    </a:p>
                  </a:txBody>
                  <a:tcPr marL="91440" marR="91440" marT="45720" marB="45720">
                    <a:solidFill>
                      <a:srgbClr val="EAF0F1"/>
                    </a:solidFill>
                  </a:tcPr>
                </a:tc>
                <a:tc>
                  <a:txBody>
                    <a:bodyPr/>
                    <a:lstStyle/>
                    <a:p>
                      <a:r>
                        <a:rPr sz="1725" b="0">
                          <a:solidFill>
                            <a:srgbClr val="173039"/>
                          </a:solidFill>
                          <a:latin typeface="Arial"/>
                          <a:ea typeface="Arial"/>
                          <a:cs typeface="Arial"/>
                        </a:rPr>
                        <a:t>Assembler et vérifier les types. Prettier déclaré.</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Vérification</a:t>
                      </a:r>
                    </a:p>
                  </a:txBody>
                  <a:tcPr marL="91440" marR="91440" marT="45720" marB="45720">
                    <a:solidFill>
                      <a:srgbClr val="FFFFFF"/>
                    </a:solidFill>
                  </a:tcPr>
                </a:tc>
                <a:tc>
                  <a:txBody>
                    <a:bodyPr/>
                    <a:lstStyle/>
                    <a:p>
                      <a:r>
                        <a:rPr sz="1725" b="0">
                          <a:solidFill>
                            <a:srgbClr val="173039"/>
                          </a:solidFill>
                          <a:latin typeface="Arial"/>
                          <a:ea typeface="Arial"/>
                          <a:cs typeface="Arial"/>
                        </a:rPr>
                        <a:t>Vitest + Playwright + axe</a:t>
                      </a:r>
                    </a:p>
                  </a:txBody>
                  <a:tcPr marL="91440" marR="91440" marT="45720" marB="45720">
                    <a:solidFill>
                      <a:srgbClr val="FFFFFF"/>
                    </a:solidFill>
                  </a:tcPr>
                </a:tc>
                <a:tc>
                  <a:txBody>
                    <a:bodyPr/>
                    <a:lstStyle/>
                    <a:p>
                      <a:r>
                        <a:rPr sz="1725" b="0">
                          <a:solidFill>
                            <a:srgbClr val="173039"/>
                          </a:solidFill>
                          <a:latin typeface="Arial"/>
                          <a:ea typeface="Arial"/>
                          <a:cs typeface="Arial"/>
                        </a:rPr>
                        <a:t>Tests, parcours navigateur et accessibilité.</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33706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2026-10-11T17:42:44.1120000Z</dcterms:created>
  <dcterms:modified xsi:type="dcterms:W3CDTF">2026-10-11T17:42:44.1120000Z</dcterms:modified>
</coreProperties>
</file>