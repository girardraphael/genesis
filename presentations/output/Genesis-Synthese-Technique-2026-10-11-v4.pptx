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971e08accca475f" /><Relationship Type="http://schemas.openxmlformats.org/officeDocument/2006/relationships/extended-properties" Target="/docProps/app.xml" Id="Rc25b374179424730" /><Relationship Type="http://schemas.openxmlformats.org/officeDocument/2006/relationships/officeDocument" Target="/ppt/presentation.xml" Id="R9a8328520d104649" /></Relationships>
</file>

<file path=ppt/presentation.xml><?xml version="1.0" encoding="utf-8"?>
<p:presentation xmlns:p="http://schemas.openxmlformats.org/presentationml/2006/main">
  <p:sldMasterIdLst>
    <p:sldMasterId xmlns:r="http://schemas.openxmlformats.org/officeDocument/2006/relationships" id="2147483648" r:id="R3ae18193406748aa"/>
  </p:sldMasterIdLst>
  <p:notesMasterIdLst>
    <p:notesMasterId xmlns:r="http://schemas.openxmlformats.org/officeDocument/2006/relationships" r:id="R463d8958b8bd4fb5"/>
  </p:notesMasterIdLst>
  <p:sldIdLst>
    <p:sldId xmlns:r="http://schemas.openxmlformats.org/officeDocument/2006/relationships" id="256" r:id="R6ef34c9937454374"/>
    <p:sldId xmlns:r="http://schemas.openxmlformats.org/officeDocument/2006/relationships" id="257" r:id="R94f066b015bc4170"/>
    <p:sldId xmlns:r="http://schemas.openxmlformats.org/officeDocument/2006/relationships" id="258" r:id="R1b5f84b6766c4d9b"/>
    <p:sldId xmlns:r="http://schemas.openxmlformats.org/officeDocument/2006/relationships" id="259" r:id="Rc55166bedf494a26"/>
    <p:sldId xmlns:r="http://schemas.openxmlformats.org/officeDocument/2006/relationships" id="260" r:id="R844c070f80874c03"/>
    <p:sldId xmlns:r="http://schemas.openxmlformats.org/officeDocument/2006/relationships" id="261" r:id="Rb649f2687e3546cb"/>
    <p:sldId xmlns:r="http://schemas.openxmlformats.org/officeDocument/2006/relationships" id="262" r:id="R0b4f5188e3464d83"/>
    <p:sldId xmlns:r="http://schemas.openxmlformats.org/officeDocument/2006/relationships" id="263" r:id="Rf9e3007b8ee440ac"/>
    <p:sldId xmlns:r="http://schemas.openxmlformats.org/officeDocument/2006/relationships" id="264" r:id="Rb371c647896c424d"/>
    <p:sldId xmlns:r="http://schemas.openxmlformats.org/officeDocument/2006/relationships" id="265" r:id="Rf01093f1dd9d4dbe"/>
    <p:sldId xmlns:r="http://schemas.openxmlformats.org/officeDocument/2006/relationships" id="266" r:id="R13195c86f84141b7"/>
    <p:sldId xmlns:r="http://schemas.openxmlformats.org/officeDocument/2006/relationships" id="267" r:id="R0a3026fa19d94e8f"/>
    <p:sldId xmlns:r="http://schemas.openxmlformats.org/officeDocument/2006/relationships" id="268" r:id="R477deb8b7c814d4d"/>
    <p:sldId xmlns:r="http://schemas.openxmlformats.org/officeDocument/2006/relationships" id="269" r:id="Rc45bef5e57ce4e93"/>
    <p:sldId xmlns:r="http://schemas.openxmlformats.org/officeDocument/2006/relationships" id="270" r:id="R61a790234b4b487f"/>
    <p:sldId xmlns:r="http://schemas.openxmlformats.org/officeDocument/2006/relationships" id="271" r:id="R3b63bad4c3254943"/>
    <p:sldId xmlns:r="http://schemas.openxmlformats.org/officeDocument/2006/relationships" id="272" r:id="R2374fe748abd4d60"/>
    <p:sldId xmlns:r="http://schemas.openxmlformats.org/officeDocument/2006/relationships" id="273" r:id="Rc5f4c67cd66d44f7"/>
    <p:sldId xmlns:r="http://schemas.openxmlformats.org/officeDocument/2006/relationships" id="274" r:id="Rab3eca0a182c4f5a"/>
    <p:sldId xmlns:r="http://schemas.openxmlformats.org/officeDocument/2006/relationships" id="275" r:id="R3c950e963d724de2"/>
    <p:sldId xmlns:r="http://schemas.openxmlformats.org/officeDocument/2006/relationships" id="276" r:id="R591b614aa8b1409c"/>
    <p:sldId xmlns:r="http://schemas.openxmlformats.org/officeDocument/2006/relationships" id="277" r:id="R05028a0b248c4e00"/>
    <p:sldId xmlns:r="http://schemas.openxmlformats.org/officeDocument/2006/relationships" id="278" r:id="Rdd934414f68f4803"/>
    <p:sldId xmlns:r="http://schemas.openxmlformats.org/officeDocument/2006/relationships" id="279" r:id="Rcb31f4495c814eb4"/>
    <p:sldId xmlns:r="http://schemas.openxmlformats.org/officeDocument/2006/relationships" id="280" r:id="R6f77d074e37444e4"/>
    <p:sldId xmlns:r="http://schemas.openxmlformats.org/officeDocument/2006/relationships" id="281" r:id="R6526065f9fcb4013"/>
    <p:sldId xmlns:r="http://schemas.openxmlformats.org/officeDocument/2006/relationships" id="282" r:id="Re7af4f3dbad84bd2"/>
    <p:sldId xmlns:r="http://schemas.openxmlformats.org/officeDocument/2006/relationships" id="283" r:id="R6123cddb8e124e02"/>
    <p:sldId xmlns:r="http://schemas.openxmlformats.org/officeDocument/2006/relationships" id="284" r:id="R43f2fcd31259454e"/>
    <p:sldId xmlns:r="http://schemas.openxmlformats.org/officeDocument/2006/relationships" id="285" r:id="R5a3421fa31554b0e"/>
    <p:sldId xmlns:r="http://schemas.openxmlformats.org/officeDocument/2006/relationships" id="286" r:id="R5d059b0507f04ec9"/>
    <p:sldId xmlns:r="http://schemas.openxmlformats.org/officeDocument/2006/relationships" id="287" r:id="R9f189bc3315044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294f8c4c6b439c" /><Relationship Type="http://schemas.openxmlformats.org/officeDocument/2006/relationships/slideMaster" Target="/ppt/slideMasters/slideMaster1.xml" Id="R3ae18193406748aa" /><Relationship Type="http://schemas.openxmlformats.org/officeDocument/2006/relationships/notesMaster" Target="/ppt/notesMasters/notesMaster1.xml" Id="R463d8958b8bd4fb5" /><Relationship Type="http://schemas.openxmlformats.org/officeDocument/2006/relationships/presProps" Target="/ppt/presProps.xml" Id="R72d8ef5f1859499a" /><Relationship Type="http://schemas.openxmlformats.org/officeDocument/2006/relationships/tableStyles" Target="/ppt/tableStyles.xml" Id="Re23f8a797e234dd7" /><Relationship Type="http://schemas.openxmlformats.org/officeDocument/2006/relationships/slide" Target="/ppt/slides/slide1.xml" Id="R6ef34c9937454374" /><Relationship Type="http://schemas.openxmlformats.org/officeDocument/2006/relationships/slide" Target="/ppt/slides/slide2.xml" Id="R94f066b015bc4170" /><Relationship Type="http://schemas.openxmlformats.org/officeDocument/2006/relationships/slide" Target="/ppt/slides/slide3.xml" Id="R1b5f84b6766c4d9b" /><Relationship Type="http://schemas.openxmlformats.org/officeDocument/2006/relationships/slide" Target="/ppt/slides/slide4.xml" Id="Rc55166bedf494a26" /><Relationship Type="http://schemas.openxmlformats.org/officeDocument/2006/relationships/slide" Target="/ppt/slides/slide5.xml" Id="R844c070f80874c03" /><Relationship Type="http://schemas.openxmlformats.org/officeDocument/2006/relationships/slide" Target="/ppt/slides/slide6.xml" Id="Rb649f2687e3546cb" /><Relationship Type="http://schemas.openxmlformats.org/officeDocument/2006/relationships/slide" Target="/ppt/slides/slide7.xml" Id="R0b4f5188e3464d83" /><Relationship Type="http://schemas.openxmlformats.org/officeDocument/2006/relationships/slide" Target="/ppt/slides/slide8.xml" Id="Rf9e3007b8ee440ac" /><Relationship Type="http://schemas.openxmlformats.org/officeDocument/2006/relationships/slide" Target="/ppt/slides/slide9.xml" Id="Rb371c647896c424d" /><Relationship Type="http://schemas.openxmlformats.org/officeDocument/2006/relationships/slide" Target="/ppt/slides/slide10.xml" Id="Rf01093f1dd9d4dbe" /><Relationship Type="http://schemas.openxmlformats.org/officeDocument/2006/relationships/slide" Target="/ppt/slides/slide11.xml" Id="R13195c86f84141b7" /><Relationship Type="http://schemas.openxmlformats.org/officeDocument/2006/relationships/slide" Target="/ppt/slides/slide12.xml" Id="R0a3026fa19d94e8f" /><Relationship Type="http://schemas.openxmlformats.org/officeDocument/2006/relationships/slide" Target="/ppt/slides/slide13.xml" Id="R477deb8b7c814d4d" /><Relationship Type="http://schemas.openxmlformats.org/officeDocument/2006/relationships/slide" Target="/ppt/slides/slide14.xml" Id="Rc45bef5e57ce4e93" /><Relationship Type="http://schemas.openxmlformats.org/officeDocument/2006/relationships/slide" Target="/ppt/slides/slide15.xml" Id="R61a790234b4b487f" /><Relationship Type="http://schemas.openxmlformats.org/officeDocument/2006/relationships/slide" Target="/ppt/slides/slide16.xml" Id="R3b63bad4c3254943" /><Relationship Type="http://schemas.openxmlformats.org/officeDocument/2006/relationships/slide" Target="/ppt/slides/slide17.xml" Id="R2374fe748abd4d60" /><Relationship Type="http://schemas.openxmlformats.org/officeDocument/2006/relationships/slide" Target="/ppt/slides/slide18.xml" Id="Rc5f4c67cd66d44f7" /><Relationship Type="http://schemas.openxmlformats.org/officeDocument/2006/relationships/slide" Target="/ppt/slides/slide19.xml" Id="Rab3eca0a182c4f5a" /><Relationship Type="http://schemas.openxmlformats.org/officeDocument/2006/relationships/slide" Target="/ppt/slides/slide20.xml" Id="R3c950e963d724de2" /><Relationship Type="http://schemas.openxmlformats.org/officeDocument/2006/relationships/slide" Target="/ppt/slides/slide21.xml" Id="R591b614aa8b1409c" /><Relationship Type="http://schemas.openxmlformats.org/officeDocument/2006/relationships/slide" Target="/ppt/slides/slide22.xml" Id="R05028a0b248c4e00" /><Relationship Type="http://schemas.openxmlformats.org/officeDocument/2006/relationships/slide" Target="/ppt/slides/slide23.xml" Id="Rdd934414f68f4803" /><Relationship Type="http://schemas.openxmlformats.org/officeDocument/2006/relationships/slide" Target="/ppt/slides/slide24.xml" Id="Rcb31f4495c814eb4" /><Relationship Type="http://schemas.openxmlformats.org/officeDocument/2006/relationships/slide" Target="/ppt/slides/slide25.xml" Id="R6f77d074e37444e4" /><Relationship Type="http://schemas.openxmlformats.org/officeDocument/2006/relationships/slide" Target="/ppt/slides/slide26.xml" Id="R6526065f9fcb4013" /><Relationship Type="http://schemas.openxmlformats.org/officeDocument/2006/relationships/slide" Target="/ppt/slides/slide27.xml" Id="Re7af4f3dbad84bd2" /><Relationship Type="http://schemas.openxmlformats.org/officeDocument/2006/relationships/slide" Target="/ppt/slides/slide28.xml" Id="R6123cddb8e124e02" /><Relationship Type="http://schemas.openxmlformats.org/officeDocument/2006/relationships/slide" Target="/ppt/slides/slide29.xml" Id="R43f2fcd31259454e" /><Relationship Type="http://schemas.openxmlformats.org/officeDocument/2006/relationships/slide" Target="/ppt/slides/slide30.xml" Id="R5a3421fa31554b0e" /><Relationship Type="http://schemas.openxmlformats.org/officeDocument/2006/relationships/slide" Target="/ppt/slides/slide31.xml" Id="R5d059b0507f04ec9" /><Relationship Type="http://schemas.openxmlformats.org/officeDocument/2006/relationships/slide" Target="/ppt/slides/slide32.xml" Id="R9f189bc3315044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47ced5346b47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3a649b29dd4f86" /><Relationship Type="http://schemas.openxmlformats.org/officeDocument/2006/relationships/notesMaster" Target="/ppt/notesMasters/notesMaster1.xml" Id="R69f3dd66fc3e40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542af8f7574f11" /><Relationship Type="http://schemas.openxmlformats.org/officeDocument/2006/relationships/notesMaster" Target="/ppt/notesMasters/notesMaster1.xml" Id="R1f0b44d7c2b446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7460d71bbf4d36" /><Relationship Type="http://schemas.openxmlformats.org/officeDocument/2006/relationships/notesMaster" Target="/ppt/notesMasters/notesMaster1.xml" Id="Raf8054affed345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1d50889aeb4eac" /><Relationship Type="http://schemas.openxmlformats.org/officeDocument/2006/relationships/notesMaster" Target="/ppt/notesMasters/notesMaster1.xml" Id="Rc09878bebb324f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6b4b17aaae4804" /><Relationship Type="http://schemas.openxmlformats.org/officeDocument/2006/relationships/notesMaster" Target="/ppt/notesMasters/notesMaster1.xml" Id="Ree8e213aec374f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27ae05e34341da" /><Relationship Type="http://schemas.openxmlformats.org/officeDocument/2006/relationships/notesMaster" Target="/ppt/notesMasters/notesMaster1.xml" Id="R8f2e38460fef4c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b7aa77cd974ffd" /><Relationship Type="http://schemas.openxmlformats.org/officeDocument/2006/relationships/notesMaster" Target="/ppt/notesMasters/notesMaster1.xml" Id="R5d15f59211fc4b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d7a8c102f842a9" /><Relationship Type="http://schemas.openxmlformats.org/officeDocument/2006/relationships/notesMaster" Target="/ppt/notesMasters/notesMaster1.xml" Id="Rccc991364c0f4c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d9686044a44ca8" /><Relationship Type="http://schemas.openxmlformats.org/officeDocument/2006/relationships/notesMaster" Target="/ppt/notesMasters/notesMaster1.xml" Id="R150c4ac0277942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6579575fbb496e" /><Relationship Type="http://schemas.openxmlformats.org/officeDocument/2006/relationships/notesMaster" Target="/ppt/notesMasters/notesMaster1.xml" Id="R7d392ddacd4544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48a8d81c504a28" /><Relationship Type="http://schemas.openxmlformats.org/officeDocument/2006/relationships/notesMaster" Target="/ppt/notesMasters/notesMaster1.xml" Id="R12a8185ea65447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5282e362b643a9" /><Relationship Type="http://schemas.openxmlformats.org/officeDocument/2006/relationships/notesMaster" Target="/ppt/notesMasters/notesMaster1.xml" Id="R5dd72ca688de4c0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3de6f92ccb480d" /><Relationship Type="http://schemas.openxmlformats.org/officeDocument/2006/relationships/notesMaster" Target="/ppt/notesMasters/notesMaster1.xml" Id="Rc16bd45d2c1145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c6449af1174ecc" /><Relationship Type="http://schemas.openxmlformats.org/officeDocument/2006/relationships/notesMaster" Target="/ppt/notesMasters/notesMaster1.xml" Id="R906f06e12cb34b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16e3007f2aa47fb" /><Relationship Type="http://schemas.openxmlformats.org/officeDocument/2006/relationships/notesMaster" Target="/ppt/notesMasters/notesMaster1.xml" Id="R55cd28bba09c464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4a0cdc87cd0468d" /><Relationship Type="http://schemas.openxmlformats.org/officeDocument/2006/relationships/notesMaster" Target="/ppt/notesMasters/notesMaster1.xml" Id="R57a247534bcd4b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2a5fc9d1704fad" /><Relationship Type="http://schemas.openxmlformats.org/officeDocument/2006/relationships/notesMaster" Target="/ppt/notesMasters/notesMaster1.xml" Id="Rb238e1af402848c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2bb638c06064bd5" /><Relationship Type="http://schemas.openxmlformats.org/officeDocument/2006/relationships/notesMaster" Target="/ppt/notesMasters/notesMaster1.xml" Id="Re898a4c0f62349f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b8eff3ce08f4936" /><Relationship Type="http://schemas.openxmlformats.org/officeDocument/2006/relationships/notesMaster" Target="/ppt/notesMasters/notesMaster1.xml" Id="Rbb664ff692884d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c7169f917f94da6" /><Relationship Type="http://schemas.openxmlformats.org/officeDocument/2006/relationships/notesMaster" Target="/ppt/notesMasters/notesMaster1.xml" Id="R25bf2efd6caf43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5ca7a691fc54967" /><Relationship Type="http://schemas.openxmlformats.org/officeDocument/2006/relationships/notesMaster" Target="/ppt/notesMasters/notesMaster1.xml" Id="R950ada6fab3c45b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df7c82857e94c11" /><Relationship Type="http://schemas.openxmlformats.org/officeDocument/2006/relationships/notesMaster" Target="/ppt/notesMasters/notesMaster1.xml" Id="R2b9449e7309f4a5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ae4a0d2eeaf4797" /><Relationship Type="http://schemas.openxmlformats.org/officeDocument/2006/relationships/notesMaster" Target="/ppt/notesMasters/notesMaster1.xml" Id="R7a01b88fb0fd426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df23920102342e1" /><Relationship Type="http://schemas.openxmlformats.org/officeDocument/2006/relationships/notesMaster" Target="/ppt/notesMasters/notesMaster1.xml" Id="Rf59d159ae24f433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5f923a5547347d0" /><Relationship Type="http://schemas.openxmlformats.org/officeDocument/2006/relationships/notesMaster" Target="/ppt/notesMasters/notesMaster1.xml" Id="R8b34f36f8a194e7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a5e7062ecbf4685" /><Relationship Type="http://schemas.openxmlformats.org/officeDocument/2006/relationships/notesMaster" Target="/ppt/notesMasters/notesMaster1.xml" Id="R364b5ec9e6ca479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df52ae9faf74445" /><Relationship Type="http://schemas.openxmlformats.org/officeDocument/2006/relationships/notesMaster" Target="/ppt/notesMasters/notesMaster1.xml" Id="R82d691ac6de140f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5fa179f22c64431" /><Relationship Type="http://schemas.openxmlformats.org/officeDocument/2006/relationships/notesMaster" Target="/ppt/notesMasters/notesMaster1.xml" Id="R5c891f9521fa4a4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e9b485ccb0a41cb" /><Relationship Type="http://schemas.openxmlformats.org/officeDocument/2006/relationships/notesMaster" Target="/ppt/notesMasters/notesMaster1.xml" Id="R84ea6f3e679048e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f408ea0afff485f" /><Relationship Type="http://schemas.openxmlformats.org/officeDocument/2006/relationships/notesMaster" Target="/ppt/notesMasters/notesMaster1.xml" Id="Rfa42e61639354fd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6ddba712e1d43d3" /><Relationship Type="http://schemas.openxmlformats.org/officeDocument/2006/relationships/notesMaster" Target="/ppt/notesMasters/notesMaster1.xml" Id="R499c30cbe18e48c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a598e8be0704c7c" /><Relationship Type="http://schemas.openxmlformats.org/officeDocument/2006/relationships/notesMaster" Target="/ppt/notesMasters/notesMaster1.xml" Id="R97de36ca7fab4f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Genesis est un observatoire multiagents appliqué à la logistique montréalaise. Cette version présente le code livré jusqu’aux extensions U17, U18 et U19. Elle distingue les calculs de transport, les explications facultatives des modèles et les preuves conservées. Le profil actuel reste un prototype local de décision. La validation en entreprise, le suivi GPS et la reprise opérationnelle complète restent ouverts.</a:t>
            </a:r>
          </a:p>
          <a:p xmlns:a="http://schemas.openxmlformats.org/drawingml/2006/main">
            <a:r>
              <a:t/>
            </a:r>
          </a:p>
          <a:p xmlns:a="http://schemas.openxmlformats.org/drawingml/2006/main">
            <a:r>
              <a:t>Sources du dépôt, état au 11 octobre 2026 (U17–U19) :</a:t>
            </a:r>
          </a:p>
          <a:p xmlns:a="http://schemas.openxmlformats.org/drawingml/2006/main">
            <a:r>
              <a:t>README.md</a:t>
            </a:r>
          </a:p>
          <a:p xmlns:a="http://schemas.openxmlformats.org/drawingml/2006/main">
            <a:r>
              <a:t>docs/IMPLEMENTATION-STATUS.md</a:t>
            </a:r>
          </a:p>
          <a:p xmlns:a="http://schemas.openxmlformats.org/drawingml/2006/main">
            <a:r>
              <a:t>docs/TRANSPORT-CHECKLIST.md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projet répond au cas A11 du document initial. Une demande contient un ramassage, un dépôt, un nombre de colis et une échéance relative au départ. Le répartiteur peut comparer un véhicule partagé, une affectation séparée et une solution hybride. Les coûts présentés dépendent d’hypothèses configurées. Aucun gain commercial, taux de ponctualité réel ou optimum global ne découle de la seule exécution du solveur. Les clients visés restent une hypothèse à valider avec des entreprises de transport.</a:t>
            </a:r>
          </a:p>
          <a:p xmlns:a="http://schemas.openxmlformats.org/drawingml/2006/main">
            <a:r>
              <a:t/>
            </a:r>
          </a:p>
          <a:p xmlns:a="http://schemas.openxmlformats.org/drawingml/2006/main">
            <a:r>
              <a:t>Sources du dépôt, état au 11 octobre 2026 (U17–U19) :</a:t>
            </a:r>
          </a:p>
          <a:p xmlns:a="http://schemas.openxmlformats.org/drawingml/2006/main">
            <a:r>
              <a:t>docs/LOGISTICS-SPEC.md</a:t>
            </a:r>
          </a:p>
          <a:p xmlns:a="http://schemas.openxmlformats.org/drawingml/2006/main">
            <a:r>
              <a:t>docs/DISPATCH.md</a:t>
            </a:r>
          </a:p>
          <a:p xmlns:a="http://schemas.openxmlformats.org/drawingml/2006/main">
            <a:r>
              <a:t>docs/TRANSPORT-CHECKLIST.md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services cartographiques apportent géocodage, matrice et géométrie routière. Ils ne fournissent pas le GPS conducteur ni le trafic en temps réel. Les permis de chantiers sont un contexte municipal, sans garantie de fermeture ou vitesse instantanée. U19 configure des capacités en colis et ne qualifie pas un poids lourd. Le profil loopback ne dispose pas de l’authentification et de l’isolation multi-tenant nécessaires à un service client. Le worker opérateur existant attend encore son redémarrage vers le code U19, bloqué lors de la dernière tentative autorisée. Les tests isolés ont exécuté ce nouveau code.</a:t>
            </a:r>
          </a:p>
          <a:p xmlns:a="http://schemas.openxmlformats.org/drawingml/2006/main">
            <a:r>
              <a:t/>
            </a:r>
          </a:p>
          <a:p xmlns:a="http://schemas.openxmlformats.org/drawingml/2006/main">
            <a:r>
              <a:t>Sources du dépôt, état au 11 octobre 2026 (U17–U19) :</a:t>
            </a:r>
          </a:p>
          <a:p xmlns:a="http://schemas.openxmlformats.org/drawingml/2006/main">
            <a:r>
              <a:t>docs/TRANSPORT-CHECKLIST.md</a:t>
            </a:r>
          </a:p>
          <a:p xmlns:a="http://schemas.openxmlformats.org/drawingml/2006/main">
            <a:r>
              <a:t>docs/FLEET-CONFIGURATION.md</a:t>
            </a:r>
          </a:p>
          <a:p xmlns:a="http://schemas.openxmlformats.org/drawingml/2006/main">
            <a:r>
              <a:t>docs/work/U19-configurable-fleet.md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App.tsx conserve les sélections d’exécution et les filtres dans l’URL. Les anciennes vues demeurent accessibles depuis le sélecteur contextuel Agents, ce qui évite de multiplier les onglets principaux. Les coûts globaux sont dans Analytique. Les coûts d’une demande et les tentatives individuelles restent dans Agents. La navigation compacte conserve des libellés. L’export reprend le périmètre visible, avec ses limites et sa fraîcheur. Les données de transport et les métriques logicielles ont des responsabilités distinctes même lorsqu’elles apparaissent sur le même écran.</a:t>
            </a:r>
          </a:p>
          <a:p xmlns:a="http://schemas.openxmlformats.org/drawingml/2006/main">
            <a:r>
              <a:t/>
            </a:r>
          </a:p>
          <a:p xmlns:a="http://schemas.openxmlformats.org/drawingml/2006/main">
            <a:r>
              <a:t>Sources du dépôt, état au 11 octobre 2026 (U17–U19) :</a:t>
            </a:r>
          </a:p>
          <a:p xmlns:a="http://schemas.openxmlformats.org/drawingml/2006/main">
            <a:r>
              <a:t>apps/web/src/App.tsx</a:t>
            </a:r>
          </a:p>
          <a:p xmlns:a="http://schemas.openxmlformats.org/drawingml/2006/main">
            <a:r>
              <a:t>apps/web/src/state.ts</a:t>
            </a:r>
          </a:p>
          <a:p xmlns:a="http://schemas.openxmlformats.org/drawingml/2006/main">
            <a:r>
              <a:t>apps/web/src/Analytics.tsx</a:t>
            </a:r>
          </a:p>
          <a:p xmlns:a="http://schemas.openxmlformats.org/drawingml/2006/main">
            <a:r>
              <a:t>docs/work/U14-interface.md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U17 enregistre référence, client, date organisationnelle et contenu de livraison dans un carnet durable. Le CSV est borné et prévisualisé avant validation atomique du lot. La même référence avec le même contenu est idempotente. Un contenu différent est refusé. Les commandes choisies restent liées au plan par une revendication transactionnelle, afin d’éviter deux affectations concurrentes. Un plan admis crée des trajets prêts. La simulation commence par une action explicite. Le rejet avant départ rouvre les commandes selon le contrat. La date de service n’impose pas encore des fenêtres calendaires opérationnelles.</a:t>
            </a:r>
          </a:p>
          <a:p xmlns:a="http://schemas.openxmlformats.org/drawingml/2006/main">
            <a:r>
              <a:t/>
            </a:r>
          </a:p>
          <a:p xmlns:a="http://schemas.openxmlformats.org/drawingml/2006/main">
            <a:r>
              <a:t>Sources du dépôt, état au 11 octobre 2026 (U17–U19) :</a:t>
            </a:r>
          </a:p>
          <a:p xmlns:a="http://schemas.openxmlformats.org/drawingml/2006/main">
            <a:r>
              <a:t>docs/BROKER-ORDERS.md</a:t>
            </a:r>
          </a:p>
          <a:p xmlns:a="http://schemas.openxmlformats.org/drawingml/2006/main">
            <a:r>
              <a:t>services/genesis/orders.py</a:t>
            </a:r>
          </a:p>
          <a:p xmlns:a="http://schemas.openxmlformats.org/drawingml/2006/main">
            <a:r>
              <a:t>services/genesis/broker_api.py</a:t>
            </a:r>
          </a:p>
          <a:p xmlns:a="http://schemas.openxmlformats.org/drawingml/2006/main">
            <a:r>
              <a:t>apps/web/src/OrderBoard.tsx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navigateur appelle l’API sur loopback. L’API persiste les demandes avant que le worker ne les réclame. Le worker exécute le graphe, utilise les outils et écrit événements et artefacts. EventSource reçoit les événements SSE des missions en cours. Le client fusionne les séquences, relit les projections et complète par rafraîchissement périodique. La base application demeure la source de vérité. Langfuse reçoit éventuellement une copie expurgée via une outbox. Les cartes, explications IA et notifications sont des frontières réseau distinctes. Une panne d’export de traces ne doit pas rendre le tableau de bord inutilisable.</a:t>
            </a:r>
          </a:p>
          <a:p xmlns:a="http://schemas.openxmlformats.org/drawingml/2006/main">
            <a:r>
              <a:t/>
            </a:r>
          </a:p>
          <a:p xmlns:a="http://schemas.openxmlformats.org/drawingml/2006/main">
            <a:r>
              <a:t>Sources du dépôt, état au 11 octobre 2026 (U17–U19) :</a:t>
            </a:r>
          </a:p>
          <a:p xmlns:a="http://schemas.openxmlformats.org/drawingml/2006/main">
            <a:r>
              <a:t>services/genesis/api.py</a:t>
            </a:r>
          </a:p>
          <a:p xmlns:a="http://schemas.openxmlformats.org/drawingml/2006/main">
            <a:r>
              <a:t>services/genesis/worker.py</a:t>
            </a:r>
          </a:p>
          <a:p xmlns:a="http://schemas.openxmlformats.org/drawingml/2006/main">
            <a:r>
              <a:t>services/genesis/workflow.py</a:t>
            </a:r>
          </a:p>
          <a:p xmlns:a="http://schemas.openxmlformats.org/drawingml/2006/main">
            <a:r>
              <a:t>services/genesis/db.py</a:t>
            </a:r>
          </a:p>
          <a:p xmlns:a="http://schemas.openxmlformats.org/drawingml/2006/main">
            <a:r>
              <a:t>apps/web/src/App.tsx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compose les écrans et leurs interactions. TypeScript détecte des incohérences de types, sans remplacer la validation serveur. ECharts dessine les graphiques en SVG. React Flow visualise les transmissions, mais ne pilote pas LangGraph. MapLibre affiche les données géographiques et les positions simulées, sans calculer les routes. Vite fournit le développement et le build. Le plugin React adapte la transformation JSX. Les types React soutiennent la compilation. Inter est servi localement. Prettier est déclaré pour la mise en forme. Les gros bundles de cartes et de graphiques demeurent un sujet de profilage, pas une preuve de charge optimisée.</a:t>
            </a:r>
          </a:p>
          <a:p xmlns:a="http://schemas.openxmlformats.org/drawingml/2006/main">
            <a:r>
              <a:t/>
            </a:r>
          </a:p>
          <a:p xmlns:a="http://schemas.openxmlformats.org/drawingml/2006/main">
            <a:r>
              <a:t>Sources du dépôt, état au 11 octobre 2026 (U17–U19) :</a:t>
            </a:r>
          </a:p>
          <a:p xmlns:a="http://schemas.openxmlformats.org/drawingml/2006/main">
            <a:r>
              <a:t>apps/web/package.json</a:t>
            </a:r>
          </a:p>
          <a:p xmlns:a="http://schemas.openxmlformats.org/drawingml/2006/main">
            <a:r>
              <a:t>apps/web/vite.config.ts</a:t>
            </a:r>
          </a:p>
          <a:p xmlns:a="http://schemas.openxmlformats.org/drawingml/2006/main">
            <a:r>
              <a:t>apps/web/src/Chart.tsx</a:t>
            </a:r>
          </a:p>
          <a:p xmlns:a="http://schemas.openxmlformats.org/drawingml/2006/main">
            <a:r>
              <a:t>apps/web/src/Observability.tsx</a:t>
            </a:r>
          </a:p>
          <a:p xmlns:a="http://schemas.openxmlformats.org/drawingml/2006/main">
            <a:r>
              <a:t>apps/web/src/DispatchMap.tsx</a:t>
            </a:r>
          </a:p>
          <a:p xmlns:a="http://schemas.openxmlformats.org/drawingml/2006/main">
            <a:r>
              <a:t>apps/web/src/main.tsx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définit les routes et leur schéma OpenAPI. Pydantic rejette les propriétés supplémentaires, les identifiants invalides et les volumes hors périmètre. Le correctif U16 projette un résultat de géocodage vers ses seuls label et coordonnées, car son identifiant fournisseur ne fait pas partie du contrat Place. HTTPX borne les réponses externes. Le serveur vérifie également l’origine locale exacte et les tailles de corps. La génération OpenAPI reflète le code exécutable, mais tous les types TypeScript ne proviennent pas automatiquement du schéma. L’absence d’authentification limite l’exposition de ce profil au contexte local.</a:t>
            </a:r>
          </a:p>
          <a:p xmlns:a="http://schemas.openxmlformats.org/drawingml/2006/main">
            <a:r>
              <a:t/>
            </a:r>
          </a:p>
          <a:p xmlns:a="http://schemas.openxmlformats.org/drawingml/2006/main">
            <a:r>
              <a:t>Sources du dépôt, état au 11 octobre 2026 (U17–U19) :</a:t>
            </a:r>
          </a:p>
          <a:p xmlns:a="http://schemas.openxmlformats.org/drawingml/2006/main">
            <a:r>
              <a:t>services/genesis/api.py</a:t>
            </a:r>
          </a:p>
          <a:p xmlns:a="http://schemas.openxmlformats.org/drawingml/2006/main">
            <a:r>
              <a:t>services/genesis/dispatch.py</a:t>
            </a:r>
          </a:p>
          <a:p xmlns:a="http://schemas.openxmlformats.org/drawingml/2006/main">
            <a:r>
              <a:t>services/genesis/models.py</a:t>
            </a:r>
          </a:p>
          <a:p xmlns:a="http://schemas.openxmlformats.org/drawingml/2006/main">
            <a:r>
              <a:t>packages/contracts/openapi.json</a:t>
            </a:r>
          </a:p>
          <a:p xmlns:a="http://schemas.openxmlformats.org/drawingml/2006/main">
            <a:r>
              <a:t>docs/work/U16-route-submission.md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transaction protège les écritures qui doivent rester cohérentes. Le Store coordonne états, revendications, réservations et événements. Les baux du worker ont un propriétaire et une génération pour empêcher un processus ancien de publier comme propriétaire actuel. LangGraph utilise SqliteSaver et une base de checkpoints distincte. Ces mécanismes ne garantissent pas exactement une fois pour un fournisseur externe. Une réponse perdue après facturation peut conserver une réserve et empêcher une nouvelle émission. Le profil PostgreSQL et Psycopg existent, mais aucune preuve locale de leurs transactions, baux ou restauration n’a été établie.</a:t>
            </a:r>
          </a:p>
          <a:p xmlns:a="http://schemas.openxmlformats.org/drawingml/2006/main">
            <a:r>
              <a:t/>
            </a:r>
          </a:p>
          <a:p xmlns:a="http://schemas.openxmlformats.org/drawingml/2006/main">
            <a:r>
              <a:t>Sources du dépôt, état au 11 octobre 2026 (U17–U19) :</a:t>
            </a:r>
          </a:p>
          <a:p xmlns:a="http://schemas.openxmlformats.org/drawingml/2006/main">
            <a:r>
              <a:t>services/genesis/db.py</a:t>
            </a:r>
          </a:p>
          <a:p xmlns:a="http://schemas.openxmlformats.org/drawingml/2006/main">
            <a:r>
              <a:t>services/genesis/worker.py</a:t>
            </a:r>
          </a:p>
          <a:p xmlns:a="http://schemas.openxmlformats.org/drawingml/2006/main">
            <a:r>
              <a:t>services/genesis/workflow.py</a:t>
            </a:r>
          </a:p>
          <a:p xmlns:a="http://schemas.openxmlformats.org/drawingml/2006/main">
            <a:r>
              <a:t>docs/DATABASE-RECOVERY.md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workflow courant exécute les cinq rôles séquentiellement. Chaque rôle conserve sa durée, son résultat et les références de preuves transmises. Ces durées sont du travail logiciel réel, y compris lorsque les modèles sont désactivés. Le trafic du benchmark est synthétique. Le courtier utilise une matrice de temps routiers statiques. Le contrôle indépendant est déterministe. Le rôle exception ne peut pas déplacer une cargaison réelle ou remplacer une contrainte par un texte plausible. L’admission transactionnelle reste une étape distincte. Un rôle peut avoir un résultat valide sans consommation de tokens.</a:t>
            </a:r>
          </a:p>
          <a:p xmlns:a="http://schemas.openxmlformats.org/drawingml/2006/main">
            <a:r>
              <a:t/>
            </a:r>
          </a:p>
          <a:p xmlns:a="http://schemas.openxmlformats.org/drawingml/2006/main">
            <a:r>
              <a:t>Sources du dépôt, état au 11 octobre 2026 (U17–U19) :</a:t>
            </a:r>
          </a:p>
          <a:p xmlns:a="http://schemas.openxmlformats.org/drawingml/2006/main">
            <a:r>
              <a:t>services/genesis/workflow.py</a:t>
            </a:r>
          </a:p>
          <a:p xmlns:a="http://schemas.openxmlformats.org/drawingml/2006/main">
            <a:r>
              <a:t>services/genesis/broker_runtime.py</a:t>
            </a:r>
          </a:p>
          <a:p xmlns:a="http://schemas.openxmlformats.org/drawingml/2006/main">
            <a:r>
              <a:t>docs/LOGISTICS-SPEC.md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mode standard de courtage utilise explanation_policy=none. Il n’exige aucune clé de modèle et n’émet aucun appel fournisseur. always prévoit cinq explications dans une mission normale complète. routine omet planification et trafic, soit trois explications sur un historique manquant. Si un contexte historique admissible correspond au plan nouvellement vérifié, routine peut omettre les cinq. Les tentatives réelles, erreurs et reprises peuvent différer de ces nombres de politique. Ces valeurs décrivent le contrat du code, pas une mesure de performance. Les fixtures déterministes et les expériences live restent séparées.</a:t>
            </a:r>
          </a:p>
          <a:p xmlns:a="http://schemas.openxmlformats.org/drawingml/2006/main">
            <a:r>
              <a:t/>
            </a:r>
          </a:p>
          <a:p xmlns:a="http://schemas.openxmlformats.org/drawingml/2006/main">
            <a:r>
              <a:t>Sources du dépôt, état au 11 octobre 2026 (U17–U19) :</a:t>
            </a:r>
          </a:p>
          <a:p xmlns:a="http://schemas.openxmlformats.org/drawingml/2006/main">
            <a:r>
              <a:t>services/genesis/broker_runtime.py</a:t>
            </a:r>
          </a:p>
          <a:p xmlns:a="http://schemas.openxmlformats.org/drawingml/2006/main">
            <a:r>
              <a:t>services/genesis/route_memory.py</a:t>
            </a:r>
          </a:p>
          <a:p xmlns:a="http://schemas.openxmlformats.org/drawingml/2006/main">
            <a:r>
              <a:t>services/genesis/llm.py</a:t>
            </a:r>
          </a:p>
          <a:p xmlns:a="http://schemas.openxmlformats.org/drawingml/2006/main">
            <a:r>
              <a:t>docs/BROKER-ORDERS.md</a:t>
            </a:r>
          </a:p>
          <a:p xmlns:a="http://schemas.openxmlformats.org/drawingml/2006/main">
            <a:r>
              <a:t>docs/ROUTE-MEMORY.md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seul fournisseur d’exécution live est Anthropic. Les anciens enregistrements OpenAI restent consultables comme historique et ne peuvent pas relancer ce fournisseur. Les IDs exacts des modèles, sorties autorisées et tarifs sont versionnés dans la configuration. La sortie structurée contient un résumé et des références de preuves validées. Une réponse persuasive ne permet pas de modifier capacité, budget, certificat ou réservation. Il n’existe aucun remplacement silencieux de fournisseur. Les prix du jeu actuel expirent le 17 octobre 2026 et doivent être revalidés ensuite. Les familles affichées décrivent la politique configurée, sans nouvelle évaluation des modèles dans cette révision.</a:t>
            </a:r>
          </a:p>
          <a:p xmlns:a="http://schemas.openxmlformats.org/drawingml/2006/main">
            <a:r>
              <a:t/>
            </a:r>
          </a:p>
          <a:p xmlns:a="http://schemas.openxmlformats.org/drawingml/2006/main">
            <a:r>
              <a:t>Sources du dépôt, état au 11 octobre 2026 (U17–U19) :</a:t>
            </a:r>
          </a:p>
          <a:p xmlns:a="http://schemas.openxmlformats.org/drawingml/2006/main">
            <a:r>
              <a:t>docs/MODEL-POLICY.md</a:t>
            </a:r>
          </a:p>
          <a:p xmlns:a="http://schemas.openxmlformats.org/drawingml/2006/main">
            <a:r>
              <a:t>services/genesis/llm.py</a:t>
            </a:r>
          </a:p>
          <a:p xmlns:a="http://schemas.openxmlformats.org/drawingml/2006/main">
            <a:r>
              <a:t>config/anthropic-prices.json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choix d’une adresse doit confirmer un résultat géocodé. Les coordonnées contrôlées alimentent les services routiers, puis la carte. OSRM renvoie distances et temps statiques, sans connaissance native des restrictions d’un poids lourd. Le nombre maximal de nœuds du courtier est trente, soit dix origines et vingt arrêts. OpenFreeMap fournit le style et les tuiles, tandis que MapLibre rend le résultat dans le navigateur. Les fournisseurs publics de démonstration n’offrent pas le SLA nécessaire à une offre payante. Des endpoints détenus ou contractuels devront être validés. L’attribution cartographique reste visible.</a:t>
            </a:r>
          </a:p>
          <a:p xmlns:a="http://schemas.openxmlformats.org/drawingml/2006/main">
            <a:r>
              <a:t/>
            </a:r>
          </a:p>
          <a:p xmlns:a="http://schemas.openxmlformats.org/drawingml/2006/main">
            <a:r>
              <a:t>Sources du dépôt, état au 11 octobre 2026 (U17–U19) :</a:t>
            </a:r>
          </a:p>
          <a:p xmlns:a="http://schemas.openxmlformats.org/drawingml/2006/main">
            <a:r>
              <a:t>services/genesis/dispatch.py</a:t>
            </a:r>
          </a:p>
          <a:p xmlns:a="http://schemas.openxmlformats.org/drawingml/2006/main">
            <a:r>
              <a:t>services/genesis/traffic.py</a:t>
            </a:r>
          </a:p>
          <a:p xmlns:a="http://schemas.openxmlformats.org/drawingml/2006/main">
            <a:r>
              <a:t>apps/web/src/DispatchMap.tsx</a:t>
            </a:r>
          </a:p>
          <a:p xmlns:a="http://schemas.openxmlformats.org/drawingml/2006/main">
            <a:r>
              <a:t>docs/DISPATCH.md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problème de pickup/delivery impose que le ramassage précède le dépôt et que chaque livraison conserve son véhicule. La capacité porte sur la charge de chaque leg, pas sur le volume total d’une journée. Les fenêtres relatives, durées de service et origines entrent dans la comparaison. Les coûts incluent activation, distance et travail selon les hypothèses saisies. La recherche hybride a une limite de trois secondes, suivie d’une seconde par candidat véhicule unique. Avec dix véhicules, cela représente au plus treize secondes configurées de recherche, hors préparation et réseau. La comparaison séparée borne l’énumération à mille affectations. Le résultat est un candidat vérifié, sans garantie d’optimum global.</a:t>
            </a:r>
          </a:p>
          <a:p xmlns:a="http://schemas.openxmlformats.org/drawingml/2006/main">
            <a:r>
              <a:t/>
            </a:r>
          </a:p>
          <a:p xmlns:a="http://schemas.openxmlformats.org/drawingml/2006/main">
            <a:r>
              <a:t>Sources du dépôt, état au 11 octobre 2026 (U17–U19) :</a:t>
            </a:r>
          </a:p>
          <a:p xmlns:a="http://schemas.openxmlformats.org/drawingml/2006/main">
            <a:r>
              <a:t>services/genesis/broker_solver.py</a:t>
            </a:r>
          </a:p>
          <a:p xmlns:a="http://schemas.openxmlformats.org/drawingml/2006/main">
            <a:r>
              <a:t>services/genesis/broker_runtime.py</a:t>
            </a:r>
          </a:p>
          <a:p xmlns:a="http://schemas.openxmlformats.org/drawingml/2006/main">
            <a:r>
              <a:t>docs/FLEET-CONFIGURATION.md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contrôle indépendant ne prend pas la faisabilité du solveur pour acquise. Il recalcule séquence, charge, durées et fenêtres depuis le problème figé. Les empreintes relient problème, solution et certificat. La matérialisation compare ensuite la géométrie réellement reçue à la matrice utilisée. Elle inclut les services et refuse les dépassements. Une transaction contrôle de nouveau les réservations, la configuration et l’état de la mission. L’annulation et la finalisation ne doivent pas laisser une réservation orpheline. Un certificat de suffixe replanifié ne certifie pas rétroactivement une journée entière.</a:t>
            </a:r>
          </a:p>
          <a:p xmlns:a="http://schemas.openxmlformats.org/drawingml/2006/main">
            <a:r>
              <a:t/>
            </a:r>
          </a:p>
          <a:p xmlns:a="http://schemas.openxmlformats.org/drawingml/2006/main">
            <a:r>
              <a:t>Sources du dépôt, état au 11 octobre 2026 (U17–U19) :</a:t>
            </a:r>
          </a:p>
          <a:p xmlns:a="http://schemas.openxmlformats.org/drawingml/2006/main">
            <a:r>
              <a:t>services/genesis/broker_solver.py</a:t>
            </a:r>
          </a:p>
          <a:p xmlns:a="http://schemas.openxmlformats.org/drawingml/2006/main">
            <a:r>
              <a:t>services/genesis/dispatch.py</a:t>
            </a:r>
          </a:p>
          <a:p xmlns:a="http://schemas.openxmlformats.org/drawingml/2006/main">
            <a:r>
              <a:t>services/genesis/solver.py</a:t>
            </a:r>
          </a:p>
          <a:p xmlns:a="http://schemas.openxmlformats.org/drawingml/2006/main">
            <a:r>
              <a:t>docs/reviews/broker-review.md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GENESIS_FLEET_CONFIG désigne un JSON local borné à 16 Kio. Le schéma valide les propriétés, les identifiants uniques et les capacités entières. La configuration est figée au niveau du moteur de base du processus et son empreinte est conservée en base. Un changement demande une flotte sans activité incompatible et un redémarrage coordonné de l’API et du worker. Les anciens processus échouent si la version acceptée change. L’historique des véhicules retirés reste lisible. Le renommage ne permet pas de faire disparaître une cargaison bloquée. U19 a été exercé par les workers isolés. Le worker opérateur antérieur attend son redémarrage autorisé.</a:t>
            </a:r>
          </a:p>
          <a:p xmlns:a="http://schemas.openxmlformats.org/drawingml/2006/main">
            <a:r>
              <a:t/>
            </a:r>
          </a:p>
          <a:p xmlns:a="http://schemas.openxmlformats.org/drawingml/2006/main">
            <a:r>
              <a:t>Sources du dépôt, état au 11 octobre 2026 (U17–U19) :</a:t>
            </a:r>
          </a:p>
          <a:p xmlns:a="http://schemas.openxmlformats.org/drawingml/2006/main">
            <a:r>
              <a:t>services/genesis/fleet_config.py</a:t>
            </a:r>
          </a:p>
          <a:p xmlns:a="http://schemas.openxmlformats.org/drawingml/2006/main">
            <a:r>
              <a:t>docs/FLEET-CONFIGURATION.md</a:t>
            </a:r>
          </a:p>
          <a:p xmlns:a="http://schemas.openxmlformats.org/drawingml/2006/main">
            <a:r>
              <a:t>docs/work/U19-configurable-fleet.md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capture provient du navigateur MCP pendant la vérification U18/U19. La configuration QA comporte cinq véhicules aux capacités différentes. Le véhicule « est » porte une tournée de deux commandes, avec quatre arrêts et un certificat valide. La sélection clavier d’un arrêt met à jour la fiche et le marqueur correspondant. La carte de fond représente Montréal. Les segments de ce test sont des géométries synthétiques explicites et ne constituent pas une validation de routes publiques. Le test a ensuite observé un démarrage explicite puis une simulation terminée. Les horloges de simulation et de calcul logiciel restent séparées. Capture conservée sans données client ou secret.</a:t>
            </a:r>
          </a:p>
          <a:p xmlns:a="http://schemas.openxmlformats.org/drawingml/2006/main">
            <a:r>
              <a:t/>
            </a:r>
          </a:p>
          <a:p xmlns:a="http://schemas.openxmlformats.org/drawingml/2006/main">
            <a:r>
              <a:t>Sources du dépôt, état au 11 octobre 2026 (U17–U19) :</a:t>
            </a:r>
          </a:p>
          <a:p xmlns:a="http://schemas.openxmlformats.org/drawingml/2006/main">
            <a:r>
              <a:t>docs/work/U18-local-readiness.md</a:t>
            </a:r>
          </a:p>
          <a:p xmlns:a="http://schemas.openxmlformats.org/drawingml/2006/main">
            <a:r>
              <a:t>qa/fixtures/fleet-five.json</a:t>
            </a:r>
          </a:p>
          <a:p xmlns:a="http://schemas.openxmlformats.org/drawingml/2006/main">
            <a:r>
              <a:t>apps/web/src/DispatchMap.tsx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mémoire rapproche des tâches selon leurs contraintes et conserve des variantes d’ordres d’arrêts. Le chargement historique ne réserve pas un véhicule. Il reconstruit un contexte, puis le système vérifie les données actuelles. La version et les capacités de flotte font partie de la compatibilité U19. Une répétition d’adresse seule ne garantit pas un réemploi. Les temps moyens et médians viennent de simulations terminées. Les origines et conditions peuvent différer, donc un classement brut ne démontre pas une meilleure route causale. La réduction de tokens provient d’explications omises sur un contexte compatible, pas d’un apprentissage GPS ou d’une prédiction de trafic.</a:t>
            </a:r>
          </a:p>
          <a:p xmlns:a="http://schemas.openxmlformats.org/drawingml/2006/main">
            <a:r>
              <a:t/>
            </a:r>
          </a:p>
          <a:p xmlns:a="http://schemas.openxmlformats.org/drawingml/2006/main">
            <a:r>
              <a:t>Sources du dépôt, état au 11 octobre 2026 (U17–U19) :</a:t>
            </a:r>
          </a:p>
          <a:p xmlns:a="http://schemas.openxmlformats.org/drawingml/2006/main">
            <a:r>
              <a:t>services/genesis/route_memory.py</a:t>
            </a:r>
          </a:p>
          <a:p xmlns:a="http://schemas.openxmlformats.org/drawingml/2006/main">
            <a:r>
              <a:t>apps/web/src/RouteLibrary.tsx</a:t>
            </a:r>
          </a:p>
          <a:p xmlns:a="http://schemas.openxmlformats.org/drawingml/2006/main">
            <a:r>
              <a:t>docs/ROUTE-MEMORY.md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graphe interactif utilise React Flow. ECharts rend chronologie, Sankey, comparaison, heatmap et répartitions. Le Sankey compte des transmissions, sans conservation de tokens. Les comparaisons exigent des cohortes et unités compatibles. La heatmap présente des moyennes avec leurs effectifs. Une donnée manquante n’est pas zéro. L’export CSV reprend filtres, horodatages, couverture et unités. Il agrège trois réponses API séparées, sans instantané transactionnel commun. Les inventaires bornés aux deux cents dernières lignes ne sont pas des comptes exhaustifs. Les tableaux textuels complètent les graphiques. Le descriptif accessible automatique de la chronologie a encore des placeholders NaN à corriger.</a:t>
            </a:r>
          </a:p>
          <a:p xmlns:a="http://schemas.openxmlformats.org/drawingml/2006/main">
            <a:r>
              <a:t/>
            </a:r>
          </a:p>
          <a:p xmlns:a="http://schemas.openxmlformats.org/drawingml/2006/main">
            <a:r>
              <a:t>Sources du dépôt, état au 11 octobre 2026 (U17–U19) :</a:t>
            </a:r>
          </a:p>
          <a:p xmlns:a="http://schemas.openxmlformats.org/drawingml/2006/main">
            <a:r>
              <a:t>apps/web/src/Observability.tsx</a:t>
            </a:r>
          </a:p>
          <a:p xmlns:a="http://schemas.openxmlformats.org/drawingml/2006/main">
            <a:r>
              <a:t>apps/web/src/Analytics.tsx</a:t>
            </a:r>
          </a:p>
          <a:p xmlns:a="http://schemas.openxmlformats.org/drawingml/2006/main">
            <a:r>
              <a:t>apps/web/src/analyticsExport.ts</a:t>
            </a:r>
          </a:p>
          <a:p xmlns:a="http://schemas.openxmlformats.org/drawingml/2006/main">
            <a:r>
              <a:t>docs/DATA-CONTRACT.md</a:t>
            </a:r>
          </a:p>
          <a:p xmlns:a="http://schemas.openxmlformats.org/drawingml/2006/main">
            <a:r>
              <a:t>docs/TRANSPORT-CHECKLIST.md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tentatives fournisseur sont la source de vérité des tokens et des charges. Une invocation de rôle peut inclure plusieurs tentatives ou aucune. Les agrégats distinguent couverture connue et valeurs manquantes. Le ledger financier conserve les charges connues et les réserves incertaines, y compris après une erreur de sortie. Les chiffres de coût dépendent des tarifs versionnés et ne constituent pas une facture. Decimal protège les sommes. Langfuse reçoit les données expurgées de l’outbox lorsqu’il est configuré. L’export cloud reste non validé ici. Les paquets OpenTelemetry et LangSmith de l’écosystème ne prouvent pas qu’une télémétrie de production est activée.</a:t>
            </a:r>
          </a:p>
          <a:p xmlns:a="http://schemas.openxmlformats.org/drawingml/2006/main">
            <a:r>
              <a:t/>
            </a:r>
          </a:p>
          <a:p xmlns:a="http://schemas.openxmlformats.org/drawingml/2006/main">
            <a:r>
              <a:t>Sources du dépôt, état au 11 octobre 2026 (U17–U19) :</a:t>
            </a:r>
          </a:p>
          <a:p xmlns:a="http://schemas.openxmlformats.org/drawingml/2006/main">
            <a:r>
              <a:t>services/genesis/telemetry.py</a:t>
            </a:r>
          </a:p>
          <a:p xmlns:a="http://schemas.openxmlformats.org/drawingml/2006/main">
            <a:r>
              <a:t>services/genesis/db.py</a:t>
            </a:r>
          </a:p>
          <a:p xmlns:a="http://schemas.openxmlformats.org/drawingml/2006/main">
            <a:r>
              <a:t>services/genesis/worker.py</a:t>
            </a:r>
          </a:p>
          <a:p xmlns:a="http://schemas.openxmlformats.org/drawingml/2006/main">
            <a:r>
              <a:t>apps/web/src/Metering.tsx</a:t>
            </a:r>
          </a:p>
          <a:p xmlns:a="http://schemas.openxmlformats.org/drawingml/2006/main">
            <a:r>
              <a:t>apps/web/src/OverallCost.tsx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budget du projet est partagé par toutes les demandes. Le facteur conservateur CAD/USD est une politique de plafonnement, sans prétention de taux de change ou de facture. Le dépassement connu gèle de nouveaux appels. Le déclencheur de budget crée une alerte durable unique. Le worker SMTP travaille hors transaction, avec TLS vérifié. Une remise ambiguë reste incertaine et ne déclenche pas un renvoi automatique. Gmail a accepté la connexion et l’authentification lors du contrôle précédent, sans message externe de test. La réception en boîte demeure non vérifiée.</a:t>
            </a:r>
          </a:p>
          <a:p xmlns:a="http://schemas.openxmlformats.org/drawingml/2006/main">
            <a:r>
              <a:t/>
            </a:r>
          </a:p>
          <a:p xmlns:a="http://schemas.openxmlformats.org/drawingml/2006/main">
            <a:r>
              <a:t>Sources du dépôt, état au 11 octobre 2026 (U17–U19) :</a:t>
            </a:r>
          </a:p>
          <a:p xmlns:a="http://schemas.openxmlformats.org/drawingml/2006/main">
            <a:r>
              <a:t>docs/BUDGET.md</a:t>
            </a:r>
          </a:p>
          <a:p xmlns:a="http://schemas.openxmlformats.org/drawingml/2006/main">
            <a:r>
              <a:t>docs/BUDGET-EMAIL.md</a:t>
            </a:r>
          </a:p>
          <a:p xmlns:a="http://schemas.openxmlformats.org/drawingml/2006/main">
            <a:r>
              <a:t>services/genesis/notifications.py</a:t>
            </a:r>
          </a:p>
          <a:p xmlns:a="http://schemas.openxmlformats.org/drawingml/2006/main">
            <a:r>
              <a:t>services/genesis/db.py</a:t>
            </a:r>
          </a:p>
          <a:p xmlns:a="http://schemas.openxmlformats.org/drawingml/2006/main">
            <a:r>
              <a:t>docs/IMPLEMENTATION-STATUS.md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manifeste historique couvre S01 à S05, baseline_only et solver_with_one_replan, avec graines 17 et 29. Le produit de 5 × 2 × 2 donne 20 exécutions acceptées, totalisant 100 appels. Une analyse peut réussir en expliquant une mission infaisable. Cela ne signifie pas que toutes les tournées ont servi tous les clients. Les politiques logistiques diffèrent des familles de modèles. Le benchmark emploie des données et du trafic synthétiques. Le courtage opérateur emploie des demandes d’adresses, une matrice routière et une admission de flotte. Leurs résultats ne sont pas interchangeables. Les vérifications déterministes récentes ne sont pas de nouvelles expériences live.</a:t>
            </a:r>
          </a:p>
          <a:p xmlns:a="http://schemas.openxmlformats.org/drawingml/2006/main">
            <a:r>
              <a:t/>
            </a:r>
          </a:p>
          <a:p xmlns:a="http://schemas.openxmlformats.org/drawingml/2006/main">
            <a:r>
              <a:t>Sources du dépôt, état au 11 octobre 2026 (U17–U19) :</a:t>
            </a:r>
          </a:p>
          <a:p xmlns:a="http://schemas.openxmlformats.org/drawingml/2006/main">
            <a:r>
              <a:t>experiments/live-manifest.json</a:t>
            </a:r>
          </a:p>
          <a:p xmlns:a="http://schemas.openxmlformats.org/drawingml/2006/main">
            <a:r>
              <a:t>docs/REPORT.md</a:t>
            </a:r>
          </a:p>
          <a:p xmlns:a="http://schemas.openxmlformats.org/drawingml/2006/main">
            <a:r>
              <a:t>docs/LOGISTICS-SPEC.md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tests Python ont couvert contraintes, transactions, budget, mémoire, configurations et recovery sur fixtures. Les 77 tests frontend ont couvert logique et rendu ciblés. Quatre tests du harness isolé vérifient les deux profils de flotte et les frontières de processus. Le navigateur MCP a observé un lot CSV validé, enregistré sans doublon, un plan certifié, un départ explicite et une simulation terminée. Les largeurs 320 à 1440 px ont fait l’objet de mesures DOM sans débordement de page. La suite Playwright complète n’a pas été exécutée dans cette phase. Le contrôle n’équivaut pas à une certification WCAG. Les avertissements de bundle et dépréciations SWIG restent documentés.</a:t>
            </a:r>
          </a:p>
          <a:p xmlns:a="http://schemas.openxmlformats.org/drawingml/2006/main">
            <a:r>
              <a:t/>
            </a:r>
          </a:p>
          <a:p xmlns:a="http://schemas.openxmlformats.org/drawingml/2006/main">
            <a:r>
              <a:t>Sources du dépôt, état au 11 octobre 2026 (U17–U19) :</a:t>
            </a:r>
          </a:p>
          <a:p xmlns:a="http://schemas.openxmlformats.org/drawingml/2006/main">
            <a:r>
              <a:t>docs/reviews/local-readiness-review.md</a:t>
            </a:r>
          </a:p>
          <a:p xmlns:a="http://schemas.openxmlformats.org/drawingml/2006/main">
            <a:r>
              <a:t>docs/work/U18-local-readiness.md</a:t>
            </a:r>
          </a:p>
          <a:p xmlns:a="http://schemas.openxmlformats.org/drawingml/2006/main">
            <a:r>
              <a:t>docs/QA.md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module backup utilise l’API de copie en ligne SQLite et prend en compte les transactions WAL validées. Il vérifie intégrité, clés et forme du schéma. Les tables de dispatch optionnelles d’une base ancienne sont autorisées si absentes et contrôlées exactement si présentes. Le manifeste associe format, taille et SHA256. La restauration refuse toute destination existante. Les tests préservent notamment commandes, plans, trajets, événements et réserves financières. La base de checkpoints et les fichiers privés ne font pas partie du bundle. Restaurer la base seule puis lancer un worker pourrait rejouer un effet externe. Aucune reprise de production n’est validée par ce seul outil.</a:t>
            </a:r>
          </a:p>
          <a:p xmlns:a="http://schemas.openxmlformats.org/drawingml/2006/main">
            <a:r>
              <a:t/>
            </a:r>
          </a:p>
          <a:p xmlns:a="http://schemas.openxmlformats.org/drawingml/2006/main">
            <a:r>
              <a:t>Sources du dépôt, état au 11 octobre 2026 (U17–U19) :</a:t>
            </a:r>
          </a:p>
          <a:p xmlns:a="http://schemas.openxmlformats.org/drawingml/2006/main">
            <a:r>
              <a:t>services/genesis/backup.py</a:t>
            </a:r>
          </a:p>
          <a:p xmlns:a="http://schemas.openxmlformats.org/drawingml/2006/main">
            <a:r>
              <a:t>docs/DATABASE-RECOVERY.md</a:t>
            </a:r>
          </a:p>
          <a:p xmlns:a="http://schemas.openxmlformats.org/drawingml/2006/main">
            <a:r>
              <a:t>tests/test_backup.py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priorité est de fermer la boucle opérationnelle avant d’augmenter le nombre d’appels IA. L’identité et l’isolation doivent couvrir chaque lecture, mutation, événement et export. Les étapes conducteur demandent horodatages, fraîcheur GPS, mode hors ligne et idempotence. Retour, transfert et déchargement exigent des événements physiques audités. Les contraintes poids, dimensions, température, horaires et chargement ne sont pas représentées par une capacité de colis seule. Un pilote doit comparer une même couverture de commandes, les exceptions, la latence, le coût logiciel et les corrections du répartiteur. Les revenus et économies sont des hypothèses tant que ce pilote n’existe pas.</a:t>
            </a:r>
          </a:p>
          <a:p xmlns:a="http://schemas.openxmlformats.org/drawingml/2006/main">
            <a:r>
              <a:t/>
            </a:r>
          </a:p>
          <a:p xmlns:a="http://schemas.openxmlformats.org/drawingml/2006/main">
            <a:r>
              <a:t>Sources du dépôt, état au 11 octobre 2026 (U17–U19) :</a:t>
            </a:r>
          </a:p>
          <a:p xmlns:a="http://schemas.openxmlformats.org/drawingml/2006/main">
            <a:r>
              <a:t>docs/TRANSPORT-CHECKLIST.md</a:t>
            </a:r>
          </a:p>
          <a:p xmlns:a="http://schemas.openxmlformats.org/drawingml/2006/main">
            <a:r>
              <a:t>docs/DISCOVERY.md</a:t>
            </a:r>
          </a:p>
          <a:p xmlns:a="http://schemas.openxmlformats.org/drawingml/2006/main">
            <a:r>
              <a:t>docs/LOGISTICS-SPEC.md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parcours de démonstration utilise le profil QA isolé pour préserver le carnet, les véhicules et le budget opérateur. Présenter explicitement les routes synthétiques de la fixture et l’absence de GPS. Montrer une proposition prête avant de démarrer. Les explications standard sont désactivées et les cinq rôles restent inspectables. Une version historique compatible peut ensuite illustrer la mémoire, sans promettre un réemploi à chaque demande. Les six pages de référence suivantes regroupent les dépendances. Leurs notes conservent chaque paquet, sa version, sa fonction et sa classification. Le dépôt contient également les lockfiles npm transitifs et la présentation longue originale.</a:t>
            </a:r>
          </a:p>
          <a:p xmlns:a="http://schemas.openxmlformats.org/drawingml/2006/main">
            <a:r>
              <a:t/>
            </a:r>
          </a:p>
          <a:p xmlns:a="http://schemas.openxmlformats.org/drawingml/2006/main">
            <a:r>
              <a:t>Sources du dépôt, état au 11 octobre 2026 (U17–U19) :</a:t>
            </a:r>
          </a:p>
          <a:p xmlns:a="http://schemas.openxmlformats.org/drawingml/2006/main">
            <a:r>
              <a:t>docs/QA.md</a:t>
            </a:r>
          </a:p>
          <a:p xmlns:a="http://schemas.openxmlformats.org/drawingml/2006/main">
            <a:r>
              <a:t>docs/BROKER-ORDERS.md</a:t>
            </a:r>
          </a:p>
          <a:p xmlns:a="http://schemas.openxmlformats.org/drawingml/2006/main">
            <a:r>
              <a:t>docs/ROUTE-MEMORY.md</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Usage direct. Les versions décrivent le dépôt, sans affirmation de dernière version disponible.</a:t>
            </a:r>
          </a:p>
          <a:p xmlns:a="http://schemas.openxmlformats.org/drawingml/2006/main">
            <a:r>
              <a:t/>
            </a:r>
          </a:p>
          <a:p xmlns:a="http://schemas.openxmlformats.org/drawingml/2006/main">
            <a:r>
              <a:t>anthropic==1.13.0</a:t>
            </a:r>
          </a:p>
          <a:p xmlns:a="http://schemas.openxmlformats.org/drawingml/2006/main">
            <a:r>
              <a:t>Statut : Usage direct. Fonction : SDK des appels IA directs; seul fournisseur live actif</a:t>
            </a:r>
          </a:p>
          <a:p xmlns:a="http://schemas.openxmlformats.org/drawingml/2006/main">
            <a:r>
              <a:t/>
            </a:r>
          </a:p>
          <a:p xmlns:a="http://schemas.openxmlformats.org/drawingml/2006/main">
            <a:r>
              <a:t>fastapi==0.143.0</a:t>
            </a:r>
          </a:p>
          <a:p xmlns:a="http://schemas.openxmlformats.org/drawingml/2006/main">
            <a:r>
              <a:t>Statut : Usage direct. Fonction : API REST, validation HTTP et flux d’événements locaux</a:t>
            </a:r>
          </a:p>
          <a:p xmlns:a="http://schemas.openxmlformats.org/drawingml/2006/main">
            <a:r>
              <a:t/>
            </a:r>
          </a:p>
          <a:p xmlns:a="http://schemas.openxmlformats.org/drawingml/2006/main">
            <a:r>
              <a:t>httpx==0.28.1</a:t>
            </a:r>
          </a:p>
          <a:p xmlns:a="http://schemas.openxmlformats.org/drawingml/2006/main">
            <a:r>
              <a:t>Statut : Usage direct. Fonction : Requêtes bornées vers géocodage, routes et permis urbains</a:t>
            </a:r>
          </a:p>
          <a:p xmlns:a="http://schemas.openxmlformats.org/drawingml/2006/main">
            <a:r>
              <a:t/>
            </a:r>
          </a:p>
          <a:p xmlns:a="http://schemas.openxmlformats.org/drawingml/2006/main">
            <a:r>
              <a:t>langgraph==1.2.14</a:t>
            </a:r>
          </a:p>
          <a:p xmlns:a="http://schemas.openxmlformats.org/drawingml/2006/main">
            <a:r>
              <a:t>Statut : Usage direct. Fonction : Orchestration du workflow agent séquentiel avec reprise</a:t>
            </a:r>
          </a:p>
          <a:p xmlns:a="http://schemas.openxmlformats.org/drawingml/2006/main">
            <a:r>
              <a:t/>
            </a:r>
          </a:p>
          <a:p xmlns:a="http://schemas.openxmlformats.org/drawingml/2006/main">
            <a:r>
              <a:t>langgraph-checkpoint-sqlite==3.1.1</a:t>
            </a:r>
          </a:p>
          <a:p xmlns:a="http://schemas.openxmlformats.org/drawingml/2006/main">
            <a:r>
              <a:t>Statut : Usage direct. Fonction : Checkpoints SQLite persistants du workflow local</a:t>
            </a:r>
          </a:p>
          <a:p xmlns:a="http://schemas.openxmlformats.org/drawingml/2006/main">
            <a:r>
              <a:t/>
            </a:r>
          </a:p>
          <a:p xmlns:a="http://schemas.openxmlformats.org/drawingml/2006/main">
            <a:r>
              <a:t>ortools==9.15.6755</a:t>
            </a:r>
          </a:p>
          <a:p xmlns:a="http://schemas.openxmlformats.org/drawingml/2006/main">
            <a:r>
              <a:t>Statut : Usage direct. Fonction : Solveur borné des tournées, fenêtres horaires et capacités</a:t>
            </a:r>
          </a:p>
          <a:p xmlns:a="http://schemas.openxmlformats.org/drawingml/2006/main">
            <a:r>
              <a:t/>
            </a:r>
          </a:p>
          <a:p xmlns:a="http://schemas.openxmlformats.org/drawingml/2006/main">
            <a:r>
              <a:t>pydantic==2.14.0</a:t>
            </a:r>
          </a:p>
          <a:p xmlns:a="http://schemas.openxmlformats.org/drawingml/2006/main">
            <a:r>
              <a:t>Statut : Usage direct. Fonction : Contrats de données et validation des entrées/sorties</a:t>
            </a:r>
          </a:p>
          <a:p xmlns:a="http://schemas.openxmlformats.org/drawingml/2006/main">
            <a:r>
              <a:t/>
            </a:r>
          </a:p>
          <a:p xmlns:a="http://schemas.openxmlformats.org/drawingml/2006/main">
            <a:r>
              <a:t>python-dotenv==1.2.4</a:t>
            </a:r>
          </a:p>
          <a:p xmlns:a="http://schemas.openxmlformats.org/drawingml/2006/main">
            <a:r>
              <a:t>Statut : Usage direct. Fonction : Chargement de configuration locale depuis l’environnement</a:t>
            </a:r>
          </a:p>
          <a:p xmlns:a="http://schemas.openxmlformats.org/drawingml/2006/main">
            <a:r>
              <a:t/>
            </a:r>
          </a:p>
          <a:p xmlns:a="http://schemas.openxmlformats.org/drawingml/2006/main">
            <a:r>
              <a:t>SQLAlchemy==2.1.4</a:t>
            </a:r>
          </a:p>
          <a:p xmlns:a="http://schemas.openxmlformats.org/drawingml/2006/main">
            <a:r>
              <a:t>Statut : Usage direct. Fonction : Transactions et stockage SQLite des missions et événements</a:t>
            </a:r>
          </a:p>
          <a:p xmlns:a="http://schemas.openxmlformats.org/drawingml/2006/main">
            <a:r>
              <a:t/>
            </a:r>
          </a:p>
          <a:p xmlns:a="http://schemas.openxmlformats.org/drawingml/2006/main">
            <a:r>
              <a:t>uvicorn==0.54.0</a:t>
            </a:r>
          </a:p>
          <a:p xmlns:a="http://schemas.openxmlformats.org/drawingml/2006/main">
            <a:r>
              <a:t>Statut : Usage direct. Fonction : Serveur ASGI qui expose l’API locale FastAPI</a:t>
            </a:r>
          </a:p>
          <a:p xmlns:a="http://schemas.openxmlformats.org/drawingml/2006/main">
            <a:r>
              <a:t/>
            </a:r>
          </a:p>
          <a:p xmlns:a="http://schemas.openxmlformats.org/drawingml/2006/main">
            <a:r>
              <a:t>Sources du dépôt, état au 11 octobre 2026 (U17–U19)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 de dépendance. Les versions décrivent le dépôt, sans affirmation de dernière version disponible.</a:t>
            </a:r>
          </a:p>
          <a:p xmlns:a="http://schemas.openxmlformats.org/drawingml/2006/main">
            <a:r>
              <a:t/>
            </a:r>
          </a:p>
          <a:p xmlns:a="http://schemas.openxmlformats.org/drawingml/2006/main">
            <a:r>
              <a:t>absl-py==2.5.1</a:t>
            </a:r>
          </a:p>
          <a:p xmlns:a="http://schemas.openxmlformats.org/drawingml/2006/main">
            <a:r>
              <a:t>Statut : Support de dépendance. Fonction : Support transitif d’OR-Tools (utilitaires Abseil)</a:t>
            </a:r>
          </a:p>
          <a:p xmlns:a="http://schemas.openxmlformats.org/drawingml/2006/main">
            <a:r>
              <a:t/>
            </a:r>
          </a:p>
          <a:p xmlns:a="http://schemas.openxmlformats.org/drawingml/2006/main">
            <a:r>
              <a:t>annotated-doc==0.0.5</a:t>
            </a:r>
          </a:p>
          <a:p xmlns:a="http://schemas.openxmlformats.org/drawingml/2006/main">
            <a:r>
              <a:t>Statut : Support de dépendance. Fonction : Métadonnées de documentation pour schémas annotés</a:t>
            </a:r>
          </a:p>
          <a:p xmlns:a="http://schemas.openxmlformats.org/drawingml/2006/main">
            <a:r>
              <a:t/>
            </a:r>
          </a:p>
          <a:p xmlns:a="http://schemas.openxmlformats.org/drawingml/2006/main">
            <a:r>
              <a:t>annotated-types==0.8.0</a:t>
            </a:r>
          </a:p>
          <a:p xmlns:a="http://schemas.openxmlformats.org/drawingml/2006/main">
            <a:r>
              <a:t>Statut : Support de dépendance. Fonction : Métadonnées de contraintes utilisées par Pydantic</a:t>
            </a:r>
          </a:p>
          <a:p xmlns:a="http://schemas.openxmlformats.org/drawingml/2006/main">
            <a:r>
              <a:t/>
            </a:r>
          </a:p>
          <a:p xmlns:a="http://schemas.openxmlformats.org/drawingml/2006/main">
            <a:r>
              <a:t>anyio==4.15.1</a:t>
            </a:r>
          </a:p>
          <a:p xmlns:a="http://schemas.openxmlformats.org/drawingml/2006/main">
            <a:r>
              <a:t>Statut : Support de dépendance. Fonction : Concurrence async utilisée sous FastAPI et ses clients</a:t>
            </a:r>
          </a:p>
          <a:p xmlns:a="http://schemas.openxmlformats.org/drawingml/2006/main">
            <a:r>
              <a:t/>
            </a:r>
          </a:p>
          <a:p xmlns:a="http://schemas.openxmlformats.org/drawingml/2006/main">
            <a:r>
              <a:t>backoff==2.2.1</a:t>
            </a:r>
          </a:p>
          <a:p xmlns:a="http://schemas.openxmlformats.org/drawingml/2006/main">
            <a:r>
              <a:t>Statut : Support de dépendance. Fonction : Reprises du SDK Langfuse facultatif</a:t>
            </a:r>
          </a:p>
          <a:p xmlns:a="http://schemas.openxmlformats.org/drawingml/2006/main">
            <a:r>
              <a:t/>
            </a:r>
          </a:p>
          <a:p xmlns:a="http://schemas.openxmlformats.org/drawingml/2006/main">
            <a:r>
              <a:t>certifi==2026.7.22</a:t>
            </a:r>
          </a:p>
          <a:p xmlns:a="http://schemas.openxmlformats.org/drawingml/2006/main">
            <a:r>
              <a:t>Statut : Support de dépendance. Fonction : Certificats CA pour connexions TLS des clients HTTP</a:t>
            </a:r>
          </a:p>
          <a:p xmlns:a="http://schemas.openxmlformats.org/drawingml/2006/main">
            <a:r>
              <a:t/>
            </a:r>
          </a:p>
          <a:p xmlns:a="http://schemas.openxmlformats.org/drawingml/2006/main">
            <a:r>
              <a:t>charset-normalizer==3.5.2</a:t>
            </a:r>
          </a:p>
          <a:p xmlns:a="http://schemas.openxmlformats.org/drawingml/2006/main">
            <a:r>
              <a:t>Statut : Support de dépendance. Fonction : Détection d’encodage pour le client Requests</a:t>
            </a:r>
          </a:p>
          <a:p xmlns:a="http://schemas.openxmlformats.org/drawingml/2006/main">
            <a:r>
              <a:t/>
            </a:r>
          </a:p>
          <a:p xmlns:a="http://schemas.openxmlformats.org/drawingml/2006/main">
            <a:r>
              <a:t>click==8.5.0</a:t>
            </a:r>
          </a:p>
          <a:p xmlns:a="http://schemas.openxmlformats.org/drawingml/2006/main">
            <a:r>
              <a:t>Statut : Support de dépendance. Fonction : Support CLI d’Uvicorn et des outils installés</a:t>
            </a:r>
          </a:p>
          <a:p xmlns:a="http://schemas.openxmlformats.org/drawingml/2006/main">
            <a:r>
              <a:t/>
            </a:r>
          </a:p>
          <a:p xmlns:a="http://schemas.openxmlformats.org/drawingml/2006/main">
            <a:r>
              <a:t>colorama==0.4.6</a:t>
            </a:r>
          </a:p>
          <a:p xmlns:a="http://schemas.openxmlformats.org/drawingml/2006/main">
            <a:r>
              <a:t>Statut : Support de dépendance. Fonction : Couleurs terminal pour outils Python sous Windows</a:t>
            </a:r>
          </a:p>
          <a:p xmlns:a="http://schemas.openxmlformats.org/drawingml/2006/main">
            <a:r>
              <a:t/>
            </a:r>
          </a:p>
          <a:p xmlns:a="http://schemas.openxmlformats.org/drawingml/2006/main">
            <a:r>
              <a:t>distro==1.9.0</a:t>
            </a:r>
          </a:p>
          <a:p xmlns:a="http://schemas.openxmlformats.org/drawingml/2006/main">
            <a:r>
              <a:t>Statut : Support de dépendance. Fonction : Détection de distribution système pour SDK dépendants</a:t>
            </a:r>
          </a:p>
          <a:p xmlns:a="http://schemas.openxmlformats.org/drawingml/2006/main">
            <a:r>
              <a:t/>
            </a:r>
          </a:p>
          <a:p xmlns:a="http://schemas.openxmlformats.org/drawingml/2006/main">
            <a:r>
              <a:t>docstring_parser==0.18.0</a:t>
            </a:r>
          </a:p>
          <a:p xmlns:a="http://schemas.openxmlformats.org/drawingml/2006/main">
            <a:r>
              <a:t>Statut : Support de dépendance. Fonction : Analyse de docstrings par bibliothèques de schémas</a:t>
            </a:r>
          </a:p>
          <a:p xmlns:a="http://schemas.openxmlformats.org/drawingml/2006/main">
            <a:r>
              <a:t/>
            </a:r>
          </a:p>
          <a:p xmlns:a="http://schemas.openxmlformats.org/drawingml/2006/main">
            <a:r>
              <a:t>googleapis-common-protos==1.75.5</a:t>
            </a:r>
          </a:p>
          <a:p xmlns:a="http://schemas.openxmlformats.org/drawingml/2006/main">
            <a:r>
              <a:t>Statut : Support de dépendance. Fonction : Protos partagés requis par la chaîne OpenTelemetry</a:t>
            </a:r>
          </a:p>
          <a:p xmlns:a="http://schemas.openxmlformats.org/drawingml/2006/main">
            <a:r>
              <a:t/>
            </a:r>
          </a:p>
          <a:p xmlns:a="http://schemas.openxmlformats.org/drawingml/2006/main">
            <a:r>
              <a:t>h11==0.16.0</a:t>
            </a:r>
          </a:p>
          <a:p xmlns:a="http://schemas.openxmlformats.org/drawingml/2006/main">
            <a:r>
              <a:t>Statut : Support de dépendance. Fonction : Protocole HTTP/1.1 bas niveau pour serveur et clients</a:t>
            </a:r>
          </a:p>
          <a:p xmlns:a="http://schemas.openxmlformats.org/drawingml/2006/main">
            <a:r>
              <a:t/>
            </a:r>
          </a:p>
          <a:p xmlns:a="http://schemas.openxmlformats.org/drawingml/2006/main">
            <a:r>
              <a:t>httpcore==1.0.9</a:t>
            </a:r>
          </a:p>
          <a:p xmlns:a="http://schemas.openxmlformats.org/drawingml/2006/main">
            <a:r>
              <a:t>Statut : Support de dépendance. Fonction : Transport HTTP bas niveau utilisé par HTTPX</a:t>
            </a:r>
          </a:p>
          <a:p xmlns:a="http://schemas.openxmlformats.org/drawingml/2006/main">
            <a:r>
              <a:t/>
            </a:r>
          </a:p>
          <a:p xmlns:a="http://schemas.openxmlformats.org/drawingml/2006/main">
            <a:r>
              <a:t>httpcore2==2.13.1</a:t>
            </a:r>
          </a:p>
          <a:p xmlns:a="http://schemas.openxmlformats.org/drawingml/2006/main">
            <a:r>
              <a:t>Statut : Support de dépendance. Fonction : Transport bas niveau de httpx2 pour le SDK Anthropic</a:t>
            </a:r>
          </a:p>
          <a:p xmlns:a="http://schemas.openxmlformats.org/drawingml/2006/main">
            <a:r>
              <a:t/>
            </a:r>
          </a:p>
          <a:p xmlns:a="http://schemas.openxmlformats.org/drawingml/2006/main">
            <a:r>
              <a:t>httpx2==2.13.1</a:t>
            </a:r>
          </a:p>
          <a:p xmlns:a="http://schemas.openxmlformats.org/drawingml/2006/main">
            <a:r>
              <a:t>Statut : Support de dépendance. Fonction : Client HTTP indirect du SDK Anthropic installé</a:t>
            </a:r>
          </a:p>
          <a:p xmlns:a="http://schemas.openxmlformats.org/drawingml/2006/main">
            <a:r>
              <a:t/>
            </a:r>
          </a:p>
          <a:p xmlns:a="http://schemas.openxmlformats.org/drawingml/2006/main">
            <a:r>
              <a:t>idna==3.20</a:t>
            </a:r>
          </a:p>
          <a:p xmlns:a="http://schemas.openxmlformats.org/drawingml/2006/main">
            <a:r>
              <a:t>Statut : Support de dépendance. Fonction : Encodage des noms de domaine pour clients HTTP</a:t>
            </a:r>
          </a:p>
          <a:p xmlns:a="http://schemas.openxmlformats.org/drawingml/2006/main">
            <a:r>
              <a:t/>
            </a:r>
          </a:p>
          <a:p xmlns:a="http://schemas.openxmlformats.org/drawingml/2006/main">
            <a:r>
              <a:t>immutabledict==4.3.1</a:t>
            </a:r>
          </a:p>
          <a:p xmlns:a="http://schemas.openxmlformats.org/drawingml/2006/main">
            <a:r>
              <a:t>Statut : Support de dépendance. Fonction : Structures immuables de support pour OR-Tools</a:t>
            </a:r>
          </a:p>
          <a:p xmlns:a="http://schemas.openxmlformats.org/drawingml/2006/main">
            <a:r>
              <a:t/>
            </a:r>
          </a:p>
          <a:p xmlns:a="http://schemas.openxmlformats.org/drawingml/2006/main">
            <a:r>
              <a:t>jiter==0.17.0</a:t>
            </a:r>
          </a:p>
          <a:p xmlns:a="http://schemas.openxmlformats.org/drawingml/2006/main">
            <a:r>
              <a:t>Statut : Support de dépendance. Fonction : Analyse JSON rapide utilisée par le SDK Anthropic</a:t>
            </a:r>
          </a:p>
          <a:p xmlns:a="http://schemas.openxmlformats.org/drawingml/2006/main">
            <a:r>
              <a:t/>
            </a:r>
          </a:p>
          <a:p xmlns:a="http://schemas.openxmlformats.org/drawingml/2006/main">
            <a:r>
              <a:t>jsonpatch==1.34</a:t>
            </a:r>
          </a:p>
          <a:p xmlns:a="http://schemas.openxmlformats.org/drawingml/2006/main">
            <a:r>
              <a:t>Statut : Support de dépendance. Fonction : Diff d’état utilisé dans l’écosystème LangGraph</a:t>
            </a:r>
          </a:p>
          <a:p xmlns:a="http://schemas.openxmlformats.org/drawingml/2006/main">
            <a:r>
              <a:t/>
            </a:r>
          </a:p>
          <a:p xmlns:a="http://schemas.openxmlformats.org/drawingml/2006/main">
            <a:r>
              <a:t>jsonpointer==3.2.0</a:t>
            </a:r>
          </a:p>
          <a:p xmlns:a="http://schemas.openxmlformats.org/drawingml/2006/main">
            <a:r>
              <a:t>Statut : Support de dépendance. Fonction : Résolution de chemins JSON pour jsonpatch</a:t>
            </a:r>
          </a:p>
          <a:p xmlns:a="http://schemas.openxmlformats.org/drawingml/2006/main">
            <a:r>
              <a:t/>
            </a:r>
          </a:p>
          <a:p xmlns:a="http://schemas.openxmlformats.org/drawingml/2006/main">
            <a:r>
              <a:t>langchain-core==1.6.9</a:t>
            </a:r>
          </a:p>
          <a:p xmlns:a="http://schemas.openxmlformats.org/drawingml/2006/main">
            <a:r>
              <a:t>Statut : Support de dépendance. Fonction : Types de messages et primitives sous LangGraph</a:t>
            </a:r>
          </a:p>
          <a:p xmlns:a="http://schemas.openxmlformats.org/drawingml/2006/main">
            <a:r>
              <a:t/>
            </a:r>
          </a:p>
          <a:p xmlns:a="http://schemas.openxmlformats.org/drawingml/2006/main">
            <a:r>
              <a:t>langchain-protocol==0.0.19</a:t>
            </a:r>
          </a:p>
          <a:p xmlns:a="http://schemas.openxmlformats.org/drawingml/2006/main">
            <a:r>
              <a:t>Statut : Support de dépendance. Fonction : Protocole de compatibilité de l’écosystème LangChain</a:t>
            </a:r>
          </a:p>
          <a:p xmlns:a="http://schemas.openxmlformats.org/drawingml/2006/main">
            <a:r>
              <a:t/>
            </a:r>
          </a:p>
          <a:p xmlns:a="http://schemas.openxmlformats.org/drawingml/2006/main">
            <a:r>
              <a:t>langgraph-checkpoint==4.2.0</a:t>
            </a:r>
          </a:p>
          <a:p xmlns:a="http://schemas.openxmlformats.org/drawingml/2006/main">
            <a:r>
              <a:t>Statut : Support de dépendance. Fonction : Contrats de checkpoints utilisés par LangGraph</a:t>
            </a:r>
          </a:p>
          <a:p xmlns:a="http://schemas.openxmlformats.org/drawingml/2006/main">
            <a:r>
              <a:t/>
            </a:r>
          </a:p>
          <a:p xmlns:a="http://schemas.openxmlformats.org/drawingml/2006/main">
            <a:r>
              <a:t>langgraph-prebuilt==1.1.0</a:t>
            </a:r>
          </a:p>
          <a:p xmlns:a="http://schemas.openxmlformats.org/drawingml/2006/main">
            <a:r>
              <a:t>Statut : Support de dépendance. Fonction : Composants préfabriqués de l’écosystème LangGraph</a:t>
            </a:r>
          </a:p>
          <a:p xmlns:a="http://schemas.openxmlformats.org/drawingml/2006/main">
            <a:r>
              <a:t/>
            </a:r>
          </a:p>
          <a:p xmlns:a="http://schemas.openxmlformats.org/drawingml/2006/main">
            <a:r>
              <a:t>langgraph-sdk==0.4.6</a:t>
            </a:r>
          </a:p>
          <a:p xmlns:a="http://schemas.openxmlformats.org/drawingml/2006/main">
            <a:r>
              <a:t>Statut : Support de dépendance. Fonction : Client SDK de support pour intégrations LangGraph</a:t>
            </a:r>
          </a:p>
          <a:p xmlns:a="http://schemas.openxmlformats.org/drawingml/2006/main">
            <a:r>
              <a:t/>
            </a:r>
          </a:p>
          <a:p xmlns:a="http://schemas.openxmlformats.org/drawingml/2006/main">
            <a:r>
              <a:t>langsmith==0.14.7</a:t>
            </a:r>
          </a:p>
          <a:p xmlns:a="http://schemas.openxmlformats.org/drawingml/2006/main">
            <a:r>
              <a:t>Statut : Support de dépendance. Fonction : Support LangChain; aucun appel explicite dans Genesis</a:t>
            </a:r>
          </a:p>
          <a:p xmlns:a="http://schemas.openxmlformats.org/drawingml/2006/main">
            <a:r>
              <a:t/>
            </a:r>
          </a:p>
          <a:p xmlns:a="http://schemas.openxmlformats.org/drawingml/2006/main">
            <a:r>
              <a:t>MarkupSafe==3.0.4</a:t>
            </a:r>
          </a:p>
          <a:p xmlns:a="http://schemas.openxmlformats.org/drawingml/2006/main">
            <a:r>
              <a:t>Statut : Support de dépendance. Fonction : Échappement des chaînes pour gabarits Mako</a:t>
            </a:r>
          </a:p>
          <a:p xmlns:a="http://schemas.openxmlformats.org/drawingml/2006/main">
            <a:r>
              <a:t/>
            </a:r>
          </a:p>
          <a:p xmlns:a="http://schemas.openxmlformats.org/drawingml/2006/main">
            <a:r>
              <a:t>opentelemetry-api==1.45.1</a:t>
            </a:r>
          </a:p>
          <a:p xmlns:a="http://schemas.openxmlformats.org/drawingml/2006/main">
            <a:r>
              <a:t>Statut : Support de dépendance. Fonction : Support indirect de l’export Langfuse facultatif</a:t>
            </a:r>
          </a:p>
          <a:p xmlns:a="http://schemas.openxmlformats.org/drawingml/2006/main">
            <a:r>
              <a:t/>
            </a:r>
          </a:p>
          <a:p xmlns:a="http://schemas.openxmlformats.org/drawingml/2006/main">
            <a:r>
              <a:t>opentelemetry-exporter-http-transport==0.66b1</a:t>
            </a:r>
          </a:p>
          <a:p xmlns:a="http://schemas.openxmlformats.org/drawingml/2006/main">
            <a:r>
              <a:t>Statut : Support de dépendance. Fonction : Support indirect de l’export Langfuse facultatif</a:t>
            </a:r>
          </a:p>
          <a:p xmlns:a="http://schemas.openxmlformats.org/drawingml/2006/main">
            <a:r>
              <a:t/>
            </a:r>
          </a:p>
          <a:p xmlns:a="http://schemas.openxmlformats.org/drawingml/2006/main">
            <a:r>
              <a:t>opentelemetry-exporter-otlp-common==0.66b1</a:t>
            </a:r>
          </a:p>
          <a:p xmlns:a="http://schemas.openxmlformats.org/drawingml/2006/main">
            <a:r>
              <a:t>Statut : Support de dépendance. Fonction : Support indirect de l’export Langfuse facultatif</a:t>
            </a:r>
          </a:p>
          <a:p xmlns:a="http://schemas.openxmlformats.org/drawingml/2006/main">
            <a:r>
              <a:t/>
            </a:r>
          </a:p>
          <a:p xmlns:a="http://schemas.openxmlformats.org/drawingml/2006/main">
            <a:r>
              <a:t>opentelemetry-exporter-otlp-proto-common==1.45.1</a:t>
            </a:r>
          </a:p>
          <a:p xmlns:a="http://schemas.openxmlformats.org/drawingml/2006/main">
            <a:r>
              <a:t>Statut : Support de dépendance. Fonction : Support indirect de l’export Langfuse facultatif</a:t>
            </a:r>
          </a:p>
          <a:p xmlns:a="http://schemas.openxmlformats.org/drawingml/2006/main">
            <a:r>
              <a:t/>
            </a:r>
          </a:p>
          <a:p xmlns:a="http://schemas.openxmlformats.org/drawingml/2006/main">
            <a:r>
              <a:t>opentelemetry-exporter-otlp-proto-http==1.45.1</a:t>
            </a:r>
          </a:p>
          <a:p xmlns:a="http://schemas.openxmlformats.org/drawingml/2006/main">
            <a:r>
              <a:t>Statut : Support de dépendance. Fonction : Support indirect de l’export Langfuse facultatif</a:t>
            </a:r>
          </a:p>
          <a:p xmlns:a="http://schemas.openxmlformats.org/drawingml/2006/main">
            <a:r>
              <a:t/>
            </a:r>
          </a:p>
          <a:p xmlns:a="http://schemas.openxmlformats.org/drawingml/2006/main">
            <a:r>
              <a:t>opentelemetry-proto==1.45.1</a:t>
            </a:r>
          </a:p>
          <a:p xmlns:a="http://schemas.openxmlformats.org/drawingml/2006/main">
            <a:r>
              <a:t>Statut : Support de dépendance. Fonction : Support indirect de l’export Langfuse facultatif</a:t>
            </a:r>
          </a:p>
          <a:p xmlns:a="http://schemas.openxmlformats.org/drawingml/2006/main">
            <a:r>
              <a:t/>
            </a:r>
          </a:p>
          <a:p xmlns:a="http://schemas.openxmlformats.org/drawingml/2006/main">
            <a:r>
              <a:t>opentelemetry-sdk==1.45.1</a:t>
            </a:r>
          </a:p>
          <a:p xmlns:a="http://schemas.openxmlformats.org/drawingml/2006/main">
            <a:r>
              <a:t>Statut : Support de dépendance. Fonction : Support indirect de l’export Langfuse facultatif</a:t>
            </a:r>
          </a:p>
          <a:p xmlns:a="http://schemas.openxmlformats.org/drawingml/2006/main">
            <a:r>
              <a:t/>
            </a:r>
          </a:p>
          <a:p xmlns:a="http://schemas.openxmlformats.org/drawingml/2006/main">
            <a:r>
              <a:t>opentelemetry-semantic-conventions==0.66b1</a:t>
            </a:r>
          </a:p>
          <a:p xmlns:a="http://schemas.openxmlformats.org/drawingml/2006/main">
            <a:r>
              <a:t>Statut : Support de dépendance. Fonction : Support indirect de l’export Langfuse facultatif</a:t>
            </a:r>
          </a:p>
          <a:p xmlns:a="http://schemas.openxmlformats.org/drawingml/2006/main">
            <a:r>
              <a:t/>
            </a:r>
          </a:p>
          <a:p xmlns:a="http://schemas.openxmlformats.org/drawingml/2006/main">
            <a:r>
              <a:t>orjson==3.13.0</a:t>
            </a:r>
          </a:p>
          <a:p xmlns:a="http://schemas.openxmlformats.org/drawingml/2006/main">
            <a:r>
              <a:t>Statut : Support de dépendance. Fonction : Sérialiseur rapide sous-jacent aux intégrations installées</a:t>
            </a:r>
          </a:p>
          <a:p xmlns:a="http://schemas.openxmlformats.org/drawingml/2006/main">
            <a:r>
              <a:t/>
            </a:r>
          </a:p>
          <a:p xmlns:a="http://schemas.openxmlformats.org/drawingml/2006/main">
            <a:r>
              <a:t>ormsgpack==1.12.2</a:t>
            </a:r>
          </a:p>
          <a:p xmlns:a="http://schemas.openxmlformats.org/drawingml/2006/main">
            <a:r>
              <a:t>Statut : Support de dépendance. Fonction : Sérialisation compacte utilisée par les checkpoints</a:t>
            </a:r>
          </a:p>
          <a:p xmlns:a="http://schemas.openxmlformats.org/drawingml/2006/main">
            <a:r>
              <a:t/>
            </a:r>
          </a:p>
          <a:p xmlns:a="http://schemas.openxmlformats.org/drawingml/2006/main">
            <a:r>
              <a:t>packaging==26.3</a:t>
            </a:r>
          </a:p>
          <a:p xmlns:a="http://schemas.openxmlformats.org/drawingml/2006/main">
            <a:r>
              <a:t>Statut : Support de dépendance. Fonction : Comparaison de versions pour les outils Python</a:t>
            </a:r>
          </a:p>
          <a:p xmlns:a="http://schemas.openxmlformats.org/drawingml/2006/main">
            <a:r>
              <a:t/>
            </a:r>
          </a:p>
          <a:p xmlns:a="http://schemas.openxmlformats.org/drawingml/2006/main">
            <a:r>
              <a:t>protobuf==6.33.6</a:t>
            </a:r>
          </a:p>
          <a:p xmlns:a="http://schemas.openxmlformats.org/drawingml/2006/main">
            <a:r>
              <a:t>Statut : Support de dépendance. Fonction : Messages binaires requis par OR-Tools et protos installés</a:t>
            </a:r>
          </a:p>
          <a:p xmlns:a="http://schemas.openxmlformats.org/drawingml/2006/main">
            <a:r>
              <a:t/>
            </a:r>
          </a:p>
          <a:p xmlns:a="http://schemas.openxmlformats.org/drawingml/2006/main">
            <a:r>
              <a:t>pydantic_core==2.50.0</a:t>
            </a:r>
          </a:p>
          <a:p xmlns:a="http://schemas.openxmlformats.org/drawingml/2006/main">
            <a:r>
              <a:t>Statut : Support de dépendance. Fonction : Moteur Rust sous-jacent à Pydantic</a:t>
            </a:r>
          </a:p>
          <a:p xmlns:a="http://schemas.openxmlformats.org/drawingml/2006/main">
            <a:r>
              <a:t/>
            </a:r>
          </a:p>
          <a:p xmlns:a="http://schemas.openxmlformats.org/drawingml/2006/main">
            <a:r>
              <a:t>Pygments==2.21.0</a:t>
            </a:r>
          </a:p>
          <a:p xmlns:a="http://schemas.openxmlformats.org/drawingml/2006/main">
            <a:r>
              <a:t>Statut : Support de dépendance. Fonction : Coloration syntaxique optionnelle des outils de documentation</a:t>
            </a:r>
          </a:p>
          <a:p xmlns:a="http://schemas.openxmlformats.org/drawingml/2006/main">
            <a:r>
              <a:t/>
            </a:r>
          </a:p>
          <a:p xmlns:a="http://schemas.openxmlformats.org/drawingml/2006/main">
            <a:r>
              <a:t>python-dateutil==2.9.0.post0</a:t>
            </a:r>
          </a:p>
          <a:p xmlns:a="http://schemas.openxmlformats.org/drawingml/2006/main">
            <a:r>
              <a:t>Statut : Support de dépendance. Fonction : Utilitaires dates installés pour bibliothèques dépendantes</a:t>
            </a:r>
          </a:p>
          <a:p xmlns:a="http://schemas.openxmlformats.org/drawingml/2006/main">
            <a:r>
              <a:t/>
            </a:r>
          </a:p>
          <a:p xmlns:a="http://schemas.openxmlformats.org/drawingml/2006/main">
            <a:r>
              <a:t>PyYAML==6.0.3</a:t>
            </a:r>
          </a:p>
          <a:p xmlns:a="http://schemas.openxmlformats.org/drawingml/2006/main">
            <a:r>
              <a:t>Statut : Support de dépendance. Fonction : Lecture YAML de support par dépendances installées</a:t>
            </a:r>
          </a:p>
          <a:p xmlns:a="http://schemas.openxmlformats.org/drawingml/2006/main">
            <a:r>
              <a:t/>
            </a:r>
          </a:p>
          <a:p xmlns:a="http://schemas.openxmlformats.org/drawingml/2006/main">
            <a:r>
              <a:t>regex==2026.9.29</a:t>
            </a:r>
          </a:p>
          <a:p xmlns:a="http://schemas.openxmlformats.org/drawingml/2006/main">
            <a:r>
              <a:t>Statut : Support de dépendance. Fonction : Expressions régulières Unicode pour dépendances LangChain</a:t>
            </a:r>
          </a:p>
          <a:p xmlns:a="http://schemas.openxmlformats.org/drawingml/2006/main">
            <a:r>
              <a:t/>
            </a:r>
          </a:p>
          <a:p xmlns:a="http://schemas.openxmlformats.org/drawingml/2006/main">
            <a:r>
              <a:t>requests-toolbelt==1.0.0</a:t>
            </a:r>
          </a:p>
          <a:p xmlns:a="http://schemas.openxmlformats.org/drawingml/2006/main">
            <a:r>
              <a:t>Statut : Support de dépendance. Fonction : Utilitaires de transport pour Requests installé</a:t>
            </a:r>
          </a:p>
          <a:p xmlns:a="http://schemas.openxmlformats.org/drawingml/2006/main">
            <a:r>
              <a:t/>
            </a:r>
          </a:p>
          <a:p xmlns:a="http://schemas.openxmlformats.org/drawingml/2006/main">
            <a:r>
              <a:t>six==1.17.0</a:t>
            </a:r>
          </a:p>
          <a:p xmlns:a="http://schemas.openxmlformats.org/drawingml/2006/main">
            <a:r>
              <a:t>Statut : Support de dépendance. Fonction : Compatibilité Python 2/3 de bibliothèques dépendantes</a:t>
            </a:r>
          </a:p>
          <a:p xmlns:a="http://schemas.openxmlformats.org/drawingml/2006/main">
            <a:r>
              <a:t/>
            </a:r>
          </a:p>
          <a:p xmlns:a="http://schemas.openxmlformats.org/drawingml/2006/main">
            <a:r>
              <a:t>sniffio==1.3.1</a:t>
            </a:r>
          </a:p>
          <a:p xmlns:a="http://schemas.openxmlformats.org/drawingml/2006/main">
            <a:r>
              <a:t>Statut : Support de dépendance. Fonction : Détection du runtime async pour AnyIO/HTTPX</a:t>
            </a:r>
          </a:p>
          <a:p xmlns:a="http://schemas.openxmlformats.org/drawingml/2006/main">
            <a:r>
              <a:t/>
            </a:r>
          </a:p>
          <a:p xmlns:a="http://schemas.openxmlformats.org/drawingml/2006/main">
            <a:r>
              <a:t>starlette==1.7.0</a:t>
            </a:r>
          </a:p>
          <a:p xmlns:a="http://schemas.openxmlformats.org/drawingml/2006/main">
            <a:r>
              <a:t>Statut : Support de dépendance. Fonction : Couche ASGI sous FastAPI pour requêtes et réponses</a:t>
            </a:r>
          </a:p>
          <a:p xmlns:a="http://schemas.openxmlformats.org/drawingml/2006/main">
            <a:r>
              <a:t/>
            </a:r>
          </a:p>
          <a:p xmlns:a="http://schemas.openxmlformats.org/drawingml/2006/main">
            <a:r>
              <a:t>tenacity==9.2.1</a:t>
            </a:r>
          </a:p>
          <a:p xmlns:a="http://schemas.openxmlformats.org/drawingml/2006/main">
            <a:r>
              <a:t>Statut : Support de dépendance. Fonction : Utilitaire de reprises bornées pour intégrations Python</a:t>
            </a:r>
          </a:p>
          <a:p xmlns:a="http://schemas.openxmlformats.org/drawingml/2006/main">
            <a:r>
              <a:t/>
            </a:r>
          </a:p>
          <a:p xmlns:a="http://schemas.openxmlformats.org/drawingml/2006/main">
            <a:r>
              <a:t>truststore==0.10.4</a:t>
            </a:r>
          </a:p>
          <a:p xmlns:a="http://schemas.openxmlformats.org/drawingml/2006/main">
            <a:r>
              <a:t>Statut : Support de dépendance. Fonction : Accès au magasin de certificats système pour clients HTTP</a:t>
            </a:r>
          </a:p>
          <a:p xmlns:a="http://schemas.openxmlformats.org/drawingml/2006/main">
            <a:r>
              <a:t/>
            </a:r>
          </a:p>
          <a:p xmlns:a="http://schemas.openxmlformats.org/drawingml/2006/main">
            <a:r>
              <a:t>typing-inspection==0.4.4</a:t>
            </a:r>
          </a:p>
          <a:p xmlns:a="http://schemas.openxmlformats.org/drawingml/2006/main">
            <a:r>
              <a:t>Statut : Support de dépendance. Fonction : Inspection des annotations utilisée par Pydantic</a:t>
            </a:r>
          </a:p>
          <a:p xmlns:a="http://schemas.openxmlformats.org/drawingml/2006/main">
            <a:r>
              <a:t/>
            </a:r>
          </a:p>
          <a:p xmlns:a="http://schemas.openxmlformats.org/drawingml/2006/main">
            <a:r>
              <a:t>typing_extensions==4.16.0</a:t>
            </a:r>
          </a:p>
          <a:p xmlns:a="http://schemas.openxmlformats.org/drawingml/2006/main">
            <a:r>
              <a:t>Statut : Support de dépendance. Fonction : Compatibilité des types Python pour dépendances</a:t>
            </a:r>
          </a:p>
          <a:p xmlns:a="http://schemas.openxmlformats.org/drawingml/2006/main">
            <a:r>
              <a:t/>
            </a:r>
          </a:p>
          <a:p xmlns:a="http://schemas.openxmlformats.org/drawingml/2006/main">
            <a:r>
              <a:t>tzdata==2026.5</a:t>
            </a:r>
          </a:p>
          <a:p xmlns:a="http://schemas.openxmlformats.org/drawingml/2006/main">
            <a:r>
              <a:t>Statut : Support de dépendance. Fonction : Base de fuseaux horaires pour environnements sans tzdata système</a:t>
            </a:r>
          </a:p>
          <a:p xmlns:a="http://schemas.openxmlformats.org/drawingml/2006/main">
            <a:r>
              <a:t/>
            </a:r>
          </a:p>
          <a:p xmlns:a="http://schemas.openxmlformats.org/drawingml/2006/main">
            <a:r>
              <a:t>urllib3==2.8.0</a:t>
            </a:r>
          </a:p>
          <a:p xmlns:a="http://schemas.openxmlformats.org/drawingml/2006/main">
            <a:r>
              <a:t>Statut : Support de dépendance. Fonction : Transport HTTP bas niveau de Requests installé</a:t>
            </a:r>
          </a:p>
          <a:p xmlns:a="http://schemas.openxmlformats.org/drawingml/2006/main">
            <a:r>
              <a:t/>
            </a:r>
          </a:p>
          <a:p xmlns:a="http://schemas.openxmlformats.org/drawingml/2006/main">
            <a:r>
              <a:t>uuid_utils==0.17.1</a:t>
            </a:r>
          </a:p>
          <a:p xmlns:a="http://schemas.openxmlformats.org/drawingml/2006/main">
            <a:r>
              <a:t>Statut : Support de dépendance. Fonction : Génération d’identifiants accélérée par dépendances</a:t>
            </a:r>
          </a:p>
          <a:p xmlns:a="http://schemas.openxmlformats.org/drawingml/2006/main">
            <a:r>
              <a:t/>
            </a:r>
          </a:p>
          <a:p xmlns:a="http://schemas.openxmlformats.org/drawingml/2006/main">
            <a:r>
              <a:t>websockets==16.1.1</a:t>
            </a:r>
          </a:p>
          <a:p xmlns:a="http://schemas.openxmlformats.org/drawingml/2006/main">
            <a:r>
              <a:t>Statut : Support de dépendance. Fonction : Transport WebSocket optionnel sous serveur ASGI</a:t>
            </a:r>
          </a:p>
          <a:p xmlns:a="http://schemas.openxmlformats.org/drawingml/2006/main">
            <a:r>
              <a:t/>
            </a:r>
          </a:p>
          <a:p xmlns:a="http://schemas.openxmlformats.org/drawingml/2006/main">
            <a:r>
              <a:t>wrapt==2.5.0</a:t>
            </a:r>
          </a:p>
          <a:p xmlns:a="http://schemas.openxmlformats.org/drawingml/2006/main">
            <a:r>
              <a:t>Statut : Support de dépendance. Fonction : Décorateurs/proxies employés par bibliothèques de télémétrie</a:t>
            </a:r>
          </a:p>
          <a:p xmlns:a="http://schemas.openxmlformats.org/drawingml/2006/main">
            <a:r>
              <a:t/>
            </a:r>
          </a:p>
          <a:p xmlns:a="http://schemas.openxmlformats.org/drawingml/2006/main">
            <a:r>
              <a:t>xxhash==4.0.1</a:t>
            </a:r>
          </a:p>
          <a:p xmlns:a="http://schemas.openxmlformats.org/drawingml/2006/main">
            <a:r>
              <a:t>Statut : Support de dépendance. Fonction : Hachage rapide de support pour dépendances installées</a:t>
            </a:r>
          </a:p>
          <a:p xmlns:a="http://schemas.openxmlformats.org/drawingml/2006/main">
            <a:r>
              <a:t/>
            </a:r>
          </a:p>
          <a:p xmlns:a="http://schemas.openxmlformats.org/drawingml/2006/main">
            <a:r>
              <a:t>zstandard==0.25.0</a:t>
            </a:r>
          </a:p>
          <a:p xmlns:a="http://schemas.openxmlformats.org/drawingml/2006/main">
            <a:r>
              <a:t>Statut : Support de dépendance. Fonction : Compression Zstandard pour formats de dépendances</a:t>
            </a:r>
          </a:p>
          <a:p xmlns:a="http://schemas.openxmlformats.org/drawingml/2006/main">
            <a:r>
              <a:t/>
            </a:r>
          </a:p>
          <a:p xmlns:a="http://schemas.openxmlformats.org/drawingml/2006/main">
            <a:r>
              <a:t>Sources du dépôt, état au 11 octobre 2026 (U17–U19)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Intégration optionnelle. Les versions décrivent le dépôt, sans affirmation de dernière version disponible.</a:t>
            </a:r>
          </a:p>
          <a:p xmlns:a="http://schemas.openxmlformats.org/drawingml/2006/main">
            <a:r>
              <a:t/>
            </a:r>
          </a:p>
          <a:p xmlns:a="http://schemas.openxmlformats.org/drawingml/2006/main">
            <a:r>
              <a:t>langfuse==4.17.0</a:t>
            </a:r>
          </a:p>
          <a:p xmlns:a="http://schemas.openxmlformats.org/drawingml/2006/main">
            <a:r>
              <a:t>Statut : Intégration optionnelle. Fonction : Export facultatif des événements vers Langfuse externe</a:t>
            </a:r>
          </a:p>
          <a:p xmlns:a="http://schemas.openxmlformats.org/drawingml/2006/main">
            <a:r>
              <a:t/>
            </a:r>
          </a:p>
          <a:p xmlns:a="http://schemas.openxmlformats.org/drawingml/2006/main">
            <a:r>
              <a:t>psycopg==3.3.6</a:t>
            </a:r>
          </a:p>
          <a:p xmlns:a="http://schemas.openxmlformats.org/drawingml/2006/main">
            <a:r>
              <a:t>Statut : Intégration optionnelle. Fonction : Pilote PostgreSQL pour profil alternatif non vérifié</a:t>
            </a:r>
          </a:p>
          <a:p xmlns:a="http://schemas.openxmlformats.org/drawingml/2006/main">
            <a:r>
              <a:t/>
            </a:r>
          </a:p>
          <a:p xmlns:a="http://schemas.openxmlformats.org/drawingml/2006/main">
            <a:r>
              <a:t>psycopg-binary==3.3.6</a:t>
            </a:r>
          </a:p>
          <a:p xmlns:a="http://schemas.openxmlformats.org/drawingml/2006/main">
            <a:r>
              <a:t>Statut : Intégration optionnelle. Fonction : Binaire du pilote PostgreSQL du profil optionnel</a:t>
            </a:r>
          </a:p>
          <a:p xmlns:a="http://schemas.openxmlformats.org/drawingml/2006/main">
            <a:r>
              <a:t/>
            </a:r>
          </a:p>
          <a:p xmlns:a="http://schemas.openxmlformats.org/drawingml/2006/main">
            <a:r>
              <a:t>psycopg-pool==3.3.3</a:t>
            </a:r>
          </a:p>
          <a:p xmlns:a="http://schemas.openxmlformats.org/drawingml/2006/main">
            <a:r>
              <a:t>Statut : Intégration optionnelle. Fonction : Pool du pilote PostgreSQL; profil alternatif optionnel</a:t>
            </a:r>
          </a:p>
          <a:p xmlns:a="http://schemas.openxmlformats.org/drawingml/2006/main">
            <a:r>
              <a:t/>
            </a:r>
          </a:p>
          <a:p xmlns:a="http://schemas.openxmlformats.org/drawingml/2006/main">
            <a:r>
              <a:t>Sources du dépôt, état au 11 octobre 2026 (U17–U19)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Développement et tests. Les versions décrivent le dépôt, sans affirmation de dernière version disponible.</a:t>
            </a:r>
          </a:p>
          <a:p xmlns:a="http://schemas.openxmlformats.org/drawingml/2006/main">
            <a:r>
              <a:t/>
            </a:r>
          </a:p>
          <a:p xmlns:a="http://schemas.openxmlformats.org/drawingml/2006/main">
            <a:r>
              <a:t>iniconfig==2.3.1</a:t>
            </a:r>
          </a:p>
          <a:p xmlns:a="http://schemas.openxmlformats.org/drawingml/2006/main">
            <a:r>
              <a:t>Statut : Développement et tests. Fonction : Lecture de configuration utilisée par pytest</a:t>
            </a:r>
          </a:p>
          <a:p xmlns:a="http://schemas.openxmlformats.org/drawingml/2006/main">
            <a:r>
              <a:t/>
            </a:r>
          </a:p>
          <a:p xmlns:a="http://schemas.openxmlformats.org/drawingml/2006/main">
            <a:r>
              <a:t>pluggy==1.6.0</a:t>
            </a:r>
          </a:p>
          <a:p xmlns:a="http://schemas.openxmlformats.org/drawingml/2006/main">
            <a:r>
              <a:t>Statut : Développement et tests. Fonction : Système de plugins utilisé par pytest</a:t>
            </a:r>
          </a:p>
          <a:p xmlns:a="http://schemas.openxmlformats.org/drawingml/2006/main">
            <a:r>
              <a:t/>
            </a:r>
          </a:p>
          <a:p xmlns:a="http://schemas.openxmlformats.org/drawingml/2006/main">
            <a:r>
              <a:t>pytest==9.1.1</a:t>
            </a:r>
          </a:p>
          <a:p xmlns:a="http://schemas.openxmlformats.org/drawingml/2006/main">
            <a:r>
              <a:t>Statut : Développement et tests. Fonction : Exécution des tests backend dans tests/</a:t>
            </a:r>
          </a:p>
          <a:p xmlns:a="http://schemas.openxmlformats.org/drawingml/2006/main">
            <a:r>
              <a:t/>
            </a:r>
          </a:p>
          <a:p xmlns:a="http://schemas.openxmlformats.org/drawingml/2006/main">
            <a:r>
              <a:t>ruff==0.17.0</a:t>
            </a:r>
          </a:p>
          <a:p xmlns:a="http://schemas.openxmlformats.org/drawingml/2006/main">
            <a:r>
              <a:t>Statut : Développement et tests. Fonction : Lint Python selon les règles locales du pyproject</a:t>
            </a:r>
          </a:p>
          <a:p xmlns:a="http://schemas.openxmlformats.org/drawingml/2006/main">
            <a:r>
              <a:t/>
            </a:r>
          </a:p>
          <a:p xmlns:a="http://schemas.openxmlformats.org/drawingml/2006/main">
            <a:r>
              <a:t>Sources du dépôt, état au 11 octobre 2026 (U17–U19)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Installé sans usage métier direct. Les versions décrivent le dépôt, sans affirmation de dernière version disponible.</a:t>
            </a:r>
          </a:p>
          <a:p xmlns:a="http://schemas.openxmlformats.org/drawingml/2006/main">
            <a:r>
              <a:t/>
            </a:r>
          </a:p>
          <a:p xmlns:a="http://schemas.openxmlformats.org/drawingml/2006/main">
            <a:r>
              <a:t>aiosqlite==0.22.1</a:t>
            </a:r>
          </a:p>
          <a:p xmlns:a="http://schemas.openxmlformats.org/drawingml/2006/main">
            <a:r>
              <a:t>Statut : Installé sans usage métier direct. Fonction : Adaptateur SQLite asynchrone; aucun appel applicatif observé</a:t>
            </a:r>
          </a:p>
          <a:p xmlns:a="http://schemas.openxmlformats.org/drawingml/2006/main">
            <a:r>
              <a:t/>
            </a:r>
          </a:p>
          <a:p xmlns:a="http://schemas.openxmlformats.org/drawingml/2006/main">
            <a:r>
              <a:t>alembic==1.20.0</a:t>
            </a:r>
          </a:p>
          <a:p xmlns:a="http://schemas.openxmlformats.org/drawingml/2006/main">
            <a:r>
              <a:t>Statut : Installé sans usage métier direct. Fonction : Outil de migrations SQL; aucune migration active trouvée</a:t>
            </a:r>
          </a:p>
          <a:p xmlns:a="http://schemas.openxmlformats.org/drawingml/2006/main">
            <a:r>
              <a:t/>
            </a:r>
          </a:p>
          <a:p xmlns:a="http://schemas.openxmlformats.org/drawingml/2006/main">
            <a:r>
              <a:t>langgraph-checkpoint-postgres==3.1.2</a:t>
            </a:r>
          </a:p>
          <a:p xmlns:a="http://schemas.openxmlformats.org/drawingml/2006/main">
            <a:r>
              <a:t>Statut : Installé sans usage métier direct. Fonction : Saver PostgreSQL installé; non utilisé par le graphe</a:t>
            </a:r>
          </a:p>
          <a:p xmlns:a="http://schemas.openxmlformats.org/drawingml/2006/main">
            <a:r>
              <a:t/>
            </a:r>
          </a:p>
          <a:p xmlns:a="http://schemas.openxmlformats.org/drawingml/2006/main">
            <a:r>
              <a:t>Mako==1.4.3</a:t>
            </a:r>
          </a:p>
          <a:p xmlns:a="http://schemas.openxmlformats.org/drawingml/2006/main">
            <a:r>
              <a:t>Statut : Installé sans usage métier direct. Fonction : Moteur de gabarits utilisé par Alembic installé</a:t>
            </a:r>
          </a:p>
          <a:p xmlns:a="http://schemas.openxmlformats.org/drawingml/2006/main">
            <a:r>
              <a:t/>
            </a:r>
          </a:p>
          <a:p xmlns:a="http://schemas.openxmlformats.org/drawingml/2006/main">
            <a:r>
              <a:t>numpy==2.5.3</a:t>
            </a:r>
          </a:p>
          <a:p xmlns:a="http://schemas.openxmlformats.org/drawingml/2006/main">
            <a:r>
              <a:t>Statut : Installé sans usage métier direct. Fonction : Calcul numérique installé; aucun import applicatif trouvé</a:t>
            </a:r>
          </a:p>
          <a:p xmlns:a="http://schemas.openxmlformats.org/drawingml/2006/main">
            <a:r>
              <a:t/>
            </a:r>
          </a:p>
          <a:p xmlns:a="http://schemas.openxmlformats.org/drawingml/2006/main">
            <a:r>
              <a:t>pandas==3.0.6</a:t>
            </a:r>
          </a:p>
          <a:p xmlns:a="http://schemas.openxmlformats.org/drawingml/2006/main">
            <a:r>
              <a:t>Statut : Installé sans usage métier direct. Fonction : Analyse tabulaire installée; aucun import applicatif trouvé</a:t>
            </a:r>
          </a:p>
          <a:p xmlns:a="http://schemas.openxmlformats.org/drawingml/2006/main">
            <a:r>
              <a:t/>
            </a:r>
          </a:p>
          <a:p xmlns:a="http://schemas.openxmlformats.org/drawingml/2006/main">
            <a:r>
              <a:t>requests==2.34.2</a:t>
            </a:r>
          </a:p>
          <a:p xmlns:a="http://schemas.openxmlformats.org/drawingml/2006/main">
            <a:r>
              <a:t>Statut : Installé sans usage métier direct. Fonction : Client HTTP de dépendance; l’application utilise HTTPX</a:t>
            </a:r>
          </a:p>
          <a:p xmlns:a="http://schemas.openxmlformats.org/drawingml/2006/main">
            <a:r>
              <a:t/>
            </a:r>
          </a:p>
          <a:p xmlns:a="http://schemas.openxmlformats.org/drawingml/2006/main">
            <a:r>
              <a:t>sqlite-vec==0.1.9</a:t>
            </a:r>
          </a:p>
          <a:p xmlns:a="http://schemas.openxmlformats.org/drawingml/2006/main">
            <a:r>
              <a:t>Statut : Installé sans usage métier direct. Fonction : Extension SQLite vectorielle installée; non appelée</a:t>
            </a:r>
          </a:p>
          <a:p xmlns:a="http://schemas.openxmlformats.org/drawingml/2006/main">
            <a:r>
              <a:t/>
            </a:r>
          </a:p>
          <a:p xmlns:a="http://schemas.openxmlformats.org/drawingml/2006/main">
            <a:r>
              <a:t>tiktoken==0.14.0</a:t>
            </a:r>
          </a:p>
          <a:p xmlns:a="http://schemas.openxmlformats.org/drawingml/2006/main">
            <a:r>
              <a:t>Statut : Installé sans usage métier direct. Fonction : Tokeniseur installé; aucun comptage applicatif par ce module</a:t>
            </a:r>
          </a:p>
          <a:p xmlns:a="http://schemas.openxmlformats.org/drawingml/2006/main">
            <a:r>
              <a:t/>
            </a:r>
          </a:p>
          <a:p xmlns:a="http://schemas.openxmlformats.org/drawingml/2006/main">
            <a:r>
              <a:t>Sources du dépôt, état au 11 octobre 2026 (U17–U19) :</a:t>
            </a:r>
          </a:p>
          <a:p xmlns:a="http://schemas.openxmlformats.org/drawingml/2006/main">
            <a:r>
              <a:t>requirements.txt</a:t>
            </a:r>
          </a:p>
          <a:p xmlns:a="http://schemas.openxmlformats.org/drawingml/2006/main">
            <a:r>
              <a:t>pyproject.toml</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Chaque dépendance directe déclarée est conservée ci-dessous. Les arbres transitifs npm restent dans les deux package-lock.json.</a:t>
            </a:r>
          </a:p>
          <a:p xmlns:a="http://schemas.openxmlformats.org/drawingml/2006/main">
            <a:r>
              <a:t/>
            </a:r>
          </a:p>
          <a:p xmlns:a="http://schemas.openxmlformats.org/drawingml/2006/main">
            <a:r>
              <a:t>@fontsource-variable/inter@5.2.8</a:t>
            </a:r>
          </a:p>
          <a:p xmlns:a="http://schemas.openxmlformats.org/drawingml/2006/main">
            <a:r>
              <a:t>Manifeste : apps/web/package.json. Statut : Usage direct. Fonction : Police Inter Variable servie localement par l’interface</a:t>
            </a:r>
          </a:p>
          <a:p xmlns:a="http://schemas.openxmlformats.org/drawingml/2006/main">
            <a:r>
              <a:t/>
            </a:r>
          </a:p>
          <a:p xmlns:a="http://schemas.openxmlformats.org/drawingml/2006/main">
            <a:r>
              <a:t>@xyflow/react@12.10.0</a:t>
            </a:r>
          </a:p>
          <a:p xmlns:a="http://schemas.openxmlformats.org/drawingml/2006/main">
            <a:r>
              <a:t>Manifeste : apps/web/package.json. Statut : Usage direct. Fonction : Graphe interactif des rôles et transmissions agent</a:t>
            </a:r>
          </a:p>
          <a:p xmlns:a="http://schemas.openxmlformats.org/drawingml/2006/main">
            <a:r>
              <a:t/>
            </a:r>
          </a:p>
          <a:p xmlns:a="http://schemas.openxmlformats.org/drawingml/2006/main">
            <a:r>
              <a:t>echarts@6.1.0</a:t>
            </a:r>
          </a:p>
          <a:p xmlns:a="http://schemas.openxmlformats.org/drawingml/2006/main">
            <a:r>
              <a:t>Manifeste : apps/web/package.json. Statut : Usage direct. Fonction : Graphiques SVG d’analytique et d’observabilité</a:t>
            </a:r>
          </a:p>
          <a:p xmlns:a="http://schemas.openxmlformats.org/drawingml/2006/main">
            <a:r>
              <a:t/>
            </a:r>
          </a:p>
          <a:p xmlns:a="http://schemas.openxmlformats.org/drawingml/2006/main">
            <a:r>
              <a:t>lucide-react@0.577.0</a:t>
            </a:r>
          </a:p>
          <a:p xmlns:a="http://schemas.openxmlformats.org/drawingml/2006/main">
            <a:r>
              <a:t>Manifeste : apps/web/package.json. Statut : Usage direct. Fonction : Icônes utilisées dans les commandes et états UI</a:t>
            </a:r>
          </a:p>
          <a:p xmlns:a="http://schemas.openxmlformats.org/drawingml/2006/main">
            <a:r>
              <a:t/>
            </a:r>
          </a:p>
          <a:p xmlns:a="http://schemas.openxmlformats.org/drawingml/2006/main">
            <a:r>
              <a:t>maplibre-gl@6.13.0</a:t>
            </a:r>
          </a:p>
          <a:p xmlns:a="http://schemas.openxmlformats.org/drawingml/2006/main">
            <a:r>
              <a:t>Manifeste : apps/web/package.json. Statut : Usage direct. Fonction : Cartes, géométries, arrêts et véhicules simulés</a:t>
            </a:r>
          </a:p>
          <a:p xmlns:a="http://schemas.openxmlformats.org/drawingml/2006/main">
            <a:r>
              <a:t/>
            </a:r>
          </a:p>
          <a:p xmlns:a="http://schemas.openxmlformats.org/drawingml/2006/main">
            <a:r>
              <a:t>react@19.2.0</a:t>
            </a:r>
          </a:p>
          <a:p xmlns:a="http://schemas.openxmlformats.org/drawingml/2006/main">
            <a:r>
              <a:t>Manifeste : apps/web/package.json. Statut : Usage direct. Fonction : Composants et état de l’application web</a:t>
            </a:r>
          </a:p>
          <a:p xmlns:a="http://schemas.openxmlformats.org/drawingml/2006/main">
            <a:r>
              <a:t/>
            </a:r>
          </a:p>
          <a:p xmlns:a="http://schemas.openxmlformats.org/drawingml/2006/main">
            <a:r>
              <a:t>react-dom@19.2.0</a:t>
            </a:r>
          </a:p>
          <a:p xmlns:a="http://schemas.openxmlformats.org/drawingml/2006/main">
            <a:r>
              <a:t>Manifeste : apps/web/package.json. Statut : Usage direct. Fonction : Montage React dans le document HTML</a:t>
            </a:r>
          </a:p>
          <a:p xmlns:a="http://schemas.openxmlformats.org/drawingml/2006/main">
            <a:r>
              <a:t/>
            </a:r>
          </a:p>
          <a:p xmlns:a="http://schemas.openxmlformats.org/drawingml/2006/main">
            <a:r>
              <a:t>@types/react@19.2.14</a:t>
            </a:r>
          </a:p>
          <a:p xmlns:a="http://schemas.openxmlformats.org/drawingml/2006/main">
            <a:r>
              <a:t>Manifeste : apps/web/package.json. Statut : Développement et tests. Fonction : Types TypeScript pour React en compilation</a:t>
            </a:r>
          </a:p>
          <a:p xmlns:a="http://schemas.openxmlformats.org/drawingml/2006/main">
            <a:r>
              <a:t/>
            </a:r>
          </a:p>
          <a:p xmlns:a="http://schemas.openxmlformats.org/drawingml/2006/main">
            <a:r>
              <a:t>@types/react-dom@19.2.3</a:t>
            </a:r>
          </a:p>
          <a:p xmlns:a="http://schemas.openxmlformats.org/drawingml/2006/main">
            <a:r>
              <a:t>Manifeste : apps/web/package.json. Statut : Développement et tests. Fonction : Types TypeScript du rendu DOM React</a:t>
            </a:r>
          </a:p>
          <a:p xmlns:a="http://schemas.openxmlformats.org/drawingml/2006/main">
            <a:r>
              <a:t/>
            </a:r>
          </a:p>
          <a:p xmlns:a="http://schemas.openxmlformats.org/drawingml/2006/main">
            <a:r>
              <a:t>@vitejs/plugin-react@5.1.4</a:t>
            </a:r>
          </a:p>
          <a:p xmlns:a="http://schemas.openxmlformats.org/drawingml/2006/main">
            <a:r>
              <a:t>Manifeste : apps/web/package.json. Statut : Développement et tests. Fonction : Transformation JSX et intégration React à Vite</a:t>
            </a:r>
          </a:p>
          <a:p xmlns:a="http://schemas.openxmlformats.org/drawingml/2006/main">
            <a:r>
              <a:t/>
            </a:r>
          </a:p>
          <a:p xmlns:a="http://schemas.openxmlformats.org/drawingml/2006/main">
            <a:r>
              <a:t>prettier@3.9.10</a:t>
            </a:r>
          </a:p>
          <a:p xmlns:a="http://schemas.openxmlformats.org/drawingml/2006/main">
            <a:r>
              <a:t>Manifeste : apps/web/package.json. Statut : Installé sans usage métier direct. Fonction : Formateur déclaré; aucun script de formatage configuré</a:t>
            </a:r>
          </a:p>
          <a:p xmlns:a="http://schemas.openxmlformats.org/drawingml/2006/main">
            <a:r>
              <a:t/>
            </a:r>
          </a:p>
          <a:p xmlns:a="http://schemas.openxmlformats.org/drawingml/2006/main">
            <a:r>
              <a:t>typescript@5.9.3</a:t>
            </a:r>
          </a:p>
          <a:p xmlns:a="http://schemas.openxmlformats.org/drawingml/2006/main">
            <a:r>
              <a:t>Manifeste : apps/web/package.json. Statut : Développement et tests. Fonction : Compilation et vérification statique TypeScript</a:t>
            </a:r>
          </a:p>
          <a:p xmlns:a="http://schemas.openxmlformats.org/drawingml/2006/main">
            <a:r>
              <a:t/>
            </a:r>
          </a:p>
          <a:p xmlns:a="http://schemas.openxmlformats.org/drawingml/2006/main">
            <a:r>
              <a:t>vite@7.3.7</a:t>
            </a:r>
          </a:p>
          <a:p xmlns:a="http://schemas.openxmlformats.org/drawingml/2006/main">
            <a:r>
              <a:t>Manifeste : apps/web/package.json. Statut : Développement et tests. Fonction : Serveur local et bundler de production de l’interface</a:t>
            </a:r>
          </a:p>
          <a:p xmlns:a="http://schemas.openxmlformats.org/drawingml/2006/main">
            <a:r>
              <a:t/>
            </a:r>
          </a:p>
          <a:p xmlns:a="http://schemas.openxmlformats.org/drawingml/2006/main">
            <a:r>
              <a:t>vitest@4.1.11</a:t>
            </a:r>
          </a:p>
          <a:p xmlns:a="http://schemas.openxmlformats.org/drawingml/2006/main">
            <a:r>
              <a:t>Manifeste : apps/web/package.json. Statut : Développement et tests. Fonction : Tests unitaires et composants de l’interface</a:t>
            </a:r>
          </a:p>
          <a:p xmlns:a="http://schemas.openxmlformats.org/drawingml/2006/main">
            <a:r>
              <a:t/>
            </a:r>
          </a:p>
          <a:p xmlns:a="http://schemas.openxmlformats.org/drawingml/2006/main">
            <a:r>
              <a:t>@axe-core/playwright@4.11.1</a:t>
            </a:r>
          </a:p>
          <a:p xmlns:a="http://schemas.openxmlformats.org/drawingml/2006/main">
            <a:r>
              <a:t>Manifeste : qa/package.json. Statut : Développement et tests. Fonction : Audits automatisés d’accessibilité dans les parcours</a:t>
            </a:r>
          </a:p>
          <a:p xmlns:a="http://schemas.openxmlformats.org/drawingml/2006/main">
            <a:r>
              <a:t/>
            </a:r>
          </a:p>
          <a:p xmlns:a="http://schemas.openxmlformats.org/drawingml/2006/main">
            <a:r>
              <a:t>@playwright/test@1.59.1</a:t>
            </a:r>
          </a:p>
          <a:p xmlns:a="http://schemas.openxmlformats.org/drawingml/2006/main">
            <a:r>
              <a:t>Manifeste : qa/package.json. Statut : Développement et tests. Fonction : Parcours navigateur reproductibles de QA</a:t>
            </a:r>
          </a:p>
          <a:p xmlns:a="http://schemas.openxmlformats.org/drawingml/2006/main">
            <a:r>
              <a:t/>
            </a:r>
          </a:p>
          <a:p xmlns:a="http://schemas.openxmlformats.org/drawingml/2006/main">
            <a:r>
              <a:t>json-schema-to-typescript@^15.0.4</a:t>
            </a:r>
          </a:p>
          <a:p xmlns:a="http://schemas.openxmlformats.org/drawingml/2006/main">
            <a:r>
              <a:t>Manifeste : qa/package.json. Statut : Installé sans usage métier direct. Fonction : Générateur déclaré; aucun usage ou script trouvé</a:t>
            </a:r>
          </a:p>
          <a:p xmlns:a="http://schemas.openxmlformats.org/drawingml/2006/main">
            <a:r>
              <a:t/>
            </a:r>
          </a:p>
          <a:p xmlns:a="http://schemas.openxmlformats.org/drawingml/2006/main">
            <a:r>
              <a:t>Sources du dépôt, état au 11 octobre 2026 (U17–U19) :</a:t>
            </a:r>
          </a:p>
          <a:p xmlns:a="http://schemas.openxmlformats.org/drawingml/2006/main">
            <a:r>
              <a:t>apps/web/package.json</a:t>
            </a:r>
          </a:p>
          <a:p xmlns:a="http://schemas.openxmlformats.org/drawingml/2006/main">
            <a:r>
              <a:t>qa/package.json</a:t>
            </a:r>
          </a:p>
          <a:p xmlns:a="http://schemas.openxmlformats.org/drawingml/2006/main">
            <a:r>
              <a:t>apps/web/package-lock.json</a:t>
            </a:r>
          </a:p>
          <a:p xmlns:a="http://schemas.openxmlformats.org/drawingml/2006/main">
            <a:r>
              <a:t>qa/package-lock.json</a:t>
            </a:r>
          </a:p>
          <a:p xmlns:a="http://schemas.openxmlformats.org/drawingml/2006/main">
            <a:r>
              <a:t>presentations/package-inventory.json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f12f74cd6e4f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fe2fedad8849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82bf363e8843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f1c51c7daf45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de113daade47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9bf0452e3844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DDD771-76B1-4378-8EC1-521EE999E81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9BD818-F9AF-484E-B59F-27C17B6045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0AA0D1-E946-461F-8D89-95B855085F3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DAB2C4-D9F2-4558-BA3E-1026B98CE8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0F045DC-C5FD-4192-B00A-751EEF1B12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54678CD-B849-457A-A582-174E4435AC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128E26-D3F2-44E3-A751-88D2CF4729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E128C9-560D-44F5-91A3-857FE47EB7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637538-E8BB-4FD2-93A4-9FA92976B8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8C46EF-6248-4725-8D08-240DF918DB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e97e47549b4ecd" /><Relationship Type="http://schemas.openxmlformats.org/officeDocument/2006/relationships/slideLayout" Target="/ppt/slideLayouts/slideLayout1.xml" Id="R19d64af753fe49e5" /><Relationship Type="http://schemas.openxmlformats.org/officeDocument/2006/relationships/slideLayout" Target="/ppt/slideLayouts/slideLayout2.xml" Id="R8be9c03091314160" /><Relationship Type="http://schemas.openxmlformats.org/officeDocument/2006/relationships/slideLayout" Target="/ppt/slideLayouts/slideLayout3.xml" Id="R7832d7c7a3714a75" /><Relationship Type="http://schemas.openxmlformats.org/officeDocument/2006/relationships/slideLayout" Target="/ppt/slideLayouts/slideLayout4.xml" Id="R4f9c45eacc264aa5" /><Relationship Type="http://schemas.openxmlformats.org/officeDocument/2006/relationships/slideLayout" Target="/ppt/slideLayouts/slideLayout5.xml" Id="R986827ed3de94124" /><Relationship Type="http://schemas.openxmlformats.org/officeDocument/2006/relationships/slideLayout" Target="/ppt/slideLayouts/slideLayout6.xml" Id="R347651c87b4b45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d64af753fe49e5"/>
    <p:sldLayoutId xmlns:r="http://schemas.openxmlformats.org/officeDocument/2006/relationships" id="2147483650" r:id="R8be9c03091314160"/>
    <p:sldLayoutId xmlns:r="http://schemas.openxmlformats.org/officeDocument/2006/relationships" id="2147483651" r:id="R7832d7c7a3714a75"/>
    <p:sldLayoutId xmlns:r="http://schemas.openxmlformats.org/officeDocument/2006/relationships" id="2147483652" r:id="R4f9c45eacc264aa5"/>
    <p:sldLayoutId xmlns:r="http://schemas.openxmlformats.org/officeDocument/2006/relationships" id="2147483653" r:id="R986827ed3de94124"/>
    <p:sldLayoutId xmlns:r="http://schemas.openxmlformats.org/officeDocument/2006/relationships" id="2147483654" r:id="R347651c87b4b45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1da5456e4c044f0" /><Relationship Type="http://schemas.openxmlformats.org/officeDocument/2006/relationships/notesSlide" Target="/ppt/notesSlides/notesSlide1.xml" Id="R68bbd234397740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8cd85f8b87d4e8d" /><Relationship Type="http://schemas.openxmlformats.org/officeDocument/2006/relationships/notesSlide" Target="/ppt/notesSlides/notesSlide2.xml" Id="Raf4ada1ca9374d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8adcf3db5e4f8e" /><Relationship Type="http://schemas.openxmlformats.org/officeDocument/2006/relationships/notesSlide" Target="/ppt/notesSlides/notesSlide3.xml" Id="Rd1c322c4902745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be2b5f33b364d28" /><Relationship Type="http://schemas.openxmlformats.org/officeDocument/2006/relationships/notesSlide" Target="/ppt/notesSlides/notesSlide4.xml" Id="R6873502601594e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87971e2c7854eef" /><Relationship Type="http://schemas.openxmlformats.org/officeDocument/2006/relationships/notesSlide" Target="/ppt/notesSlides/notesSlide5.xml" Id="R5a31848b805043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eab41ca4424536" /><Relationship Type="http://schemas.openxmlformats.org/officeDocument/2006/relationships/notesSlide" Target="/ppt/notesSlides/notesSlide6.xml" Id="R00a812b6b31d42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5d74e30d46d4d1b" /><Relationship Type="http://schemas.openxmlformats.org/officeDocument/2006/relationships/notesSlide" Target="/ppt/notesSlides/notesSlide7.xml" Id="R44ccc131e4b543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a74da3a898244ea" /><Relationship Type="http://schemas.openxmlformats.org/officeDocument/2006/relationships/notesSlide" Target="/ppt/notesSlides/notesSlide8.xml" Id="R97d3538f934544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e81f205d334e77" /><Relationship Type="http://schemas.openxmlformats.org/officeDocument/2006/relationships/notesSlide" Target="/ppt/notesSlides/notesSlide9.xml" Id="R2b95c3713b7e44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076032049624478" /><Relationship Type="http://schemas.openxmlformats.org/officeDocument/2006/relationships/notesSlide" Target="/ppt/notesSlides/notesSlide10.xml" Id="R830ecbb2e761412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128eb5ece9a4339" /><Relationship Type="http://schemas.openxmlformats.org/officeDocument/2006/relationships/chart" Target="/ppt/slides/charts/chart1.xml" Id="R3c3ec4f02a51431c" /><Relationship Type="http://schemas.openxmlformats.org/officeDocument/2006/relationships/notesSlide" Target="/ppt/notesSlides/notesSlide11.xml" Id="R82626dcefbe945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e93c7f3e7044ce0" /><Relationship Type="http://schemas.openxmlformats.org/officeDocument/2006/relationships/notesSlide" Target="/ppt/notesSlides/notesSlide12.xml" Id="R142a2d7601a146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94f61ad304f4734" /><Relationship Type="http://schemas.openxmlformats.org/officeDocument/2006/relationships/notesSlide" Target="/ppt/notesSlides/notesSlide13.xml" Id="Ra6701de5229f46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1078562693c4a1f" /><Relationship Type="http://schemas.openxmlformats.org/officeDocument/2006/relationships/notesSlide" Target="/ppt/notesSlides/notesSlide14.xml" Id="Rd607f5137f0a476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368420584a247af" /><Relationship Type="http://schemas.openxmlformats.org/officeDocument/2006/relationships/notesSlide" Target="/ppt/notesSlides/notesSlide15.xml" Id="R093c978d093445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7fcf771dea141ea" /><Relationship Type="http://schemas.openxmlformats.org/officeDocument/2006/relationships/notesSlide" Target="/ppt/notesSlides/notesSlide16.xml" Id="Rfa51a9d5e370420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29950a562514035" /><Relationship Type="http://schemas.openxmlformats.org/officeDocument/2006/relationships/image" Target="/ppt/media/image.jpeg" Id="R241411341a1847d9" /><Relationship Type="http://schemas.openxmlformats.org/officeDocument/2006/relationships/notesSlide" Target="/ppt/notesSlides/notesSlide17.xml" Id="Rf77eb81ec969462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5373f29995949ec" /><Relationship Type="http://schemas.openxmlformats.org/officeDocument/2006/relationships/notesSlide" Target="/ppt/notesSlides/notesSlide18.xml" Id="Rd725daea0b48440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faeda105f974a44" /><Relationship Type="http://schemas.openxmlformats.org/officeDocument/2006/relationships/notesSlide" Target="/ppt/notesSlides/notesSlide19.xml" Id="R3daa1e913562472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68e4ce3a7f34af9" /><Relationship Type="http://schemas.openxmlformats.org/officeDocument/2006/relationships/notesSlide" Target="/ppt/notesSlides/notesSlide20.xml" Id="R5ccc75d8991242b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1027523b4944971" /><Relationship Type="http://schemas.openxmlformats.org/officeDocument/2006/relationships/notesSlide" Target="/ppt/notesSlides/notesSlide21.xml" Id="Rb209ec3e92754a2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85eb7e7e42d48b1" /><Relationship Type="http://schemas.openxmlformats.org/officeDocument/2006/relationships/notesSlide" Target="/ppt/notesSlides/notesSlide22.xml" Id="R4a32c69ee37d4f4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c8951d839d54695" /><Relationship Type="http://schemas.openxmlformats.org/officeDocument/2006/relationships/notesSlide" Target="/ppt/notesSlides/notesSlide23.xml" Id="R4384e5ac6ee4407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2eb96167d2e4013" /><Relationship Type="http://schemas.openxmlformats.org/officeDocument/2006/relationships/notesSlide" Target="/ppt/notesSlides/notesSlide24.xml" Id="Rc05bb7ff354842d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b85912daafc4662" /><Relationship Type="http://schemas.openxmlformats.org/officeDocument/2006/relationships/notesSlide" Target="/ppt/notesSlides/notesSlide25.xml" Id="R5f6607416e8a454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61faf65c36f4577" /><Relationship Type="http://schemas.openxmlformats.org/officeDocument/2006/relationships/notesSlide" Target="/ppt/notesSlides/notesSlide26.xml" Id="R8fa04bbaaca542f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64729f55cc145f0" /><Relationship Type="http://schemas.openxmlformats.org/officeDocument/2006/relationships/notesSlide" Target="/ppt/notesSlides/notesSlide27.xml" Id="R5816ac41a6794b0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7750f3ed35e4b8f" /><Relationship Type="http://schemas.openxmlformats.org/officeDocument/2006/relationships/notesSlide" Target="/ppt/notesSlides/notesSlide28.xml" Id="R50871f2df4b344c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f95c82d2d274722" /><Relationship Type="http://schemas.openxmlformats.org/officeDocument/2006/relationships/notesSlide" Target="/ppt/notesSlides/notesSlide29.xml" Id="R62b80b781ba54e1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48fe2f119764cfa" /><Relationship Type="http://schemas.openxmlformats.org/officeDocument/2006/relationships/notesSlide" Target="/ppt/notesSlides/notesSlide30.xml" Id="R432931ffefc34a9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40214174b284d08" /><Relationship Type="http://schemas.openxmlformats.org/officeDocument/2006/relationships/notesSlide" Target="/ppt/notesSlides/notesSlide31.xml" Id="R3d0408a6879540e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56c92f245bf4c08" /><Relationship Type="http://schemas.openxmlformats.org/officeDocument/2006/relationships/notesSlide" Target="/ppt/notesSlides/notesSlide32.xml" Id="R3769aed177c3466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Appels prévus</c:v>
          </c:tx>
          <c:spPr>
            <a:solidFill xmlns:a="http://schemas.openxmlformats.org/drawingml/2006/main">
              <a:srgbClr val="146C78"/>
            </a:solidFill>
          </c:spPr>
          <c:cat>
            <c:strRef>
              <c:f>'Chart Data'!$A$2:$A$5</c:f>
              <c:strCache>
                <c:ptCount val="4"/>
                <c:pt idx="0">
                  <c:v>Complète</c:v>
                </c:pt>
                <c:pt idx="1">
                  <c:v>Routine sans réemploi</c:v>
                </c:pt>
                <c:pt idx="2">
                  <c:v>Routine avec réemploi</c:v>
                </c:pt>
                <c:pt idx="3">
                  <c:v>Standard sans IA</c:v>
                </c:pt>
              </c:strCache>
            </c:strRef>
          </c:cat>
          <c:val>
            <c:numRef>
              <c:f>'Chart Data'!$B$2:$B$5</c:f>
              <c:numCache>
                <c:formatCode>General</c:formatCode>
                <c:ptCount val="4"/>
                <c:pt idx="0">
                  <c:v>5</c:v>
                </c:pt>
                <c:pt idx="1">
                  <c:v>3</c:v>
                </c:pt>
                <c:pt idx="2">
                  <c:v>0</c:v>
                </c:pt>
                <c:pt idx="3">
                  <c:v>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73039"/>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039"/>
                </a:solidFill>
                <a:latin typeface="Arial"/>
                <a:ea typeface="Arial"/>
                <a:cs typeface="Arial"/>
              </a:defRPr>
            </a:pPr>
          </a:p>
        </c:txPr>
        <c:crossAx val="48672768"/>
      </c:catAx>
      <c:valAx>
        <c:axId val="48672768"/>
        <c:scaling>
          <c:orientation val="minMax"/>
          <c:max val="6"/>
          <c:min val="0"/>
        </c:scaling>
        <c:delete val="0"/>
        <c:axPos val="b"/>
        <c:majorGridlines>
          <c:spPr>
            <a:ln xmlns:a="http://schemas.openxmlformats.org/drawingml/2006/main" w="9525">
              <a:solidFill>
                <a:srgbClr val="D7E1E3"/>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Nombre d’appels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870"/>
                </a:solidFill>
                <a:latin typeface="Arial"/>
                <a:ea typeface="Arial"/>
                <a:cs typeface="Arial"/>
              </a:defRPr>
            </a:pPr>
          </a:p>
        </c:txPr>
        <c:crossAx val="48650112"/>
        <c:crossBetween val="between"/>
        <c:majorUnit val="1"/>
      </c:valAx>
      <c:spPr>
        <a:solidFill xmlns:a="http://schemas.openxmlformats.org/drawingml/2006/main">
          <a:srgbClr val="F4F7F7"/>
        </a:solidFill>
      </c:spPr>
    </c:plotArea>
    <c:plotVisOnly val="1"/>
  </c:chart>
  <c:spPr>
    <a:solidFill xmlns:a="http://schemas.openxmlformats.org/drawingml/2006/main">
      <a:srgbClr val="F4F7F7"/>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03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9DA191-83A5-421C-8D6F-4CFB4A7AAB2A}"/>
              </a:ext>
            </a:extLst>
          </p:cNvPr>
          <p:cNvSpPr>
            <a:spLocks xmlns:a="http://schemas.openxmlformats.org/drawingml/2006/main" noGrp="1"/>
          </p:cNvSpPr>
          <p:nvPr/>
        </p:nvSpPr>
        <p:spPr>
          <a:xfrm xmlns:a="http://schemas.openxmlformats.org/drawingml/2006/main">
            <a:off x="609600" y="3333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B5DED7"/>
                </a:solidFill>
                <a:latin typeface="Arial"/>
                <a:ea typeface="Arial"/>
                <a:cs typeface="Arial"/>
              </a:defRPr>
            </a:defPPr>
          </a:lstStyle>
          <a:p xmlns:a="http://schemas.openxmlformats.org/drawingml/2006/main">
            <a:pPr>
              <a:buNone/>
              <a:defRPr sz="1200" b="1">
                <a:solidFill>
                  <a:srgbClr val="B5DED7"/>
                </a:solidFill>
                <a:latin typeface="Arial"/>
                <a:ea typeface="Arial"/>
                <a:cs typeface="Arial"/>
              </a:defRPr>
            </a:pPr>
            <a:r>
              <a:rPr sz="1200" b="1">
                <a:solidFill>
                  <a:srgbClr val="B5DED7"/>
                </a:solidFill>
                <a:latin typeface="Arial"/>
                <a:ea typeface="Arial"/>
                <a:cs typeface="Arial"/>
              </a:rPr>
              <a:t>GENESIS / ARCHITECTURE TECHNIQUE</a:t>
            </a:r>
          </a:p>
        </p:txBody>
      </p:sp>
      <p:sp>
        <p:nvSpPr>
          <p:cNvPr id="2" name="">
            <a:extLst xmlns:a="http://schemas.openxmlformats.org/drawingml/2006/main">
              <a:ext uri="{FF2B5EF4-FFF2-40B4-BE49-F238E27FC236}">
                <a16:creationId xmlns:a16="http://schemas.microsoft.com/office/drawing/2014/main" id="{29714827-5B16-4A29-B5B5-48CC802407A4}"/>
              </a:ext>
            </a:extLst>
          </p:cNvPr>
          <p:cNvSpPr>
            <a:spLocks xmlns:a="http://schemas.openxmlformats.org/drawingml/2006/main" noGrp="1"/>
          </p:cNvSpPr>
          <p:nvPr/>
        </p:nvSpPr>
        <p:spPr>
          <a:xfrm xmlns:a="http://schemas.openxmlformats.org/drawingml/2006/main">
            <a:off x="609600" y="14382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600" b="1">
                <a:solidFill>
                  <a:srgbClr val="FFFFFF"/>
                </a:solidFill>
                <a:latin typeface="Arial"/>
                <a:ea typeface="Arial"/>
                <a:cs typeface="Arial"/>
              </a:defRPr>
            </a:defPPr>
          </a:lstStyle>
          <a:p xmlns:a="http://schemas.openxmlformats.org/drawingml/2006/main">
            <a:pPr>
              <a:buNone/>
              <a:defRPr sz="6600" b="1">
                <a:solidFill>
                  <a:srgbClr val="FFFFFF"/>
                </a:solidFill>
                <a:latin typeface="Arial"/>
                <a:ea typeface="Arial"/>
                <a:cs typeface="Arial"/>
              </a:defRPr>
            </a:pPr>
            <a:r>
              <a:rPr sz="6600" b="1">
                <a:solidFill>
                  <a:srgbClr val="FFFFFF"/>
                </a:solidFill>
                <a:latin typeface="Arial"/>
                <a:ea typeface="Arial"/>
                <a:cs typeface="Arial"/>
              </a:rPr>
              <a:t>genesis</a:t>
            </a:r>
          </a:p>
        </p:txBody>
      </p:sp>
      <p:sp>
        <p:nvSpPr>
          <p:cNvPr id="3" name="">
            <a:extLst xmlns:a="http://schemas.openxmlformats.org/drawingml/2006/main">
              <a:ext uri="{FF2B5EF4-FFF2-40B4-BE49-F238E27FC236}">
                <a16:creationId xmlns:a16="http://schemas.microsoft.com/office/drawing/2014/main" id="{74A3AA28-4D3E-420B-A130-BFF6682C4DF1}"/>
              </a:ext>
            </a:extLst>
          </p:cNvPr>
          <p:cNvSpPr>
            <a:spLocks xmlns:a="http://schemas.openxmlformats.org/drawingml/2006/main" noGrp="1"/>
          </p:cNvSpPr>
          <p:nvPr/>
        </p:nvSpPr>
        <p:spPr>
          <a:xfrm xmlns:a="http://schemas.openxmlformats.org/drawingml/2006/main">
            <a:off x="647700" y="2667000"/>
            <a:ext cx="10001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FFFFFF"/>
                </a:solidFill>
                <a:latin typeface="Arial"/>
                <a:ea typeface="Arial"/>
                <a:cs typeface="Arial"/>
              </a:defRPr>
            </a:defPPr>
          </a:lstStyle>
          <a:p xmlns:a="http://schemas.openxmlformats.org/drawingml/2006/main">
            <a:pPr>
              <a:buNone/>
              <a:defRPr sz="3900" b="1">
                <a:solidFill>
                  <a:srgbClr val="FFFFFF"/>
                </a:solidFill>
                <a:latin typeface="Arial"/>
                <a:ea typeface="Arial"/>
                <a:cs typeface="Arial"/>
              </a:defRPr>
            </a:pPr>
            <a:r>
              <a:rPr sz="3900" b="1">
                <a:solidFill>
                  <a:srgbClr val="FFFFFF"/>
                </a:solidFill>
                <a:latin typeface="Arial"/>
                <a:ea typeface="Arial"/>
                <a:cs typeface="Arial"/>
              </a:rPr>
              <a:t>Architecture, technologies</a:t>
            </a:r>
          </a:p>
          <a:p xmlns:a="http://schemas.openxmlformats.org/drawingml/2006/main">
            <a:pPr>
              <a:buNone/>
              <a:defRPr sz="3900" b="1">
                <a:solidFill>
                  <a:srgbClr val="FFFFFF"/>
                </a:solidFill>
                <a:latin typeface="Arial"/>
                <a:ea typeface="Arial"/>
                <a:cs typeface="Arial"/>
              </a:defRPr>
            </a:pPr>
            <a:r>
              <a:rPr sz="3900" b="1">
                <a:solidFill>
                  <a:srgbClr val="FFFFFF"/>
                </a:solidFill>
                <a:latin typeface="Arial"/>
                <a:ea typeface="Arial"/>
                <a:cs typeface="Arial"/>
              </a:rPr>
              <a:t>et fonctionnement</a:t>
            </a:r>
          </a:p>
        </p:txBody>
      </p:sp>
      <p:sp>
        <p:nvSpPr>
          <p:cNvPr id="4" name="">
            <a:extLst xmlns:a="http://schemas.openxmlformats.org/drawingml/2006/main">
              <a:ext uri="{FF2B5EF4-FFF2-40B4-BE49-F238E27FC236}">
                <a16:creationId xmlns:a16="http://schemas.microsoft.com/office/drawing/2014/main" id="{47B6F337-4621-4516-B302-8D4504CF2EFA}"/>
              </a:ext>
            </a:extLst>
          </p:cNvPr>
          <p:cNvSpPr>
            <a:spLocks xmlns:a="http://schemas.openxmlformats.org/drawingml/2006/main" noGrp="1"/>
          </p:cNvSpPr>
          <p:nvPr/>
        </p:nvSpPr>
        <p:spPr>
          <a:xfrm xmlns:a="http://schemas.openxmlformats.org/drawingml/2006/main">
            <a:off x="647700" y="4619625"/>
            <a:ext cx="962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5DED7"/>
                </a:solidFill>
                <a:latin typeface="Arial"/>
                <a:ea typeface="Arial"/>
                <a:cs typeface="Arial"/>
              </a:defRPr>
            </a:defPPr>
          </a:lstStyle>
          <a:p xmlns:a="http://schemas.openxmlformats.org/drawingml/2006/main">
            <a:pPr>
              <a:buNone/>
              <a:defRPr sz="1875" b="0">
                <a:solidFill>
                  <a:srgbClr val="B5DED7"/>
                </a:solidFill>
                <a:latin typeface="Arial"/>
                <a:ea typeface="Arial"/>
                <a:cs typeface="Arial"/>
              </a:defRPr>
            </a:pPr>
            <a:r>
              <a:rPr sz="1875" b="0">
                <a:solidFill>
                  <a:srgbClr val="B5DED7"/>
                </a:solidFill>
                <a:latin typeface="Arial"/>
                <a:ea typeface="Arial"/>
                <a:cs typeface="Arial"/>
              </a:rPr>
              <a:t>Observatoire multiagents pour la logistique montréalaise</a:t>
            </a:r>
          </a:p>
          <a:p xmlns:a="http://schemas.openxmlformats.org/drawingml/2006/main">
            <a:pPr>
              <a:buNone/>
              <a:defRPr sz="1875" b="0">
                <a:solidFill>
                  <a:srgbClr val="B5DED7"/>
                </a:solidFill>
                <a:latin typeface="Arial"/>
                <a:ea typeface="Arial"/>
                <a:cs typeface="Arial"/>
              </a:defRPr>
            </a:pPr>
            <a:r>
              <a:rPr sz="1875" b="0">
                <a:solidFill>
                  <a:srgbClr val="B5DED7"/>
                </a:solidFill>
                <a:latin typeface="Arial"/>
                <a:ea typeface="Arial"/>
                <a:cs typeface="Arial"/>
              </a:rPr>
              <a:t>Dossier technique · 11 octobre 2026</a:t>
            </a:r>
          </a:p>
        </p:txBody>
      </p:sp>
      <p:sp>
        <p:nvSpPr>
          <p:cNvPr id="5" name="">
            <a:extLst xmlns:a="http://schemas.openxmlformats.org/drawingml/2006/main">
              <a:ext uri="{FF2B5EF4-FFF2-40B4-BE49-F238E27FC236}">
                <a16:creationId xmlns:a16="http://schemas.microsoft.com/office/drawing/2014/main" id="{5AD531BC-210F-4BB6-9F45-9AFA8D1458C1}"/>
              </a:ext>
            </a:extLst>
          </p:cNvPr>
          <p:cNvSpPr>
            <a:spLocks xmlns:a="http://schemas.openxmlformats.org/drawingml/2006/main" noGrp="1"/>
          </p:cNvSpPr>
          <p:nvPr/>
        </p:nvSpPr>
        <p:spPr>
          <a:xfrm xmlns:a="http://schemas.openxmlformats.org/drawingml/2006/main">
            <a:off x="11353800" y="64579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5DED7"/>
                </a:solidFill>
                <a:latin typeface="Arial"/>
                <a:ea typeface="Arial"/>
                <a:cs typeface="Arial"/>
              </a:defRPr>
            </a:defPPr>
          </a:lstStyle>
          <a:p xmlns:a="http://schemas.openxmlformats.org/drawingml/2006/main">
            <a:pPr>
              <a:buNone/>
              <a:defRPr sz="1125" b="0">
                <a:solidFill>
                  <a:srgbClr val="B5DED7"/>
                </a:solidFill>
                <a:latin typeface="Arial"/>
                <a:ea typeface="Arial"/>
                <a:cs typeface="Arial"/>
              </a:defRPr>
            </a:pPr>
            <a:r>
              <a:rPr sz="1125" b="0">
                <a:solidFill>
                  <a:srgbClr val="B5DED7"/>
                </a:solidFill>
                <a:latin typeface="Arial"/>
                <a:ea typeface="Arial"/>
                <a:cs typeface="Arial"/>
              </a:rPr>
              <a:t>01</a:t>
            </a:r>
          </a:p>
        </p:txBody>
      </p:sp>
    </p:spTree>
    <p:extLst>
      <p:ext uri="{BB962C8B-B14F-4D97-AF65-F5344CB8AC3E}">
        <p14:creationId xmlns:p14="http://schemas.microsoft.com/office/powerpoint/2010/main" val="282065504"/>
      </p:ext>
    </p:extLst>
  </p:cSld>
</p:sld>
</file>

<file path=ppt/slides/slide2.xml><?xml version="1.0" encoding="utf-8"?>
<p:sld xmlns:p="http://schemas.openxmlformats.org/presentationml/2006/main">
  <p:cSld>
    <p:bg>
      <p:bgPr>
        <a:solidFill xmlns:a="http://schemas.openxmlformats.org/drawingml/2006/main">
          <a:srgbClr val="17303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42671F-6ED8-46B8-A4BD-FEDDAF3062D7}"/>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La décision du répartiteur</a:t>
            </a:r>
          </a:p>
        </p:txBody>
      </p:sp>
      <p:sp>
        <p:nvSpPr>
          <p:cNvPr id="2" name="">
            <a:extLst xmlns:a="http://schemas.openxmlformats.org/drawingml/2006/main">
              <a:ext uri="{FF2B5EF4-FFF2-40B4-BE49-F238E27FC236}">
                <a16:creationId xmlns:a16="http://schemas.microsoft.com/office/drawing/2014/main" id="{F31FABE9-3E76-4F9F-A8F9-6F48F7A7E0BE}"/>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5DED7"/>
                </a:solidFill>
                <a:latin typeface="Arial"/>
                <a:ea typeface="Arial"/>
                <a:cs typeface="Arial"/>
              </a:defRPr>
            </a:defPPr>
          </a:lstStyle>
          <a:p xmlns:a="http://schemas.openxmlformats.org/drawingml/2006/main">
            <a:pPr>
              <a:defRPr sz="1125" b="0">
                <a:solidFill>
                  <a:srgbClr val="B5DED7"/>
                </a:solidFill>
                <a:latin typeface="Arial"/>
                <a:ea typeface="Arial"/>
                <a:cs typeface="Arial"/>
              </a:defRPr>
            </a:pPr>
            <a:r>
              <a:rPr sz="1125" b="0">
                <a:solidFill>
                  <a:srgbClr val="B5DED7"/>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1A4B469-ABCA-48BA-8073-42FD246EB802}"/>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B5DED7"/>
                </a:solidFill>
                <a:latin typeface="Arial"/>
                <a:ea typeface="Arial"/>
                <a:cs typeface="Arial"/>
              </a:defRPr>
            </a:defPPr>
          </a:lstStyle>
          <a:p xmlns:a="http://schemas.openxmlformats.org/drawingml/2006/main">
            <a:pPr>
              <a:defRPr sz="1425" b="0">
                <a:solidFill>
                  <a:srgbClr val="B5DED7"/>
                </a:solidFill>
                <a:latin typeface="Arial"/>
                <a:ea typeface="Arial"/>
                <a:cs typeface="Arial"/>
              </a:defRPr>
            </a:pPr>
            <a:r>
              <a:rPr sz="1425" b="0">
                <a:solidFill>
                  <a:srgbClr val="B5DED7"/>
                </a:solidFill>
                <a:latin typeface="Arial"/>
                <a:ea typeface="Arial"/>
                <a:cs typeface="Arial"/>
              </a:rPr>
              <a:t>Périmètre actuel : livraisons à Montréal, positions et progression simulées.</a:t>
            </a:r>
          </a:p>
        </p:txBody>
      </p:sp>
      <p:sp>
        <p:nvSpPr>
          <p:cNvPr id="4" name="">
            <a:extLst xmlns:a="http://schemas.openxmlformats.org/drawingml/2006/main">
              <a:ext uri="{FF2B5EF4-FFF2-40B4-BE49-F238E27FC236}">
                <a16:creationId xmlns:a16="http://schemas.microsoft.com/office/drawing/2014/main" id="{D83AB035-BE56-4392-8D40-AF0E6EFED812}"/>
              </a:ext>
            </a:extLst>
          </p:cNvPr>
          <p:cNvSpPr>
            <a:spLocks xmlns:a="http://schemas.openxmlformats.org/drawingml/2006/main" noGrp="1"/>
          </p:cNvSpPr>
          <p:nvPr/>
        </p:nvSpPr>
        <p:spPr>
          <a:xfrm xmlns:a="http://schemas.openxmlformats.org/drawingml/2006/main">
            <a:off x="609600" y="19812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FFFFFF"/>
                </a:solidFill>
                <a:latin typeface="Arial"/>
                <a:ea typeface="Arial"/>
                <a:cs typeface="Arial"/>
              </a:defRPr>
            </a:defPPr>
          </a:lstStyle>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Quel véhicule peut livrer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quoi, à quel coût ?</a:t>
            </a:r>
          </a:p>
        </p:txBody>
      </p:sp>
      <p:sp>
        <p:nvSpPr>
          <p:cNvPr id="5" name="">
            <a:extLst xmlns:a="http://schemas.openxmlformats.org/drawingml/2006/main">
              <a:ext uri="{FF2B5EF4-FFF2-40B4-BE49-F238E27FC236}">
                <a16:creationId xmlns:a16="http://schemas.microsoft.com/office/drawing/2014/main" id="{115F00BC-1063-491F-B0FD-94C0C41549D3}"/>
              </a:ext>
            </a:extLst>
          </p:cNvPr>
          <p:cNvSpPr>
            <a:spLocks xmlns:a="http://schemas.openxmlformats.org/drawingml/2006/main" noGrp="1"/>
          </p:cNvSpPr>
          <p:nvPr/>
        </p:nvSpPr>
        <p:spPr>
          <a:xfrm xmlns:a="http://schemas.openxmlformats.org/drawingml/2006/main">
            <a:off x="609600" y="4429125"/>
            <a:ext cx="990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B5DED7"/>
                </a:solidFill>
                <a:latin typeface="Arial"/>
                <a:ea typeface="Arial"/>
                <a:cs typeface="Arial"/>
              </a:defRPr>
            </a:defPPr>
          </a:lstStyle>
          <a:p xmlns:a="http://schemas.openxmlformats.org/drawingml/2006/main">
            <a:pPr>
              <a:defRPr sz="2325" b="0">
                <a:solidFill>
                  <a:srgbClr val="B5DED7"/>
                </a:solidFill>
                <a:latin typeface="Arial"/>
                <a:ea typeface="Arial"/>
                <a:cs typeface="Arial"/>
              </a:defRPr>
            </a:pPr>
            <a:r>
              <a:rPr sz="2325" b="0">
                <a:solidFill>
                  <a:srgbClr val="B5DED7"/>
                </a:solidFill>
                <a:latin typeface="Arial"/>
                <a:ea typeface="Arial"/>
                <a:cs typeface="Arial"/>
              </a:rPr>
              <a:t>Genesis compare les affectations, contrôle les contraintes et conserve les preuves de chaque proposition.</a:t>
            </a:r>
          </a:p>
        </p:txBody>
      </p:sp>
    </p:spTree>
    <p:extLst>
      <p:ext uri="{BB962C8B-B14F-4D97-AF65-F5344CB8AC3E}">
        <p14:creationId xmlns:p14="http://schemas.microsoft.com/office/powerpoint/2010/main" val="1339355031"/>
      </p:ext>
    </p:extLst>
  </p:cSld>
</p:sld>
</file>

<file path=ppt/slides/slide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8A0874-3936-4EB2-AF8C-0723B2A8346E}"/>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 périmètre livré</a:t>
            </a:r>
          </a:p>
        </p:txBody>
      </p:sp>
      <p:sp>
        <p:nvSpPr>
          <p:cNvPr id="2" name="">
            <a:extLst xmlns:a="http://schemas.openxmlformats.org/drawingml/2006/main">
              <a:ext uri="{FF2B5EF4-FFF2-40B4-BE49-F238E27FC236}">
                <a16:creationId xmlns:a16="http://schemas.microsoft.com/office/drawing/2014/main" id="{3BCB7110-20E4-492F-86C9-7CDC8882190A}"/>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F181802-3DF5-4DB0-A95D-AC95D15EB109}"/>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Les adresses et rues peuvent être réelles. La livraison exécutée reste simulée.</a:t>
            </a:r>
          </a:p>
        </p:txBody>
      </p:sp>
      <p:sp>
        <p:nvSpPr>
          <p:cNvPr id="4" name="">
            <a:extLst xmlns:a="http://schemas.openxmlformats.org/drawingml/2006/main">
              <a:ext uri="{FF2B5EF4-FFF2-40B4-BE49-F238E27FC236}">
                <a16:creationId xmlns:a16="http://schemas.microsoft.com/office/drawing/2014/main" id="{897F44C4-17B1-4DF8-A9A6-226AFF81B183}"/>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Dans le prototype</a:t>
            </a:r>
          </a:p>
        </p:txBody>
      </p:sp>
      <p:sp>
        <p:nvSpPr>
          <p:cNvPr id="5" name="">
            <a:extLst xmlns:a="http://schemas.openxmlformats.org/drawingml/2006/main">
              <a:ext uri="{FF2B5EF4-FFF2-40B4-BE49-F238E27FC236}">
                <a16:creationId xmlns:a16="http://schemas.microsoft.com/office/drawing/2014/main" id="{755F0A24-10D3-4AC5-B506-C1D45EE1BAB4}"/>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Commandes persistantes et import CSV</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Planification et certificats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Flotte locale configurable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Coûts, tokens et historique</a:t>
            </a:r>
          </a:p>
        </p:txBody>
      </p:sp>
      <p:sp>
        <p:nvSpPr>
          <p:cNvPr id="6" name="">
            <a:extLst xmlns:a="http://schemas.openxmlformats.org/drawingml/2006/main">
              <a:ext uri="{FF2B5EF4-FFF2-40B4-BE49-F238E27FC236}">
                <a16:creationId xmlns:a16="http://schemas.microsoft.com/office/drawing/2014/main" id="{FE803F0B-0057-4845-9939-4869F6E1C338}"/>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Avant le terrain</a:t>
            </a:r>
          </a:p>
        </p:txBody>
      </p:sp>
      <p:sp>
        <p:nvSpPr>
          <p:cNvPr id="7" name="">
            <a:extLst xmlns:a="http://schemas.openxmlformats.org/drawingml/2006/main">
              <a:ext uri="{FF2B5EF4-FFF2-40B4-BE49-F238E27FC236}">
                <a16:creationId xmlns:a16="http://schemas.microsoft.com/office/drawing/2014/main" id="{749B8CF8-2FA8-4B36-B8BA-F66F62B58D0A}"/>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Identité et séparation des entreprises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Acceptation conducteur et GPS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Preuve de livraison et cargaison</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Fournisseurs et exploitation validés</a:t>
            </a:r>
          </a:p>
        </p:txBody>
      </p:sp>
    </p:spTree>
    <p:extLst>
      <p:ext uri="{BB962C8B-B14F-4D97-AF65-F5344CB8AC3E}">
        <p14:creationId xmlns:p14="http://schemas.microsoft.com/office/powerpoint/2010/main" val="149235929"/>
      </p:ext>
    </p:extLst>
  </p:cSld>
</p:sld>
</file>

<file path=ppt/slides/slide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63848A3-A0F2-4EDF-800E-8429D3637701}"/>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Trois espaces de travail</a:t>
            </a:r>
          </a:p>
        </p:txBody>
      </p:sp>
      <p:sp>
        <p:nvSpPr>
          <p:cNvPr id="2" name="">
            <a:extLst xmlns:a="http://schemas.openxmlformats.org/drawingml/2006/main">
              <a:ext uri="{FF2B5EF4-FFF2-40B4-BE49-F238E27FC236}">
                <a16:creationId xmlns:a16="http://schemas.microsoft.com/office/drawing/2014/main" id="{0EF20B0F-F83C-4CEB-89BC-D81B306E4D44}"/>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9FF7336-56B5-4F95-8A6B-9C4F97900F64}"/>
              </a:ext>
            </a:extLst>
          </p:cNvPr>
          <p:cNvSpPr>
            <a:spLocks xmlns:a="http://schemas.openxmlformats.org/drawingml/2006/main" noGrp="1"/>
          </p:cNvSpPr>
          <p:nvPr/>
        </p:nvSpPr>
        <p:spPr>
          <a:xfrm xmlns:a="http://schemas.openxmlformats.org/drawingml/2006/main">
            <a:off x="609600" y="2238375"/>
            <a:ext cx="3905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1">
                <a:solidFill>
                  <a:srgbClr val="146C78"/>
                </a:solidFill>
                <a:latin typeface="Arial"/>
                <a:ea typeface="Arial"/>
                <a:cs typeface="Arial"/>
              </a:defRPr>
            </a:defPPr>
          </a:lstStyle>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Une seule chaîne</a:t>
            </a:r>
          </a:p>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d’information</a:t>
            </a:r>
          </a:p>
        </p:txBody>
      </p:sp>
      <p:sp>
        <p:nvSpPr>
          <p:cNvPr id="4" name="">
            <a:extLst xmlns:a="http://schemas.openxmlformats.org/drawingml/2006/main">
              <a:ext uri="{FF2B5EF4-FFF2-40B4-BE49-F238E27FC236}">
                <a16:creationId xmlns:a16="http://schemas.microsoft.com/office/drawing/2014/main" id="{26D2ED81-5F97-42B0-BEC5-FE8462266908}"/>
              </a:ext>
            </a:extLst>
          </p:cNvPr>
          <p:cNvSpPr>
            <a:spLocks xmlns:a="http://schemas.openxmlformats.org/drawingml/2006/main" noGrp="1"/>
          </p:cNvSpPr>
          <p:nvPr/>
        </p:nvSpPr>
        <p:spPr>
          <a:xfrm xmlns:a="http://schemas.openxmlformats.org/drawingml/2006/main">
            <a:off x="5191125" y="19907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Opérations</a:t>
            </a:r>
          </a:p>
        </p:txBody>
      </p:sp>
      <p:sp>
        <p:nvSpPr>
          <p:cNvPr id="5" name="">
            <a:extLst xmlns:a="http://schemas.openxmlformats.org/drawingml/2006/main">
              <a:ext uri="{FF2B5EF4-FFF2-40B4-BE49-F238E27FC236}">
                <a16:creationId xmlns:a16="http://schemas.microsoft.com/office/drawing/2014/main" id="{27835876-D226-4428-A8D5-C411399A2E95}"/>
              </a:ext>
            </a:extLst>
          </p:cNvPr>
          <p:cNvSpPr>
            <a:spLocks xmlns:a="http://schemas.openxmlformats.org/drawingml/2006/main" noGrp="1"/>
          </p:cNvSpPr>
          <p:nvPr/>
        </p:nvSpPr>
        <p:spPr>
          <a:xfrm xmlns:a="http://schemas.openxmlformats.org/drawingml/2006/main">
            <a:off x="5191125" y="24193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Recevoir les commandes, préparer les tournées et contrôler leur départ simulé.</a:t>
            </a:r>
          </a:p>
        </p:txBody>
      </p:sp>
      <p:sp>
        <p:nvSpPr>
          <p:cNvPr id="6" name="">
            <a:extLst xmlns:a="http://schemas.openxmlformats.org/drawingml/2006/main">
              <a:ext uri="{FF2B5EF4-FFF2-40B4-BE49-F238E27FC236}">
                <a16:creationId xmlns:a16="http://schemas.microsoft.com/office/drawing/2014/main" id="{C8285158-727C-428E-92CF-88A5FCB9F1C1}"/>
              </a:ext>
            </a:extLst>
          </p:cNvPr>
          <p:cNvSpPr>
            <a:spLocks xmlns:a="http://schemas.openxmlformats.org/drawingml/2006/main" noGrp="1"/>
          </p:cNvSpPr>
          <p:nvPr/>
        </p:nvSpPr>
        <p:spPr>
          <a:xfrm xmlns:a="http://schemas.openxmlformats.org/drawingml/2006/main">
            <a:off x="5191125" y="32099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Analytique</a:t>
            </a:r>
          </a:p>
        </p:txBody>
      </p:sp>
      <p:sp>
        <p:nvSpPr>
          <p:cNvPr id="7" name="">
            <a:extLst xmlns:a="http://schemas.openxmlformats.org/drawingml/2006/main">
              <a:ext uri="{FF2B5EF4-FFF2-40B4-BE49-F238E27FC236}">
                <a16:creationId xmlns:a16="http://schemas.microsoft.com/office/drawing/2014/main" id="{7221978F-072F-4CEC-8B36-CAEC97024C65}"/>
              </a:ext>
            </a:extLst>
          </p:cNvPr>
          <p:cNvSpPr>
            <a:spLocks xmlns:a="http://schemas.openxmlformats.org/drawingml/2006/main" noGrp="1"/>
          </p:cNvSpPr>
          <p:nvPr/>
        </p:nvSpPr>
        <p:spPr>
          <a:xfrm xmlns:a="http://schemas.openxmlformats.org/drawingml/2006/main">
            <a:off x="5191125" y="36385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Comparer les résultats, suivre le budget global et exporter les données.</a:t>
            </a:r>
          </a:p>
        </p:txBody>
      </p:sp>
      <p:sp>
        <p:nvSpPr>
          <p:cNvPr id="8" name="">
            <a:extLst xmlns:a="http://schemas.openxmlformats.org/drawingml/2006/main">
              <a:ext uri="{FF2B5EF4-FFF2-40B4-BE49-F238E27FC236}">
                <a16:creationId xmlns:a16="http://schemas.microsoft.com/office/drawing/2014/main" id="{BDCB952C-F614-4F3A-9DAD-6CF45E4387D7}"/>
              </a:ext>
            </a:extLst>
          </p:cNvPr>
          <p:cNvSpPr>
            <a:spLocks xmlns:a="http://schemas.openxmlformats.org/drawingml/2006/main" noGrp="1"/>
          </p:cNvSpPr>
          <p:nvPr/>
        </p:nvSpPr>
        <p:spPr>
          <a:xfrm xmlns:a="http://schemas.openxmlformats.org/drawingml/2006/main">
            <a:off x="5191125" y="44291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Agents</a:t>
            </a:r>
          </a:p>
        </p:txBody>
      </p:sp>
      <p:sp>
        <p:nvSpPr>
          <p:cNvPr id="9" name="">
            <a:extLst xmlns:a="http://schemas.openxmlformats.org/drawingml/2006/main">
              <a:ext uri="{FF2B5EF4-FFF2-40B4-BE49-F238E27FC236}">
                <a16:creationId xmlns:a16="http://schemas.microsoft.com/office/drawing/2014/main" id="{760F8FF9-7280-4C91-91F9-B6E3CAD3E91C}"/>
              </a:ext>
            </a:extLst>
          </p:cNvPr>
          <p:cNvSpPr>
            <a:spLocks xmlns:a="http://schemas.openxmlformats.org/drawingml/2006/main" noGrp="1"/>
          </p:cNvSpPr>
          <p:nvPr/>
        </p:nvSpPr>
        <p:spPr>
          <a:xfrm xmlns:a="http://schemas.openxmlformats.org/drawingml/2006/main">
            <a:off x="5191125" y="48577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Inspecter chaque rôle, appel, transmission, erreur et résultat.</a:t>
            </a:r>
          </a:p>
        </p:txBody>
      </p:sp>
    </p:spTree>
    <p:extLst>
      <p:ext uri="{BB962C8B-B14F-4D97-AF65-F5344CB8AC3E}">
        <p14:creationId xmlns:p14="http://schemas.microsoft.com/office/powerpoint/2010/main" val="72601990"/>
      </p:ext>
    </p:extLst>
  </p:cSld>
</p:sld>
</file>

<file path=ppt/slides/slide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357EA4A-2700-43C9-9D6C-90F6E64ABFF6}"/>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 parcours d’une commande</a:t>
            </a:r>
          </a:p>
        </p:txBody>
      </p:sp>
      <p:sp>
        <p:nvSpPr>
          <p:cNvPr id="2" name="">
            <a:extLst xmlns:a="http://schemas.openxmlformats.org/drawingml/2006/main">
              <a:ext uri="{FF2B5EF4-FFF2-40B4-BE49-F238E27FC236}">
                <a16:creationId xmlns:a16="http://schemas.microsoft.com/office/drawing/2014/main" id="{DE1B36B9-4577-47D4-9CEF-8FCAA16FBF5F}"/>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0EBF0F0-690B-4F41-9A41-ECDD8C6C28D3}"/>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Une proposition prête réserve le véhicule. Elle ne prouve aucune livraison réelle.</a:t>
            </a:r>
          </a:p>
        </p:txBody>
      </p:sp>
      <p:sp>
        <p:nvSpPr>
          <p:cNvPr id="4" name="">
            <a:extLst xmlns:a="http://schemas.openxmlformats.org/drawingml/2006/main">
              <a:ext uri="{FF2B5EF4-FFF2-40B4-BE49-F238E27FC236}">
                <a16:creationId xmlns:a16="http://schemas.microsoft.com/office/drawing/2014/main" id="{8A531695-4A9F-4304-BBE6-B097A158D7EE}"/>
              </a:ext>
            </a:extLst>
          </p:cNvPr>
          <p:cNvSpPr>
            <a:spLocks xmlns:a="http://schemas.openxmlformats.org/drawingml/2006/main" noGrp="1"/>
          </p:cNvSpPr>
          <p:nvPr/>
        </p:nvSpPr>
        <p:spPr>
          <a:xfrm xmlns:a="http://schemas.openxmlformats.org/drawingml/2006/main">
            <a:off x="6096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1DD0ECE-47FF-43E8-B288-A98D4DAD8CC0}"/>
              </a:ext>
            </a:extLst>
          </p:cNvPr>
          <p:cNvSpPr>
            <a:spLocks xmlns:a="http://schemas.openxmlformats.org/drawingml/2006/main" noGrp="1"/>
          </p:cNvSpPr>
          <p:nvPr/>
        </p:nvSpPr>
        <p:spPr>
          <a:xfrm xmlns:a="http://schemas.openxmlformats.org/drawingml/2006/main">
            <a:off x="6096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Recevoir</a:t>
            </a:r>
          </a:p>
        </p:txBody>
      </p:sp>
      <p:sp>
        <p:nvSpPr>
          <p:cNvPr id="6" name="">
            <a:extLst xmlns:a="http://schemas.openxmlformats.org/drawingml/2006/main">
              <a:ext uri="{FF2B5EF4-FFF2-40B4-BE49-F238E27FC236}">
                <a16:creationId xmlns:a16="http://schemas.microsoft.com/office/drawing/2014/main" id="{03F6800A-24A2-41C9-92C9-D7B2F53C144C}"/>
              </a:ext>
            </a:extLst>
          </p:cNvPr>
          <p:cNvSpPr>
            <a:spLocks xmlns:a="http://schemas.openxmlformats.org/drawingml/2006/main" noGrp="1"/>
          </p:cNvSpPr>
          <p:nvPr/>
        </p:nvSpPr>
        <p:spPr>
          <a:xfrm xmlns:a="http://schemas.openxmlformats.org/drawingml/2006/main">
            <a:off x="6096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Adresses sélectionnées ou CSV contrôlé</a:t>
            </a:r>
          </a:p>
        </p:txBody>
      </p:sp>
      <p:sp>
        <p:nvSpPr>
          <p:cNvPr id="7" name="">
            <a:extLst xmlns:a="http://schemas.openxmlformats.org/drawingml/2006/main">
              <a:ext uri="{FF2B5EF4-FFF2-40B4-BE49-F238E27FC236}">
                <a16:creationId xmlns:a16="http://schemas.microsoft.com/office/drawing/2014/main" id="{9BDF7D99-7018-4981-ADDB-3356AE46B332}"/>
              </a:ext>
            </a:extLst>
          </p:cNvPr>
          <p:cNvSpPr>
            <a:spLocks xmlns:a="http://schemas.openxmlformats.org/drawingml/2006/main" noGrp="1"/>
          </p:cNvSpPr>
          <p:nvPr/>
        </p:nvSpPr>
        <p:spPr>
          <a:xfrm xmlns:a="http://schemas.openxmlformats.org/drawingml/2006/main">
            <a:off x="33909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35D9346-4451-4375-B336-0CDAA730BEFC}"/>
              </a:ext>
            </a:extLst>
          </p:cNvPr>
          <p:cNvSpPr>
            <a:spLocks xmlns:a="http://schemas.openxmlformats.org/drawingml/2006/main" noGrp="1"/>
          </p:cNvSpPr>
          <p:nvPr/>
        </p:nvSpPr>
        <p:spPr>
          <a:xfrm xmlns:a="http://schemas.openxmlformats.org/drawingml/2006/main">
            <a:off x="33909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Préparer</a:t>
            </a:r>
          </a:p>
        </p:txBody>
      </p:sp>
      <p:sp>
        <p:nvSpPr>
          <p:cNvPr id="9" name="">
            <a:extLst xmlns:a="http://schemas.openxmlformats.org/drawingml/2006/main">
              <a:ext uri="{FF2B5EF4-FFF2-40B4-BE49-F238E27FC236}">
                <a16:creationId xmlns:a16="http://schemas.microsoft.com/office/drawing/2014/main" id="{C5C0C0C1-5095-4C1B-ACF1-9E753C0611B0}"/>
              </a:ext>
            </a:extLst>
          </p:cNvPr>
          <p:cNvSpPr>
            <a:spLocks xmlns:a="http://schemas.openxmlformats.org/drawingml/2006/main" noGrp="1"/>
          </p:cNvSpPr>
          <p:nvPr/>
        </p:nvSpPr>
        <p:spPr>
          <a:xfrm xmlns:a="http://schemas.openxmlformats.org/drawingml/2006/main">
            <a:off x="33909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Commandes et flotte disponibles</a:t>
            </a:r>
          </a:p>
        </p:txBody>
      </p:sp>
      <p:sp>
        <p:nvSpPr>
          <p:cNvPr id="10" name="">
            <a:extLst xmlns:a="http://schemas.openxmlformats.org/drawingml/2006/main">
              <a:ext uri="{FF2B5EF4-FFF2-40B4-BE49-F238E27FC236}">
                <a16:creationId xmlns:a16="http://schemas.microsoft.com/office/drawing/2014/main" id="{118866C2-E3BF-48C4-9791-E515B2EBACDC}"/>
              </a:ext>
            </a:extLst>
          </p:cNvPr>
          <p:cNvSpPr>
            <a:spLocks xmlns:a="http://schemas.openxmlformats.org/drawingml/2006/main" noGrp="1"/>
          </p:cNvSpPr>
          <p:nvPr/>
        </p:nvSpPr>
        <p:spPr>
          <a:xfrm xmlns:a="http://schemas.openxmlformats.org/drawingml/2006/main">
            <a:off x="61722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408586CF-C718-40F8-B2BF-23C1EE33B5FA}"/>
              </a:ext>
            </a:extLst>
          </p:cNvPr>
          <p:cNvSpPr>
            <a:spLocks xmlns:a="http://schemas.openxmlformats.org/drawingml/2006/main" noGrp="1"/>
          </p:cNvSpPr>
          <p:nvPr/>
        </p:nvSpPr>
        <p:spPr>
          <a:xfrm xmlns:a="http://schemas.openxmlformats.org/drawingml/2006/main">
            <a:off x="61722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Vérifier</a:t>
            </a:r>
          </a:p>
        </p:txBody>
      </p:sp>
      <p:sp>
        <p:nvSpPr>
          <p:cNvPr id="12" name="">
            <a:extLst xmlns:a="http://schemas.openxmlformats.org/drawingml/2006/main">
              <a:ext uri="{FF2B5EF4-FFF2-40B4-BE49-F238E27FC236}">
                <a16:creationId xmlns:a16="http://schemas.microsoft.com/office/drawing/2014/main" id="{14463A24-E83A-4B4E-8054-80A374DF9F4E}"/>
              </a:ext>
            </a:extLst>
          </p:cNvPr>
          <p:cNvSpPr>
            <a:spLocks xmlns:a="http://schemas.openxmlformats.org/drawingml/2006/main" noGrp="1"/>
          </p:cNvSpPr>
          <p:nvPr/>
        </p:nvSpPr>
        <p:spPr>
          <a:xfrm xmlns:a="http://schemas.openxmlformats.org/drawingml/2006/main">
            <a:off x="61722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Stratégies, certificat et admission</a:t>
            </a:r>
          </a:p>
        </p:txBody>
      </p:sp>
      <p:sp>
        <p:nvSpPr>
          <p:cNvPr id="13" name="">
            <a:extLst xmlns:a="http://schemas.openxmlformats.org/drawingml/2006/main">
              <a:ext uri="{FF2B5EF4-FFF2-40B4-BE49-F238E27FC236}">
                <a16:creationId xmlns:a16="http://schemas.microsoft.com/office/drawing/2014/main" id="{58570A69-B93B-40E2-B636-5DE38EEBCE1B}"/>
              </a:ext>
            </a:extLst>
          </p:cNvPr>
          <p:cNvSpPr>
            <a:spLocks xmlns:a="http://schemas.openxmlformats.org/drawingml/2006/main" noGrp="1"/>
          </p:cNvSpPr>
          <p:nvPr/>
        </p:nvSpPr>
        <p:spPr>
          <a:xfrm xmlns:a="http://schemas.openxmlformats.org/drawingml/2006/main">
            <a:off x="89535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53329EF0-878F-4A96-AFF8-D82512A69F93}"/>
              </a:ext>
            </a:extLst>
          </p:cNvPr>
          <p:cNvSpPr>
            <a:spLocks xmlns:a="http://schemas.openxmlformats.org/drawingml/2006/main" noGrp="1"/>
          </p:cNvSpPr>
          <p:nvPr/>
        </p:nvSpPr>
        <p:spPr>
          <a:xfrm xmlns:a="http://schemas.openxmlformats.org/drawingml/2006/main">
            <a:off x="89535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Démarrer</a:t>
            </a:r>
          </a:p>
        </p:txBody>
      </p:sp>
      <p:sp>
        <p:nvSpPr>
          <p:cNvPr id="15" name="">
            <a:extLst xmlns:a="http://schemas.openxmlformats.org/drawingml/2006/main">
              <a:ext uri="{FF2B5EF4-FFF2-40B4-BE49-F238E27FC236}">
                <a16:creationId xmlns:a16="http://schemas.microsoft.com/office/drawing/2014/main" id="{F9E06B57-FA68-4444-873B-865F86713B90}"/>
              </a:ext>
            </a:extLst>
          </p:cNvPr>
          <p:cNvSpPr>
            <a:spLocks xmlns:a="http://schemas.openxmlformats.org/drawingml/2006/main" noGrp="1"/>
          </p:cNvSpPr>
          <p:nvPr/>
        </p:nvSpPr>
        <p:spPr>
          <a:xfrm xmlns:a="http://schemas.openxmlformats.org/drawingml/2006/main">
            <a:off x="89535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Départ explicite de la simulation</a:t>
            </a:r>
          </a:p>
        </p:txBody>
      </p:sp>
    </p:spTree>
    <p:extLst>
      <p:ext uri="{BB962C8B-B14F-4D97-AF65-F5344CB8AC3E}">
        <p14:creationId xmlns:p14="http://schemas.microsoft.com/office/powerpoint/2010/main" val="1492571303"/>
      </p:ext>
    </p:extLst>
  </p:cSld>
</p:sld>
</file>

<file path=ppt/slides/slide6.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4F5470-BEE7-4EEF-87C8-995D7B42D33F}"/>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Architecture du profil local</a:t>
            </a:r>
          </a:p>
        </p:txBody>
      </p:sp>
      <p:sp>
        <p:nvSpPr>
          <p:cNvPr id="2" name="">
            <a:extLst xmlns:a="http://schemas.openxmlformats.org/drawingml/2006/main">
              <a:ext uri="{FF2B5EF4-FFF2-40B4-BE49-F238E27FC236}">
                <a16:creationId xmlns:a16="http://schemas.microsoft.com/office/drawing/2014/main" id="{970317A5-05C8-45C1-ACB8-A4FDD1EB7631}"/>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771E2271-C743-4991-AD72-68029D10CFD9}"/>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LangGraph conserve ses checkpoints dans une base SQLite séparée.</a:t>
            </a:r>
          </a:p>
        </p:txBody>
      </p:sp>
      <p:graphicFrame>
        <p:nvGraphicFramePr>
          <p:cNvPr id="4" name="">
            <a:extLst xmlns:a="http://schemas.openxmlformats.org/drawingml/2006/main">
              <a:ext uri="{FF2B5EF4-FFF2-40B4-BE49-F238E27FC236}">
                <a16:creationId xmlns:a16="http://schemas.microsoft.com/office/drawing/2014/main" id="{1DC2F1DC-FEE4-4E7D-BD80-80E4204EB786}"/>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476500"/>
                <a:gridCol w="3143250"/>
                <a:gridCol w="5353050"/>
              </a:tblGrid>
              <a:tr h="457200">
                <a:tc>
                  <a:txBody>
                    <a:bodyPr/>
                    <a:lstStyle/>
                    <a:p>
                      <a:r>
                        <a:rPr sz="1725" b="1">
                          <a:solidFill>
                            <a:srgbClr val="FFFFFF"/>
                          </a:solidFill>
                          <a:latin typeface="Arial"/>
                          <a:ea typeface="Arial"/>
                          <a:cs typeface="Arial"/>
                        </a:rPr>
                        <a:t>COUCHE</a:t>
                      </a:r>
                    </a:p>
                  </a:txBody>
                  <a:tcPr marL="91440" marR="91440" marT="45720" marB="45720">
                    <a:solidFill>
                      <a:srgbClr val="173039"/>
                    </a:solidFill>
                  </a:tcPr>
                </a:tc>
                <a:tc>
                  <a:txBody>
                    <a:bodyPr/>
                    <a:lstStyle/>
                    <a:p>
                      <a:r>
                        <a:rPr sz="1725" b="1">
                          <a:solidFill>
                            <a:srgbClr val="FFFFFF"/>
                          </a:solidFill>
                          <a:latin typeface="Arial"/>
                          <a:ea typeface="Arial"/>
                          <a:cs typeface="Arial"/>
                        </a:rPr>
                        <a:t>TECHNOLOGIES</a:t>
                      </a:r>
                    </a:p>
                  </a:txBody>
                  <a:tcPr marL="91440" marR="91440" marT="45720" marB="45720">
                    <a:solidFill>
                      <a:srgbClr val="173039"/>
                    </a:solidFill>
                  </a:tcPr>
                </a:tc>
                <a:tc>
                  <a:txBody>
                    <a:bodyPr/>
                    <a:lstStyle/>
                    <a:p>
                      <a:r>
                        <a:rPr sz="1725" b="1">
                          <a:solidFill>
                            <a:srgbClr val="FFFFFF"/>
                          </a:solidFill>
                          <a:latin typeface="Arial"/>
                          <a:ea typeface="Arial"/>
                          <a:cs typeface="Arial"/>
                        </a:rPr>
                        <a:t>RÔLE</a:t>
                      </a:r>
                    </a:p>
                  </a:txBody>
                  <a:tcPr marL="91440" marR="91440" marT="45720" marB="45720">
                    <a:solidFill>
                      <a:srgbClr val="173039"/>
                    </a:solidFill>
                  </a:tcPr>
                </a:tc>
              </a:tr>
              <a:tr h="689610">
                <a:tc>
                  <a:txBody>
                    <a:bodyPr/>
                    <a:lstStyle/>
                    <a:p>
                      <a:r>
                        <a:rPr sz="1725" b="1">
                          <a:solidFill>
                            <a:srgbClr val="173039"/>
                          </a:solidFill>
                          <a:latin typeface="Arial"/>
                          <a:ea typeface="Arial"/>
                          <a:cs typeface="Arial"/>
                        </a:rPr>
                        <a:t>Navigateur</a:t>
                      </a:r>
                    </a:p>
                  </a:txBody>
                  <a:tcPr marL="91440" marR="91440" marT="45720" marB="45720">
                    <a:solidFill>
                      <a:srgbClr val="FFFFFF"/>
                    </a:solidFill>
                  </a:tcPr>
                </a:tc>
                <a:tc>
                  <a:txBody>
                    <a:bodyPr/>
                    <a:lstStyle/>
                    <a:p>
                      <a:r>
                        <a:rPr sz="1725" b="0">
                          <a:solidFill>
                            <a:srgbClr val="173039"/>
                          </a:solidFill>
                          <a:latin typeface="Arial"/>
                          <a:ea typeface="Arial"/>
                          <a:cs typeface="Arial"/>
                        </a:rPr>
                        <a:t>React + TypeScript</a:t>
                      </a:r>
                    </a:p>
                  </a:txBody>
                  <a:tcPr marL="91440" marR="91440" marT="45720" marB="45720">
                    <a:solidFill>
                      <a:srgbClr val="FFFFFF"/>
                    </a:solidFill>
                  </a:tcPr>
                </a:tc>
                <a:tc>
                  <a:txBody>
                    <a:bodyPr/>
                    <a:lstStyle/>
                    <a:p>
                      <a:r>
                        <a:rPr sz="1725" b="0">
                          <a:solidFill>
                            <a:srgbClr val="173039"/>
                          </a:solidFill>
                          <a:latin typeface="Arial"/>
                          <a:ea typeface="Arial"/>
                          <a:cs typeface="Arial"/>
                        </a:rPr>
                        <a:t>Interface, filtres et lecture des preuves</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API HTTP / SSE</a:t>
                      </a:r>
                    </a:p>
                  </a:txBody>
                  <a:tcPr marL="91440" marR="91440" marT="45720" marB="45720">
                    <a:solidFill>
                      <a:srgbClr val="EAF0F1"/>
                    </a:solidFill>
                  </a:tcPr>
                </a:tc>
                <a:tc>
                  <a:txBody>
                    <a:bodyPr/>
                    <a:lstStyle/>
                    <a:p>
                      <a:r>
                        <a:rPr sz="1725" b="0">
                          <a:solidFill>
                            <a:srgbClr val="173039"/>
                          </a:solidFill>
                          <a:latin typeface="Arial"/>
                          <a:ea typeface="Arial"/>
                          <a:cs typeface="Arial"/>
                        </a:rPr>
                        <a:t>FastAPI + Uvicorn</a:t>
                      </a:r>
                    </a:p>
                  </a:txBody>
                  <a:tcPr marL="91440" marR="91440" marT="45720" marB="45720">
                    <a:solidFill>
                      <a:srgbClr val="EAF0F1"/>
                    </a:solidFill>
                  </a:tcPr>
                </a:tc>
                <a:tc>
                  <a:txBody>
                    <a:bodyPr/>
                    <a:lstStyle/>
                    <a:p>
                      <a:r>
                        <a:rPr sz="1725" b="0">
                          <a:solidFill>
                            <a:srgbClr val="173039"/>
                          </a:solidFill>
                          <a:latin typeface="Arial"/>
                          <a:ea typeface="Arial"/>
                          <a:cs typeface="Arial"/>
                        </a:rPr>
                        <a:t>Validation, admission et événements ordonnés</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Worker Python</a:t>
                      </a:r>
                    </a:p>
                  </a:txBody>
                  <a:tcPr marL="91440" marR="91440" marT="45720" marB="45720">
                    <a:solidFill>
                      <a:srgbClr val="FFFFFF"/>
                    </a:solidFill>
                  </a:tcPr>
                </a:tc>
                <a:tc>
                  <a:txBody>
                    <a:bodyPr/>
                    <a:lstStyle/>
                    <a:p>
                      <a:r>
                        <a:rPr sz="1725" b="0">
                          <a:solidFill>
                            <a:srgbClr val="173039"/>
                          </a:solidFill>
                          <a:latin typeface="Arial"/>
                          <a:ea typeface="Arial"/>
                          <a:cs typeface="Arial"/>
                        </a:rPr>
                        <a:t>LangGraph + OR-Tools</a:t>
                      </a:r>
                    </a:p>
                  </a:txBody>
                  <a:tcPr marL="91440" marR="91440" marT="45720" marB="45720">
                    <a:solidFill>
                      <a:srgbClr val="FFFFFF"/>
                    </a:solidFill>
                  </a:tcPr>
                </a:tc>
                <a:tc>
                  <a:txBody>
                    <a:bodyPr/>
                    <a:lstStyle/>
                    <a:p>
                      <a:r>
                        <a:rPr sz="1725" b="0">
                          <a:solidFill>
                            <a:srgbClr val="173039"/>
                          </a:solidFill>
                          <a:latin typeface="Arial"/>
                          <a:ea typeface="Arial"/>
                          <a:cs typeface="Arial"/>
                        </a:rPr>
                        <a:t>Rôles, calculs, contrôle et résultats</a:t>
                      </a:r>
                    </a:p>
                  </a:txBody>
                  <a:tcPr marL="91440" marR="91440" marT="45720" marB="45720">
                    <a:solidFill>
                      <a:srgbClr val="FFFFFF"/>
                    </a:solidFill>
                  </a:tcPr>
                </a:tc>
              </a:tr>
              <a:tr h="689610">
                <a:tc>
                  <a:txBody>
                    <a:bodyPr/>
                    <a:lstStyle/>
                    <a:p>
                      <a:r>
                        <a:rPr sz="1725" b="1">
                          <a:solidFill>
                            <a:srgbClr val="173039"/>
                          </a:solidFill>
                          <a:latin typeface="Arial"/>
                          <a:ea typeface="Arial"/>
                          <a:cs typeface="Arial"/>
                        </a:rPr>
                        <a:t>Persistance</a:t>
                      </a:r>
                    </a:p>
                  </a:txBody>
                  <a:tcPr marL="91440" marR="91440" marT="45720" marB="45720">
                    <a:solidFill>
                      <a:srgbClr val="EAF0F1"/>
                    </a:solidFill>
                  </a:tcPr>
                </a:tc>
                <a:tc>
                  <a:txBody>
                    <a:bodyPr/>
                    <a:lstStyle/>
                    <a:p>
                      <a:r>
                        <a:rPr sz="1725" b="0">
                          <a:solidFill>
                            <a:srgbClr val="173039"/>
                          </a:solidFill>
                          <a:latin typeface="Arial"/>
                          <a:ea typeface="Arial"/>
                          <a:cs typeface="Arial"/>
                        </a:rPr>
                        <a:t>SQLAlchemy + SQLite</a:t>
                      </a:r>
                    </a:p>
                  </a:txBody>
                  <a:tcPr marL="91440" marR="91440" marT="45720" marB="45720">
                    <a:solidFill>
                      <a:srgbClr val="EAF0F1"/>
                    </a:solidFill>
                  </a:tcPr>
                </a:tc>
                <a:tc>
                  <a:txBody>
                    <a:bodyPr/>
                    <a:lstStyle/>
                    <a:p>
                      <a:r>
                        <a:rPr sz="1725" b="0">
                          <a:solidFill>
                            <a:srgbClr val="173039"/>
                          </a:solidFill>
                          <a:latin typeface="Arial"/>
                          <a:ea typeface="Arial"/>
                          <a:cs typeface="Arial"/>
                        </a:rPr>
                        <a:t>Commandes, événements, coûts et baux</a:t>
                      </a:r>
                    </a:p>
                  </a:txBody>
                  <a:tcPr marL="91440" marR="91440" marT="45720" marB="45720">
                    <a:solidFill>
                      <a:srgbClr val="EAF0F1"/>
                    </a:solidFill>
                  </a:tcPr>
                </a:tc>
              </a:tr>
              <a:tr h="689610">
                <a:tc>
                  <a:txBody>
                    <a:bodyPr/>
                    <a:lstStyle/>
                    <a:p>
                      <a:r>
                        <a:rPr sz="1725" b="1">
                          <a:solidFill>
                            <a:srgbClr val="173039"/>
                          </a:solidFill>
                          <a:latin typeface="Arial"/>
                          <a:ea typeface="Arial"/>
                          <a:cs typeface="Arial"/>
                        </a:rPr>
                        <a:t>Services externes</a:t>
                      </a:r>
                    </a:p>
                  </a:txBody>
                  <a:tcPr marL="91440" marR="91440" marT="45720" marB="45720">
                    <a:solidFill>
                      <a:srgbClr val="FFFFFF"/>
                    </a:solidFill>
                  </a:tcPr>
                </a:tc>
                <a:tc>
                  <a:txBody>
                    <a:bodyPr/>
                    <a:lstStyle/>
                    <a:p>
                      <a:r>
                        <a:rPr sz="1725" b="0">
                          <a:solidFill>
                            <a:srgbClr val="173039"/>
                          </a:solidFill>
                          <a:latin typeface="Arial"/>
                          <a:ea typeface="Arial"/>
                          <a:cs typeface="Arial"/>
                        </a:rPr>
                        <a:t>Anthropic / cartes / SMTP</a:t>
                      </a:r>
                    </a:p>
                  </a:txBody>
                  <a:tcPr marL="91440" marR="91440" marT="45720" marB="45720">
                    <a:solidFill>
                      <a:srgbClr val="FFFFFF"/>
                    </a:solidFill>
                  </a:tcPr>
                </a:tc>
                <a:tc>
                  <a:txBody>
                    <a:bodyPr/>
                    <a:lstStyle/>
                    <a:p>
                      <a:r>
                        <a:rPr sz="1725" b="0">
                          <a:solidFill>
                            <a:srgbClr val="173039"/>
                          </a:solidFill>
                          <a:latin typeface="Arial"/>
                          <a:ea typeface="Arial"/>
                          <a:cs typeface="Arial"/>
                        </a:rPr>
                        <a:t>Appels bornés et intégrations configurées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7118388"/>
      </p:ext>
    </p:extLst>
  </p:cSld>
</p:sld>
</file>

<file path=ppt/slides/slide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7F7326-0BAD-4E0F-89EB-C11094D4D207}"/>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Interface et visualisations</a:t>
            </a:r>
          </a:p>
        </p:txBody>
      </p:sp>
      <p:sp>
        <p:nvSpPr>
          <p:cNvPr id="2" name="">
            <a:extLst xmlns:a="http://schemas.openxmlformats.org/drawingml/2006/main">
              <a:ext uri="{FF2B5EF4-FFF2-40B4-BE49-F238E27FC236}">
                <a16:creationId xmlns:a16="http://schemas.microsoft.com/office/drawing/2014/main" id="{9D6DECD0-6D5B-4894-B389-9A50E47B62C9}"/>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7E79E02-0092-47A7-A2E1-92815311D3ED}"/>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Vite produit le bundle. Vitest teste les comportements ciblés.</a:t>
            </a:r>
          </a:p>
        </p:txBody>
      </p:sp>
      <p:sp>
        <p:nvSpPr>
          <p:cNvPr id="4" name="">
            <a:extLst xmlns:a="http://schemas.openxmlformats.org/drawingml/2006/main">
              <a:ext uri="{FF2B5EF4-FFF2-40B4-BE49-F238E27FC236}">
                <a16:creationId xmlns:a16="http://schemas.microsoft.com/office/drawing/2014/main" id="{152EAE20-336F-4F8C-B4A9-20A9022F6EE3}"/>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Construire l’interface</a:t>
            </a:r>
          </a:p>
        </p:txBody>
      </p:sp>
      <p:sp>
        <p:nvSpPr>
          <p:cNvPr id="5" name="">
            <a:extLst xmlns:a="http://schemas.openxmlformats.org/drawingml/2006/main">
              <a:ext uri="{FF2B5EF4-FFF2-40B4-BE49-F238E27FC236}">
                <a16:creationId xmlns:a16="http://schemas.microsoft.com/office/drawing/2014/main" id="{D7750E1A-2448-428D-9D1B-AF37525C2671}"/>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React et React DOM</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Composants et état de la page</a:t>
            </a:r>
          </a:p>
          <a:p xmlns:a="http://schemas.openxmlformats.org/drawingml/2006/main">
            <a:r>
              <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TypeScript</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Contrats et vérification à la compilation</a:t>
            </a:r>
          </a:p>
        </p:txBody>
      </p:sp>
      <p:sp>
        <p:nvSpPr>
          <p:cNvPr id="6" name="">
            <a:extLst xmlns:a="http://schemas.openxmlformats.org/drawingml/2006/main">
              <a:ext uri="{FF2B5EF4-FFF2-40B4-BE49-F238E27FC236}">
                <a16:creationId xmlns:a16="http://schemas.microsoft.com/office/drawing/2014/main" id="{47140EEB-F9C5-41CA-95C9-BF51A40948AE}"/>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Présenter les résultats</a:t>
            </a:r>
          </a:p>
        </p:txBody>
      </p:sp>
      <p:sp>
        <p:nvSpPr>
          <p:cNvPr id="7" name="">
            <a:extLst xmlns:a="http://schemas.openxmlformats.org/drawingml/2006/main">
              <a:ext uri="{FF2B5EF4-FFF2-40B4-BE49-F238E27FC236}">
                <a16:creationId xmlns:a16="http://schemas.microsoft.com/office/drawing/2014/main" id="{90754DC7-D0E6-46E5-943C-43F93248B6F6}"/>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ECharts : métriques et comparaisons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React Flow : graphe des rôles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MapLibre GL : routes et marqueurs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Lucide et Inter : icônes et typographie</a:t>
            </a:r>
          </a:p>
        </p:txBody>
      </p:sp>
    </p:spTree>
    <p:extLst>
      <p:ext uri="{BB962C8B-B14F-4D97-AF65-F5344CB8AC3E}">
        <p14:creationId xmlns:p14="http://schemas.microsoft.com/office/powerpoint/2010/main" val="1606254338"/>
      </p:ext>
    </p:extLst>
  </p:cSld>
</p:sld>
</file>

<file path=ppt/slides/slide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851ADCE-F028-4D74-B92F-A2D7DE43DEB2}"/>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API et validation des entrées</a:t>
            </a:r>
          </a:p>
        </p:txBody>
      </p:sp>
      <p:sp>
        <p:nvSpPr>
          <p:cNvPr id="2" name="">
            <a:extLst xmlns:a="http://schemas.openxmlformats.org/drawingml/2006/main">
              <a:ext uri="{FF2B5EF4-FFF2-40B4-BE49-F238E27FC236}">
                <a16:creationId xmlns:a16="http://schemas.microsoft.com/office/drawing/2014/main" id="{EAF4FC6E-6B2B-4AD2-8623-1662EFFA91D4}"/>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F2739CB0-C22A-4610-8E09-56A21E7FBC31}"/>
              </a:ext>
            </a:extLst>
          </p:cNvPr>
          <p:cNvSpPr>
            <a:spLocks xmlns:a="http://schemas.openxmlformats.org/drawingml/2006/main" noGrp="1"/>
          </p:cNvSpPr>
          <p:nvPr/>
        </p:nvSpPr>
        <p:spPr>
          <a:xfrm xmlns:a="http://schemas.openxmlformats.org/drawingml/2006/main">
            <a:off x="609600" y="2238375"/>
            <a:ext cx="3905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1">
                <a:solidFill>
                  <a:srgbClr val="146C78"/>
                </a:solidFill>
                <a:latin typeface="Arial"/>
                <a:ea typeface="Arial"/>
                <a:cs typeface="Arial"/>
              </a:defRPr>
            </a:defPPr>
          </a:lstStyle>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Une frontière</a:t>
            </a:r>
          </a:p>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contrôlée</a:t>
            </a:r>
          </a:p>
        </p:txBody>
      </p:sp>
      <p:sp>
        <p:nvSpPr>
          <p:cNvPr id="4" name="">
            <a:extLst xmlns:a="http://schemas.openxmlformats.org/drawingml/2006/main">
              <a:ext uri="{FF2B5EF4-FFF2-40B4-BE49-F238E27FC236}">
                <a16:creationId xmlns:a16="http://schemas.microsoft.com/office/drawing/2014/main" id="{E29C1BAF-EB28-4A49-81A0-F3CC89F494F0}"/>
              </a:ext>
            </a:extLst>
          </p:cNvPr>
          <p:cNvSpPr>
            <a:spLocks xmlns:a="http://schemas.openxmlformats.org/drawingml/2006/main" noGrp="1"/>
          </p:cNvSpPr>
          <p:nvPr/>
        </p:nvSpPr>
        <p:spPr>
          <a:xfrm xmlns:a="http://schemas.openxmlformats.org/drawingml/2006/main">
            <a:off x="5191125" y="19907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FastAPI + Uvicorn</a:t>
            </a:r>
          </a:p>
        </p:txBody>
      </p:sp>
      <p:sp>
        <p:nvSpPr>
          <p:cNvPr id="5" name="">
            <a:extLst xmlns:a="http://schemas.openxmlformats.org/drawingml/2006/main">
              <a:ext uri="{FF2B5EF4-FFF2-40B4-BE49-F238E27FC236}">
                <a16:creationId xmlns:a16="http://schemas.microsoft.com/office/drawing/2014/main" id="{54828603-059E-434E-AE38-77AF8D72B174}"/>
              </a:ext>
            </a:extLst>
          </p:cNvPr>
          <p:cNvSpPr>
            <a:spLocks xmlns:a="http://schemas.openxmlformats.org/drawingml/2006/main" noGrp="1"/>
          </p:cNvSpPr>
          <p:nvPr/>
        </p:nvSpPr>
        <p:spPr>
          <a:xfrm xmlns:a="http://schemas.openxmlformats.org/drawingml/2006/main">
            <a:off x="5191125" y="24193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Exposer les opérations HTTP et le flux d’événements.</a:t>
            </a:r>
          </a:p>
        </p:txBody>
      </p:sp>
      <p:sp>
        <p:nvSpPr>
          <p:cNvPr id="6" name="">
            <a:extLst xmlns:a="http://schemas.openxmlformats.org/drawingml/2006/main">
              <a:ext uri="{FF2B5EF4-FFF2-40B4-BE49-F238E27FC236}">
                <a16:creationId xmlns:a16="http://schemas.microsoft.com/office/drawing/2014/main" id="{778A2602-CE74-478B-A38A-86CC93575F92}"/>
              </a:ext>
            </a:extLst>
          </p:cNvPr>
          <p:cNvSpPr>
            <a:spLocks xmlns:a="http://schemas.openxmlformats.org/drawingml/2006/main" noGrp="1"/>
          </p:cNvSpPr>
          <p:nvPr/>
        </p:nvSpPr>
        <p:spPr>
          <a:xfrm xmlns:a="http://schemas.openxmlformats.org/drawingml/2006/main">
            <a:off x="5191125" y="32099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Pydantic</a:t>
            </a:r>
          </a:p>
        </p:txBody>
      </p:sp>
      <p:sp>
        <p:nvSpPr>
          <p:cNvPr id="7" name="">
            <a:extLst xmlns:a="http://schemas.openxmlformats.org/drawingml/2006/main">
              <a:ext uri="{FF2B5EF4-FFF2-40B4-BE49-F238E27FC236}">
                <a16:creationId xmlns:a16="http://schemas.microsoft.com/office/drawing/2014/main" id="{C6FC9540-65BC-4ECF-8D30-EDB8F099159B}"/>
              </a:ext>
            </a:extLst>
          </p:cNvPr>
          <p:cNvSpPr>
            <a:spLocks xmlns:a="http://schemas.openxmlformats.org/drawingml/2006/main" noGrp="1"/>
          </p:cNvSpPr>
          <p:nvPr/>
        </p:nvSpPr>
        <p:spPr>
          <a:xfrm xmlns:a="http://schemas.openxmlformats.org/drawingml/2006/main">
            <a:off x="5191125" y="36385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Valider types, bornes, champs et sorties structurées.</a:t>
            </a:r>
          </a:p>
        </p:txBody>
      </p:sp>
      <p:sp>
        <p:nvSpPr>
          <p:cNvPr id="8" name="">
            <a:extLst xmlns:a="http://schemas.openxmlformats.org/drawingml/2006/main">
              <a:ext uri="{FF2B5EF4-FFF2-40B4-BE49-F238E27FC236}">
                <a16:creationId xmlns:a16="http://schemas.microsoft.com/office/drawing/2014/main" id="{D8DFF281-4B1C-48DF-84FF-E7C71907D529}"/>
              </a:ext>
            </a:extLst>
          </p:cNvPr>
          <p:cNvSpPr>
            <a:spLocks xmlns:a="http://schemas.openxmlformats.org/drawingml/2006/main" noGrp="1"/>
          </p:cNvSpPr>
          <p:nvPr/>
        </p:nvSpPr>
        <p:spPr>
          <a:xfrm xmlns:a="http://schemas.openxmlformats.org/drawingml/2006/main">
            <a:off x="5191125" y="44291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HTTPX</a:t>
            </a:r>
          </a:p>
        </p:txBody>
      </p:sp>
      <p:sp>
        <p:nvSpPr>
          <p:cNvPr id="9" name="">
            <a:extLst xmlns:a="http://schemas.openxmlformats.org/drawingml/2006/main">
              <a:ext uri="{FF2B5EF4-FFF2-40B4-BE49-F238E27FC236}">
                <a16:creationId xmlns:a16="http://schemas.microsoft.com/office/drawing/2014/main" id="{6208077D-4B8B-48EA-A611-0559C06D1982}"/>
              </a:ext>
            </a:extLst>
          </p:cNvPr>
          <p:cNvSpPr>
            <a:spLocks xmlns:a="http://schemas.openxmlformats.org/drawingml/2006/main" noGrp="1"/>
          </p:cNvSpPr>
          <p:nvPr/>
        </p:nvSpPr>
        <p:spPr>
          <a:xfrm xmlns:a="http://schemas.openxmlformats.org/drawingml/2006/main">
            <a:off x="5191125" y="48577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Appeler les services routiers avec limites et diagnostics.</a:t>
            </a:r>
          </a:p>
        </p:txBody>
      </p:sp>
    </p:spTree>
    <p:extLst>
      <p:ext uri="{BB962C8B-B14F-4D97-AF65-F5344CB8AC3E}">
        <p14:creationId xmlns:p14="http://schemas.microsoft.com/office/powerpoint/2010/main" val="704292577"/>
      </p:ext>
    </p:extLst>
  </p:cSld>
</p:sld>
</file>

<file path=ppt/slides/slide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3F6116C-541F-4992-976D-C062D3D39B25}"/>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Persistance et exécution durable</a:t>
            </a:r>
          </a:p>
        </p:txBody>
      </p:sp>
      <p:sp>
        <p:nvSpPr>
          <p:cNvPr id="2" name="">
            <a:extLst xmlns:a="http://schemas.openxmlformats.org/drawingml/2006/main">
              <a:ext uri="{FF2B5EF4-FFF2-40B4-BE49-F238E27FC236}">
                <a16:creationId xmlns:a16="http://schemas.microsoft.com/office/drawing/2014/main" id="{1B6861DE-A5DF-4E84-9483-294D4E3858DD}"/>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DBDE5721-539C-4A7D-AD0F-60F6E3084135}"/>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PostgreSQL est configurable. Son exécution reste non validée dans cet environnement.</a:t>
            </a:r>
          </a:p>
        </p:txBody>
      </p:sp>
      <p:sp>
        <p:nvSpPr>
          <p:cNvPr id="4" name="">
            <a:extLst xmlns:a="http://schemas.openxmlformats.org/drawingml/2006/main">
              <a:ext uri="{FF2B5EF4-FFF2-40B4-BE49-F238E27FC236}">
                <a16:creationId xmlns:a16="http://schemas.microsoft.com/office/drawing/2014/main" id="{7ED62287-8529-44B3-9F9E-0FB643824A68}"/>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Base application</a:t>
            </a:r>
          </a:p>
        </p:txBody>
      </p:sp>
      <p:sp>
        <p:nvSpPr>
          <p:cNvPr id="5" name="">
            <a:extLst xmlns:a="http://schemas.openxmlformats.org/drawingml/2006/main">
              <a:ext uri="{FF2B5EF4-FFF2-40B4-BE49-F238E27FC236}">
                <a16:creationId xmlns:a16="http://schemas.microsoft.com/office/drawing/2014/main" id="{65649B89-5072-41F1-98F4-B584E0D76382}"/>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SQLAlchemy encadre les transactions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SQLite conserve commandes et plans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Événements et artefacts gardent les preuves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Réservations suivent argent et véhicules</a:t>
            </a:r>
          </a:p>
        </p:txBody>
      </p:sp>
      <p:sp>
        <p:nvSpPr>
          <p:cNvPr id="6" name="">
            <a:extLst xmlns:a="http://schemas.openxmlformats.org/drawingml/2006/main">
              <a:ext uri="{FF2B5EF4-FFF2-40B4-BE49-F238E27FC236}">
                <a16:creationId xmlns:a16="http://schemas.microsoft.com/office/drawing/2014/main" id="{DF140458-BC16-4890-8295-0F95C7EB29AB}"/>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Worker et checkpoints</a:t>
            </a:r>
          </a:p>
        </p:txBody>
      </p:sp>
      <p:sp>
        <p:nvSpPr>
          <p:cNvPr id="7" name="">
            <a:extLst xmlns:a="http://schemas.openxmlformats.org/drawingml/2006/main">
              <a:ext uri="{FF2B5EF4-FFF2-40B4-BE49-F238E27FC236}">
                <a16:creationId xmlns:a16="http://schemas.microsoft.com/office/drawing/2014/main" id="{AD23F50D-CDA4-4700-BB6A-45B9E6337341}"/>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Bail avec propriétaire et génération</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Résultats de rôles persistants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Checkpoints LangGraph séparés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Reprises contrôlées et clôtures de bail</a:t>
            </a:r>
          </a:p>
        </p:txBody>
      </p:sp>
    </p:spTree>
    <p:extLst>
      <p:ext uri="{BB962C8B-B14F-4D97-AF65-F5344CB8AC3E}">
        <p14:creationId xmlns:p14="http://schemas.microsoft.com/office/powerpoint/2010/main" val="1916802311"/>
      </p:ext>
    </p:extLst>
  </p:cSld>
</p:sld>
</file>

<file path=ppt/slides/slide1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1F47477-1199-44D2-BDC5-8A76B70A0455}"/>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Cinq rôles, des preuves distinctes</a:t>
            </a:r>
          </a:p>
        </p:txBody>
      </p:sp>
      <p:sp>
        <p:nvSpPr>
          <p:cNvPr id="2" name="">
            <a:extLst xmlns:a="http://schemas.openxmlformats.org/drawingml/2006/main">
              <a:ext uri="{FF2B5EF4-FFF2-40B4-BE49-F238E27FC236}">
                <a16:creationId xmlns:a16="http://schemas.microsoft.com/office/drawing/2014/main" id="{F3D96171-A356-498B-A8B8-6A797FE6AB17}"/>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503FB713-75CC-45D8-BFF5-43FFE46EB234}"/>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LangGraph orchestre cette chaîne séquentielle. React Flow en montre les transmissions.</a:t>
            </a:r>
          </a:p>
        </p:txBody>
      </p:sp>
      <p:sp>
        <p:nvSpPr>
          <p:cNvPr id="4" name="">
            <a:extLst xmlns:a="http://schemas.openxmlformats.org/drawingml/2006/main">
              <a:ext uri="{FF2B5EF4-FFF2-40B4-BE49-F238E27FC236}">
                <a16:creationId xmlns:a16="http://schemas.microsoft.com/office/drawing/2014/main" id="{5E9B5A9C-01C7-4DE4-9EB7-1B2F226EA6C2}"/>
              </a:ext>
            </a:extLst>
          </p:cNvPr>
          <p:cNvSpPr>
            <a:spLocks xmlns:a="http://schemas.openxmlformats.org/drawingml/2006/main" noGrp="1"/>
          </p:cNvSpPr>
          <p:nvPr/>
        </p:nvSpPr>
        <p:spPr>
          <a:xfrm xmlns:a="http://schemas.openxmlformats.org/drawingml/2006/main">
            <a:off x="609600" y="1943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1887AB0-3667-477F-A243-D697DB1CC1A9}"/>
              </a:ext>
            </a:extLst>
          </p:cNvPr>
          <p:cNvSpPr>
            <a:spLocks xmlns:a="http://schemas.openxmlformats.org/drawingml/2006/main" noGrp="1"/>
          </p:cNvSpPr>
          <p:nvPr/>
        </p:nvSpPr>
        <p:spPr>
          <a:xfrm xmlns:a="http://schemas.openxmlformats.org/drawingml/2006/main">
            <a:off x="1657350" y="2000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Planification</a:t>
            </a:r>
          </a:p>
        </p:txBody>
      </p:sp>
      <p:sp>
        <p:nvSpPr>
          <p:cNvPr id="6" name="">
            <a:extLst xmlns:a="http://schemas.openxmlformats.org/drawingml/2006/main">
              <a:ext uri="{FF2B5EF4-FFF2-40B4-BE49-F238E27FC236}">
                <a16:creationId xmlns:a16="http://schemas.microsoft.com/office/drawing/2014/main" id="{16EE6191-6570-426B-BC87-09D1B2421973}"/>
              </a:ext>
            </a:extLst>
          </p:cNvPr>
          <p:cNvSpPr>
            <a:spLocks xmlns:a="http://schemas.openxmlformats.org/drawingml/2006/main" noGrp="1"/>
          </p:cNvSpPr>
          <p:nvPr/>
        </p:nvSpPr>
        <p:spPr>
          <a:xfrm xmlns:a="http://schemas.openxmlformats.org/drawingml/2006/main">
            <a:off x="4876800" y="2009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Figer demandes, flotte, origines et contraintes</a:t>
            </a:r>
          </a:p>
        </p:txBody>
      </p:sp>
      <p:sp>
        <p:nvSpPr>
          <p:cNvPr id="7" name="">
            <a:extLst xmlns:a="http://schemas.openxmlformats.org/drawingml/2006/main">
              <a:ext uri="{FF2B5EF4-FFF2-40B4-BE49-F238E27FC236}">
                <a16:creationId xmlns:a16="http://schemas.microsoft.com/office/drawing/2014/main" id="{BB4EBD80-B50B-49D1-AF4C-59E7BD8B3A72}"/>
              </a:ext>
            </a:extLst>
          </p:cNvPr>
          <p:cNvSpPr>
            <a:spLocks xmlns:a="http://schemas.openxmlformats.org/drawingml/2006/main" noGrp="1"/>
          </p:cNvSpPr>
          <p:nvPr/>
        </p:nvSpPr>
        <p:spPr>
          <a:xfrm xmlns:a="http://schemas.openxmlformats.org/drawingml/2006/main">
            <a:off x="609600" y="2705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B6906FB-7EFD-474A-980B-7BDB6E4CFB11}"/>
              </a:ext>
            </a:extLst>
          </p:cNvPr>
          <p:cNvSpPr>
            <a:spLocks xmlns:a="http://schemas.openxmlformats.org/drawingml/2006/main" noGrp="1"/>
          </p:cNvSpPr>
          <p:nvPr/>
        </p:nvSpPr>
        <p:spPr>
          <a:xfrm xmlns:a="http://schemas.openxmlformats.org/drawingml/2006/main">
            <a:off x="1657350" y="2762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Trafic et réseau</a:t>
            </a:r>
          </a:p>
        </p:txBody>
      </p:sp>
      <p:sp>
        <p:nvSpPr>
          <p:cNvPr id="9" name="">
            <a:extLst xmlns:a="http://schemas.openxmlformats.org/drawingml/2006/main">
              <a:ext uri="{FF2B5EF4-FFF2-40B4-BE49-F238E27FC236}">
                <a16:creationId xmlns:a16="http://schemas.microsoft.com/office/drawing/2014/main" id="{874610B4-A9F3-4253-9767-D228285A9024}"/>
              </a:ext>
            </a:extLst>
          </p:cNvPr>
          <p:cNvSpPr>
            <a:spLocks xmlns:a="http://schemas.openxmlformats.org/drawingml/2006/main" noGrp="1"/>
          </p:cNvSpPr>
          <p:nvPr/>
        </p:nvSpPr>
        <p:spPr>
          <a:xfrm xmlns:a="http://schemas.openxmlformats.org/drawingml/2006/main">
            <a:off x="4876800" y="2771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Construire la matrice routière ou synthétique</a:t>
            </a:r>
          </a:p>
        </p:txBody>
      </p:sp>
      <p:sp>
        <p:nvSpPr>
          <p:cNvPr id="10" name="">
            <a:extLst xmlns:a="http://schemas.openxmlformats.org/drawingml/2006/main">
              <a:ext uri="{FF2B5EF4-FFF2-40B4-BE49-F238E27FC236}">
                <a16:creationId xmlns:a16="http://schemas.microsoft.com/office/drawing/2014/main" id="{B57241C5-42E4-4B8B-ACCC-27910BF35465}"/>
              </a:ext>
            </a:extLst>
          </p:cNvPr>
          <p:cNvSpPr>
            <a:spLocks xmlns:a="http://schemas.openxmlformats.org/drawingml/2006/main" noGrp="1"/>
          </p:cNvSpPr>
          <p:nvPr/>
        </p:nvSpPr>
        <p:spPr>
          <a:xfrm xmlns:a="http://schemas.openxmlformats.org/drawingml/2006/main">
            <a:off x="609600" y="3467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E0A9C62-FF01-445D-B1B6-DCF48DDEB4A2}"/>
              </a:ext>
            </a:extLst>
          </p:cNvPr>
          <p:cNvSpPr>
            <a:spLocks xmlns:a="http://schemas.openxmlformats.org/drawingml/2006/main" noGrp="1"/>
          </p:cNvSpPr>
          <p:nvPr/>
        </p:nvSpPr>
        <p:spPr>
          <a:xfrm xmlns:a="http://schemas.openxmlformats.org/drawingml/2006/main">
            <a:off x="1657350" y="3524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Optimisation</a:t>
            </a:r>
          </a:p>
        </p:txBody>
      </p:sp>
      <p:sp>
        <p:nvSpPr>
          <p:cNvPr id="12" name="">
            <a:extLst xmlns:a="http://schemas.openxmlformats.org/drawingml/2006/main">
              <a:ext uri="{FF2B5EF4-FFF2-40B4-BE49-F238E27FC236}">
                <a16:creationId xmlns:a16="http://schemas.microsoft.com/office/drawing/2014/main" id="{98C585BC-2969-41FF-A369-2A9F04C227C4}"/>
              </a:ext>
            </a:extLst>
          </p:cNvPr>
          <p:cNvSpPr>
            <a:spLocks xmlns:a="http://schemas.openxmlformats.org/drawingml/2006/main" noGrp="1"/>
          </p:cNvSpPr>
          <p:nvPr/>
        </p:nvSpPr>
        <p:spPr>
          <a:xfrm xmlns:a="http://schemas.openxmlformats.org/drawingml/2006/main">
            <a:off x="4876800" y="3533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Comparer les affectations avec le solveur</a:t>
            </a:r>
          </a:p>
        </p:txBody>
      </p:sp>
      <p:sp>
        <p:nvSpPr>
          <p:cNvPr id="13" name="">
            <a:extLst xmlns:a="http://schemas.openxmlformats.org/drawingml/2006/main">
              <a:ext uri="{FF2B5EF4-FFF2-40B4-BE49-F238E27FC236}">
                <a16:creationId xmlns:a16="http://schemas.microsoft.com/office/drawing/2014/main" id="{FF00D53A-859D-4084-8ECB-3EFB96CB0A1E}"/>
              </a:ext>
            </a:extLst>
          </p:cNvPr>
          <p:cNvSpPr>
            <a:spLocks xmlns:a="http://schemas.openxmlformats.org/drawingml/2006/main" noGrp="1"/>
          </p:cNvSpPr>
          <p:nvPr/>
        </p:nvSpPr>
        <p:spPr>
          <a:xfrm xmlns:a="http://schemas.openxmlformats.org/drawingml/2006/main">
            <a:off x="609600" y="4229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510A5EBF-455B-43DD-BA7F-14779E17F682}"/>
              </a:ext>
            </a:extLst>
          </p:cNvPr>
          <p:cNvSpPr>
            <a:spLocks xmlns:a="http://schemas.openxmlformats.org/drawingml/2006/main" noGrp="1"/>
          </p:cNvSpPr>
          <p:nvPr/>
        </p:nvSpPr>
        <p:spPr>
          <a:xfrm xmlns:a="http://schemas.openxmlformats.org/drawingml/2006/main">
            <a:off x="1657350" y="4286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Contrôle</a:t>
            </a:r>
          </a:p>
        </p:txBody>
      </p:sp>
      <p:sp>
        <p:nvSpPr>
          <p:cNvPr id="15" name="">
            <a:extLst xmlns:a="http://schemas.openxmlformats.org/drawingml/2006/main">
              <a:ext uri="{FF2B5EF4-FFF2-40B4-BE49-F238E27FC236}">
                <a16:creationId xmlns:a16="http://schemas.microsoft.com/office/drawing/2014/main" id="{DD36126A-2140-45AC-AB7D-257AC55F006C}"/>
              </a:ext>
            </a:extLst>
          </p:cNvPr>
          <p:cNvSpPr>
            <a:spLocks xmlns:a="http://schemas.openxmlformats.org/drawingml/2006/main" noGrp="1"/>
          </p:cNvSpPr>
          <p:nvPr/>
        </p:nvSpPr>
        <p:spPr>
          <a:xfrm xmlns:a="http://schemas.openxmlformats.org/drawingml/2006/main">
            <a:off x="4876800" y="4295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Recalculer les contraintes et certifier</a:t>
            </a:r>
          </a:p>
        </p:txBody>
      </p:sp>
      <p:sp>
        <p:nvSpPr>
          <p:cNvPr id="16" name="">
            <a:extLst xmlns:a="http://schemas.openxmlformats.org/drawingml/2006/main">
              <a:ext uri="{FF2B5EF4-FFF2-40B4-BE49-F238E27FC236}">
                <a16:creationId xmlns:a16="http://schemas.microsoft.com/office/drawing/2014/main" id="{01735673-E12B-4114-8100-7D9A4B4BF199}"/>
              </a:ext>
            </a:extLst>
          </p:cNvPr>
          <p:cNvSpPr>
            <a:spLocks xmlns:a="http://schemas.openxmlformats.org/drawingml/2006/main" noGrp="1"/>
          </p:cNvSpPr>
          <p:nvPr/>
        </p:nvSpPr>
        <p:spPr>
          <a:xfrm xmlns:a="http://schemas.openxmlformats.org/drawingml/2006/main">
            <a:off x="609600" y="4991100"/>
            <a:ext cx="76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46C78"/>
                </a:solidFill>
                <a:latin typeface="Arial"/>
                <a:ea typeface="Arial"/>
                <a:cs typeface="Arial"/>
              </a:defRPr>
            </a:defPPr>
          </a:lstStyle>
          <a:p xmlns:a="http://schemas.openxmlformats.org/drawingml/2006/main">
            <a:pPr>
              <a:defRPr sz="3225" b="1">
                <a:solidFill>
                  <a:srgbClr val="146C78"/>
                </a:solidFill>
                <a:latin typeface="Arial"/>
                <a:ea typeface="Arial"/>
                <a:cs typeface="Arial"/>
              </a:defRPr>
            </a:pPr>
            <a:r>
              <a:rPr sz="3225" b="1">
                <a:solidFill>
                  <a:srgbClr val="146C78"/>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246CAFC6-0027-449A-B5FB-5EA7F9F0D121}"/>
              </a:ext>
            </a:extLst>
          </p:cNvPr>
          <p:cNvSpPr>
            <a:spLocks xmlns:a="http://schemas.openxmlformats.org/drawingml/2006/main" noGrp="1"/>
          </p:cNvSpPr>
          <p:nvPr/>
        </p:nvSpPr>
        <p:spPr>
          <a:xfrm xmlns:a="http://schemas.openxmlformats.org/drawingml/2006/main">
            <a:off x="1657350" y="5048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Exceptions</a:t>
            </a:r>
          </a:p>
        </p:txBody>
      </p:sp>
      <p:sp>
        <p:nvSpPr>
          <p:cNvPr id="18" name="">
            <a:extLst xmlns:a="http://schemas.openxmlformats.org/drawingml/2006/main">
              <a:ext uri="{FF2B5EF4-FFF2-40B4-BE49-F238E27FC236}">
                <a16:creationId xmlns:a16="http://schemas.microsoft.com/office/drawing/2014/main" id="{259E2DF9-D2E3-462A-B285-E382A9C6E288}"/>
              </a:ext>
            </a:extLst>
          </p:cNvPr>
          <p:cNvSpPr>
            <a:spLocks xmlns:a="http://schemas.openxmlformats.org/drawingml/2006/main" noGrp="1"/>
          </p:cNvSpPr>
          <p:nvPr/>
        </p:nvSpPr>
        <p:spPr>
          <a:xfrm xmlns:a="http://schemas.openxmlformats.org/drawingml/2006/main">
            <a:off x="4876800" y="5057775"/>
            <a:ext cx="651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Produire le diagnostic et préparer la clôture</a:t>
            </a:r>
          </a:p>
        </p:txBody>
      </p:sp>
    </p:spTree>
    <p:extLst>
      <p:ext uri="{BB962C8B-B14F-4D97-AF65-F5344CB8AC3E}">
        <p14:creationId xmlns:p14="http://schemas.microsoft.com/office/powerpoint/2010/main" val="447807873"/>
      </p:ext>
    </p:extLst>
  </p:cSld>
</p:sld>
</file>

<file path=ppt/slides/slide1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C3079D-F52A-46C1-A496-EB81F5DA46E8}"/>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explications IA sont facultatives</a:t>
            </a:r>
          </a:p>
        </p:txBody>
      </p:sp>
      <p:sp>
        <p:nvSpPr>
          <p:cNvPr id="2" name="">
            <a:extLst xmlns:a="http://schemas.openxmlformats.org/drawingml/2006/main">
              <a:ext uri="{FF2B5EF4-FFF2-40B4-BE49-F238E27FC236}">
                <a16:creationId xmlns:a16="http://schemas.microsoft.com/office/drawing/2014/main" id="{7D59AF24-732F-483A-81B8-2D936C33B58B}"/>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0145FBF4-BD4A-455D-ABE2-89184AE93A47}"/>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Appels d’explication attendus, hors erreurs et reprises. Aucun coût fictif pour les omissions.</a:t>
            </a:r>
          </a:p>
        </p:txBody>
      </p:sp>
      <p:graphicFrame>
        <p:nvGraphicFramePr>
          <p:cNvPr id="4" name="Chart">
            <a:extLst xmlns:a="http://schemas.openxmlformats.org/drawingml/2006/main">
              <a:ext uri="{FF2B5EF4-FFF2-40B4-BE49-F238E27FC236}">
                <a16:creationId xmlns:a16="http://schemas.microsoft.com/office/drawing/2014/main" id="{933F0B5A-7867-4A56-803C-684B2FB85CB0}"/>
              </a:ext>
            </a:extLst>
          </p:cNvPr>
          <p:cNvGraphicFramePr/>
          <p:nvPr/>
        </p:nvGraphicFramePr>
        <p:xfrm>
          <a:off xmlns:a="http://schemas.openxmlformats.org/drawingml/2006/main" x="609600" y="1933575"/>
          <a:ext xmlns:a="http://schemas.openxmlformats.org/drawingml/2006/main" cx="7810500" cy="3600450"/>
        </p:xfrm>
        <a:graphic xmlns:a="http://schemas.openxmlformats.org/drawingml/2006/main">
          <a:graphicData uri="http://schemas.openxmlformats.org/drawingml/2006/chart">
            <c:chart xmlns:r="http://schemas.openxmlformats.org/officeDocument/2006/relationships" xmlns:c="http://schemas.openxmlformats.org/drawingml/2006/chart" r:id="R3c3ec4f02a51431c"/>
          </a:graphicData>
        </a:graphic>
      </p:graphicFrame>
      <p:sp>
        <p:nvSpPr>
          <p:cNvPr id="5" name="">
            <a:extLst xmlns:a="http://schemas.openxmlformats.org/drawingml/2006/main">
              <a:ext uri="{FF2B5EF4-FFF2-40B4-BE49-F238E27FC236}">
                <a16:creationId xmlns:a16="http://schemas.microsoft.com/office/drawing/2014/main" id="{DFC3C2EF-2E5F-4A5E-98B6-2E626EE72B4A}"/>
              </a:ext>
            </a:extLst>
          </p:cNvPr>
          <p:cNvSpPr>
            <a:spLocks xmlns:a="http://schemas.openxmlformats.org/drawingml/2006/main" noGrp="1"/>
          </p:cNvSpPr>
          <p:nvPr/>
        </p:nvSpPr>
        <p:spPr>
          <a:xfrm xmlns:a="http://schemas.openxmlformats.org/drawingml/2006/main">
            <a:off x="8858250" y="2476500"/>
            <a:ext cx="2571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46C78"/>
                </a:solidFill>
                <a:latin typeface="Arial"/>
                <a:ea typeface="Arial"/>
                <a:cs typeface="Arial"/>
              </a:defRPr>
            </a:defPPr>
          </a:lstStyle>
          <a:p xmlns:a="http://schemas.openxmlformats.org/drawingml/2006/main">
            <a:pPr>
              <a:defRPr sz="2400" b="1">
                <a:solidFill>
                  <a:srgbClr val="146C78"/>
                </a:solidFill>
                <a:latin typeface="Arial"/>
                <a:ea typeface="Arial"/>
                <a:cs typeface="Arial"/>
              </a:defRPr>
            </a:pPr>
            <a:r>
              <a:rPr sz="2400" b="1">
                <a:solidFill>
                  <a:srgbClr val="146C78"/>
                </a:solidFill>
                <a:latin typeface="Arial"/>
                <a:ea typeface="Arial"/>
                <a:cs typeface="Arial"/>
              </a:rPr>
              <a:t>Tous les modes</a:t>
            </a:r>
          </a:p>
          <a:p xmlns:a="http://schemas.openxmlformats.org/drawingml/2006/main">
            <a:pPr>
              <a:defRPr sz="2400" b="1">
                <a:solidFill>
                  <a:srgbClr val="146C78"/>
                </a:solidFill>
                <a:latin typeface="Arial"/>
                <a:ea typeface="Arial"/>
                <a:cs typeface="Arial"/>
              </a:defRPr>
            </a:pPr>
            <a:r>
              <a:rPr sz="2400" b="1">
                <a:solidFill>
                  <a:srgbClr val="146C78"/>
                </a:solidFill>
                <a:latin typeface="Arial"/>
                <a:ea typeface="Arial"/>
                <a:cs typeface="Arial"/>
              </a:rPr>
              <a:t>conservent les</a:t>
            </a:r>
          </a:p>
          <a:p xmlns:a="http://schemas.openxmlformats.org/drawingml/2006/main">
            <a:pPr>
              <a:defRPr sz="2400" b="1">
                <a:solidFill>
                  <a:srgbClr val="146C78"/>
                </a:solidFill>
                <a:latin typeface="Arial"/>
                <a:ea typeface="Arial"/>
                <a:cs typeface="Arial"/>
              </a:defRPr>
            </a:pPr>
            <a:r>
              <a:rPr sz="2400" b="1">
                <a:solidFill>
                  <a:srgbClr val="146C78"/>
                </a:solidFill>
                <a:latin typeface="Arial"/>
                <a:ea typeface="Arial"/>
                <a:cs typeface="Arial"/>
              </a:rPr>
              <a:t>cinq rôles et</a:t>
            </a:r>
          </a:p>
          <a:p xmlns:a="http://schemas.openxmlformats.org/drawingml/2006/main">
            <a:pPr>
              <a:defRPr sz="2400" b="1">
                <a:solidFill>
                  <a:srgbClr val="146C78"/>
                </a:solidFill>
                <a:latin typeface="Arial"/>
                <a:ea typeface="Arial"/>
                <a:cs typeface="Arial"/>
              </a:defRPr>
            </a:pPr>
            <a:r>
              <a:rPr sz="2400" b="1">
                <a:solidFill>
                  <a:srgbClr val="146C78"/>
                </a:solidFill>
                <a:latin typeface="Arial"/>
                <a:ea typeface="Arial"/>
                <a:cs typeface="Arial"/>
              </a:rPr>
              <a:t>les contrôles</a:t>
            </a:r>
          </a:p>
        </p:txBody>
      </p:sp>
    </p:spTree>
    <p:extLst>
      <p:ext uri="{BB962C8B-B14F-4D97-AF65-F5344CB8AC3E}">
        <p14:creationId xmlns:p14="http://schemas.microsoft.com/office/powerpoint/2010/main" val="986453412"/>
      </p:ext>
    </p:extLst>
  </p:cSld>
</p:sld>
</file>

<file path=ppt/slides/slide1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AD586C-E69E-4BD7-9305-AE46EC656ADD}"/>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Anthropic et le choix des modèles</a:t>
            </a:r>
          </a:p>
        </p:txBody>
      </p:sp>
      <p:sp>
        <p:nvSpPr>
          <p:cNvPr id="2" name="">
            <a:extLst xmlns:a="http://schemas.openxmlformats.org/drawingml/2006/main">
              <a:ext uri="{FF2B5EF4-FFF2-40B4-BE49-F238E27FC236}">
                <a16:creationId xmlns:a16="http://schemas.microsoft.com/office/drawing/2014/main" id="{AC48E5DE-19A9-47FF-ACA6-BBFD001ABE09}"/>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DD74678F-D44E-4351-A265-1472696F8D4A}"/>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Les modèles expliquent les résultats des outils. Les certificats restent déterministes.</a:t>
            </a:r>
          </a:p>
        </p:txBody>
      </p:sp>
      <p:graphicFrame>
        <p:nvGraphicFramePr>
          <p:cNvPr id="4" name="">
            <a:extLst xmlns:a="http://schemas.openxmlformats.org/drawingml/2006/main">
              <a:ext uri="{FF2B5EF4-FFF2-40B4-BE49-F238E27FC236}">
                <a16:creationId xmlns:a16="http://schemas.microsoft.com/office/drawing/2014/main" id="{634E40CF-988F-46E0-8BF8-1DC0AED89D31}"/>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476500"/>
                <a:gridCol w="3143250"/>
                <a:gridCol w="5353050"/>
              </a:tblGrid>
              <a:tr h="457200">
                <a:tc>
                  <a:txBody>
                    <a:bodyPr/>
                    <a:lstStyle/>
                    <a:p>
                      <a:r>
                        <a:rPr sz="1725" b="1">
                          <a:solidFill>
                            <a:srgbClr val="FFFFFF"/>
                          </a:solidFill>
                          <a:latin typeface="Arial"/>
                          <a:ea typeface="Arial"/>
                          <a:cs typeface="Arial"/>
                        </a:rPr>
                        <a:t>FAMILLE</a:t>
                      </a:r>
                    </a:p>
                  </a:txBody>
                  <a:tcPr marL="91440" marR="91440" marT="45720" marB="45720">
                    <a:solidFill>
                      <a:srgbClr val="173039"/>
                    </a:solidFill>
                  </a:tcPr>
                </a:tc>
                <a:tc>
                  <a:txBody>
                    <a:bodyPr/>
                    <a:lstStyle/>
                    <a:p>
                      <a:r>
                        <a:rPr sz="1725" b="1">
                          <a:solidFill>
                            <a:srgbClr val="FFFFFF"/>
                          </a:solidFill>
                          <a:latin typeface="Arial"/>
                          <a:ea typeface="Arial"/>
                          <a:cs typeface="Arial"/>
                        </a:rPr>
                        <a:t>RÔLES</a:t>
                      </a:r>
                    </a:p>
                  </a:txBody>
                  <a:tcPr marL="91440" marR="91440" marT="45720" marB="45720">
                    <a:solidFill>
                      <a:srgbClr val="173039"/>
                    </a:solidFill>
                  </a:tcPr>
                </a:tc>
                <a:tc>
                  <a:txBody>
                    <a:bodyPr/>
                    <a:lstStyle/>
                    <a:p>
                      <a:r>
                        <a:rPr sz="1725" b="1">
                          <a:solidFill>
                            <a:srgbClr val="FFFFFF"/>
                          </a:solidFill>
                          <a:latin typeface="Arial"/>
                          <a:ea typeface="Arial"/>
                          <a:cs typeface="Arial"/>
                        </a:rPr>
                        <a:t>UTILISATION</a:t>
                      </a:r>
                    </a:p>
                  </a:txBody>
                  <a:tcPr marL="91440" marR="91440" marT="45720" marB="45720">
                    <a:solidFill>
                      <a:srgbClr val="173039"/>
                    </a:solidFill>
                  </a:tcPr>
                </a:tc>
              </a:tr>
              <a:tr h="1149350">
                <a:tc>
                  <a:txBody>
                    <a:bodyPr/>
                    <a:lstStyle/>
                    <a:p>
                      <a:r>
                        <a:rPr sz="1725" b="1">
                          <a:solidFill>
                            <a:srgbClr val="173039"/>
                          </a:solidFill>
                          <a:latin typeface="Arial"/>
                          <a:ea typeface="Arial"/>
                          <a:cs typeface="Arial"/>
                        </a:rPr>
                        <a:t>Haiku</a:t>
                      </a:r>
                    </a:p>
                  </a:txBody>
                  <a:tcPr marL="91440" marR="91440" marT="45720" marB="45720">
                    <a:solidFill>
                      <a:srgbClr val="FFFFFF"/>
                    </a:solidFill>
                  </a:tcPr>
                </a:tc>
                <a:tc>
                  <a:txBody>
                    <a:bodyPr/>
                    <a:lstStyle/>
                    <a:p>
                      <a:r>
                        <a:rPr sz="1725" b="0">
                          <a:solidFill>
                            <a:srgbClr val="173039"/>
                          </a:solidFill>
                          <a:latin typeface="Arial"/>
                          <a:ea typeface="Arial"/>
                          <a:cs typeface="Arial"/>
                        </a:rPr>
                        <a:t>Trafic, exceptions</a:t>
                      </a:r>
                    </a:p>
                  </a:txBody>
                  <a:tcPr marL="91440" marR="91440" marT="45720" marB="45720">
                    <a:solidFill>
                      <a:srgbClr val="FFFFFF"/>
                    </a:solidFill>
                  </a:tcPr>
                </a:tc>
                <a:tc>
                  <a:txBody>
                    <a:bodyPr/>
                    <a:lstStyle/>
                    <a:p>
                      <a:r>
                        <a:rPr sz="1725" b="0">
                          <a:solidFill>
                            <a:srgbClr val="173039"/>
                          </a:solidFill>
                          <a:latin typeface="Arial"/>
                          <a:ea typeface="Arial"/>
                          <a:cs typeface="Arial"/>
                        </a:rPr>
                        <a:t>Explications bornées de données ou diagnostics</a:t>
                      </a:r>
                    </a:p>
                  </a:txBody>
                  <a:tcPr marL="91440" marR="91440" marT="45720" marB="45720">
                    <a:solidFill>
                      <a:srgbClr val="FFFFFF"/>
                    </a:solidFill>
                  </a:tcPr>
                </a:tc>
              </a:tr>
              <a:tr h="1149350">
                <a:tc>
                  <a:txBody>
                    <a:bodyPr/>
                    <a:lstStyle/>
                    <a:p>
                      <a:r>
                        <a:rPr sz="1725" b="1">
                          <a:solidFill>
                            <a:srgbClr val="173039"/>
                          </a:solidFill>
                          <a:latin typeface="Arial"/>
                          <a:ea typeface="Arial"/>
                          <a:cs typeface="Arial"/>
                        </a:rPr>
                        <a:t>Sonnet</a:t>
                      </a:r>
                    </a:p>
                  </a:txBody>
                  <a:tcPr marL="91440" marR="91440" marT="45720" marB="45720">
                    <a:solidFill>
                      <a:srgbClr val="EAF0F1"/>
                    </a:solidFill>
                  </a:tcPr>
                </a:tc>
                <a:tc>
                  <a:txBody>
                    <a:bodyPr/>
                    <a:lstStyle/>
                    <a:p>
                      <a:r>
                        <a:rPr sz="1725" b="0">
                          <a:solidFill>
                            <a:srgbClr val="173039"/>
                          </a:solidFill>
                          <a:latin typeface="Arial"/>
                          <a:ea typeface="Arial"/>
                          <a:cs typeface="Arial"/>
                        </a:rPr>
                        <a:t>Planification, optimisation</a:t>
                      </a:r>
                    </a:p>
                  </a:txBody>
                  <a:tcPr marL="91440" marR="91440" marT="45720" marB="45720">
                    <a:solidFill>
                      <a:srgbClr val="EAF0F1"/>
                    </a:solidFill>
                  </a:tcPr>
                </a:tc>
                <a:tc>
                  <a:txBody>
                    <a:bodyPr/>
                    <a:lstStyle/>
                    <a:p>
                      <a:r>
                        <a:rPr sz="1725" b="0">
                          <a:solidFill>
                            <a:srgbClr val="173039"/>
                          </a:solidFill>
                          <a:latin typeface="Arial"/>
                          <a:ea typeface="Arial"/>
                          <a:cs typeface="Arial"/>
                        </a:rPr>
                        <a:t>Explications des contraintes et stratégies</a:t>
                      </a:r>
                    </a:p>
                  </a:txBody>
                  <a:tcPr marL="91440" marR="91440" marT="45720" marB="45720">
                    <a:solidFill>
                      <a:srgbClr val="EAF0F1"/>
                    </a:solidFill>
                  </a:tcPr>
                </a:tc>
              </a:tr>
              <a:tr h="1149350">
                <a:tc>
                  <a:txBody>
                    <a:bodyPr/>
                    <a:lstStyle/>
                    <a:p>
                      <a:r>
                        <a:rPr sz="1725" b="1">
                          <a:solidFill>
                            <a:srgbClr val="173039"/>
                          </a:solidFill>
                          <a:latin typeface="Arial"/>
                          <a:ea typeface="Arial"/>
                          <a:cs typeface="Arial"/>
                        </a:rPr>
                        <a:t>Opus</a:t>
                      </a:r>
                    </a:p>
                  </a:txBody>
                  <a:tcPr marL="91440" marR="91440" marT="45720" marB="45720">
                    <a:solidFill>
                      <a:srgbClr val="FFFFFF"/>
                    </a:solidFill>
                  </a:tcPr>
                </a:tc>
                <a:tc>
                  <a:txBody>
                    <a:bodyPr/>
                    <a:lstStyle/>
                    <a:p>
                      <a:r>
                        <a:rPr sz="1725" b="0">
                          <a:solidFill>
                            <a:srgbClr val="173039"/>
                          </a:solidFill>
                          <a:latin typeface="Arial"/>
                          <a:ea typeface="Arial"/>
                          <a:cs typeface="Arial"/>
                        </a:rPr>
                        <a:t>Contrôle</a:t>
                      </a:r>
                    </a:p>
                  </a:txBody>
                  <a:tcPr marL="91440" marR="91440" marT="45720" marB="45720">
                    <a:solidFill>
                      <a:srgbClr val="FFFFFF"/>
                    </a:solidFill>
                  </a:tcPr>
                </a:tc>
                <a:tc>
                  <a:txBody>
                    <a:bodyPr/>
                    <a:lstStyle/>
                    <a:p>
                      <a:r>
                        <a:rPr sz="1725" b="0">
                          <a:solidFill>
                            <a:srgbClr val="173039"/>
                          </a:solidFill>
                          <a:latin typeface="Arial"/>
                          <a:ea typeface="Arial"/>
                          <a:cs typeface="Arial"/>
                        </a:rPr>
                        <a:t>Synthèse des preuves et de leurs limites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06888910"/>
      </p:ext>
    </p:extLst>
  </p:cSld>
</p:sld>
</file>

<file path=ppt/slides/slide1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AB606AF-B335-436F-99E7-2DAB3779615B}"/>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données de la carte</a:t>
            </a:r>
          </a:p>
        </p:txBody>
      </p:sp>
      <p:sp>
        <p:nvSpPr>
          <p:cNvPr id="2" name="">
            <a:extLst xmlns:a="http://schemas.openxmlformats.org/drawingml/2006/main">
              <a:ext uri="{FF2B5EF4-FFF2-40B4-BE49-F238E27FC236}">
                <a16:creationId xmlns:a16="http://schemas.microsoft.com/office/drawing/2014/main" id="{167230CE-2CF8-4903-B600-A2A44835C823}"/>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212F1B80-988D-423B-8E88-73C49F32B37A}"/>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Les chantiers municipaux apportent du contexte. Aucun trafic instantané ni GPS conducteur.</a:t>
            </a:r>
          </a:p>
        </p:txBody>
      </p:sp>
      <p:sp>
        <p:nvSpPr>
          <p:cNvPr id="4" name="">
            <a:extLst xmlns:a="http://schemas.openxmlformats.org/drawingml/2006/main">
              <a:ext uri="{FF2B5EF4-FFF2-40B4-BE49-F238E27FC236}">
                <a16:creationId xmlns:a16="http://schemas.microsoft.com/office/drawing/2014/main" id="{143A7D82-C9B8-4CF7-8C57-A69DAB2BB52D}"/>
              </a:ext>
            </a:extLst>
          </p:cNvPr>
          <p:cNvSpPr>
            <a:spLocks xmlns:a="http://schemas.openxmlformats.org/drawingml/2006/main" noGrp="1"/>
          </p:cNvSpPr>
          <p:nvPr/>
        </p:nvSpPr>
        <p:spPr>
          <a:xfrm xmlns:a="http://schemas.openxmlformats.org/drawingml/2006/main">
            <a:off x="6096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EA291EB-7B33-41BA-8418-DFBF06FE8A54}"/>
              </a:ext>
            </a:extLst>
          </p:cNvPr>
          <p:cNvSpPr>
            <a:spLocks xmlns:a="http://schemas.openxmlformats.org/drawingml/2006/main" noGrp="1"/>
          </p:cNvSpPr>
          <p:nvPr/>
        </p:nvSpPr>
        <p:spPr>
          <a:xfrm xmlns:a="http://schemas.openxmlformats.org/drawingml/2006/main">
            <a:off x="6096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Photon</a:t>
            </a:r>
          </a:p>
        </p:txBody>
      </p:sp>
      <p:sp>
        <p:nvSpPr>
          <p:cNvPr id="6" name="">
            <a:extLst xmlns:a="http://schemas.openxmlformats.org/drawingml/2006/main">
              <a:ext uri="{FF2B5EF4-FFF2-40B4-BE49-F238E27FC236}">
                <a16:creationId xmlns:a16="http://schemas.microsoft.com/office/drawing/2014/main" id="{3262B7FB-E88C-47E3-8BBB-65156FD1EAC2}"/>
              </a:ext>
            </a:extLst>
          </p:cNvPr>
          <p:cNvSpPr>
            <a:spLocks xmlns:a="http://schemas.openxmlformats.org/drawingml/2006/main" noGrp="1"/>
          </p:cNvSpPr>
          <p:nvPr/>
        </p:nvSpPr>
        <p:spPr>
          <a:xfrm xmlns:a="http://schemas.openxmlformats.org/drawingml/2006/main">
            <a:off x="6096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Adresse et candidats géographiques</a:t>
            </a:r>
          </a:p>
        </p:txBody>
      </p:sp>
      <p:sp>
        <p:nvSpPr>
          <p:cNvPr id="7" name="">
            <a:extLst xmlns:a="http://schemas.openxmlformats.org/drawingml/2006/main">
              <a:ext uri="{FF2B5EF4-FFF2-40B4-BE49-F238E27FC236}">
                <a16:creationId xmlns:a16="http://schemas.microsoft.com/office/drawing/2014/main" id="{9D406331-2516-4493-A885-D00CDE242BAD}"/>
              </a:ext>
            </a:extLst>
          </p:cNvPr>
          <p:cNvSpPr>
            <a:spLocks xmlns:a="http://schemas.openxmlformats.org/drawingml/2006/main" noGrp="1"/>
          </p:cNvSpPr>
          <p:nvPr/>
        </p:nvSpPr>
        <p:spPr>
          <a:xfrm xmlns:a="http://schemas.openxmlformats.org/drawingml/2006/main">
            <a:off x="33909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01190FC-3E95-4278-8544-85FB691ACAC8}"/>
              </a:ext>
            </a:extLst>
          </p:cNvPr>
          <p:cNvSpPr>
            <a:spLocks xmlns:a="http://schemas.openxmlformats.org/drawingml/2006/main" noGrp="1"/>
          </p:cNvSpPr>
          <p:nvPr/>
        </p:nvSpPr>
        <p:spPr>
          <a:xfrm xmlns:a="http://schemas.openxmlformats.org/drawingml/2006/main">
            <a:off x="33909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OSRM</a:t>
            </a:r>
          </a:p>
        </p:txBody>
      </p:sp>
      <p:sp>
        <p:nvSpPr>
          <p:cNvPr id="9" name="">
            <a:extLst xmlns:a="http://schemas.openxmlformats.org/drawingml/2006/main">
              <a:ext uri="{FF2B5EF4-FFF2-40B4-BE49-F238E27FC236}">
                <a16:creationId xmlns:a16="http://schemas.microsoft.com/office/drawing/2014/main" id="{29AD4D2A-0540-4E88-9917-240AC7D91C34}"/>
              </a:ext>
            </a:extLst>
          </p:cNvPr>
          <p:cNvSpPr>
            <a:spLocks xmlns:a="http://schemas.openxmlformats.org/drawingml/2006/main" noGrp="1"/>
          </p:cNvSpPr>
          <p:nvPr/>
        </p:nvSpPr>
        <p:spPr>
          <a:xfrm xmlns:a="http://schemas.openxmlformats.org/drawingml/2006/main">
            <a:off x="33909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Matrice dirigée et géométrie de route</a:t>
            </a:r>
          </a:p>
        </p:txBody>
      </p:sp>
      <p:sp>
        <p:nvSpPr>
          <p:cNvPr id="10" name="">
            <a:extLst xmlns:a="http://schemas.openxmlformats.org/drawingml/2006/main">
              <a:ext uri="{FF2B5EF4-FFF2-40B4-BE49-F238E27FC236}">
                <a16:creationId xmlns:a16="http://schemas.microsoft.com/office/drawing/2014/main" id="{4E536E37-8082-45AA-948F-645614061210}"/>
              </a:ext>
            </a:extLst>
          </p:cNvPr>
          <p:cNvSpPr>
            <a:spLocks xmlns:a="http://schemas.openxmlformats.org/drawingml/2006/main" noGrp="1"/>
          </p:cNvSpPr>
          <p:nvPr/>
        </p:nvSpPr>
        <p:spPr>
          <a:xfrm xmlns:a="http://schemas.openxmlformats.org/drawingml/2006/main">
            <a:off x="61722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A832B28-BCA0-4547-901F-343479C3AF0F}"/>
              </a:ext>
            </a:extLst>
          </p:cNvPr>
          <p:cNvSpPr>
            <a:spLocks xmlns:a="http://schemas.openxmlformats.org/drawingml/2006/main" noGrp="1"/>
          </p:cNvSpPr>
          <p:nvPr/>
        </p:nvSpPr>
        <p:spPr>
          <a:xfrm xmlns:a="http://schemas.openxmlformats.org/drawingml/2006/main">
            <a:off x="61722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OpenFreeMap</a:t>
            </a:r>
          </a:p>
        </p:txBody>
      </p:sp>
      <p:sp>
        <p:nvSpPr>
          <p:cNvPr id="12" name="">
            <a:extLst xmlns:a="http://schemas.openxmlformats.org/drawingml/2006/main">
              <a:ext uri="{FF2B5EF4-FFF2-40B4-BE49-F238E27FC236}">
                <a16:creationId xmlns:a16="http://schemas.microsoft.com/office/drawing/2014/main" id="{B17F9ED8-C800-480C-81A7-6A3374CFAA9C}"/>
              </a:ext>
            </a:extLst>
          </p:cNvPr>
          <p:cNvSpPr>
            <a:spLocks xmlns:a="http://schemas.openxmlformats.org/drawingml/2006/main" noGrp="1"/>
          </p:cNvSpPr>
          <p:nvPr/>
        </p:nvSpPr>
        <p:spPr>
          <a:xfrm xmlns:a="http://schemas.openxmlformats.org/drawingml/2006/main">
            <a:off x="61722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Fond cartographique issu d’OpenStreetMap</a:t>
            </a:r>
          </a:p>
        </p:txBody>
      </p:sp>
      <p:sp>
        <p:nvSpPr>
          <p:cNvPr id="13" name="">
            <a:extLst xmlns:a="http://schemas.openxmlformats.org/drawingml/2006/main">
              <a:ext uri="{FF2B5EF4-FFF2-40B4-BE49-F238E27FC236}">
                <a16:creationId xmlns:a16="http://schemas.microsoft.com/office/drawing/2014/main" id="{45EF1A6F-2B22-4D7F-94FC-06934CD759E8}"/>
              </a:ext>
            </a:extLst>
          </p:cNvPr>
          <p:cNvSpPr>
            <a:spLocks xmlns:a="http://schemas.openxmlformats.org/drawingml/2006/main" noGrp="1"/>
          </p:cNvSpPr>
          <p:nvPr/>
        </p:nvSpPr>
        <p:spPr>
          <a:xfrm xmlns:a="http://schemas.openxmlformats.org/drawingml/2006/main">
            <a:off x="8953500" y="2047875"/>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700" b="1">
                <a:solidFill>
                  <a:srgbClr val="146C78"/>
                </a:solidFill>
                <a:latin typeface="Arial"/>
                <a:ea typeface="Arial"/>
                <a:cs typeface="Arial"/>
              </a:defRPr>
            </a:defPPr>
          </a:lstStyle>
          <a:p xmlns:a="http://schemas.openxmlformats.org/drawingml/2006/main">
            <a:pPr>
              <a:defRPr sz="5700" b="1">
                <a:solidFill>
                  <a:srgbClr val="146C78"/>
                </a:solidFill>
                <a:latin typeface="Arial"/>
                <a:ea typeface="Arial"/>
                <a:cs typeface="Arial"/>
              </a:defRPr>
            </a:pPr>
            <a:r>
              <a:rPr sz="5700"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E2180EA0-42A5-4333-8458-F51E492E3951}"/>
              </a:ext>
            </a:extLst>
          </p:cNvPr>
          <p:cNvSpPr>
            <a:spLocks xmlns:a="http://schemas.openxmlformats.org/drawingml/2006/main" noGrp="1"/>
          </p:cNvSpPr>
          <p:nvPr/>
        </p:nvSpPr>
        <p:spPr>
          <a:xfrm xmlns:a="http://schemas.openxmlformats.org/drawingml/2006/main">
            <a:off x="8953500" y="33147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039"/>
                </a:solidFill>
                <a:latin typeface="Arial"/>
                <a:ea typeface="Arial"/>
                <a:cs typeface="Arial"/>
              </a:defRPr>
            </a:defPPr>
          </a:lstStyle>
          <a:p xmlns:a="http://schemas.openxmlformats.org/drawingml/2006/main">
            <a:pPr>
              <a:defRPr sz="2175" b="1">
                <a:solidFill>
                  <a:srgbClr val="173039"/>
                </a:solidFill>
                <a:latin typeface="Arial"/>
                <a:ea typeface="Arial"/>
                <a:cs typeface="Arial"/>
              </a:defRPr>
            </a:pPr>
            <a:r>
              <a:rPr sz="2175" b="1">
                <a:solidFill>
                  <a:srgbClr val="173039"/>
                </a:solidFill>
                <a:latin typeface="Arial"/>
                <a:ea typeface="Arial"/>
                <a:cs typeface="Arial"/>
              </a:rPr>
              <a:t>MapLibre</a:t>
            </a:r>
          </a:p>
        </p:txBody>
      </p:sp>
      <p:sp>
        <p:nvSpPr>
          <p:cNvPr id="15" name="">
            <a:extLst xmlns:a="http://schemas.openxmlformats.org/drawingml/2006/main">
              <a:ext uri="{FF2B5EF4-FFF2-40B4-BE49-F238E27FC236}">
                <a16:creationId xmlns:a16="http://schemas.microsoft.com/office/drawing/2014/main" id="{9B1BB6D3-AA06-4345-AC20-40C9E8BB32BB}"/>
              </a:ext>
            </a:extLst>
          </p:cNvPr>
          <p:cNvSpPr>
            <a:spLocks xmlns:a="http://schemas.openxmlformats.org/drawingml/2006/main" noGrp="1"/>
          </p:cNvSpPr>
          <p:nvPr/>
        </p:nvSpPr>
        <p:spPr>
          <a:xfrm xmlns:a="http://schemas.openxmlformats.org/drawingml/2006/main">
            <a:off x="8953500" y="4048125"/>
            <a:ext cx="238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26870"/>
                </a:solidFill>
                <a:latin typeface="Arial"/>
                <a:ea typeface="Arial"/>
                <a:cs typeface="Arial"/>
              </a:defRPr>
            </a:defPPr>
          </a:lstStyle>
          <a:p xmlns:a="http://schemas.openxmlformats.org/drawingml/2006/main">
            <a:pPr>
              <a:defRPr sz="1950" b="0">
                <a:solidFill>
                  <a:srgbClr val="526870"/>
                </a:solidFill>
                <a:latin typeface="Arial"/>
                <a:ea typeface="Arial"/>
                <a:cs typeface="Arial"/>
              </a:defRPr>
            </a:pPr>
            <a:r>
              <a:rPr sz="1950" b="0">
                <a:solidFill>
                  <a:srgbClr val="526870"/>
                </a:solidFill>
                <a:latin typeface="Arial"/>
                <a:ea typeface="Arial"/>
                <a:cs typeface="Arial"/>
              </a:rPr>
              <a:t>Affichage, arrêts et position simulée</a:t>
            </a:r>
          </a:p>
        </p:txBody>
      </p:sp>
    </p:spTree>
    <p:extLst>
      <p:ext uri="{BB962C8B-B14F-4D97-AF65-F5344CB8AC3E}">
        <p14:creationId xmlns:p14="http://schemas.microsoft.com/office/powerpoint/2010/main" val="1011160450"/>
      </p:ext>
    </p:extLst>
  </p:cSld>
</p:sld>
</file>

<file path=ppt/slides/slide14.xml><?xml version="1.0" encoding="utf-8"?>
<p:sld xmlns:p="http://schemas.openxmlformats.org/presentationml/2006/main">
  <p:cSld>
    <p:bg>
      <p:bgPr>
        <a:solidFill xmlns:a="http://schemas.openxmlformats.org/drawingml/2006/main">
          <a:srgbClr val="F1E9D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1B40BC2-7DFF-481B-8421-A693C1BE78C1}"/>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Un véhicule ou plusieurs</a:t>
            </a:r>
          </a:p>
        </p:txBody>
      </p:sp>
      <p:sp>
        <p:nvSpPr>
          <p:cNvPr id="2" name="">
            <a:extLst xmlns:a="http://schemas.openxmlformats.org/drawingml/2006/main">
              <a:ext uri="{FF2B5EF4-FFF2-40B4-BE49-F238E27FC236}">
                <a16:creationId xmlns:a16="http://schemas.microsoft.com/office/drawing/2014/main" id="{1A4FC400-A4BB-48E9-9010-9119B96D5B3B}"/>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719BF55D-1D4C-40F3-899B-023CAFFBBEA8}"/>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OR-Tools compare coût, durée et contraintes sur la même mission.</a:t>
            </a:r>
          </a:p>
        </p:txBody>
      </p:sp>
      <p:sp>
        <p:nvSpPr>
          <p:cNvPr id="4" name="">
            <a:extLst xmlns:a="http://schemas.openxmlformats.org/drawingml/2006/main">
              <a:ext uri="{FF2B5EF4-FFF2-40B4-BE49-F238E27FC236}">
                <a16:creationId xmlns:a16="http://schemas.microsoft.com/office/drawing/2014/main" id="{ECABA982-528E-4425-9CCF-040FE9DF7866}"/>
              </a:ext>
            </a:extLst>
          </p:cNvPr>
          <p:cNvSpPr>
            <a:spLocks xmlns:a="http://schemas.openxmlformats.org/drawingml/2006/main" noGrp="1"/>
          </p:cNvSpPr>
          <p:nvPr/>
        </p:nvSpPr>
        <p:spPr>
          <a:xfrm xmlns:a="http://schemas.openxmlformats.org/drawingml/2006/main">
            <a:off x="609600" y="2000250"/>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925E27"/>
                </a:solidFill>
                <a:latin typeface="Arial"/>
                <a:ea typeface="Arial"/>
                <a:cs typeface="Arial"/>
              </a:defRPr>
            </a:defPPr>
          </a:lstStyle>
          <a:p xmlns:a="http://schemas.openxmlformats.org/drawingml/2006/main">
            <a:pPr>
              <a:defRPr sz="6300" b="1">
                <a:solidFill>
                  <a:srgbClr val="925E27"/>
                </a:solidFill>
                <a:latin typeface="Arial"/>
                <a:ea typeface="Arial"/>
                <a:cs typeface="Arial"/>
              </a:defRPr>
            </a:pPr>
            <a:r>
              <a:rPr sz="6300" b="1">
                <a:solidFill>
                  <a:srgbClr val="925E27"/>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296EDA05-2EBC-4A05-9D0C-AC22D1EC0158}"/>
              </a:ext>
            </a:extLst>
          </p:cNvPr>
          <p:cNvSpPr>
            <a:spLocks xmlns:a="http://schemas.openxmlformats.org/drawingml/2006/main" noGrp="1"/>
          </p:cNvSpPr>
          <p:nvPr/>
        </p:nvSpPr>
        <p:spPr>
          <a:xfrm xmlns:a="http://schemas.openxmlformats.org/drawingml/2006/main">
            <a:off x="609600" y="33528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039"/>
                </a:solidFill>
                <a:latin typeface="Arial"/>
                <a:ea typeface="Arial"/>
                <a:cs typeface="Arial"/>
              </a:defRPr>
            </a:defPPr>
          </a:lstStyle>
          <a:p xmlns:a="http://schemas.openxmlformats.org/drawingml/2006/main">
            <a:pPr>
              <a:defRPr sz="2550" b="1">
                <a:solidFill>
                  <a:srgbClr val="173039"/>
                </a:solidFill>
                <a:latin typeface="Arial"/>
                <a:ea typeface="Arial"/>
                <a:cs typeface="Arial"/>
              </a:defRPr>
            </a:pPr>
            <a:r>
              <a:rPr sz="2550" b="1">
                <a:solidFill>
                  <a:srgbClr val="173039"/>
                </a:solidFill>
                <a:latin typeface="Arial"/>
                <a:ea typeface="Arial"/>
                <a:cs typeface="Arial"/>
              </a:rPr>
              <a:t>Partagée</a:t>
            </a:r>
          </a:p>
        </p:txBody>
      </p:sp>
      <p:sp>
        <p:nvSpPr>
          <p:cNvPr id="6" name="">
            <a:extLst xmlns:a="http://schemas.openxmlformats.org/drawingml/2006/main">
              <a:ext uri="{FF2B5EF4-FFF2-40B4-BE49-F238E27FC236}">
                <a16:creationId xmlns:a16="http://schemas.microsoft.com/office/drawing/2014/main" id="{683E81F1-D5A4-42BD-AE5C-94E25534C863}"/>
              </a:ext>
            </a:extLst>
          </p:cNvPr>
          <p:cNvSpPr>
            <a:spLocks xmlns:a="http://schemas.openxmlformats.org/drawingml/2006/main" noGrp="1"/>
          </p:cNvSpPr>
          <p:nvPr/>
        </p:nvSpPr>
        <p:spPr>
          <a:xfrm xmlns:a="http://schemas.openxmlformats.org/drawingml/2006/main">
            <a:off x="609600" y="4143375"/>
            <a:ext cx="3276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870"/>
                </a:solidFill>
                <a:latin typeface="Arial"/>
                <a:ea typeface="Arial"/>
                <a:cs typeface="Arial"/>
              </a:defRPr>
            </a:defPPr>
          </a:lstStyle>
          <a:p xmlns:a="http://schemas.openxmlformats.org/drawingml/2006/main">
            <a:pPr>
              <a:defRPr sz="2100" b="0">
                <a:solidFill>
                  <a:srgbClr val="526870"/>
                </a:solidFill>
                <a:latin typeface="Arial"/>
                <a:ea typeface="Arial"/>
                <a:cs typeface="Arial"/>
              </a:defRPr>
            </a:pPr>
            <a:r>
              <a:rPr sz="2100" b="0">
                <a:solidFill>
                  <a:srgbClr val="526870"/>
                </a:solidFill>
                <a:latin typeface="Arial"/>
                <a:ea typeface="Arial"/>
                <a:cs typeface="Arial"/>
              </a:rPr>
              <a:t>Un véhicule dessert plusieurs ramassages et dépôts.</a:t>
            </a:r>
          </a:p>
        </p:txBody>
      </p:sp>
      <p:sp>
        <p:nvSpPr>
          <p:cNvPr id="7" name="">
            <a:extLst xmlns:a="http://schemas.openxmlformats.org/drawingml/2006/main">
              <a:ext uri="{FF2B5EF4-FFF2-40B4-BE49-F238E27FC236}">
                <a16:creationId xmlns:a16="http://schemas.microsoft.com/office/drawing/2014/main" id="{CB50D831-2DE7-4FE7-94AE-DB525A96FA45}"/>
              </a:ext>
            </a:extLst>
          </p:cNvPr>
          <p:cNvSpPr>
            <a:spLocks xmlns:a="http://schemas.openxmlformats.org/drawingml/2006/main" noGrp="1"/>
          </p:cNvSpPr>
          <p:nvPr/>
        </p:nvSpPr>
        <p:spPr>
          <a:xfrm xmlns:a="http://schemas.openxmlformats.org/drawingml/2006/main">
            <a:off x="4381500" y="2000250"/>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925E27"/>
                </a:solidFill>
                <a:latin typeface="Arial"/>
                <a:ea typeface="Arial"/>
                <a:cs typeface="Arial"/>
              </a:defRPr>
            </a:defPPr>
          </a:lstStyle>
          <a:p xmlns:a="http://schemas.openxmlformats.org/drawingml/2006/main">
            <a:pPr>
              <a:defRPr sz="6300" b="1">
                <a:solidFill>
                  <a:srgbClr val="925E27"/>
                </a:solidFill>
                <a:latin typeface="Arial"/>
                <a:ea typeface="Arial"/>
                <a:cs typeface="Arial"/>
              </a:defRPr>
            </a:pPr>
            <a:r>
              <a:rPr sz="6300" b="1">
                <a:solidFill>
                  <a:srgbClr val="925E27"/>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98A8F44F-CD50-4BC2-A62E-71A20A58E4C3}"/>
              </a:ext>
            </a:extLst>
          </p:cNvPr>
          <p:cNvSpPr>
            <a:spLocks xmlns:a="http://schemas.openxmlformats.org/drawingml/2006/main" noGrp="1"/>
          </p:cNvSpPr>
          <p:nvPr/>
        </p:nvSpPr>
        <p:spPr>
          <a:xfrm xmlns:a="http://schemas.openxmlformats.org/drawingml/2006/main">
            <a:off x="4381500" y="33528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039"/>
                </a:solidFill>
                <a:latin typeface="Arial"/>
                <a:ea typeface="Arial"/>
                <a:cs typeface="Arial"/>
              </a:defRPr>
            </a:defPPr>
          </a:lstStyle>
          <a:p xmlns:a="http://schemas.openxmlformats.org/drawingml/2006/main">
            <a:pPr>
              <a:defRPr sz="2550" b="1">
                <a:solidFill>
                  <a:srgbClr val="173039"/>
                </a:solidFill>
                <a:latin typeface="Arial"/>
                <a:ea typeface="Arial"/>
                <a:cs typeface="Arial"/>
              </a:defRPr>
            </a:pPr>
            <a:r>
              <a:rPr sz="2550" b="1">
                <a:solidFill>
                  <a:srgbClr val="173039"/>
                </a:solidFill>
                <a:latin typeface="Arial"/>
                <a:ea typeface="Arial"/>
                <a:cs typeface="Arial"/>
              </a:rPr>
              <a:t>Séparée</a:t>
            </a:r>
          </a:p>
        </p:txBody>
      </p:sp>
      <p:sp>
        <p:nvSpPr>
          <p:cNvPr id="9" name="">
            <a:extLst xmlns:a="http://schemas.openxmlformats.org/drawingml/2006/main">
              <a:ext uri="{FF2B5EF4-FFF2-40B4-BE49-F238E27FC236}">
                <a16:creationId xmlns:a16="http://schemas.microsoft.com/office/drawing/2014/main" id="{7A721A2D-4DFA-454F-9302-1510A7331EF1}"/>
              </a:ext>
            </a:extLst>
          </p:cNvPr>
          <p:cNvSpPr>
            <a:spLocks xmlns:a="http://schemas.openxmlformats.org/drawingml/2006/main" noGrp="1"/>
          </p:cNvSpPr>
          <p:nvPr/>
        </p:nvSpPr>
        <p:spPr>
          <a:xfrm xmlns:a="http://schemas.openxmlformats.org/drawingml/2006/main">
            <a:off x="4381500" y="4143375"/>
            <a:ext cx="3276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870"/>
                </a:solidFill>
                <a:latin typeface="Arial"/>
                <a:ea typeface="Arial"/>
                <a:cs typeface="Arial"/>
              </a:defRPr>
            </a:defPPr>
          </a:lstStyle>
          <a:p xmlns:a="http://schemas.openxmlformats.org/drawingml/2006/main">
            <a:pPr>
              <a:defRPr sz="2100" b="0">
                <a:solidFill>
                  <a:srgbClr val="526870"/>
                </a:solidFill>
                <a:latin typeface="Arial"/>
                <a:ea typeface="Arial"/>
                <a:cs typeface="Arial"/>
              </a:defRPr>
            </a:pPr>
            <a:r>
              <a:rPr sz="2100" b="0">
                <a:solidFill>
                  <a:srgbClr val="526870"/>
                </a:solidFill>
                <a:latin typeface="Arial"/>
                <a:ea typeface="Arial"/>
                <a:cs typeface="Arial"/>
              </a:rPr>
              <a:t>Des véhicules distincts prennent les livraisons.</a:t>
            </a:r>
          </a:p>
        </p:txBody>
      </p:sp>
      <p:sp>
        <p:nvSpPr>
          <p:cNvPr id="10" name="">
            <a:extLst xmlns:a="http://schemas.openxmlformats.org/drawingml/2006/main">
              <a:ext uri="{FF2B5EF4-FFF2-40B4-BE49-F238E27FC236}">
                <a16:creationId xmlns:a16="http://schemas.microsoft.com/office/drawing/2014/main" id="{D28534A1-1EA0-4C0D-9CDA-5DF1B7614A73}"/>
              </a:ext>
            </a:extLst>
          </p:cNvPr>
          <p:cNvSpPr>
            <a:spLocks xmlns:a="http://schemas.openxmlformats.org/drawingml/2006/main" noGrp="1"/>
          </p:cNvSpPr>
          <p:nvPr/>
        </p:nvSpPr>
        <p:spPr>
          <a:xfrm xmlns:a="http://schemas.openxmlformats.org/drawingml/2006/main">
            <a:off x="8153400" y="2000250"/>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300" b="1">
                <a:solidFill>
                  <a:srgbClr val="925E27"/>
                </a:solidFill>
                <a:latin typeface="Arial"/>
                <a:ea typeface="Arial"/>
                <a:cs typeface="Arial"/>
              </a:defRPr>
            </a:defPPr>
          </a:lstStyle>
          <a:p xmlns:a="http://schemas.openxmlformats.org/drawingml/2006/main">
            <a:pPr>
              <a:defRPr sz="6300" b="1">
                <a:solidFill>
                  <a:srgbClr val="925E27"/>
                </a:solidFill>
                <a:latin typeface="Arial"/>
                <a:ea typeface="Arial"/>
                <a:cs typeface="Arial"/>
              </a:defRPr>
            </a:pPr>
            <a:r>
              <a:rPr sz="6300" b="1">
                <a:solidFill>
                  <a:srgbClr val="925E27"/>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6821CCE9-2F8B-463B-BD68-D89EDDCCA3BA}"/>
              </a:ext>
            </a:extLst>
          </p:cNvPr>
          <p:cNvSpPr>
            <a:spLocks xmlns:a="http://schemas.openxmlformats.org/drawingml/2006/main" noGrp="1"/>
          </p:cNvSpPr>
          <p:nvPr/>
        </p:nvSpPr>
        <p:spPr>
          <a:xfrm xmlns:a="http://schemas.openxmlformats.org/drawingml/2006/main">
            <a:off x="8153400" y="33528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039"/>
                </a:solidFill>
                <a:latin typeface="Arial"/>
                <a:ea typeface="Arial"/>
                <a:cs typeface="Arial"/>
              </a:defRPr>
            </a:defPPr>
          </a:lstStyle>
          <a:p xmlns:a="http://schemas.openxmlformats.org/drawingml/2006/main">
            <a:pPr>
              <a:defRPr sz="2550" b="1">
                <a:solidFill>
                  <a:srgbClr val="173039"/>
                </a:solidFill>
                <a:latin typeface="Arial"/>
                <a:ea typeface="Arial"/>
                <a:cs typeface="Arial"/>
              </a:defRPr>
            </a:pPr>
            <a:r>
              <a:rPr sz="2550" b="1">
                <a:solidFill>
                  <a:srgbClr val="173039"/>
                </a:solidFill>
                <a:latin typeface="Arial"/>
                <a:ea typeface="Arial"/>
                <a:cs typeface="Arial"/>
              </a:rPr>
              <a:t>Hybride</a:t>
            </a:r>
          </a:p>
        </p:txBody>
      </p:sp>
      <p:sp>
        <p:nvSpPr>
          <p:cNvPr id="12" name="">
            <a:extLst xmlns:a="http://schemas.openxmlformats.org/drawingml/2006/main">
              <a:ext uri="{FF2B5EF4-FFF2-40B4-BE49-F238E27FC236}">
                <a16:creationId xmlns:a16="http://schemas.microsoft.com/office/drawing/2014/main" id="{CA7A638D-869F-47C3-99A9-86CBDBE03A89}"/>
              </a:ext>
            </a:extLst>
          </p:cNvPr>
          <p:cNvSpPr>
            <a:spLocks xmlns:a="http://schemas.openxmlformats.org/drawingml/2006/main" noGrp="1"/>
          </p:cNvSpPr>
          <p:nvPr/>
        </p:nvSpPr>
        <p:spPr>
          <a:xfrm xmlns:a="http://schemas.openxmlformats.org/drawingml/2006/main">
            <a:off x="8153400" y="4143375"/>
            <a:ext cx="32766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526870"/>
                </a:solidFill>
                <a:latin typeface="Arial"/>
                <a:ea typeface="Arial"/>
                <a:cs typeface="Arial"/>
              </a:defRPr>
            </a:defPPr>
          </a:lstStyle>
          <a:p xmlns:a="http://schemas.openxmlformats.org/drawingml/2006/main">
            <a:pPr>
              <a:defRPr sz="2100" b="0">
                <a:solidFill>
                  <a:srgbClr val="526870"/>
                </a:solidFill>
                <a:latin typeface="Arial"/>
                <a:ea typeface="Arial"/>
                <a:cs typeface="Arial"/>
              </a:defRPr>
            </a:pPr>
            <a:r>
              <a:rPr sz="2100" b="0">
                <a:solidFill>
                  <a:srgbClr val="526870"/>
                </a:solidFill>
                <a:latin typeface="Arial"/>
                <a:ea typeface="Arial"/>
                <a:cs typeface="Arial"/>
              </a:rPr>
              <a:t>Le solveur combine les regroupements admissibles.</a:t>
            </a:r>
          </a:p>
        </p:txBody>
      </p:sp>
    </p:spTree>
    <p:extLst>
      <p:ext uri="{BB962C8B-B14F-4D97-AF65-F5344CB8AC3E}">
        <p14:creationId xmlns:p14="http://schemas.microsoft.com/office/powerpoint/2010/main" val="1192041592"/>
      </p:ext>
    </p:extLst>
  </p:cSld>
</p:sld>
</file>

<file path=ppt/slides/slide15.xml><?xml version="1.0" encoding="utf-8"?>
<p:sld xmlns:p="http://schemas.openxmlformats.org/presentationml/2006/main">
  <p:cSld>
    <p:bg>
      <p:bgPr>
        <a:solidFill xmlns:a="http://schemas.openxmlformats.org/drawingml/2006/main">
          <a:srgbClr val="17303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F8A490-D3EE-41B5-9AC2-B21920616254}"/>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Le certificat indépendant</a:t>
            </a:r>
          </a:p>
        </p:txBody>
      </p:sp>
      <p:sp>
        <p:nvSpPr>
          <p:cNvPr id="2" name="">
            <a:extLst xmlns:a="http://schemas.openxmlformats.org/drawingml/2006/main">
              <a:ext uri="{FF2B5EF4-FFF2-40B4-BE49-F238E27FC236}">
                <a16:creationId xmlns:a16="http://schemas.microsoft.com/office/drawing/2014/main" id="{9CDF4D78-42CB-4DDA-B84A-679D656E6A4D}"/>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5DED7"/>
                </a:solidFill>
                <a:latin typeface="Arial"/>
                <a:ea typeface="Arial"/>
                <a:cs typeface="Arial"/>
              </a:defRPr>
            </a:defPPr>
          </a:lstStyle>
          <a:p xmlns:a="http://schemas.openxmlformats.org/drawingml/2006/main">
            <a:pPr>
              <a:defRPr sz="1125" b="0">
                <a:solidFill>
                  <a:srgbClr val="B5DED7"/>
                </a:solidFill>
                <a:latin typeface="Arial"/>
                <a:ea typeface="Arial"/>
                <a:cs typeface="Arial"/>
              </a:defRPr>
            </a:pPr>
            <a:r>
              <a:rPr sz="1125" b="0">
                <a:solidFill>
                  <a:srgbClr val="B5DED7"/>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B3A59BF9-1AF3-44DD-A047-30F6A2242CA8}"/>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B5DED7"/>
                </a:solidFill>
                <a:latin typeface="Arial"/>
                <a:ea typeface="Arial"/>
                <a:cs typeface="Arial"/>
              </a:defRPr>
            </a:defPPr>
          </a:lstStyle>
          <a:p xmlns:a="http://schemas.openxmlformats.org/drawingml/2006/main">
            <a:pPr>
              <a:defRPr sz="1425" b="0">
                <a:solidFill>
                  <a:srgbClr val="B5DED7"/>
                </a:solidFill>
                <a:latin typeface="Arial"/>
                <a:ea typeface="Arial"/>
                <a:cs typeface="Arial"/>
              </a:defRPr>
            </a:pPr>
            <a:r>
              <a:rPr sz="1425" b="0">
                <a:solidFill>
                  <a:srgbClr val="B5DED7"/>
                </a:solidFill>
                <a:latin typeface="Arial"/>
                <a:ea typeface="Arial"/>
                <a:cs typeface="Arial"/>
              </a:rPr>
              <a:t>Une géométrie trop lente, une flotte devenue occupée ou un plan altéré peut bloquer le départ.</a:t>
            </a:r>
          </a:p>
        </p:txBody>
      </p:sp>
      <p:sp>
        <p:nvSpPr>
          <p:cNvPr id="4" name="">
            <a:extLst xmlns:a="http://schemas.openxmlformats.org/drawingml/2006/main">
              <a:ext uri="{FF2B5EF4-FFF2-40B4-BE49-F238E27FC236}">
                <a16:creationId xmlns:a16="http://schemas.microsoft.com/office/drawing/2014/main" id="{0C35C2CF-F5B7-4276-971C-F0B3EF14A7FE}"/>
              </a:ext>
            </a:extLst>
          </p:cNvPr>
          <p:cNvSpPr>
            <a:spLocks xmlns:a="http://schemas.openxmlformats.org/drawingml/2006/main" noGrp="1"/>
          </p:cNvSpPr>
          <p:nvPr/>
        </p:nvSpPr>
        <p:spPr>
          <a:xfrm xmlns:a="http://schemas.openxmlformats.org/drawingml/2006/main">
            <a:off x="609600" y="19812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75" b="1">
                <a:solidFill>
                  <a:srgbClr val="FFFFFF"/>
                </a:solidFill>
                <a:latin typeface="Arial"/>
                <a:ea typeface="Arial"/>
                <a:cs typeface="Arial"/>
              </a:defRPr>
            </a:defPPr>
          </a:lstStyle>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Le calcul propose.</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Le contrôle recalcule.</a:t>
            </a:r>
          </a:p>
        </p:txBody>
      </p:sp>
      <p:sp>
        <p:nvSpPr>
          <p:cNvPr id="5" name="">
            <a:extLst xmlns:a="http://schemas.openxmlformats.org/drawingml/2006/main">
              <a:ext uri="{FF2B5EF4-FFF2-40B4-BE49-F238E27FC236}">
                <a16:creationId xmlns:a16="http://schemas.microsoft.com/office/drawing/2014/main" id="{3C4646AD-98DC-4574-827F-009A2769709B}"/>
              </a:ext>
            </a:extLst>
          </p:cNvPr>
          <p:cNvSpPr>
            <a:spLocks xmlns:a="http://schemas.openxmlformats.org/drawingml/2006/main" noGrp="1"/>
          </p:cNvSpPr>
          <p:nvPr/>
        </p:nvSpPr>
        <p:spPr>
          <a:xfrm xmlns:a="http://schemas.openxmlformats.org/drawingml/2006/main">
            <a:off x="609600" y="4429125"/>
            <a:ext cx="9906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B5DED7"/>
                </a:solidFill>
                <a:latin typeface="Arial"/>
                <a:ea typeface="Arial"/>
                <a:cs typeface="Arial"/>
              </a:defRPr>
            </a:defPPr>
          </a:lstStyle>
          <a:p xmlns:a="http://schemas.openxmlformats.org/drawingml/2006/main">
            <a:pPr>
              <a:defRPr sz="2325" b="0">
                <a:solidFill>
                  <a:srgbClr val="B5DED7"/>
                </a:solidFill>
                <a:latin typeface="Arial"/>
                <a:ea typeface="Arial"/>
                <a:cs typeface="Arial"/>
              </a:defRPr>
            </a:pPr>
            <a:r>
              <a:rPr sz="2325" b="0">
                <a:solidFill>
                  <a:srgbClr val="B5DED7"/>
                </a:solidFill>
                <a:latin typeface="Arial"/>
                <a:ea typeface="Arial"/>
                <a:cs typeface="Arial"/>
              </a:rPr>
              <a:t>Ordre des arrêts, capacité, temps et empreintes doivent rester cohérents jusqu’à l’admission.</a:t>
            </a:r>
          </a:p>
        </p:txBody>
      </p:sp>
    </p:spTree>
    <p:extLst>
      <p:ext uri="{BB962C8B-B14F-4D97-AF65-F5344CB8AC3E}">
        <p14:creationId xmlns:p14="http://schemas.microsoft.com/office/powerpoint/2010/main" val="321973968"/>
      </p:ext>
    </p:extLst>
  </p:cSld>
</p:sld>
</file>

<file path=ppt/slides/slide16.xml><?xml version="1.0" encoding="utf-8"?>
<p:sld xmlns:p="http://schemas.openxmlformats.org/presentationml/2006/main">
  <p:cSld>
    <p:bg>
      <p:bgPr>
        <a:solidFill xmlns:a="http://schemas.openxmlformats.org/drawingml/2006/main">
          <a:srgbClr val="F1E9D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CEDC7E4-597C-4A20-8257-6B5C57D5E86B}"/>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Une flotte locale configurable</a:t>
            </a:r>
          </a:p>
        </p:txBody>
      </p:sp>
      <p:sp>
        <p:nvSpPr>
          <p:cNvPr id="2" name="">
            <a:extLst xmlns:a="http://schemas.openxmlformats.org/drawingml/2006/main">
              <a:ext uri="{FF2B5EF4-FFF2-40B4-BE49-F238E27FC236}">
                <a16:creationId xmlns:a16="http://schemas.microsoft.com/office/drawing/2014/main" id="{BDF1D629-820F-435B-B142-B1FBEE12A111}"/>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DD09AD5A-B76A-48A2-97A2-A8996BBB94A9}"/>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Par défaut : quatre fourgonnettes de 40 colis. Administration authentifiée à construire.</a:t>
            </a:r>
          </a:p>
        </p:txBody>
      </p:sp>
      <p:sp>
        <p:nvSpPr>
          <p:cNvPr id="4" name="">
            <a:extLst xmlns:a="http://schemas.openxmlformats.org/drawingml/2006/main">
              <a:ext uri="{FF2B5EF4-FFF2-40B4-BE49-F238E27FC236}">
                <a16:creationId xmlns:a16="http://schemas.microsoft.com/office/drawing/2014/main" id="{AF5FA20C-4998-4893-A931-BB3CEB47B95E}"/>
              </a:ext>
            </a:extLst>
          </p:cNvPr>
          <p:cNvSpPr>
            <a:spLocks xmlns:a="http://schemas.openxmlformats.org/drawingml/2006/main" noGrp="1"/>
          </p:cNvSpPr>
          <p:nvPr/>
        </p:nvSpPr>
        <p:spPr>
          <a:xfrm xmlns:a="http://schemas.openxmlformats.org/drawingml/2006/main">
            <a:off x="609600" y="2057400"/>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700" b="1">
                <a:solidFill>
                  <a:srgbClr val="146C78"/>
                </a:solidFill>
                <a:latin typeface="Arial"/>
                <a:ea typeface="Arial"/>
                <a:cs typeface="Arial"/>
              </a:defRPr>
            </a:defPPr>
          </a:lstStyle>
          <a:p xmlns:a="http://schemas.openxmlformats.org/drawingml/2006/main">
            <a:pPr>
              <a:defRPr sz="11700" b="1">
                <a:solidFill>
                  <a:srgbClr val="146C78"/>
                </a:solidFill>
                <a:latin typeface="Arial"/>
                <a:ea typeface="Arial"/>
                <a:cs typeface="Arial"/>
              </a:defRPr>
            </a:pPr>
            <a:r>
              <a:rPr sz="11700" b="1">
                <a:solidFill>
                  <a:srgbClr val="146C78"/>
                </a:solidFill>
                <a:latin typeface="Arial"/>
                <a:ea typeface="Arial"/>
                <a:cs typeface="Arial"/>
              </a:rPr>
              <a:t>1–10</a:t>
            </a:r>
          </a:p>
        </p:txBody>
      </p:sp>
      <p:sp>
        <p:nvSpPr>
          <p:cNvPr id="5" name="">
            <a:extLst xmlns:a="http://schemas.openxmlformats.org/drawingml/2006/main">
              <a:ext uri="{FF2B5EF4-FFF2-40B4-BE49-F238E27FC236}">
                <a16:creationId xmlns:a16="http://schemas.microsoft.com/office/drawing/2014/main" id="{FB3994B6-FC83-4CA9-A58B-58930E45C860}"/>
              </a:ext>
            </a:extLst>
          </p:cNvPr>
          <p:cNvSpPr>
            <a:spLocks xmlns:a="http://schemas.openxmlformats.org/drawingml/2006/main" noGrp="1"/>
          </p:cNvSpPr>
          <p:nvPr/>
        </p:nvSpPr>
        <p:spPr>
          <a:xfrm xmlns:a="http://schemas.openxmlformats.org/drawingml/2006/main">
            <a:off x="666750" y="3962400"/>
            <a:ext cx="371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0">
                <a:solidFill>
                  <a:srgbClr val="173039"/>
                </a:solidFill>
                <a:latin typeface="Arial"/>
                <a:ea typeface="Arial"/>
                <a:cs typeface="Arial"/>
              </a:defRPr>
            </a:defPPr>
          </a:lstStyle>
          <a:p xmlns:a="http://schemas.openxmlformats.org/drawingml/2006/main">
            <a:pPr>
              <a:defRPr sz="3525" b="0">
                <a:solidFill>
                  <a:srgbClr val="173039"/>
                </a:solidFill>
                <a:latin typeface="Arial"/>
                <a:ea typeface="Arial"/>
                <a:cs typeface="Arial"/>
              </a:defRPr>
            </a:pPr>
            <a:r>
              <a:rPr sz="3525" b="0">
                <a:solidFill>
                  <a:srgbClr val="173039"/>
                </a:solidFill>
                <a:latin typeface="Arial"/>
                <a:ea typeface="Arial"/>
                <a:cs typeface="Arial"/>
              </a:rPr>
              <a:t>véhicules</a:t>
            </a:r>
          </a:p>
        </p:txBody>
      </p:sp>
      <p:sp>
        <p:nvSpPr>
          <p:cNvPr id="6" name="">
            <a:extLst xmlns:a="http://schemas.openxmlformats.org/drawingml/2006/main">
              <a:ext uri="{FF2B5EF4-FFF2-40B4-BE49-F238E27FC236}">
                <a16:creationId xmlns:a16="http://schemas.microsoft.com/office/drawing/2014/main" id="{59ADEFF0-4F65-4897-948C-3B381D612550}"/>
              </a:ext>
            </a:extLst>
          </p:cNvPr>
          <p:cNvSpPr>
            <a:spLocks xmlns:a="http://schemas.openxmlformats.org/drawingml/2006/main" noGrp="1"/>
          </p:cNvSpPr>
          <p:nvPr/>
        </p:nvSpPr>
        <p:spPr>
          <a:xfrm xmlns:a="http://schemas.openxmlformats.org/drawingml/2006/main">
            <a:off x="5334000" y="2028825"/>
            <a:ext cx="611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Capacité par véhicule</a:t>
            </a:r>
          </a:p>
        </p:txBody>
      </p:sp>
      <p:sp>
        <p:nvSpPr>
          <p:cNvPr id="7" name="">
            <a:extLst xmlns:a="http://schemas.openxmlformats.org/drawingml/2006/main">
              <a:ext uri="{FF2B5EF4-FFF2-40B4-BE49-F238E27FC236}">
                <a16:creationId xmlns:a16="http://schemas.microsoft.com/office/drawing/2014/main" id="{3B1596CC-771A-424C-B30F-22D6B3D8C730}"/>
              </a:ext>
            </a:extLst>
          </p:cNvPr>
          <p:cNvSpPr>
            <a:spLocks xmlns:a="http://schemas.openxmlformats.org/drawingml/2006/main" noGrp="1"/>
          </p:cNvSpPr>
          <p:nvPr/>
        </p:nvSpPr>
        <p:spPr>
          <a:xfrm xmlns:a="http://schemas.openxmlformats.org/drawingml/2006/main">
            <a:off x="5334000" y="2457450"/>
            <a:ext cx="611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De 1 à 40 colis, avec un identifiant stable et un nom lisible.</a:t>
            </a:r>
          </a:p>
        </p:txBody>
      </p:sp>
      <p:sp>
        <p:nvSpPr>
          <p:cNvPr id="8" name="">
            <a:extLst xmlns:a="http://schemas.openxmlformats.org/drawingml/2006/main">
              <a:ext uri="{FF2B5EF4-FFF2-40B4-BE49-F238E27FC236}">
                <a16:creationId xmlns:a16="http://schemas.microsoft.com/office/drawing/2014/main" id="{C96C7DEF-E5C7-4862-9E4D-7E7B414CF1FA}"/>
              </a:ext>
            </a:extLst>
          </p:cNvPr>
          <p:cNvSpPr>
            <a:spLocks xmlns:a="http://schemas.openxmlformats.org/drawingml/2006/main" noGrp="1"/>
          </p:cNvSpPr>
          <p:nvPr/>
        </p:nvSpPr>
        <p:spPr>
          <a:xfrm xmlns:a="http://schemas.openxmlformats.org/drawingml/2006/main">
            <a:off x="5334000" y="3257550"/>
            <a:ext cx="611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Même version partout</a:t>
            </a:r>
          </a:p>
        </p:txBody>
      </p:sp>
      <p:sp>
        <p:nvSpPr>
          <p:cNvPr id="9" name="">
            <a:extLst xmlns:a="http://schemas.openxmlformats.org/drawingml/2006/main">
              <a:ext uri="{FF2B5EF4-FFF2-40B4-BE49-F238E27FC236}">
                <a16:creationId xmlns:a16="http://schemas.microsoft.com/office/drawing/2014/main" id="{A5FA4E4E-B254-4D2C-A705-52B64BCE940B}"/>
              </a:ext>
            </a:extLst>
          </p:cNvPr>
          <p:cNvSpPr>
            <a:spLocks xmlns:a="http://schemas.openxmlformats.org/drawingml/2006/main" noGrp="1"/>
          </p:cNvSpPr>
          <p:nvPr/>
        </p:nvSpPr>
        <p:spPr>
          <a:xfrm xmlns:a="http://schemas.openxmlformats.org/drawingml/2006/main">
            <a:off x="5334000" y="3686175"/>
            <a:ext cx="611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API, worker, plan et admission vérifient l’empreinte de configuration.</a:t>
            </a:r>
          </a:p>
        </p:txBody>
      </p:sp>
      <p:sp>
        <p:nvSpPr>
          <p:cNvPr id="10" name="">
            <a:extLst xmlns:a="http://schemas.openxmlformats.org/drawingml/2006/main">
              <a:ext uri="{FF2B5EF4-FFF2-40B4-BE49-F238E27FC236}">
                <a16:creationId xmlns:a16="http://schemas.microsoft.com/office/drawing/2014/main" id="{BF8EABE7-B695-42A5-81CE-834C6C3F3305}"/>
              </a:ext>
            </a:extLst>
          </p:cNvPr>
          <p:cNvSpPr>
            <a:spLocks xmlns:a="http://schemas.openxmlformats.org/drawingml/2006/main" noGrp="1"/>
          </p:cNvSpPr>
          <p:nvPr/>
        </p:nvSpPr>
        <p:spPr>
          <a:xfrm xmlns:a="http://schemas.openxmlformats.org/drawingml/2006/main">
            <a:off x="5334000" y="4486275"/>
            <a:ext cx="611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Modification contrôlée</a:t>
            </a:r>
          </a:p>
        </p:txBody>
      </p:sp>
      <p:sp>
        <p:nvSpPr>
          <p:cNvPr id="11" name="">
            <a:extLst xmlns:a="http://schemas.openxmlformats.org/drawingml/2006/main">
              <a:ext uri="{FF2B5EF4-FFF2-40B4-BE49-F238E27FC236}">
                <a16:creationId xmlns:a16="http://schemas.microsoft.com/office/drawing/2014/main" id="{21E2D535-EB71-4F43-8AD7-180C821916DF}"/>
              </a:ext>
            </a:extLst>
          </p:cNvPr>
          <p:cNvSpPr>
            <a:spLocks xmlns:a="http://schemas.openxmlformats.org/drawingml/2006/main" noGrp="1"/>
          </p:cNvSpPr>
          <p:nvPr/>
        </p:nvSpPr>
        <p:spPr>
          <a:xfrm xmlns:a="http://schemas.openxmlformats.org/drawingml/2006/main">
            <a:off x="5334000" y="4914900"/>
            <a:ext cx="611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Réservations, missions en attente et cargaison peuvent bloquer le changement.</a:t>
            </a:r>
          </a:p>
        </p:txBody>
      </p:sp>
    </p:spTree>
    <p:extLst>
      <p:ext uri="{BB962C8B-B14F-4D97-AF65-F5344CB8AC3E}">
        <p14:creationId xmlns:p14="http://schemas.microsoft.com/office/powerpoint/2010/main" val="722349822"/>
      </p:ext>
    </p:extLst>
  </p:cSld>
</p:sld>
</file>

<file path=ppt/slides/slide1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962D0E-7439-4D8A-B01D-D739BCE06C54}"/>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Une tournée inspectable</a:t>
            </a:r>
          </a:p>
        </p:txBody>
      </p:sp>
      <p:sp>
        <p:nvSpPr>
          <p:cNvPr id="2" name="">
            <a:extLst xmlns:a="http://schemas.openxmlformats.org/drawingml/2006/main">
              <a:ext uri="{FF2B5EF4-FFF2-40B4-BE49-F238E27FC236}">
                <a16:creationId xmlns:a16="http://schemas.microsoft.com/office/drawing/2014/main" id="{6E8CFB80-B43C-4B07-9C4D-7145CB7E5B1F}"/>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E77FF81C-5328-4C6E-98B2-F5BFC4645CD4}"/>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Capture QA synthétique : deux commandes, quatre arrêts et sélection liée carte / détails.</a:t>
            </a:r>
          </a:p>
        </p:txBody>
      </p:sp>
      <p:sp>
        <p:nvSpPr>
          <p:cNvPr id="4" name="">
            <a:extLst xmlns:a="http://schemas.openxmlformats.org/drawingml/2006/main">
              <a:ext uri="{FF2B5EF4-FFF2-40B4-BE49-F238E27FC236}">
                <a16:creationId xmlns:a16="http://schemas.microsoft.com/office/drawing/2014/main" id="{D071A10A-A32D-4BE9-8B8B-DB2CFCE379D4}"/>
              </a:ext>
            </a:extLst>
          </p:cNvPr>
          <p:cNvSpPr>
            <a:spLocks xmlns:a="http://schemas.openxmlformats.org/drawingml/2006/main" noGrp="1"/>
          </p:cNvSpPr>
          <p:nvPr/>
        </p:nvSpPr>
        <p:spPr>
          <a:xfrm xmlns:a="http://schemas.openxmlformats.org/drawingml/2006/main">
            <a:off x="609600" y="2162175"/>
            <a:ext cx="314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146C78"/>
                </a:solidFill>
                <a:latin typeface="Arial"/>
                <a:ea typeface="Arial"/>
                <a:cs typeface="Arial"/>
              </a:defRPr>
            </a:defPPr>
          </a:lstStyle>
          <a:p xmlns:a="http://schemas.openxmlformats.org/drawingml/2006/main">
            <a:pPr>
              <a:defRPr sz="3150" b="1">
                <a:solidFill>
                  <a:srgbClr val="146C78"/>
                </a:solidFill>
                <a:latin typeface="Arial"/>
                <a:ea typeface="Arial"/>
                <a:cs typeface="Arial"/>
              </a:defRPr>
            </a:pPr>
            <a:r>
              <a:rPr sz="3150" b="1">
                <a:solidFill>
                  <a:srgbClr val="146C78"/>
                </a:solidFill>
                <a:latin typeface="Arial"/>
                <a:ea typeface="Arial"/>
                <a:cs typeface="Arial"/>
              </a:rPr>
              <a:t>Quatre arrêts.</a:t>
            </a:r>
          </a:p>
          <a:p xmlns:a="http://schemas.openxmlformats.org/drawingml/2006/main">
            <a:pPr>
              <a:defRPr sz="3150" b="1">
                <a:solidFill>
                  <a:srgbClr val="146C78"/>
                </a:solidFill>
                <a:latin typeface="Arial"/>
                <a:ea typeface="Arial"/>
                <a:cs typeface="Arial"/>
              </a:defRPr>
            </a:pPr>
            <a:r>
              <a:rPr sz="3150" b="1">
                <a:solidFill>
                  <a:srgbClr val="146C78"/>
                </a:solidFill>
                <a:latin typeface="Arial"/>
                <a:ea typeface="Arial"/>
                <a:cs typeface="Arial"/>
              </a:rPr>
              <a:t>Un certificat.</a:t>
            </a:r>
          </a:p>
        </p:txBody>
      </p:sp>
      <p:sp>
        <p:nvSpPr>
          <p:cNvPr id="5" name="">
            <a:extLst xmlns:a="http://schemas.openxmlformats.org/drawingml/2006/main">
              <a:ext uri="{FF2B5EF4-FFF2-40B4-BE49-F238E27FC236}">
                <a16:creationId xmlns:a16="http://schemas.microsoft.com/office/drawing/2014/main" id="{FD762B76-3E92-4A4E-B556-CFBCD4F8C598}"/>
              </a:ext>
            </a:extLst>
          </p:cNvPr>
          <p:cNvSpPr>
            <a:spLocks xmlns:a="http://schemas.openxmlformats.org/drawingml/2006/main" noGrp="1"/>
          </p:cNvSpPr>
          <p:nvPr/>
        </p:nvSpPr>
        <p:spPr>
          <a:xfrm xmlns:a="http://schemas.openxmlformats.org/drawingml/2006/main">
            <a:off x="609600" y="4086225"/>
            <a:ext cx="28765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6870"/>
                </a:solidFill>
                <a:latin typeface="Arial"/>
                <a:ea typeface="Arial"/>
                <a:cs typeface="Arial"/>
              </a:defRPr>
            </a:defPPr>
          </a:lstStyle>
          <a:p xmlns:a="http://schemas.openxmlformats.org/drawingml/2006/main">
            <a:pPr>
              <a:defRPr sz="2025" b="0">
                <a:solidFill>
                  <a:srgbClr val="526870"/>
                </a:solidFill>
                <a:latin typeface="Arial"/>
                <a:ea typeface="Arial"/>
                <a:cs typeface="Arial"/>
              </a:defRPr>
            </a:pPr>
            <a:r>
              <a:rPr sz="2025" b="0">
                <a:solidFill>
                  <a:srgbClr val="526870"/>
                </a:solidFill>
                <a:latin typeface="Arial"/>
                <a:ea typeface="Arial"/>
                <a:cs typeface="Arial"/>
              </a:rPr>
              <a:t>Le planning, le marqueur et la fiche montrent le même arrêt.</a:t>
            </a:r>
          </a:p>
        </p:txBody>
      </p:sp>
      <p:pic>
        <p:nvPicPr>
          <p:cNvPr id="6" name="">
            <a:extLst xmlns:a="http://schemas.openxmlformats.org/drawingml/2006/main">
              <a:ext uri="{FF2B5EF4-FFF2-40B4-BE49-F238E27FC236}">
                <a16:creationId xmlns:a16="http://schemas.microsoft.com/office/drawing/2014/main" id="{7E2C3D57-D9E9-4535-9179-E63358E97D4E}"/>
              </a:ext>
            </a:extLst>
          </p:cNvPr>
          <p:cNvPicPr>
            <a:picLocks xmlns:a="http://schemas.openxmlformats.org/drawingml/2006/main" noChangeAspect="1"/>
          </p:cNvPicPr>
          <p:nvPr/>
        </p:nvPicPr>
        <p:blipFill>
          <a:blip xmlns:r="http://schemas.openxmlformats.org/officeDocument/2006/relationships" xmlns:a="http://schemas.openxmlformats.org/drawingml/2006/main" r:embed="R241411341a1847d9"/>
          <a:stretch xmlns:a="http://schemas.openxmlformats.org/drawingml/2006/main"/>
        </p:blipFill>
        <p:spPr>
          <a:xfrm xmlns:a="http://schemas.openxmlformats.org/drawingml/2006/main">
            <a:off x="4652530" y="1609725"/>
            <a:ext cx="6087341" cy="4229100"/>
          </a:xfrm>
          <a:prstGeom xmlns:a="http://schemas.openxmlformats.org/drawingml/2006/main" prst="rect">
            <a:avLst/>
          </a:prstGeom>
        </p:spPr>
      </p:pic>
    </p:spTree>
    <p:extLst>
      <p:ext uri="{BB962C8B-B14F-4D97-AF65-F5344CB8AC3E}">
        <p14:creationId xmlns:p14="http://schemas.microsoft.com/office/powerpoint/2010/main" val="335652260"/>
      </p:ext>
    </p:extLst>
  </p:cSld>
</p:sld>
</file>

<file path=ppt/slides/slide1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02A1B5-C07A-4F6C-AF4D-F689CA422E2F}"/>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Mémoire des tournées usuelles</a:t>
            </a:r>
          </a:p>
        </p:txBody>
      </p:sp>
      <p:sp>
        <p:nvSpPr>
          <p:cNvPr id="2" name="">
            <a:extLst xmlns:a="http://schemas.openxmlformats.org/drawingml/2006/main">
              <a:ext uri="{FF2B5EF4-FFF2-40B4-BE49-F238E27FC236}">
                <a16:creationId xmlns:a16="http://schemas.microsoft.com/office/drawing/2014/main" id="{A6E3B214-0111-4126-9D37-4211425AECAD}"/>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8DCF0C10-ECAB-4388-8226-77909C365873}"/>
              </a:ext>
            </a:extLst>
          </p:cNvPr>
          <p:cNvSpPr>
            <a:spLocks xmlns:a="http://schemas.openxmlformats.org/drawingml/2006/main" noGrp="1"/>
          </p:cNvSpPr>
          <p:nvPr/>
        </p:nvSpPr>
        <p:spPr>
          <a:xfrm xmlns:a="http://schemas.openxmlformats.org/drawingml/2006/main">
            <a:off x="609600" y="2238375"/>
            <a:ext cx="3905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1">
                <a:solidFill>
                  <a:srgbClr val="146C78"/>
                </a:solidFill>
                <a:latin typeface="Arial"/>
                <a:ea typeface="Arial"/>
                <a:cs typeface="Arial"/>
              </a:defRPr>
            </a:defPPr>
          </a:lstStyle>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Réutiliser le contexte.</a:t>
            </a:r>
          </a:p>
          <a:p xmlns:a="http://schemas.openxmlformats.org/drawingml/2006/main">
            <a:pPr>
              <a:defRPr sz="3525" b="1">
                <a:solidFill>
                  <a:srgbClr val="146C78"/>
                </a:solidFill>
                <a:latin typeface="Arial"/>
                <a:ea typeface="Arial"/>
                <a:cs typeface="Arial"/>
              </a:defRPr>
            </a:pPr>
            <a:r>
              <a:rPr sz="3525" b="1">
                <a:solidFill>
                  <a:srgbClr val="146C78"/>
                </a:solidFill>
                <a:latin typeface="Arial"/>
                <a:ea typeface="Arial"/>
                <a:cs typeface="Arial"/>
              </a:rPr>
              <a:t>Revérifier le trajet.</a:t>
            </a:r>
          </a:p>
        </p:txBody>
      </p:sp>
      <p:sp>
        <p:nvSpPr>
          <p:cNvPr id="4" name="">
            <a:extLst xmlns:a="http://schemas.openxmlformats.org/drawingml/2006/main">
              <a:ext uri="{FF2B5EF4-FFF2-40B4-BE49-F238E27FC236}">
                <a16:creationId xmlns:a16="http://schemas.microsoft.com/office/drawing/2014/main" id="{D7AC4B62-0C37-451C-B9E5-F0216E84941B}"/>
              </a:ext>
            </a:extLst>
          </p:cNvPr>
          <p:cNvSpPr>
            <a:spLocks xmlns:a="http://schemas.openxmlformats.org/drawingml/2006/main" noGrp="1"/>
          </p:cNvSpPr>
          <p:nvPr/>
        </p:nvSpPr>
        <p:spPr>
          <a:xfrm xmlns:a="http://schemas.openxmlformats.org/drawingml/2006/main">
            <a:off x="5191125" y="19907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Retrouver</a:t>
            </a:r>
          </a:p>
        </p:txBody>
      </p:sp>
      <p:sp>
        <p:nvSpPr>
          <p:cNvPr id="5" name="">
            <a:extLst xmlns:a="http://schemas.openxmlformats.org/drawingml/2006/main">
              <a:ext uri="{FF2B5EF4-FFF2-40B4-BE49-F238E27FC236}">
                <a16:creationId xmlns:a16="http://schemas.microsoft.com/office/drawing/2014/main" id="{D16E4E0B-D1CF-42DF-9089-EC7677154A7C}"/>
              </a:ext>
            </a:extLst>
          </p:cNvPr>
          <p:cNvSpPr>
            <a:spLocks xmlns:a="http://schemas.openxmlformats.org/drawingml/2006/main" noGrp="1"/>
          </p:cNvSpPr>
          <p:nvPr/>
        </p:nvSpPr>
        <p:spPr>
          <a:xfrm xmlns:a="http://schemas.openxmlformats.org/drawingml/2006/main">
            <a:off x="5191125" y="24193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Rapprocher des missions terminées et leurs ordres de visite.</a:t>
            </a:r>
          </a:p>
        </p:txBody>
      </p:sp>
      <p:sp>
        <p:nvSpPr>
          <p:cNvPr id="6" name="">
            <a:extLst xmlns:a="http://schemas.openxmlformats.org/drawingml/2006/main">
              <a:ext uri="{FF2B5EF4-FFF2-40B4-BE49-F238E27FC236}">
                <a16:creationId xmlns:a16="http://schemas.microsoft.com/office/drawing/2014/main" id="{CB6A2EAF-D8EF-47AE-9BA0-E998963FCCA5}"/>
              </a:ext>
            </a:extLst>
          </p:cNvPr>
          <p:cNvSpPr>
            <a:spLocks xmlns:a="http://schemas.openxmlformats.org/drawingml/2006/main" noGrp="1"/>
          </p:cNvSpPr>
          <p:nvPr/>
        </p:nvSpPr>
        <p:spPr>
          <a:xfrm xmlns:a="http://schemas.openxmlformats.org/drawingml/2006/main">
            <a:off x="5191125" y="32099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Comparer</a:t>
            </a:r>
          </a:p>
        </p:txBody>
      </p:sp>
      <p:sp>
        <p:nvSpPr>
          <p:cNvPr id="7" name="">
            <a:extLst xmlns:a="http://schemas.openxmlformats.org/drawingml/2006/main">
              <a:ext uri="{FF2B5EF4-FFF2-40B4-BE49-F238E27FC236}">
                <a16:creationId xmlns:a16="http://schemas.microsoft.com/office/drawing/2014/main" id="{01E7C753-C7DD-4FDB-85E5-344B9849B846}"/>
              </a:ext>
            </a:extLst>
          </p:cNvPr>
          <p:cNvSpPr>
            <a:spLocks xmlns:a="http://schemas.openxmlformats.org/drawingml/2006/main" noGrp="1"/>
          </p:cNvSpPr>
          <p:nvPr/>
        </p:nvSpPr>
        <p:spPr>
          <a:xfrm xmlns:a="http://schemas.openxmlformats.org/drawingml/2006/main">
            <a:off x="5191125" y="36385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Lire temps simulés, distance, cadence et effectifs comparables.</a:t>
            </a:r>
          </a:p>
        </p:txBody>
      </p:sp>
      <p:sp>
        <p:nvSpPr>
          <p:cNvPr id="8" name="">
            <a:extLst xmlns:a="http://schemas.openxmlformats.org/drawingml/2006/main">
              <a:ext uri="{FF2B5EF4-FFF2-40B4-BE49-F238E27FC236}">
                <a16:creationId xmlns:a16="http://schemas.microsoft.com/office/drawing/2014/main" id="{D1C4BC5A-1C19-4329-A9E9-0106F15E5BCA}"/>
              </a:ext>
            </a:extLst>
          </p:cNvPr>
          <p:cNvSpPr>
            <a:spLocks xmlns:a="http://schemas.openxmlformats.org/drawingml/2006/main" noGrp="1"/>
          </p:cNvSpPr>
          <p:nvPr/>
        </p:nvSpPr>
        <p:spPr>
          <a:xfrm xmlns:a="http://schemas.openxmlformats.org/drawingml/2006/main">
            <a:off x="5191125" y="442912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Revalider</a:t>
            </a:r>
          </a:p>
        </p:txBody>
      </p:sp>
      <p:sp>
        <p:nvSpPr>
          <p:cNvPr id="9" name="">
            <a:extLst xmlns:a="http://schemas.openxmlformats.org/drawingml/2006/main">
              <a:ext uri="{FF2B5EF4-FFF2-40B4-BE49-F238E27FC236}">
                <a16:creationId xmlns:a16="http://schemas.microsoft.com/office/drawing/2014/main" id="{2BBF4B5E-0460-4958-969E-0EA6A084C4E0}"/>
              </a:ext>
            </a:extLst>
          </p:cNvPr>
          <p:cNvSpPr>
            <a:spLocks xmlns:a="http://schemas.openxmlformats.org/drawingml/2006/main" noGrp="1"/>
          </p:cNvSpPr>
          <p:nvPr/>
        </p:nvSpPr>
        <p:spPr>
          <a:xfrm xmlns:a="http://schemas.openxmlformats.org/drawingml/2006/main">
            <a:off x="5191125" y="4857750"/>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Recalculer routes, flotte, capacité et délais avant toute admission.</a:t>
            </a:r>
          </a:p>
        </p:txBody>
      </p:sp>
    </p:spTree>
    <p:extLst>
      <p:ext uri="{BB962C8B-B14F-4D97-AF65-F5344CB8AC3E}">
        <p14:creationId xmlns:p14="http://schemas.microsoft.com/office/powerpoint/2010/main" val="1602188793"/>
      </p:ext>
    </p:extLst>
  </p:cSld>
</p:sld>
</file>

<file path=ppt/slides/slide1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AC46DC8-18EB-4403-BCF2-E57B98B396C3}"/>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six visualisations</a:t>
            </a:r>
          </a:p>
        </p:txBody>
      </p:sp>
      <p:sp>
        <p:nvSpPr>
          <p:cNvPr id="2" name="">
            <a:extLst xmlns:a="http://schemas.openxmlformats.org/drawingml/2006/main">
              <a:ext uri="{FF2B5EF4-FFF2-40B4-BE49-F238E27FC236}">
                <a16:creationId xmlns:a16="http://schemas.microsoft.com/office/drawing/2014/main" id="{81031E8D-4BF8-4978-B779-A992EEFDC995}"/>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19</a:t>
            </a:r>
          </a:p>
        </p:txBody>
      </p:sp>
      <p:graphicFrame>
        <p:nvGraphicFramePr>
          <p:cNvPr id="3" name="">
            <a:extLst xmlns:a="http://schemas.openxmlformats.org/drawingml/2006/main">
              <a:ext uri="{FF2B5EF4-FFF2-40B4-BE49-F238E27FC236}">
                <a16:creationId xmlns:a16="http://schemas.microsoft.com/office/drawing/2014/main" id="{D6E6AC4A-B436-43DE-8CA9-F69F22907C47}"/>
              </a:ext>
            </a:extLst>
          </p:cNvPr>
          <p:cNvGraphicFramePr/>
          <p:nvPr/>
        </p:nvGraphicFramePr>
        <p:xfrm>
          <a:off xmlns:a="http://schemas.openxmlformats.org/drawingml/2006/main" x="609600" y="1885950"/>
          <a:ext xmlns:a="http://schemas.openxmlformats.org/drawingml/2006/main" cx="10972800" cy="3905250"/>
        </p:xfrm>
        <a:graphic xmlns:a="http://schemas.openxmlformats.org/drawingml/2006/main">
          <a:graphicData uri="http://schemas.openxmlformats.org/drawingml/2006/table">
            <a:tbl>
              <a:tblPr firstRow="0" bandRow="0"/>
              <a:tblGrid>
                <a:gridCol w="2952750"/>
                <a:gridCol w="8020050"/>
              </a:tblGrid>
              <a:tr h="457200">
                <a:tc>
                  <a:txBody>
                    <a:bodyPr/>
                    <a:lstStyle/>
                    <a:p>
                      <a:r>
                        <a:rPr sz="1725" b="1">
                          <a:solidFill>
                            <a:srgbClr val="FFFFFF"/>
                          </a:solidFill>
                          <a:latin typeface="Arial"/>
                          <a:ea typeface="Arial"/>
                          <a:cs typeface="Arial"/>
                        </a:rPr>
                        <a:t>VISUALISATION</a:t>
                      </a:r>
                    </a:p>
                  </a:txBody>
                  <a:tcPr marL="91440" marR="91440" marT="45720" marB="45720">
                    <a:solidFill>
                      <a:srgbClr val="173039"/>
                    </a:solidFill>
                  </a:tcPr>
                </a:tc>
                <a:tc>
                  <a:txBody>
                    <a:bodyPr/>
                    <a:lstStyle/>
                    <a:p>
                      <a:r>
                        <a:rPr sz="1725" b="1">
                          <a:solidFill>
                            <a:srgbClr val="FFFFFF"/>
                          </a:solidFill>
                          <a:latin typeface="Arial"/>
                          <a:ea typeface="Arial"/>
                          <a:cs typeface="Arial"/>
                        </a:rPr>
                        <a:t>QUESTION</a:t>
                      </a:r>
                    </a:p>
                  </a:txBody>
                  <a:tcPr marL="91440" marR="91440" marT="45720" marB="45720">
                    <a:solidFill>
                      <a:srgbClr val="173039"/>
                    </a:solidFill>
                  </a:tcPr>
                </a:tc>
              </a:tr>
              <a:tr h="574675">
                <a:tc>
                  <a:txBody>
                    <a:bodyPr/>
                    <a:lstStyle/>
                    <a:p>
                      <a:r>
                        <a:rPr sz="1725" b="1">
                          <a:solidFill>
                            <a:srgbClr val="173039"/>
                          </a:solidFill>
                          <a:latin typeface="Arial"/>
                          <a:ea typeface="Arial"/>
                          <a:cs typeface="Arial"/>
                        </a:rPr>
                        <a:t>Graphe</a:t>
                      </a:r>
                    </a:p>
                  </a:txBody>
                  <a:tcPr marL="91440" marR="91440" marT="45720" marB="45720">
                    <a:solidFill>
                      <a:srgbClr val="FFFFFF"/>
                    </a:solidFill>
                  </a:tcPr>
                </a:tc>
                <a:tc>
                  <a:txBody>
                    <a:bodyPr/>
                    <a:lstStyle/>
                    <a:p>
                      <a:r>
                        <a:rPr sz="1725" b="0">
                          <a:solidFill>
                            <a:srgbClr val="173039"/>
                          </a:solidFill>
                          <a:latin typeface="Arial"/>
                          <a:ea typeface="Arial"/>
                          <a:cs typeface="Arial"/>
                        </a:rPr>
                        <a:t>Quel rôle transmet quelle preuve ?</a:t>
                      </a:r>
                    </a:p>
                  </a:txBody>
                  <a:tcPr marL="91440" marR="91440" marT="45720" marB="45720">
                    <a:solidFill>
                      <a:srgbClr val="FFFFFF"/>
                    </a:solidFill>
                  </a:tcPr>
                </a:tc>
              </a:tr>
              <a:tr h="574675">
                <a:tc>
                  <a:txBody>
                    <a:bodyPr/>
                    <a:lstStyle/>
                    <a:p>
                      <a:r>
                        <a:rPr sz="1725" b="1">
                          <a:solidFill>
                            <a:srgbClr val="173039"/>
                          </a:solidFill>
                          <a:latin typeface="Arial"/>
                          <a:ea typeface="Arial"/>
                          <a:cs typeface="Arial"/>
                        </a:rPr>
                        <a:t>Chronologie</a:t>
                      </a:r>
                    </a:p>
                  </a:txBody>
                  <a:tcPr marL="91440" marR="91440" marT="45720" marB="45720">
                    <a:solidFill>
                      <a:srgbClr val="EAF0F1"/>
                    </a:solidFill>
                  </a:tcPr>
                </a:tc>
                <a:tc>
                  <a:txBody>
                    <a:bodyPr/>
                    <a:lstStyle/>
                    <a:p>
                      <a:r>
                        <a:rPr sz="1725" b="0">
                          <a:solidFill>
                            <a:srgbClr val="173039"/>
                          </a:solidFill>
                          <a:latin typeface="Arial"/>
                          <a:ea typeface="Arial"/>
                          <a:cs typeface="Arial"/>
                        </a:rPr>
                        <a:t>Quand et pendant combien de temps ?</a:t>
                      </a:r>
                    </a:p>
                  </a:txBody>
                  <a:tcPr marL="91440" marR="91440" marT="45720" marB="45720">
                    <a:solidFill>
                      <a:srgbClr val="EAF0F1"/>
                    </a:solidFill>
                  </a:tcPr>
                </a:tc>
              </a:tr>
              <a:tr h="574675">
                <a:tc>
                  <a:txBody>
                    <a:bodyPr/>
                    <a:lstStyle/>
                    <a:p>
                      <a:r>
                        <a:rPr sz="1725" b="1">
                          <a:solidFill>
                            <a:srgbClr val="173039"/>
                          </a:solidFill>
                          <a:latin typeface="Arial"/>
                          <a:ea typeface="Arial"/>
                          <a:cs typeface="Arial"/>
                        </a:rPr>
                        <a:t>Sankey</a:t>
                      </a:r>
                    </a:p>
                  </a:txBody>
                  <a:tcPr marL="91440" marR="91440" marT="45720" marB="45720">
                    <a:solidFill>
                      <a:srgbClr val="FFFFFF"/>
                    </a:solidFill>
                  </a:tcPr>
                </a:tc>
                <a:tc>
                  <a:txBody>
                    <a:bodyPr/>
                    <a:lstStyle/>
                    <a:p>
                      <a:r>
                        <a:rPr sz="1725" b="0">
                          <a:solidFill>
                            <a:srgbClr val="173039"/>
                          </a:solidFill>
                          <a:latin typeface="Arial"/>
                          <a:ea typeface="Arial"/>
                          <a:cs typeface="Arial"/>
                        </a:rPr>
                        <a:t>Combien de transmissions observées ?</a:t>
                      </a:r>
                    </a:p>
                  </a:txBody>
                  <a:tcPr marL="91440" marR="91440" marT="45720" marB="45720">
                    <a:solidFill>
                      <a:srgbClr val="FFFFFF"/>
                    </a:solidFill>
                  </a:tcPr>
                </a:tc>
              </a:tr>
              <a:tr h="574675">
                <a:tc>
                  <a:txBody>
                    <a:bodyPr/>
                    <a:lstStyle/>
                    <a:p>
                      <a:r>
                        <a:rPr sz="1725" b="1">
                          <a:solidFill>
                            <a:srgbClr val="173039"/>
                          </a:solidFill>
                          <a:latin typeface="Arial"/>
                          <a:ea typeface="Arial"/>
                          <a:cs typeface="Arial"/>
                        </a:rPr>
                        <a:t>Comparaison</a:t>
                      </a:r>
                    </a:p>
                  </a:txBody>
                  <a:tcPr marL="91440" marR="91440" marT="45720" marB="45720">
                    <a:solidFill>
                      <a:srgbClr val="EAF0F1"/>
                    </a:solidFill>
                  </a:tcPr>
                </a:tc>
                <a:tc>
                  <a:txBody>
                    <a:bodyPr/>
                    <a:lstStyle/>
                    <a:p>
                      <a:r>
                        <a:rPr sz="1725" b="0">
                          <a:solidFill>
                            <a:srgbClr val="173039"/>
                          </a:solidFill>
                          <a:latin typeface="Arial"/>
                          <a:ea typeface="Arial"/>
                          <a:cs typeface="Arial"/>
                        </a:rPr>
                        <a:t>Quelle différence entre exécutions compatibles ?</a:t>
                      </a:r>
                    </a:p>
                  </a:txBody>
                  <a:tcPr marL="91440" marR="91440" marT="45720" marB="45720">
                    <a:solidFill>
                      <a:srgbClr val="EAF0F1"/>
                    </a:solidFill>
                  </a:tcPr>
                </a:tc>
              </a:tr>
              <a:tr h="574675">
                <a:tc>
                  <a:txBody>
                    <a:bodyPr/>
                    <a:lstStyle/>
                    <a:p>
                      <a:r>
                        <a:rPr sz="1725" b="1">
                          <a:solidFill>
                            <a:srgbClr val="173039"/>
                          </a:solidFill>
                          <a:latin typeface="Arial"/>
                          <a:ea typeface="Arial"/>
                          <a:cs typeface="Arial"/>
                        </a:rPr>
                        <a:t>Heatmap</a:t>
                      </a:r>
                    </a:p>
                  </a:txBody>
                  <a:tcPr marL="91440" marR="91440" marT="45720" marB="45720">
                    <a:solidFill>
                      <a:srgbClr val="FFFFFF"/>
                    </a:solidFill>
                  </a:tcPr>
                </a:tc>
                <a:tc>
                  <a:txBody>
                    <a:bodyPr/>
                    <a:lstStyle/>
                    <a:p>
                      <a:r>
                        <a:rPr sz="1725" b="0">
                          <a:solidFill>
                            <a:srgbClr val="173039"/>
                          </a:solidFill>
                          <a:latin typeface="Arial"/>
                          <a:ea typeface="Arial"/>
                          <a:cs typeface="Arial"/>
                        </a:rPr>
                        <a:t>Quel scénario et quel agent concentrent la durée ?</a:t>
                      </a:r>
                    </a:p>
                  </a:txBody>
                  <a:tcPr marL="91440" marR="91440" marT="45720" marB="45720">
                    <a:solidFill>
                      <a:srgbClr val="FFFFFF"/>
                    </a:solidFill>
                  </a:tcPr>
                </a:tc>
              </a:tr>
              <a:tr h="574675">
                <a:tc>
                  <a:txBody>
                    <a:bodyPr/>
                    <a:lstStyle/>
                    <a:p>
                      <a:r>
                        <a:rPr sz="1725" b="1">
                          <a:solidFill>
                            <a:srgbClr val="173039"/>
                          </a:solidFill>
                          <a:latin typeface="Arial"/>
                          <a:ea typeface="Arial"/>
                          <a:cs typeface="Arial"/>
                        </a:rPr>
                        <a:t>KPI et répartitions</a:t>
                      </a:r>
                    </a:p>
                  </a:txBody>
                  <a:tcPr marL="91440" marR="91440" marT="45720" marB="45720">
                    <a:solidFill>
                      <a:srgbClr val="EAF0F1"/>
                    </a:solidFill>
                  </a:tcPr>
                </a:tc>
                <a:tc>
                  <a:txBody>
                    <a:bodyPr/>
                    <a:lstStyle/>
                    <a:p>
                      <a:r>
                        <a:rPr sz="1725" b="0">
                          <a:solidFill>
                            <a:srgbClr val="173039"/>
                          </a:solidFill>
                          <a:latin typeface="Arial"/>
                          <a:ea typeface="Arial"/>
                          <a:cs typeface="Arial"/>
                        </a:rPr>
                        <a:t>Quels volumes, tokens et coûts dans ce périmètre ?</a:t>
                      </a:r>
                    </a:p>
                  </a:txBody>
                  <a:tcPr marL="91440" marR="91440" marT="45720" marB="45720">
                    <a:solidFill>
                      <a:srgbClr val="EAF0F1"/>
                    </a:solidFill>
                  </a:tcPr>
                </a:tc>
              </a:tr>
            </a:tbl>
          </a:graphicData>
        </a:graphic>
      </p:graphicFrame>
    </p:spTree>
    <p:extLst>
      <p:ext uri="{BB962C8B-B14F-4D97-AF65-F5344CB8AC3E}">
        <p14:creationId xmlns:p14="http://schemas.microsoft.com/office/powerpoint/2010/main" val="1582035753"/>
      </p:ext>
    </p:extLst>
  </p:cSld>
</p:sld>
</file>

<file path=ppt/slides/slide2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A31E4A-CB99-4B00-B83B-1A137E3A2C86}"/>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Tokens, coûts et observabilité</a:t>
            </a:r>
          </a:p>
        </p:txBody>
      </p:sp>
      <p:sp>
        <p:nvSpPr>
          <p:cNvPr id="2" name="">
            <a:extLst xmlns:a="http://schemas.openxmlformats.org/drawingml/2006/main">
              <a:ext uri="{FF2B5EF4-FFF2-40B4-BE49-F238E27FC236}">
                <a16:creationId xmlns:a16="http://schemas.microsoft.com/office/drawing/2014/main" id="{30AFD116-E4BC-4B04-8F6A-9B8A13CD81C0}"/>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5E89D6E9-3F71-4B83-ADD0-4929480CD4C5}"/>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 coût API estimé en USD reste distinct du coût de flotte en CAD.</a:t>
            </a:r>
          </a:p>
        </p:txBody>
      </p:sp>
      <p:sp>
        <p:nvSpPr>
          <p:cNvPr id="4" name="">
            <a:extLst xmlns:a="http://schemas.openxmlformats.org/drawingml/2006/main">
              <a:ext uri="{FF2B5EF4-FFF2-40B4-BE49-F238E27FC236}">
                <a16:creationId xmlns:a16="http://schemas.microsoft.com/office/drawing/2014/main" id="{6254275F-74AB-4623-A7A7-EF7399250692}"/>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Chaque tentative</a:t>
            </a:r>
          </a:p>
        </p:txBody>
      </p:sp>
      <p:sp>
        <p:nvSpPr>
          <p:cNvPr id="5" name="">
            <a:extLst xmlns:a="http://schemas.openxmlformats.org/drawingml/2006/main">
              <a:ext uri="{FF2B5EF4-FFF2-40B4-BE49-F238E27FC236}">
                <a16:creationId xmlns:a16="http://schemas.microsoft.com/office/drawing/2014/main" id="{52400E31-DED2-46DD-BC34-BB5F403C214B}"/>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Agent et modèle effectifs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Entrée, sortie et cache connus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Latence, erreur et reprise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Charge estimée et réserve retenue</a:t>
            </a:r>
          </a:p>
        </p:txBody>
      </p:sp>
      <p:sp>
        <p:nvSpPr>
          <p:cNvPr id="6" name="">
            <a:extLst xmlns:a="http://schemas.openxmlformats.org/drawingml/2006/main">
              <a:ext uri="{FF2B5EF4-FFF2-40B4-BE49-F238E27FC236}">
                <a16:creationId xmlns:a16="http://schemas.microsoft.com/office/drawing/2014/main" id="{C2E30386-534A-4C99-A054-611ABBF78645}"/>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Chaque périmètre</a:t>
            </a:r>
          </a:p>
        </p:txBody>
      </p:sp>
      <p:sp>
        <p:nvSpPr>
          <p:cNvPr id="7" name="">
            <a:extLst xmlns:a="http://schemas.openxmlformats.org/drawingml/2006/main">
              <a:ext uri="{FF2B5EF4-FFF2-40B4-BE49-F238E27FC236}">
                <a16:creationId xmlns:a16="http://schemas.microsoft.com/office/drawing/2014/main" id="{E99E0207-A0BB-44A7-9382-3C1DC9040E88}"/>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Une requête et ses rôles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Une cohorte filtrée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Toutes les opérations du projet</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Langfuse en export secondaire</a:t>
            </a:r>
          </a:p>
        </p:txBody>
      </p:sp>
    </p:spTree>
    <p:extLst>
      <p:ext uri="{BB962C8B-B14F-4D97-AF65-F5344CB8AC3E}">
        <p14:creationId xmlns:p14="http://schemas.microsoft.com/office/powerpoint/2010/main" val="470102074"/>
      </p:ext>
    </p:extLst>
  </p:cSld>
</p:sld>
</file>

<file path=ppt/slides/slide21.xml><?xml version="1.0" encoding="utf-8"?>
<p:sld xmlns:p="http://schemas.openxmlformats.org/presentationml/2006/main">
  <p:cSld>
    <p:bg>
      <p:bgPr>
        <a:solidFill xmlns:a="http://schemas.openxmlformats.org/drawingml/2006/main">
          <a:srgbClr val="17303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77A304-DF8C-4EB5-ABFC-3A41E1F44055}"/>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Le plafond partagé</a:t>
            </a:r>
          </a:p>
        </p:txBody>
      </p:sp>
      <p:sp>
        <p:nvSpPr>
          <p:cNvPr id="2" name="">
            <a:extLst xmlns:a="http://schemas.openxmlformats.org/drawingml/2006/main">
              <a:ext uri="{FF2B5EF4-FFF2-40B4-BE49-F238E27FC236}">
                <a16:creationId xmlns:a16="http://schemas.microsoft.com/office/drawing/2014/main" id="{1C031C92-9659-43BC-9592-1909840E862E}"/>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5DED7"/>
                </a:solidFill>
                <a:latin typeface="Arial"/>
                <a:ea typeface="Arial"/>
                <a:cs typeface="Arial"/>
              </a:defRPr>
            </a:defPPr>
          </a:lstStyle>
          <a:p xmlns:a="http://schemas.openxmlformats.org/drawingml/2006/main">
            <a:pPr>
              <a:defRPr sz="1125" b="0">
                <a:solidFill>
                  <a:srgbClr val="B5DED7"/>
                </a:solidFill>
                <a:latin typeface="Arial"/>
                <a:ea typeface="Arial"/>
                <a:cs typeface="Arial"/>
              </a:defRPr>
            </a:pPr>
            <a:r>
              <a:rPr sz="1125" b="0">
                <a:solidFill>
                  <a:srgbClr val="B5DED7"/>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4C880479-ABAB-45A1-B244-05B8681C3725}"/>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B5DED7"/>
                </a:solidFill>
                <a:latin typeface="Arial"/>
                <a:ea typeface="Arial"/>
                <a:cs typeface="Arial"/>
              </a:defRPr>
            </a:defPPr>
          </a:lstStyle>
          <a:p xmlns:a="http://schemas.openxmlformats.org/drawingml/2006/main">
            <a:pPr>
              <a:defRPr sz="1425" b="0">
                <a:solidFill>
                  <a:srgbClr val="B5DED7"/>
                </a:solidFill>
                <a:latin typeface="Arial"/>
                <a:ea typeface="Arial"/>
                <a:cs typeface="Arial"/>
              </a:defRPr>
            </a:pPr>
            <a:r>
              <a:rPr sz="1425" b="0">
                <a:solidFill>
                  <a:srgbClr val="B5DED7"/>
                </a:solidFill>
                <a:latin typeface="Arial"/>
                <a:ea typeface="Arial"/>
                <a:cs typeface="Arial"/>
              </a:rPr>
              <a:t>Une alerte durable peut déclencher un courriel. SMTP accepté ne signifie pas reçu en boîte.</a:t>
            </a:r>
          </a:p>
        </p:txBody>
      </p:sp>
      <p:sp>
        <p:nvSpPr>
          <p:cNvPr id="4" name="">
            <a:extLst xmlns:a="http://schemas.openxmlformats.org/drawingml/2006/main">
              <a:ext uri="{FF2B5EF4-FFF2-40B4-BE49-F238E27FC236}">
                <a16:creationId xmlns:a16="http://schemas.microsoft.com/office/drawing/2014/main" id="{2C0C6586-0B0D-410E-8D35-CDC487222877}"/>
              </a:ext>
            </a:extLst>
          </p:cNvPr>
          <p:cNvSpPr>
            <a:spLocks xmlns:a="http://schemas.openxmlformats.org/drawingml/2006/main" noGrp="1"/>
          </p:cNvSpPr>
          <p:nvPr/>
        </p:nvSpPr>
        <p:spPr>
          <a:xfrm xmlns:a="http://schemas.openxmlformats.org/drawingml/2006/main">
            <a:off x="609600" y="2057400"/>
            <a:ext cx="4191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700" b="1">
                <a:solidFill>
                  <a:srgbClr val="FFFFFF"/>
                </a:solidFill>
                <a:latin typeface="Arial"/>
                <a:ea typeface="Arial"/>
                <a:cs typeface="Arial"/>
              </a:defRPr>
            </a:defPPr>
          </a:lstStyle>
          <a:p xmlns:a="http://schemas.openxmlformats.org/drawingml/2006/main">
            <a:pPr>
              <a:defRPr sz="11700" b="1">
                <a:solidFill>
                  <a:srgbClr val="FFFFFF"/>
                </a:solidFill>
                <a:latin typeface="Arial"/>
                <a:ea typeface="Arial"/>
                <a:cs typeface="Arial"/>
              </a:defRPr>
            </a:pPr>
            <a:r>
              <a:rPr sz="11700" b="1">
                <a:solidFill>
                  <a:srgbClr val="FFFFFF"/>
                </a:solidFill>
                <a:latin typeface="Arial"/>
                <a:ea typeface="Arial"/>
                <a:cs typeface="Arial"/>
              </a:rPr>
              <a:t>100</a:t>
            </a:r>
          </a:p>
        </p:txBody>
      </p:sp>
      <p:sp>
        <p:nvSpPr>
          <p:cNvPr id="5" name="">
            <a:extLst xmlns:a="http://schemas.openxmlformats.org/drawingml/2006/main">
              <a:ext uri="{FF2B5EF4-FFF2-40B4-BE49-F238E27FC236}">
                <a16:creationId xmlns:a16="http://schemas.microsoft.com/office/drawing/2014/main" id="{78BFB346-94D2-4912-B308-D5E98044975B}"/>
              </a:ext>
            </a:extLst>
          </p:cNvPr>
          <p:cNvSpPr>
            <a:spLocks xmlns:a="http://schemas.openxmlformats.org/drawingml/2006/main" noGrp="1"/>
          </p:cNvSpPr>
          <p:nvPr/>
        </p:nvSpPr>
        <p:spPr>
          <a:xfrm xmlns:a="http://schemas.openxmlformats.org/drawingml/2006/main">
            <a:off x="666750" y="3962400"/>
            <a:ext cx="371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0">
                <a:solidFill>
                  <a:srgbClr val="B5DED7"/>
                </a:solidFill>
                <a:latin typeface="Arial"/>
                <a:ea typeface="Arial"/>
                <a:cs typeface="Arial"/>
              </a:defRPr>
            </a:defPPr>
          </a:lstStyle>
          <a:p xmlns:a="http://schemas.openxmlformats.org/drawingml/2006/main">
            <a:pPr>
              <a:defRPr sz="3525" b="0">
                <a:solidFill>
                  <a:srgbClr val="B5DED7"/>
                </a:solidFill>
                <a:latin typeface="Arial"/>
                <a:ea typeface="Arial"/>
                <a:cs typeface="Arial"/>
              </a:defRPr>
            </a:pPr>
            <a:r>
              <a:rPr sz="3525" b="0">
                <a:solidFill>
                  <a:srgbClr val="B5DED7"/>
                </a:solidFill>
                <a:latin typeface="Arial"/>
                <a:ea typeface="Arial"/>
                <a:cs typeface="Arial"/>
              </a:rPr>
              <a:t>CAD</a:t>
            </a:r>
          </a:p>
        </p:txBody>
      </p:sp>
      <p:sp>
        <p:nvSpPr>
          <p:cNvPr id="6" name="">
            <a:extLst xmlns:a="http://schemas.openxmlformats.org/drawingml/2006/main">
              <a:ext uri="{FF2B5EF4-FFF2-40B4-BE49-F238E27FC236}">
                <a16:creationId xmlns:a16="http://schemas.microsoft.com/office/drawing/2014/main" id="{9C6146F4-365C-4F44-970F-9A1B34496E52}"/>
              </a:ext>
            </a:extLst>
          </p:cNvPr>
          <p:cNvSpPr>
            <a:spLocks xmlns:a="http://schemas.openxmlformats.org/drawingml/2006/main" noGrp="1"/>
          </p:cNvSpPr>
          <p:nvPr/>
        </p:nvSpPr>
        <p:spPr>
          <a:xfrm xmlns:a="http://schemas.openxmlformats.org/drawingml/2006/main">
            <a:off x="5334000" y="2028825"/>
            <a:ext cx="611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Avant un appel</a:t>
            </a:r>
          </a:p>
        </p:txBody>
      </p:sp>
      <p:sp>
        <p:nvSpPr>
          <p:cNvPr id="7" name="">
            <a:extLst xmlns:a="http://schemas.openxmlformats.org/drawingml/2006/main">
              <a:ext uri="{FF2B5EF4-FFF2-40B4-BE49-F238E27FC236}">
                <a16:creationId xmlns:a16="http://schemas.microsoft.com/office/drawing/2014/main" id="{FAEF0523-E080-49A7-9E7A-299C5BC9D16B}"/>
              </a:ext>
            </a:extLst>
          </p:cNvPr>
          <p:cNvSpPr>
            <a:spLocks xmlns:a="http://schemas.openxmlformats.org/drawingml/2006/main" noGrp="1"/>
          </p:cNvSpPr>
          <p:nvPr/>
        </p:nvSpPr>
        <p:spPr>
          <a:xfrm xmlns:a="http://schemas.openxmlformats.org/drawingml/2006/main">
            <a:off x="5334000" y="2457450"/>
            <a:ext cx="611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5DED7"/>
                </a:solidFill>
                <a:latin typeface="Arial"/>
                <a:ea typeface="Arial"/>
                <a:cs typeface="Arial"/>
              </a:defRPr>
            </a:defPPr>
          </a:lstStyle>
          <a:p xmlns:a="http://schemas.openxmlformats.org/drawingml/2006/main">
            <a:pPr>
              <a:defRPr sz="1800" b="0">
                <a:solidFill>
                  <a:srgbClr val="B5DED7"/>
                </a:solidFill>
                <a:latin typeface="Arial"/>
                <a:ea typeface="Arial"/>
                <a:cs typeface="Arial"/>
              </a:defRPr>
            </a:pPr>
            <a:r>
              <a:rPr sz="1800" b="0">
                <a:solidFill>
                  <a:srgbClr val="B5DED7"/>
                </a:solidFill>
                <a:latin typeface="Arial"/>
                <a:ea typeface="Arial"/>
                <a:cs typeface="Arial"/>
              </a:rPr>
              <a:t>Réserver une borne prudente sous le plafond du projet.</a:t>
            </a:r>
          </a:p>
        </p:txBody>
      </p:sp>
      <p:sp>
        <p:nvSpPr>
          <p:cNvPr id="8" name="">
            <a:extLst xmlns:a="http://schemas.openxmlformats.org/drawingml/2006/main">
              <a:ext uri="{FF2B5EF4-FFF2-40B4-BE49-F238E27FC236}">
                <a16:creationId xmlns:a16="http://schemas.microsoft.com/office/drawing/2014/main" id="{26E1699D-E009-4A91-833F-BE4BA65EFC0F}"/>
              </a:ext>
            </a:extLst>
          </p:cNvPr>
          <p:cNvSpPr>
            <a:spLocks xmlns:a="http://schemas.openxmlformats.org/drawingml/2006/main" noGrp="1"/>
          </p:cNvSpPr>
          <p:nvPr/>
        </p:nvSpPr>
        <p:spPr>
          <a:xfrm xmlns:a="http://schemas.openxmlformats.org/drawingml/2006/main">
            <a:off x="5334000" y="3257550"/>
            <a:ext cx="611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Après la réponse</a:t>
            </a:r>
          </a:p>
        </p:txBody>
      </p:sp>
      <p:sp>
        <p:nvSpPr>
          <p:cNvPr id="9" name="">
            <a:extLst xmlns:a="http://schemas.openxmlformats.org/drawingml/2006/main">
              <a:ext uri="{FF2B5EF4-FFF2-40B4-BE49-F238E27FC236}">
                <a16:creationId xmlns:a16="http://schemas.microsoft.com/office/drawing/2014/main" id="{FAC43903-B48B-469F-AF66-8E329E6A9BD3}"/>
              </a:ext>
            </a:extLst>
          </p:cNvPr>
          <p:cNvSpPr>
            <a:spLocks xmlns:a="http://schemas.openxmlformats.org/drawingml/2006/main" noGrp="1"/>
          </p:cNvSpPr>
          <p:nvPr/>
        </p:nvSpPr>
        <p:spPr>
          <a:xfrm xmlns:a="http://schemas.openxmlformats.org/drawingml/2006/main">
            <a:off x="5334000" y="3686175"/>
            <a:ext cx="611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5DED7"/>
                </a:solidFill>
                <a:latin typeface="Arial"/>
                <a:ea typeface="Arial"/>
                <a:cs typeface="Arial"/>
              </a:defRPr>
            </a:defPPr>
          </a:lstStyle>
          <a:p xmlns:a="http://schemas.openxmlformats.org/drawingml/2006/main">
            <a:pPr>
              <a:defRPr sz="1800" b="0">
                <a:solidFill>
                  <a:srgbClr val="B5DED7"/>
                </a:solidFill>
                <a:latin typeface="Arial"/>
                <a:ea typeface="Arial"/>
                <a:cs typeface="Arial"/>
              </a:defRPr>
            </a:pPr>
            <a:r>
              <a:rPr sz="1800" b="0">
                <a:solidFill>
                  <a:srgbClr val="B5DED7"/>
                </a:solidFill>
                <a:latin typeface="Arial"/>
                <a:ea typeface="Arial"/>
                <a:cs typeface="Arial"/>
              </a:rPr>
              <a:t>Régler la charge connue et libérer la réserve excédentaire.</a:t>
            </a:r>
          </a:p>
        </p:txBody>
      </p:sp>
      <p:sp>
        <p:nvSpPr>
          <p:cNvPr id="10" name="">
            <a:extLst xmlns:a="http://schemas.openxmlformats.org/drawingml/2006/main">
              <a:ext uri="{FF2B5EF4-FFF2-40B4-BE49-F238E27FC236}">
                <a16:creationId xmlns:a16="http://schemas.microsoft.com/office/drawing/2014/main" id="{12CFCB8C-7E2A-445E-9E0D-FAC8C8B065AE}"/>
              </a:ext>
            </a:extLst>
          </p:cNvPr>
          <p:cNvSpPr>
            <a:spLocks xmlns:a="http://schemas.openxmlformats.org/drawingml/2006/main" noGrp="1"/>
          </p:cNvSpPr>
          <p:nvPr/>
        </p:nvSpPr>
        <p:spPr>
          <a:xfrm xmlns:a="http://schemas.openxmlformats.org/drawingml/2006/main">
            <a:off x="5334000" y="4486275"/>
            <a:ext cx="6115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Si le résultat est incertain</a:t>
            </a:r>
          </a:p>
        </p:txBody>
      </p:sp>
      <p:sp>
        <p:nvSpPr>
          <p:cNvPr id="11" name="">
            <a:extLst xmlns:a="http://schemas.openxmlformats.org/drawingml/2006/main">
              <a:ext uri="{FF2B5EF4-FFF2-40B4-BE49-F238E27FC236}">
                <a16:creationId xmlns:a16="http://schemas.microsoft.com/office/drawing/2014/main" id="{EB7D0127-85C9-4358-BD6C-F2A5DA379894}"/>
              </a:ext>
            </a:extLst>
          </p:cNvPr>
          <p:cNvSpPr>
            <a:spLocks xmlns:a="http://schemas.openxmlformats.org/drawingml/2006/main" noGrp="1"/>
          </p:cNvSpPr>
          <p:nvPr/>
        </p:nvSpPr>
        <p:spPr>
          <a:xfrm xmlns:a="http://schemas.openxmlformats.org/drawingml/2006/main">
            <a:off x="5334000" y="4914900"/>
            <a:ext cx="6115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5DED7"/>
                </a:solidFill>
                <a:latin typeface="Arial"/>
                <a:ea typeface="Arial"/>
                <a:cs typeface="Arial"/>
              </a:defRPr>
            </a:defPPr>
          </a:lstStyle>
          <a:p xmlns:a="http://schemas.openxmlformats.org/drawingml/2006/main">
            <a:pPr>
              <a:defRPr sz="1800" b="0">
                <a:solidFill>
                  <a:srgbClr val="B5DED7"/>
                </a:solidFill>
                <a:latin typeface="Arial"/>
                <a:ea typeface="Arial"/>
                <a:cs typeface="Arial"/>
              </a:defRPr>
            </a:pPr>
            <a:r>
              <a:rPr sz="1800" b="0">
                <a:solidFill>
                  <a:srgbClr val="B5DED7"/>
                </a:solidFill>
                <a:latin typeface="Arial"/>
                <a:ea typeface="Arial"/>
                <a:cs typeface="Arial"/>
              </a:rPr>
              <a:t>Conserver la réserve et empêcher une réémission automatique.</a:t>
            </a:r>
          </a:p>
        </p:txBody>
      </p:sp>
    </p:spTree>
    <p:extLst>
      <p:ext uri="{BB962C8B-B14F-4D97-AF65-F5344CB8AC3E}">
        <p14:creationId xmlns:p14="http://schemas.microsoft.com/office/powerpoint/2010/main" val="191633554"/>
      </p:ext>
    </p:extLst>
  </p:cSld>
</p:sld>
</file>

<file path=ppt/slides/slide22.xml><?xml version="1.0" encoding="utf-8"?>
<p:sld xmlns:p="http://schemas.openxmlformats.org/presentationml/2006/main">
  <p:cSld>
    <p:bg>
      <p:bgPr>
        <a:solidFill xmlns:a="http://schemas.openxmlformats.org/drawingml/2006/main">
          <a:srgbClr val="F1E9D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C65A34-3DF1-481E-99D1-0A3D097DF212}"/>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 benchmark de référence</a:t>
            </a:r>
          </a:p>
        </p:txBody>
      </p:sp>
      <p:sp>
        <p:nvSpPr>
          <p:cNvPr id="2" name="">
            <a:extLst xmlns:a="http://schemas.openxmlformats.org/drawingml/2006/main">
              <a:ext uri="{FF2B5EF4-FFF2-40B4-BE49-F238E27FC236}">
                <a16:creationId xmlns:a16="http://schemas.microsoft.com/office/drawing/2014/main" id="{79FA8FF2-120E-47D4-A298-AB0780394FE1}"/>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A26E806E-CB40-43F2-A7B1-0F9FE0EBA096}"/>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100 appels, estimation API de 0,6696181 USD. Cohorte historique distincte des tests QA.</a:t>
            </a:r>
          </a:p>
        </p:txBody>
      </p:sp>
      <p:sp>
        <p:nvSpPr>
          <p:cNvPr id="4" name="">
            <a:extLst xmlns:a="http://schemas.openxmlformats.org/drawingml/2006/main">
              <a:ext uri="{FF2B5EF4-FFF2-40B4-BE49-F238E27FC236}">
                <a16:creationId xmlns:a16="http://schemas.microsoft.com/office/drawing/2014/main" id="{9F406694-64FE-46BA-96B8-3B321495E5C1}"/>
              </a:ext>
            </a:extLst>
          </p:cNvPr>
          <p:cNvSpPr>
            <a:spLocks xmlns:a="http://schemas.openxmlformats.org/drawingml/2006/main" noGrp="1"/>
          </p:cNvSpPr>
          <p:nvPr/>
        </p:nvSpPr>
        <p:spPr>
          <a:xfrm xmlns:a="http://schemas.openxmlformats.org/drawingml/2006/main">
            <a:off x="914400" y="2009775"/>
            <a:ext cx="2971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450" b="1">
                <a:solidFill>
                  <a:srgbClr val="146C78"/>
                </a:solidFill>
                <a:latin typeface="Arial"/>
                <a:ea typeface="Arial"/>
                <a:cs typeface="Arial"/>
              </a:defRPr>
            </a:defPPr>
          </a:lstStyle>
          <a:p xmlns:a="http://schemas.openxmlformats.org/drawingml/2006/main">
            <a:pPr>
              <a:defRPr sz="9450" b="1">
                <a:solidFill>
                  <a:srgbClr val="146C78"/>
                </a:solidFill>
                <a:latin typeface="Arial"/>
                <a:ea typeface="Arial"/>
                <a:cs typeface="Arial"/>
              </a:defRPr>
            </a:pPr>
            <a:r>
              <a:rPr sz="9450" b="1">
                <a:solidFill>
                  <a:srgbClr val="146C78"/>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CECA097B-7E7C-48FF-9629-91B7328D5982}"/>
              </a:ext>
            </a:extLst>
          </p:cNvPr>
          <p:cNvSpPr>
            <a:spLocks xmlns:a="http://schemas.openxmlformats.org/drawingml/2006/main" noGrp="1"/>
          </p:cNvSpPr>
          <p:nvPr/>
        </p:nvSpPr>
        <p:spPr>
          <a:xfrm xmlns:a="http://schemas.openxmlformats.org/drawingml/2006/main">
            <a:off x="914400" y="371475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73039"/>
                </a:solidFill>
                <a:latin typeface="Arial"/>
                <a:ea typeface="Arial"/>
                <a:cs typeface="Arial"/>
              </a:defRPr>
            </a:defPPr>
          </a:lstStyle>
          <a:p xmlns:a="http://schemas.openxmlformats.org/drawingml/2006/main">
            <a:pPr>
              <a:defRPr sz="2250" b="0">
                <a:solidFill>
                  <a:srgbClr val="173039"/>
                </a:solidFill>
                <a:latin typeface="Arial"/>
                <a:ea typeface="Arial"/>
                <a:cs typeface="Arial"/>
              </a:defRPr>
            </a:pPr>
            <a:r>
              <a:rPr sz="2250" b="0">
                <a:solidFill>
                  <a:srgbClr val="173039"/>
                </a:solidFill>
                <a:latin typeface="Arial"/>
                <a:ea typeface="Arial"/>
                <a:cs typeface="Arial"/>
              </a:rPr>
              <a:t>scénarios</a:t>
            </a:r>
          </a:p>
        </p:txBody>
      </p:sp>
      <p:sp>
        <p:nvSpPr>
          <p:cNvPr id="6" name="">
            <a:extLst xmlns:a="http://schemas.openxmlformats.org/drawingml/2006/main">
              <a:ext uri="{FF2B5EF4-FFF2-40B4-BE49-F238E27FC236}">
                <a16:creationId xmlns:a16="http://schemas.microsoft.com/office/drawing/2014/main" id="{C1505936-F2E0-431F-85BB-D090E7DFE278}"/>
              </a:ext>
            </a:extLst>
          </p:cNvPr>
          <p:cNvSpPr>
            <a:spLocks xmlns:a="http://schemas.openxmlformats.org/drawingml/2006/main" noGrp="1"/>
          </p:cNvSpPr>
          <p:nvPr/>
        </p:nvSpPr>
        <p:spPr>
          <a:xfrm xmlns:a="http://schemas.openxmlformats.org/drawingml/2006/main">
            <a:off x="4724400" y="2009775"/>
            <a:ext cx="2971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450" b="1">
                <a:solidFill>
                  <a:srgbClr val="146C78"/>
                </a:solidFill>
                <a:latin typeface="Arial"/>
                <a:ea typeface="Arial"/>
                <a:cs typeface="Arial"/>
              </a:defRPr>
            </a:defPPr>
          </a:lstStyle>
          <a:p xmlns:a="http://schemas.openxmlformats.org/drawingml/2006/main">
            <a:pPr>
              <a:defRPr sz="9450" b="1">
                <a:solidFill>
                  <a:srgbClr val="146C78"/>
                </a:solidFill>
                <a:latin typeface="Arial"/>
                <a:ea typeface="Arial"/>
                <a:cs typeface="Arial"/>
              </a:defRPr>
            </a:pPr>
            <a:r>
              <a:rPr sz="9450" b="1">
                <a:solidFill>
                  <a:srgbClr val="146C78"/>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8C733DED-376A-4B1F-97D2-57584C9F1ECC}"/>
              </a:ext>
            </a:extLst>
          </p:cNvPr>
          <p:cNvSpPr>
            <a:spLocks xmlns:a="http://schemas.openxmlformats.org/drawingml/2006/main" noGrp="1"/>
          </p:cNvSpPr>
          <p:nvPr/>
        </p:nvSpPr>
        <p:spPr>
          <a:xfrm xmlns:a="http://schemas.openxmlformats.org/drawingml/2006/main">
            <a:off x="4724400" y="371475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73039"/>
                </a:solidFill>
                <a:latin typeface="Arial"/>
                <a:ea typeface="Arial"/>
                <a:cs typeface="Arial"/>
              </a:defRPr>
            </a:defPPr>
          </a:lstStyle>
          <a:p xmlns:a="http://schemas.openxmlformats.org/drawingml/2006/main">
            <a:pPr>
              <a:defRPr sz="2250" b="0">
                <a:solidFill>
                  <a:srgbClr val="173039"/>
                </a:solidFill>
                <a:latin typeface="Arial"/>
                <a:ea typeface="Arial"/>
                <a:cs typeface="Arial"/>
              </a:defRPr>
            </a:pPr>
            <a:r>
              <a:rPr sz="2250" b="0">
                <a:solidFill>
                  <a:srgbClr val="173039"/>
                </a:solidFill>
                <a:latin typeface="Arial"/>
                <a:ea typeface="Arial"/>
                <a:cs typeface="Arial"/>
              </a:rPr>
              <a:t>politiques</a:t>
            </a:r>
          </a:p>
        </p:txBody>
      </p:sp>
      <p:sp>
        <p:nvSpPr>
          <p:cNvPr id="8" name="">
            <a:extLst xmlns:a="http://schemas.openxmlformats.org/drawingml/2006/main">
              <a:ext uri="{FF2B5EF4-FFF2-40B4-BE49-F238E27FC236}">
                <a16:creationId xmlns:a16="http://schemas.microsoft.com/office/drawing/2014/main" id="{7D020AF7-0C72-4CA7-893D-985D30EA19A3}"/>
              </a:ext>
            </a:extLst>
          </p:cNvPr>
          <p:cNvSpPr>
            <a:spLocks xmlns:a="http://schemas.openxmlformats.org/drawingml/2006/main" noGrp="1"/>
          </p:cNvSpPr>
          <p:nvPr/>
        </p:nvSpPr>
        <p:spPr>
          <a:xfrm xmlns:a="http://schemas.openxmlformats.org/drawingml/2006/main">
            <a:off x="8534400" y="2009775"/>
            <a:ext cx="2971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450" b="1">
                <a:solidFill>
                  <a:srgbClr val="146C78"/>
                </a:solidFill>
                <a:latin typeface="Arial"/>
                <a:ea typeface="Arial"/>
                <a:cs typeface="Arial"/>
              </a:defRPr>
            </a:defPPr>
          </a:lstStyle>
          <a:p xmlns:a="http://schemas.openxmlformats.org/drawingml/2006/main">
            <a:pPr>
              <a:defRPr sz="9450" b="1">
                <a:solidFill>
                  <a:srgbClr val="146C78"/>
                </a:solidFill>
                <a:latin typeface="Arial"/>
                <a:ea typeface="Arial"/>
                <a:cs typeface="Arial"/>
              </a:defRPr>
            </a:pPr>
            <a:r>
              <a:rPr sz="9450" b="1">
                <a:solidFill>
                  <a:srgbClr val="146C78"/>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BAFC5243-3824-4A4B-8614-3D337145813C}"/>
              </a:ext>
            </a:extLst>
          </p:cNvPr>
          <p:cNvSpPr>
            <a:spLocks xmlns:a="http://schemas.openxmlformats.org/drawingml/2006/main" noGrp="1"/>
          </p:cNvSpPr>
          <p:nvPr/>
        </p:nvSpPr>
        <p:spPr>
          <a:xfrm xmlns:a="http://schemas.openxmlformats.org/drawingml/2006/main">
            <a:off x="8534400" y="371475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73039"/>
                </a:solidFill>
                <a:latin typeface="Arial"/>
                <a:ea typeface="Arial"/>
                <a:cs typeface="Arial"/>
              </a:defRPr>
            </a:defPPr>
          </a:lstStyle>
          <a:p xmlns:a="http://schemas.openxmlformats.org/drawingml/2006/main">
            <a:pPr>
              <a:defRPr sz="2250" b="0">
                <a:solidFill>
                  <a:srgbClr val="173039"/>
                </a:solidFill>
                <a:latin typeface="Arial"/>
                <a:ea typeface="Arial"/>
                <a:cs typeface="Arial"/>
              </a:defRPr>
            </a:pPr>
            <a:r>
              <a:rPr sz="2250" b="0">
                <a:solidFill>
                  <a:srgbClr val="173039"/>
                </a:solidFill>
                <a:latin typeface="Arial"/>
                <a:ea typeface="Arial"/>
                <a:cs typeface="Arial"/>
              </a:rPr>
              <a:t>graines</a:t>
            </a:r>
          </a:p>
        </p:txBody>
      </p:sp>
      <p:sp>
        <p:nvSpPr>
          <p:cNvPr id="10" name="">
            <a:extLst xmlns:a="http://schemas.openxmlformats.org/drawingml/2006/main">
              <a:ext uri="{FF2B5EF4-FFF2-40B4-BE49-F238E27FC236}">
                <a16:creationId xmlns:a16="http://schemas.microsoft.com/office/drawing/2014/main" id="{461A95B4-4025-4329-AB01-938DDBC4085E}"/>
              </a:ext>
            </a:extLst>
          </p:cNvPr>
          <p:cNvSpPr>
            <a:spLocks xmlns:a="http://schemas.openxmlformats.org/drawingml/2006/main" noGrp="1"/>
          </p:cNvSpPr>
          <p:nvPr/>
        </p:nvSpPr>
        <p:spPr>
          <a:xfrm xmlns:a="http://schemas.openxmlformats.org/drawingml/2006/main">
            <a:off x="914400" y="47910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75" b="1">
                <a:solidFill>
                  <a:srgbClr val="173039"/>
                </a:solidFill>
                <a:latin typeface="Arial"/>
                <a:ea typeface="Arial"/>
                <a:cs typeface="Arial"/>
              </a:defRPr>
            </a:defPPr>
          </a:lstStyle>
          <a:p xmlns:a="http://schemas.openxmlformats.org/drawingml/2006/main">
            <a:pPr>
              <a:defRPr sz="3375" b="1">
                <a:solidFill>
                  <a:srgbClr val="173039"/>
                </a:solidFill>
                <a:latin typeface="Arial"/>
                <a:ea typeface="Arial"/>
                <a:cs typeface="Arial"/>
              </a:defRPr>
            </a:pPr>
            <a:r>
              <a:rPr sz="3375" b="1">
                <a:solidFill>
                  <a:srgbClr val="173039"/>
                </a:solidFill>
                <a:latin typeface="Arial"/>
                <a:ea typeface="Arial"/>
                <a:cs typeface="Arial"/>
              </a:rPr>
              <a:t>20 exécutions Anthropic</a:t>
            </a:r>
          </a:p>
        </p:txBody>
      </p:sp>
    </p:spTree>
    <p:extLst>
      <p:ext uri="{BB962C8B-B14F-4D97-AF65-F5344CB8AC3E}">
        <p14:creationId xmlns:p14="http://schemas.microsoft.com/office/powerpoint/2010/main" val="1044319058"/>
      </p:ext>
    </p:extLst>
  </p:cSld>
</p:sld>
</file>

<file path=ppt/slides/slide23.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61B7D23-CE85-4387-8894-555BAF9B073B}"/>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Les vérifications récentes</a:t>
            </a:r>
          </a:p>
        </p:txBody>
      </p:sp>
      <p:sp>
        <p:nvSpPr>
          <p:cNvPr id="2" name="">
            <a:extLst xmlns:a="http://schemas.openxmlformats.org/drawingml/2006/main">
              <a:ext uri="{FF2B5EF4-FFF2-40B4-BE49-F238E27FC236}">
                <a16:creationId xmlns:a16="http://schemas.microsoft.com/office/drawing/2014/main" id="{5CCAE12F-28D0-4647-BC00-D2B5908742E3}"/>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23</a:t>
            </a:r>
          </a:p>
        </p:txBody>
      </p:sp>
      <p:sp>
        <p:nvSpPr>
          <p:cNvPr id="3" name="">
            <a:extLst xmlns:a="http://schemas.openxmlformats.org/drawingml/2006/main">
              <a:ext uri="{FF2B5EF4-FFF2-40B4-BE49-F238E27FC236}">
                <a16:creationId xmlns:a16="http://schemas.microsoft.com/office/drawing/2014/main" id="{38372048-C47F-44A3-808D-F93AA4069295}"/>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Revue indépendante U18/U19. Suite navigateur complète et audit WCAG restent ouverts.</a:t>
            </a:r>
          </a:p>
        </p:txBody>
      </p:sp>
      <p:sp>
        <p:nvSpPr>
          <p:cNvPr id="4" name="">
            <a:extLst xmlns:a="http://schemas.openxmlformats.org/drawingml/2006/main">
              <a:ext uri="{FF2B5EF4-FFF2-40B4-BE49-F238E27FC236}">
                <a16:creationId xmlns:a16="http://schemas.microsoft.com/office/drawing/2014/main" id="{6F3C11A5-2F71-4188-B5DB-9C4C8A4CDDCE}"/>
              </a:ext>
            </a:extLst>
          </p:cNvPr>
          <p:cNvSpPr>
            <a:spLocks xmlns:a="http://schemas.openxmlformats.org/drawingml/2006/main" noGrp="1"/>
          </p:cNvSpPr>
          <p:nvPr/>
        </p:nvSpPr>
        <p:spPr>
          <a:xfrm xmlns:a="http://schemas.openxmlformats.org/drawingml/2006/main">
            <a:off x="609600" y="193357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400" b="1">
                <a:solidFill>
                  <a:srgbClr val="146C78"/>
                </a:solidFill>
                <a:latin typeface="Arial"/>
                <a:ea typeface="Arial"/>
                <a:cs typeface="Arial"/>
              </a:defRPr>
            </a:defPPr>
          </a:lstStyle>
          <a:p xmlns:a="http://schemas.openxmlformats.org/drawingml/2006/main">
            <a:pPr>
              <a:defRPr sz="8400" b="1">
                <a:solidFill>
                  <a:srgbClr val="146C78"/>
                </a:solidFill>
                <a:latin typeface="Arial"/>
                <a:ea typeface="Arial"/>
                <a:cs typeface="Arial"/>
              </a:defRPr>
            </a:pPr>
            <a:r>
              <a:rPr sz="8400" b="1">
                <a:solidFill>
                  <a:srgbClr val="146C78"/>
                </a:solidFill>
                <a:latin typeface="Arial"/>
                <a:ea typeface="Arial"/>
                <a:cs typeface="Arial"/>
              </a:rPr>
              <a:t>245</a:t>
            </a:r>
          </a:p>
        </p:txBody>
      </p:sp>
      <p:sp>
        <p:nvSpPr>
          <p:cNvPr id="5" name="">
            <a:extLst xmlns:a="http://schemas.openxmlformats.org/drawingml/2006/main">
              <a:ext uri="{FF2B5EF4-FFF2-40B4-BE49-F238E27FC236}">
                <a16:creationId xmlns:a16="http://schemas.microsoft.com/office/drawing/2014/main" id="{C93BF29E-BB14-4160-A17A-EF3F74276046}"/>
              </a:ext>
            </a:extLst>
          </p:cNvPr>
          <p:cNvSpPr>
            <a:spLocks xmlns:a="http://schemas.openxmlformats.org/drawingml/2006/main" noGrp="1"/>
          </p:cNvSpPr>
          <p:nvPr/>
        </p:nvSpPr>
        <p:spPr>
          <a:xfrm xmlns:a="http://schemas.openxmlformats.org/drawingml/2006/main">
            <a:off x="609600" y="32956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039"/>
                </a:solidFill>
                <a:latin typeface="Arial"/>
                <a:ea typeface="Arial"/>
                <a:cs typeface="Arial"/>
              </a:defRPr>
            </a:defPPr>
          </a:lstStyle>
          <a:p xmlns:a="http://schemas.openxmlformats.org/drawingml/2006/main">
            <a:pPr>
              <a:defRPr sz="2175" b="0">
                <a:solidFill>
                  <a:srgbClr val="173039"/>
                </a:solidFill>
                <a:latin typeface="Arial"/>
                <a:ea typeface="Arial"/>
                <a:cs typeface="Arial"/>
              </a:defRPr>
            </a:pPr>
            <a:r>
              <a:rPr sz="2175" b="0">
                <a:solidFill>
                  <a:srgbClr val="173039"/>
                </a:solidFill>
                <a:latin typeface="Arial"/>
                <a:ea typeface="Arial"/>
                <a:cs typeface="Arial"/>
              </a:rPr>
              <a:t>tests Python</a:t>
            </a:r>
          </a:p>
        </p:txBody>
      </p:sp>
      <p:sp>
        <p:nvSpPr>
          <p:cNvPr id="6" name="">
            <a:extLst xmlns:a="http://schemas.openxmlformats.org/drawingml/2006/main">
              <a:ext uri="{FF2B5EF4-FFF2-40B4-BE49-F238E27FC236}">
                <a16:creationId xmlns:a16="http://schemas.microsoft.com/office/drawing/2014/main" id="{A4F84699-EC88-47CC-A4AD-D15039CBE293}"/>
              </a:ext>
            </a:extLst>
          </p:cNvPr>
          <p:cNvSpPr>
            <a:spLocks xmlns:a="http://schemas.openxmlformats.org/drawingml/2006/main" noGrp="1"/>
          </p:cNvSpPr>
          <p:nvPr/>
        </p:nvSpPr>
        <p:spPr>
          <a:xfrm xmlns:a="http://schemas.openxmlformats.org/drawingml/2006/main">
            <a:off x="4457700" y="193357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400" b="1">
                <a:solidFill>
                  <a:srgbClr val="146C78"/>
                </a:solidFill>
                <a:latin typeface="Arial"/>
                <a:ea typeface="Arial"/>
                <a:cs typeface="Arial"/>
              </a:defRPr>
            </a:defPPr>
          </a:lstStyle>
          <a:p xmlns:a="http://schemas.openxmlformats.org/drawingml/2006/main">
            <a:pPr>
              <a:defRPr sz="8400" b="1">
                <a:solidFill>
                  <a:srgbClr val="146C78"/>
                </a:solidFill>
                <a:latin typeface="Arial"/>
                <a:ea typeface="Arial"/>
                <a:cs typeface="Arial"/>
              </a:defRPr>
            </a:pPr>
            <a:r>
              <a:rPr sz="8400" b="1">
                <a:solidFill>
                  <a:srgbClr val="146C78"/>
                </a:solidFill>
                <a:latin typeface="Arial"/>
                <a:ea typeface="Arial"/>
                <a:cs typeface="Arial"/>
              </a:rPr>
              <a:t>77</a:t>
            </a:r>
          </a:p>
        </p:txBody>
      </p:sp>
      <p:sp>
        <p:nvSpPr>
          <p:cNvPr id="7" name="">
            <a:extLst xmlns:a="http://schemas.openxmlformats.org/drawingml/2006/main">
              <a:ext uri="{FF2B5EF4-FFF2-40B4-BE49-F238E27FC236}">
                <a16:creationId xmlns:a16="http://schemas.microsoft.com/office/drawing/2014/main" id="{83409BA2-C4F5-4762-99B9-21423793B8CC}"/>
              </a:ext>
            </a:extLst>
          </p:cNvPr>
          <p:cNvSpPr>
            <a:spLocks xmlns:a="http://schemas.openxmlformats.org/drawingml/2006/main" noGrp="1"/>
          </p:cNvSpPr>
          <p:nvPr/>
        </p:nvSpPr>
        <p:spPr>
          <a:xfrm xmlns:a="http://schemas.openxmlformats.org/drawingml/2006/main">
            <a:off x="4457700" y="32956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039"/>
                </a:solidFill>
                <a:latin typeface="Arial"/>
                <a:ea typeface="Arial"/>
                <a:cs typeface="Arial"/>
              </a:defRPr>
            </a:defPPr>
          </a:lstStyle>
          <a:p xmlns:a="http://schemas.openxmlformats.org/drawingml/2006/main">
            <a:pPr>
              <a:defRPr sz="2175" b="0">
                <a:solidFill>
                  <a:srgbClr val="173039"/>
                </a:solidFill>
                <a:latin typeface="Arial"/>
                <a:ea typeface="Arial"/>
                <a:cs typeface="Arial"/>
              </a:defRPr>
            </a:pPr>
            <a:r>
              <a:rPr sz="2175" b="0">
                <a:solidFill>
                  <a:srgbClr val="173039"/>
                </a:solidFill>
                <a:latin typeface="Arial"/>
                <a:ea typeface="Arial"/>
                <a:cs typeface="Arial"/>
              </a:rPr>
              <a:t>tests interface</a:t>
            </a:r>
          </a:p>
        </p:txBody>
      </p:sp>
      <p:sp>
        <p:nvSpPr>
          <p:cNvPr id="8" name="">
            <a:extLst xmlns:a="http://schemas.openxmlformats.org/drawingml/2006/main">
              <a:ext uri="{FF2B5EF4-FFF2-40B4-BE49-F238E27FC236}">
                <a16:creationId xmlns:a16="http://schemas.microsoft.com/office/drawing/2014/main" id="{F03581A0-00D7-4A7E-9DC2-C8098AC4C61D}"/>
              </a:ext>
            </a:extLst>
          </p:cNvPr>
          <p:cNvSpPr>
            <a:spLocks xmlns:a="http://schemas.openxmlformats.org/drawingml/2006/main" noGrp="1"/>
          </p:cNvSpPr>
          <p:nvPr/>
        </p:nvSpPr>
        <p:spPr>
          <a:xfrm xmlns:a="http://schemas.openxmlformats.org/drawingml/2006/main">
            <a:off x="8305800" y="1933575"/>
            <a:ext cx="323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400" b="1">
                <a:solidFill>
                  <a:srgbClr val="146C78"/>
                </a:solidFill>
                <a:latin typeface="Arial"/>
                <a:ea typeface="Arial"/>
                <a:cs typeface="Arial"/>
              </a:defRPr>
            </a:defPPr>
          </a:lstStyle>
          <a:p xmlns:a="http://schemas.openxmlformats.org/drawingml/2006/main">
            <a:pPr>
              <a:defRPr sz="8400" b="1">
                <a:solidFill>
                  <a:srgbClr val="146C78"/>
                </a:solidFill>
                <a:latin typeface="Arial"/>
                <a:ea typeface="Arial"/>
                <a:cs typeface="Arial"/>
              </a:defRPr>
            </a:pPr>
            <a:r>
              <a:rPr sz="8400" b="1">
                <a:solidFill>
                  <a:srgbClr val="146C78"/>
                </a:solidFill>
                <a:latin typeface="Arial"/>
                <a:ea typeface="Arial"/>
                <a:cs typeface="Arial"/>
              </a:rPr>
              <a:t>4</a:t>
            </a:r>
          </a:p>
        </p:txBody>
      </p:sp>
      <p:sp>
        <p:nvSpPr>
          <p:cNvPr id="9" name="">
            <a:extLst xmlns:a="http://schemas.openxmlformats.org/drawingml/2006/main">
              <a:ext uri="{FF2B5EF4-FFF2-40B4-BE49-F238E27FC236}">
                <a16:creationId xmlns:a16="http://schemas.microsoft.com/office/drawing/2014/main" id="{96AD9A45-EEA9-47DF-BB9A-89609E7B02F4}"/>
              </a:ext>
            </a:extLst>
          </p:cNvPr>
          <p:cNvSpPr>
            <a:spLocks xmlns:a="http://schemas.openxmlformats.org/drawingml/2006/main" noGrp="1"/>
          </p:cNvSpPr>
          <p:nvPr/>
        </p:nvSpPr>
        <p:spPr>
          <a:xfrm xmlns:a="http://schemas.openxmlformats.org/drawingml/2006/main">
            <a:off x="8305800" y="32956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039"/>
                </a:solidFill>
                <a:latin typeface="Arial"/>
                <a:ea typeface="Arial"/>
                <a:cs typeface="Arial"/>
              </a:defRPr>
            </a:defPPr>
          </a:lstStyle>
          <a:p xmlns:a="http://schemas.openxmlformats.org/drawingml/2006/main">
            <a:pPr>
              <a:defRPr sz="2175" b="0">
                <a:solidFill>
                  <a:srgbClr val="173039"/>
                </a:solidFill>
                <a:latin typeface="Arial"/>
                <a:ea typeface="Arial"/>
                <a:cs typeface="Arial"/>
              </a:defRPr>
            </a:pPr>
            <a:r>
              <a:rPr sz="2175" b="0">
                <a:solidFill>
                  <a:srgbClr val="173039"/>
                </a:solidFill>
                <a:latin typeface="Arial"/>
                <a:ea typeface="Arial"/>
                <a:cs typeface="Arial"/>
              </a:rPr>
              <a:t>tests du profil QA</a:t>
            </a:r>
          </a:p>
        </p:txBody>
      </p:sp>
      <p:sp>
        <p:nvSpPr>
          <p:cNvPr id="10" name="">
            <a:extLst xmlns:a="http://schemas.openxmlformats.org/drawingml/2006/main">
              <a:ext uri="{FF2B5EF4-FFF2-40B4-BE49-F238E27FC236}">
                <a16:creationId xmlns:a16="http://schemas.microsoft.com/office/drawing/2014/main" id="{333315DF-EE11-4E75-89AA-E51923C53C8E}"/>
              </a:ext>
            </a:extLst>
          </p:cNvPr>
          <p:cNvSpPr>
            <a:spLocks xmlns:a="http://schemas.openxmlformats.org/drawingml/2006/main" noGrp="1"/>
          </p:cNvSpPr>
          <p:nvPr/>
        </p:nvSpPr>
        <p:spPr>
          <a:xfrm xmlns:a="http://schemas.openxmlformats.org/drawingml/2006/main">
            <a:off x="609600" y="445770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Contrôles automatisés</a:t>
            </a:r>
          </a:p>
        </p:txBody>
      </p:sp>
      <p:sp>
        <p:nvSpPr>
          <p:cNvPr id="11" name="">
            <a:extLst xmlns:a="http://schemas.openxmlformats.org/drawingml/2006/main">
              <a:ext uri="{FF2B5EF4-FFF2-40B4-BE49-F238E27FC236}">
                <a16:creationId xmlns:a16="http://schemas.microsoft.com/office/drawing/2014/main" id="{C9DCCC4F-82D7-4CAB-9ACB-149DDB0D1F01}"/>
              </a:ext>
            </a:extLst>
          </p:cNvPr>
          <p:cNvSpPr>
            <a:spLocks xmlns:a="http://schemas.openxmlformats.org/drawingml/2006/main" noGrp="1"/>
          </p:cNvSpPr>
          <p:nvPr/>
        </p:nvSpPr>
        <p:spPr>
          <a:xfrm xmlns:a="http://schemas.openxmlformats.org/drawingml/2006/main">
            <a:off x="609600" y="4981575"/>
            <a:ext cx="5238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Ruff, TypeScript et build de production réussis.</a:t>
            </a:r>
          </a:p>
        </p:txBody>
      </p:sp>
      <p:sp>
        <p:nvSpPr>
          <p:cNvPr id="12" name="">
            <a:extLst xmlns:a="http://schemas.openxmlformats.org/drawingml/2006/main">
              <a:ext uri="{FF2B5EF4-FFF2-40B4-BE49-F238E27FC236}">
                <a16:creationId xmlns:a16="http://schemas.microsoft.com/office/drawing/2014/main" id="{C97107F1-5E09-485A-83E8-6261B3035FCD}"/>
              </a:ext>
            </a:extLst>
          </p:cNvPr>
          <p:cNvSpPr>
            <a:spLocks xmlns:a="http://schemas.openxmlformats.org/drawingml/2006/main" noGrp="1"/>
          </p:cNvSpPr>
          <p:nvPr/>
        </p:nvSpPr>
        <p:spPr>
          <a:xfrm xmlns:a="http://schemas.openxmlformats.org/drawingml/2006/main">
            <a:off x="6381750" y="445770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Parcours navigateur MCP</a:t>
            </a:r>
          </a:p>
        </p:txBody>
      </p:sp>
      <p:sp>
        <p:nvSpPr>
          <p:cNvPr id="13" name="">
            <a:extLst xmlns:a="http://schemas.openxmlformats.org/drawingml/2006/main">
              <a:ext uri="{FF2B5EF4-FFF2-40B4-BE49-F238E27FC236}">
                <a16:creationId xmlns:a16="http://schemas.microsoft.com/office/drawing/2014/main" id="{0D6C0122-BFF1-4211-B64E-D99F50FEB657}"/>
              </a:ext>
            </a:extLst>
          </p:cNvPr>
          <p:cNvSpPr>
            <a:spLocks xmlns:a="http://schemas.openxmlformats.org/drawingml/2006/main" noGrp="1"/>
          </p:cNvSpPr>
          <p:nvPr/>
        </p:nvSpPr>
        <p:spPr>
          <a:xfrm xmlns:a="http://schemas.openxmlformats.org/drawingml/2006/main">
            <a:off x="6381750" y="4981575"/>
            <a:ext cx="5238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CSV, rechargement, exports, flotte configurée, certificat et simulation.</a:t>
            </a:r>
          </a:p>
        </p:txBody>
      </p:sp>
    </p:spTree>
    <p:extLst>
      <p:ext uri="{BB962C8B-B14F-4D97-AF65-F5344CB8AC3E}">
        <p14:creationId xmlns:p14="http://schemas.microsoft.com/office/powerpoint/2010/main" val="405562202"/>
      </p:ext>
    </p:extLst>
  </p:cSld>
</p:sld>
</file>

<file path=ppt/slides/slide24.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0AAD5A-CE24-425F-BE3B-0EEE77353A20}"/>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Sauvegarde et limites de reprise</a:t>
            </a:r>
          </a:p>
        </p:txBody>
      </p:sp>
      <p:sp>
        <p:nvSpPr>
          <p:cNvPr id="2" name="">
            <a:extLst xmlns:a="http://schemas.openxmlformats.org/drawingml/2006/main">
              <a:ext uri="{FF2B5EF4-FFF2-40B4-BE49-F238E27FC236}">
                <a16:creationId xmlns:a16="http://schemas.microsoft.com/office/drawing/2014/main" id="{E092B7A5-3EAA-44E1-AAA9-E258FADE051E}"/>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1944B680-8DB8-4BEB-90F8-EFEFF3A1FB8D}"/>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20 tests de recovery préservent les données et les réserves. Aucun écrasement de la base active.</a:t>
            </a:r>
          </a:p>
        </p:txBody>
      </p:sp>
      <p:sp>
        <p:nvSpPr>
          <p:cNvPr id="4" name="">
            <a:extLst xmlns:a="http://schemas.openxmlformats.org/drawingml/2006/main">
              <a:ext uri="{FF2B5EF4-FFF2-40B4-BE49-F238E27FC236}">
                <a16:creationId xmlns:a16="http://schemas.microsoft.com/office/drawing/2014/main" id="{18E39D63-7AA9-48DF-BDBC-9E54F7F1BC91}"/>
              </a:ext>
            </a:extLst>
          </p:cNvPr>
          <p:cNvSpPr>
            <a:spLocks xmlns:a="http://schemas.openxmlformats.org/drawingml/2006/main" noGrp="1"/>
          </p:cNvSpPr>
          <p:nvPr/>
        </p:nvSpPr>
        <p:spPr>
          <a:xfrm xmlns:a="http://schemas.openxmlformats.org/drawingml/2006/main">
            <a:off x="6096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Application SQLite</a:t>
            </a:r>
          </a:p>
        </p:txBody>
      </p:sp>
      <p:sp>
        <p:nvSpPr>
          <p:cNvPr id="5" name="">
            <a:extLst xmlns:a="http://schemas.openxmlformats.org/drawingml/2006/main">
              <a:ext uri="{FF2B5EF4-FFF2-40B4-BE49-F238E27FC236}">
                <a16:creationId xmlns:a16="http://schemas.microsoft.com/office/drawing/2014/main" id="{34FB00C0-A745-4110-9BB5-DA146BADE3E2}"/>
              </a:ext>
            </a:extLst>
          </p:cNvPr>
          <p:cNvSpPr>
            <a:spLocks xmlns:a="http://schemas.openxmlformats.org/drawingml/2006/main" noGrp="1"/>
          </p:cNvSpPr>
          <p:nvPr/>
        </p:nvSpPr>
        <p:spPr>
          <a:xfrm xmlns:a="http://schemas.openxmlformats.org/drawingml/2006/main">
            <a:off x="6096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Copie cohérente pendant l’activité</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Contrôle d’intégrité et de schéma</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Empreinte du fichier et manifeste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Restauration vers un nouveau fichier</a:t>
            </a:r>
          </a:p>
        </p:txBody>
      </p:sp>
      <p:sp>
        <p:nvSpPr>
          <p:cNvPr id="6" name="">
            <a:extLst xmlns:a="http://schemas.openxmlformats.org/drawingml/2006/main">
              <a:ext uri="{FF2B5EF4-FFF2-40B4-BE49-F238E27FC236}">
                <a16:creationId xmlns:a16="http://schemas.microsoft.com/office/drawing/2014/main" id="{5200A394-E1DC-4F5F-B599-7EAA678FE046}"/>
              </a:ext>
            </a:extLst>
          </p:cNvPr>
          <p:cNvSpPr>
            <a:spLocks xmlns:a="http://schemas.openxmlformats.org/drawingml/2006/main" noGrp="1"/>
          </p:cNvSpPr>
          <p:nvPr/>
        </p:nvSpPr>
        <p:spPr>
          <a:xfrm xmlns:a="http://schemas.openxmlformats.org/drawingml/2006/main">
            <a:off x="6438900" y="1971675"/>
            <a:ext cx="5105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6C78"/>
                </a:solidFill>
                <a:latin typeface="Arial"/>
                <a:ea typeface="Arial"/>
                <a:cs typeface="Arial"/>
              </a:defRPr>
            </a:defPPr>
          </a:lstStyle>
          <a:p xmlns:a="http://schemas.openxmlformats.org/drawingml/2006/main">
            <a:pPr>
              <a:defRPr sz="2250" b="1">
                <a:solidFill>
                  <a:srgbClr val="146C78"/>
                </a:solidFill>
                <a:latin typeface="Arial"/>
                <a:ea typeface="Arial"/>
                <a:cs typeface="Arial"/>
              </a:defRPr>
            </a:pPr>
            <a:r>
              <a:rPr sz="2250" b="1">
                <a:solidFill>
                  <a:srgbClr val="146C78"/>
                </a:solidFill>
                <a:latin typeface="Arial"/>
                <a:ea typeface="Arial"/>
                <a:cs typeface="Arial"/>
              </a:rPr>
              <a:t>Reprise complète à établir</a:t>
            </a:r>
          </a:p>
        </p:txBody>
      </p:sp>
      <p:sp>
        <p:nvSpPr>
          <p:cNvPr id="7" name="">
            <a:extLst xmlns:a="http://schemas.openxmlformats.org/drawingml/2006/main">
              <a:ext uri="{FF2B5EF4-FFF2-40B4-BE49-F238E27FC236}">
                <a16:creationId xmlns:a16="http://schemas.microsoft.com/office/drawing/2014/main" id="{B81B0412-FD10-4EC4-B715-76DEA6203602}"/>
              </a:ext>
            </a:extLst>
          </p:cNvPr>
          <p:cNvSpPr>
            <a:spLocks xmlns:a="http://schemas.openxmlformats.org/drawingml/2006/main" noGrp="1"/>
          </p:cNvSpPr>
          <p:nvPr/>
        </p:nvSpPr>
        <p:spPr>
          <a:xfrm xmlns:a="http://schemas.openxmlformats.org/drawingml/2006/main">
            <a:off x="6438900" y="2705100"/>
            <a:ext cx="50673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039"/>
                </a:solidFill>
                <a:latin typeface="Arial"/>
                <a:ea typeface="Arial"/>
                <a:cs typeface="Arial"/>
              </a:defRPr>
            </a:defPPr>
          </a:lstStyle>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Checkpoints LangGraph séparés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Appels et courriels incertains</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Procédure coordonnée de bascule</a:t>
            </a:r>
          </a:p>
          <a:p xmlns:a="http://schemas.openxmlformats.org/drawingml/2006/main">
            <a:pPr>
              <a:defRPr sz="2100" b="0">
                <a:solidFill>
                  <a:srgbClr val="173039"/>
                </a:solidFill>
                <a:latin typeface="Arial"/>
                <a:ea typeface="Arial"/>
                <a:cs typeface="Arial"/>
              </a:defRPr>
            </a:pPr>
            <a:r>
              <a:rPr sz="2100" b="0">
                <a:solidFill>
                  <a:srgbClr val="173039"/>
                </a:solidFill>
                <a:latin typeface="Arial"/>
                <a:ea typeface="Arial"/>
                <a:cs typeface="Arial"/>
              </a:rPr>
              <a:t>Validation PostgreSQL et incidents</a:t>
            </a:r>
          </a:p>
        </p:txBody>
      </p:sp>
    </p:spTree>
    <p:extLst>
      <p:ext uri="{BB962C8B-B14F-4D97-AF65-F5344CB8AC3E}">
        <p14:creationId xmlns:p14="http://schemas.microsoft.com/office/powerpoint/2010/main" val="1419990244"/>
      </p:ext>
    </p:extLst>
  </p:cSld>
</p:sld>
</file>

<file path=ppt/slides/slide25.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415EA5F-5748-4774-A93D-1C094EB6363C}"/>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 prochain périmètre utile aux courtiers</a:t>
            </a:r>
          </a:p>
        </p:txBody>
      </p:sp>
      <p:sp>
        <p:nvSpPr>
          <p:cNvPr id="2" name="">
            <a:extLst xmlns:a="http://schemas.openxmlformats.org/drawingml/2006/main">
              <a:ext uri="{FF2B5EF4-FFF2-40B4-BE49-F238E27FC236}">
                <a16:creationId xmlns:a16="http://schemas.microsoft.com/office/drawing/2014/main" id="{ABF1B258-6ED4-4E59-8126-4B933EE5E5AF}"/>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F3DD02FD-B7DB-4918-82AE-24339B6F5CA7}"/>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Le produit actuel est un prototype local. Aucune promesse de service commercial.</a:t>
            </a:r>
          </a:p>
        </p:txBody>
      </p:sp>
      <p:sp>
        <p:nvSpPr>
          <p:cNvPr id="4" name="">
            <a:extLst xmlns:a="http://schemas.openxmlformats.org/drawingml/2006/main">
              <a:ext uri="{FF2B5EF4-FFF2-40B4-BE49-F238E27FC236}">
                <a16:creationId xmlns:a16="http://schemas.microsoft.com/office/drawing/2014/main" id="{EC178CA7-23DF-41C5-8D2B-EF3F51E6768E}"/>
              </a:ext>
            </a:extLst>
          </p:cNvPr>
          <p:cNvSpPr>
            <a:spLocks xmlns:a="http://schemas.openxmlformats.org/drawingml/2006/main" noGrp="1"/>
          </p:cNvSpPr>
          <p:nvPr/>
        </p:nvSpPr>
        <p:spPr>
          <a:xfrm xmlns:a="http://schemas.openxmlformats.org/drawingml/2006/main">
            <a:off x="609600" y="20478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46C78"/>
                </a:solidFill>
                <a:latin typeface="Arial"/>
                <a:ea typeface="Arial"/>
                <a:cs typeface="Arial"/>
              </a:defRPr>
            </a:defPPr>
          </a:lstStyle>
          <a:p xmlns:a="http://schemas.openxmlformats.org/drawingml/2006/main">
            <a:pPr>
              <a:defRPr sz="3000" b="1">
                <a:solidFill>
                  <a:srgbClr val="146C78"/>
                </a:solidFill>
                <a:latin typeface="Arial"/>
                <a:ea typeface="Arial"/>
                <a:cs typeface="Arial"/>
              </a:defRPr>
            </a:pPr>
            <a:r>
              <a:rPr sz="3000" b="1">
                <a:solidFill>
                  <a:srgbClr val="146C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D4C0FF7-5D74-48A2-8BA0-3F1424369EAC}"/>
              </a:ext>
            </a:extLst>
          </p:cNvPr>
          <p:cNvSpPr>
            <a:spLocks xmlns:a="http://schemas.openxmlformats.org/drawingml/2006/main" noGrp="1"/>
          </p:cNvSpPr>
          <p:nvPr/>
        </p:nvSpPr>
        <p:spPr>
          <a:xfrm xmlns:a="http://schemas.openxmlformats.org/drawingml/2006/main">
            <a:off x="1419225" y="204787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039"/>
                </a:solidFill>
                <a:latin typeface="Arial"/>
                <a:ea typeface="Arial"/>
                <a:cs typeface="Arial"/>
              </a:defRPr>
            </a:defPPr>
          </a:lstStyle>
          <a:p xmlns:a="http://schemas.openxmlformats.org/drawingml/2006/main">
            <a:pPr>
              <a:defRPr sz="2250" b="1">
                <a:solidFill>
                  <a:srgbClr val="173039"/>
                </a:solidFill>
                <a:latin typeface="Arial"/>
                <a:ea typeface="Arial"/>
                <a:cs typeface="Arial"/>
              </a:defRPr>
            </a:pPr>
            <a:r>
              <a:rPr sz="2250" b="1">
                <a:solidFill>
                  <a:srgbClr val="173039"/>
                </a:solidFill>
                <a:latin typeface="Arial"/>
                <a:ea typeface="Arial"/>
                <a:cs typeface="Arial"/>
              </a:rPr>
              <a:t>Accès et responsabilité</a:t>
            </a:r>
          </a:p>
        </p:txBody>
      </p:sp>
      <p:sp>
        <p:nvSpPr>
          <p:cNvPr id="6" name="">
            <a:extLst xmlns:a="http://schemas.openxmlformats.org/drawingml/2006/main">
              <a:ext uri="{FF2B5EF4-FFF2-40B4-BE49-F238E27FC236}">
                <a16:creationId xmlns:a16="http://schemas.microsoft.com/office/drawing/2014/main" id="{5F26106B-4C0C-4C92-A413-1F541E2A5202}"/>
              </a:ext>
            </a:extLst>
          </p:cNvPr>
          <p:cNvSpPr>
            <a:spLocks xmlns:a="http://schemas.openxmlformats.org/drawingml/2006/main" noGrp="1"/>
          </p:cNvSpPr>
          <p:nvPr/>
        </p:nvSpPr>
        <p:spPr>
          <a:xfrm xmlns:a="http://schemas.openxmlformats.org/drawingml/2006/main">
            <a:off x="1419225" y="2771775"/>
            <a:ext cx="433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870"/>
                </a:solidFill>
                <a:latin typeface="Arial"/>
                <a:ea typeface="Arial"/>
                <a:cs typeface="Arial"/>
              </a:defRPr>
            </a:defPPr>
          </a:lstStyle>
          <a:p xmlns:a="http://schemas.openxmlformats.org/drawingml/2006/main">
            <a:pPr>
              <a:defRPr sz="1875" b="0">
                <a:solidFill>
                  <a:srgbClr val="526870"/>
                </a:solidFill>
                <a:latin typeface="Arial"/>
                <a:ea typeface="Arial"/>
                <a:cs typeface="Arial"/>
              </a:defRPr>
            </a:pPr>
            <a:r>
              <a:rPr sz="1875" b="0">
                <a:solidFill>
                  <a:srgbClr val="526870"/>
                </a:solidFill>
                <a:latin typeface="Arial"/>
                <a:ea typeface="Arial"/>
                <a:cs typeface="Arial"/>
              </a:rPr>
              <a:t>Authentifier les entreprises, répartiteurs et conducteurs.</a:t>
            </a:r>
          </a:p>
        </p:txBody>
      </p:sp>
      <p:sp>
        <p:nvSpPr>
          <p:cNvPr id="7" name="">
            <a:extLst xmlns:a="http://schemas.openxmlformats.org/drawingml/2006/main">
              <a:ext uri="{FF2B5EF4-FFF2-40B4-BE49-F238E27FC236}">
                <a16:creationId xmlns:a16="http://schemas.microsoft.com/office/drawing/2014/main" id="{2C3ABBE2-32D9-4BB5-990C-3B55704F0933}"/>
              </a:ext>
            </a:extLst>
          </p:cNvPr>
          <p:cNvSpPr>
            <a:spLocks xmlns:a="http://schemas.openxmlformats.org/drawingml/2006/main" noGrp="1"/>
          </p:cNvSpPr>
          <p:nvPr/>
        </p:nvSpPr>
        <p:spPr>
          <a:xfrm xmlns:a="http://schemas.openxmlformats.org/drawingml/2006/main">
            <a:off x="6381750" y="2047875"/>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46C78"/>
                </a:solidFill>
                <a:latin typeface="Arial"/>
                <a:ea typeface="Arial"/>
                <a:cs typeface="Arial"/>
              </a:defRPr>
            </a:defPPr>
          </a:lstStyle>
          <a:p xmlns:a="http://schemas.openxmlformats.org/drawingml/2006/main">
            <a:pPr>
              <a:defRPr sz="3000" b="1">
                <a:solidFill>
                  <a:srgbClr val="146C78"/>
                </a:solidFill>
                <a:latin typeface="Arial"/>
                <a:ea typeface="Arial"/>
                <a:cs typeface="Arial"/>
              </a:defRPr>
            </a:pPr>
            <a:r>
              <a:rPr sz="3000" b="1">
                <a:solidFill>
                  <a:srgbClr val="146C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AA95AC4-C2A8-46C3-BBB0-DBBA123A25B9}"/>
              </a:ext>
            </a:extLst>
          </p:cNvPr>
          <p:cNvSpPr>
            <a:spLocks xmlns:a="http://schemas.openxmlformats.org/drawingml/2006/main" noGrp="1"/>
          </p:cNvSpPr>
          <p:nvPr/>
        </p:nvSpPr>
        <p:spPr>
          <a:xfrm xmlns:a="http://schemas.openxmlformats.org/drawingml/2006/main">
            <a:off x="7191375" y="204787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039"/>
                </a:solidFill>
                <a:latin typeface="Arial"/>
                <a:ea typeface="Arial"/>
                <a:cs typeface="Arial"/>
              </a:defRPr>
            </a:defPPr>
          </a:lstStyle>
          <a:p xmlns:a="http://schemas.openxmlformats.org/drawingml/2006/main">
            <a:pPr>
              <a:defRPr sz="2250" b="1">
                <a:solidFill>
                  <a:srgbClr val="173039"/>
                </a:solidFill>
                <a:latin typeface="Arial"/>
                <a:ea typeface="Arial"/>
                <a:cs typeface="Arial"/>
              </a:defRPr>
            </a:pPr>
            <a:r>
              <a:rPr sz="2250" b="1">
                <a:solidFill>
                  <a:srgbClr val="173039"/>
                </a:solidFill>
                <a:latin typeface="Arial"/>
                <a:ea typeface="Arial"/>
                <a:cs typeface="Arial"/>
              </a:rPr>
              <a:t>Exécution terrain</a:t>
            </a:r>
          </a:p>
        </p:txBody>
      </p:sp>
      <p:sp>
        <p:nvSpPr>
          <p:cNvPr id="9" name="">
            <a:extLst xmlns:a="http://schemas.openxmlformats.org/drawingml/2006/main">
              <a:ext uri="{FF2B5EF4-FFF2-40B4-BE49-F238E27FC236}">
                <a16:creationId xmlns:a16="http://schemas.microsoft.com/office/drawing/2014/main" id="{DB2E5E63-B7B7-40DD-99E0-8910D4B1D25A}"/>
              </a:ext>
            </a:extLst>
          </p:cNvPr>
          <p:cNvSpPr>
            <a:spLocks xmlns:a="http://schemas.openxmlformats.org/drawingml/2006/main" noGrp="1"/>
          </p:cNvSpPr>
          <p:nvPr/>
        </p:nvSpPr>
        <p:spPr>
          <a:xfrm xmlns:a="http://schemas.openxmlformats.org/drawingml/2006/main">
            <a:off x="7191375" y="2771775"/>
            <a:ext cx="433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870"/>
                </a:solidFill>
                <a:latin typeface="Arial"/>
                <a:ea typeface="Arial"/>
                <a:cs typeface="Arial"/>
              </a:defRPr>
            </a:defPPr>
          </a:lstStyle>
          <a:p xmlns:a="http://schemas.openxmlformats.org/drawingml/2006/main">
            <a:pPr>
              <a:defRPr sz="1875" b="0">
                <a:solidFill>
                  <a:srgbClr val="526870"/>
                </a:solidFill>
                <a:latin typeface="Arial"/>
                <a:ea typeface="Arial"/>
                <a:cs typeface="Arial"/>
              </a:defRPr>
            </a:pPr>
            <a:r>
              <a:rPr sz="1875" b="0">
                <a:solidFill>
                  <a:srgbClr val="526870"/>
                </a:solidFill>
                <a:latin typeface="Arial"/>
                <a:ea typeface="Arial"/>
                <a:cs typeface="Arial"/>
              </a:rPr>
              <a:t>Accepter la mission, suivre sa fraîcheur et réconcilier chaque colis.</a:t>
            </a:r>
          </a:p>
        </p:txBody>
      </p:sp>
      <p:sp>
        <p:nvSpPr>
          <p:cNvPr id="10" name="">
            <a:extLst xmlns:a="http://schemas.openxmlformats.org/drawingml/2006/main">
              <a:ext uri="{FF2B5EF4-FFF2-40B4-BE49-F238E27FC236}">
                <a16:creationId xmlns:a16="http://schemas.microsoft.com/office/drawing/2014/main" id="{D852B72D-1322-44FB-9E6F-0593F57CA3E0}"/>
              </a:ext>
            </a:extLst>
          </p:cNvPr>
          <p:cNvSpPr>
            <a:spLocks xmlns:a="http://schemas.openxmlformats.org/drawingml/2006/main" noGrp="1"/>
          </p:cNvSpPr>
          <p:nvPr/>
        </p:nvSpPr>
        <p:spPr>
          <a:xfrm xmlns:a="http://schemas.openxmlformats.org/drawingml/2006/main">
            <a:off x="609600" y="40005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46C78"/>
                </a:solidFill>
                <a:latin typeface="Arial"/>
                <a:ea typeface="Arial"/>
                <a:cs typeface="Arial"/>
              </a:defRPr>
            </a:defPPr>
          </a:lstStyle>
          <a:p xmlns:a="http://schemas.openxmlformats.org/drawingml/2006/main">
            <a:pPr>
              <a:defRPr sz="3000" b="1">
                <a:solidFill>
                  <a:srgbClr val="146C78"/>
                </a:solidFill>
                <a:latin typeface="Arial"/>
                <a:ea typeface="Arial"/>
                <a:cs typeface="Arial"/>
              </a:defRPr>
            </a:pPr>
            <a:r>
              <a:rPr sz="3000" b="1">
                <a:solidFill>
                  <a:srgbClr val="146C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76E1038-6D44-4CEF-884C-4AF0EF8B17AF}"/>
              </a:ext>
            </a:extLst>
          </p:cNvPr>
          <p:cNvSpPr>
            <a:spLocks xmlns:a="http://schemas.openxmlformats.org/drawingml/2006/main" noGrp="1"/>
          </p:cNvSpPr>
          <p:nvPr/>
        </p:nvSpPr>
        <p:spPr>
          <a:xfrm xmlns:a="http://schemas.openxmlformats.org/drawingml/2006/main">
            <a:off x="1419225" y="4000500"/>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039"/>
                </a:solidFill>
                <a:latin typeface="Arial"/>
                <a:ea typeface="Arial"/>
                <a:cs typeface="Arial"/>
              </a:defRPr>
            </a:defPPr>
          </a:lstStyle>
          <a:p xmlns:a="http://schemas.openxmlformats.org/drawingml/2006/main">
            <a:pPr>
              <a:defRPr sz="2250" b="1">
                <a:solidFill>
                  <a:srgbClr val="173039"/>
                </a:solidFill>
                <a:latin typeface="Arial"/>
                <a:ea typeface="Arial"/>
                <a:cs typeface="Arial"/>
              </a:defRPr>
            </a:pPr>
            <a:r>
              <a:rPr sz="2250" b="1">
                <a:solidFill>
                  <a:srgbClr val="173039"/>
                </a:solidFill>
                <a:latin typeface="Arial"/>
                <a:ea typeface="Arial"/>
                <a:cs typeface="Arial"/>
              </a:rPr>
              <a:t>Transport contractuel</a:t>
            </a:r>
          </a:p>
        </p:txBody>
      </p:sp>
      <p:sp>
        <p:nvSpPr>
          <p:cNvPr id="12" name="">
            <a:extLst xmlns:a="http://schemas.openxmlformats.org/drawingml/2006/main">
              <a:ext uri="{FF2B5EF4-FFF2-40B4-BE49-F238E27FC236}">
                <a16:creationId xmlns:a16="http://schemas.microsoft.com/office/drawing/2014/main" id="{9D2E88CA-3C51-4A17-9539-8EF48CC7D6EC}"/>
              </a:ext>
            </a:extLst>
          </p:cNvPr>
          <p:cNvSpPr>
            <a:spLocks xmlns:a="http://schemas.openxmlformats.org/drawingml/2006/main" noGrp="1"/>
          </p:cNvSpPr>
          <p:nvPr/>
        </p:nvSpPr>
        <p:spPr>
          <a:xfrm xmlns:a="http://schemas.openxmlformats.org/drawingml/2006/main">
            <a:off x="1419225" y="4724400"/>
            <a:ext cx="433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870"/>
                </a:solidFill>
                <a:latin typeface="Arial"/>
                <a:ea typeface="Arial"/>
                <a:cs typeface="Arial"/>
              </a:defRPr>
            </a:defPPr>
          </a:lstStyle>
          <a:p xmlns:a="http://schemas.openxmlformats.org/drawingml/2006/main">
            <a:pPr>
              <a:defRPr sz="1875" b="0">
                <a:solidFill>
                  <a:srgbClr val="526870"/>
                </a:solidFill>
                <a:latin typeface="Arial"/>
                <a:ea typeface="Arial"/>
                <a:cs typeface="Arial"/>
              </a:defRPr>
            </a:pPr>
            <a:r>
              <a:rPr sz="1875" b="0">
                <a:solidFill>
                  <a:srgbClr val="526870"/>
                </a:solidFill>
                <a:latin typeface="Arial"/>
                <a:ea typeface="Arial"/>
                <a:cs typeface="Arial"/>
              </a:rPr>
              <a:t>Valider fournisseurs, restrictions véhicules et taux opérationnels.</a:t>
            </a:r>
          </a:p>
        </p:txBody>
      </p:sp>
      <p:sp>
        <p:nvSpPr>
          <p:cNvPr id="13" name="">
            <a:extLst xmlns:a="http://schemas.openxmlformats.org/drawingml/2006/main">
              <a:ext uri="{FF2B5EF4-FFF2-40B4-BE49-F238E27FC236}">
                <a16:creationId xmlns:a16="http://schemas.microsoft.com/office/drawing/2014/main" id="{FB3C8D63-68E4-44CB-9DBE-A7098A9E4A83}"/>
              </a:ext>
            </a:extLst>
          </p:cNvPr>
          <p:cNvSpPr>
            <a:spLocks xmlns:a="http://schemas.openxmlformats.org/drawingml/2006/main" noGrp="1"/>
          </p:cNvSpPr>
          <p:nvPr/>
        </p:nvSpPr>
        <p:spPr>
          <a:xfrm xmlns:a="http://schemas.openxmlformats.org/drawingml/2006/main">
            <a:off x="6381750" y="4000500"/>
            <a:ext cx="66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00" b="1">
                <a:solidFill>
                  <a:srgbClr val="146C78"/>
                </a:solidFill>
                <a:latin typeface="Arial"/>
                <a:ea typeface="Arial"/>
                <a:cs typeface="Arial"/>
              </a:defRPr>
            </a:defPPr>
          </a:lstStyle>
          <a:p xmlns:a="http://schemas.openxmlformats.org/drawingml/2006/main">
            <a:pPr>
              <a:defRPr sz="3000" b="1">
                <a:solidFill>
                  <a:srgbClr val="146C78"/>
                </a:solidFill>
                <a:latin typeface="Arial"/>
                <a:ea typeface="Arial"/>
                <a:cs typeface="Arial"/>
              </a:defRPr>
            </a:pPr>
            <a:r>
              <a:rPr sz="3000" b="1">
                <a:solidFill>
                  <a:srgbClr val="146C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667FBAA3-9C5B-4EB5-82D5-160F41A83838}"/>
              </a:ext>
            </a:extLst>
          </p:cNvPr>
          <p:cNvSpPr>
            <a:spLocks xmlns:a="http://schemas.openxmlformats.org/drawingml/2006/main" noGrp="1"/>
          </p:cNvSpPr>
          <p:nvPr/>
        </p:nvSpPr>
        <p:spPr>
          <a:xfrm xmlns:a="http://schemas.openxmlformats.org/drawingml/2006/main">
            <a:off x="7191375" y="4000500"/>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039"/>
                </a:solidFill>
                <a:latin typeface="Arial"/>
                <a:ea typeface="Arial"/>
                <a:cs typeface="Arial"/>
              </a:defRPr>
            </a:defPPr>
          </a:lstStyle>
          <a:p xmlns:a="http://schemas.openxmlformats.org/drawingml/2006/main">
            <a:pPr>
              <a:defRPr sz="2250" b="1">
                <a:solidFill>
                  <a:srgbClr val="173039"/>
                </a:solidFill>
                <a:latin typeface="Arial"/>
                <a:ea typeface="Arial"/>
                <a:cs typeface="Arial"/>
              </a:defRPr>
            </a:pPr>
            <a:r>
              <a:rPr sz="2250" b="1">
                <a:solidFill>
                  <a:srgbClr val="173039"/>
                </a:solidFill>
                <a:latin typeface="Arial"/>
                <a:ea typeface="Arial"/>
                <a:cs typeface="Arial"/>
              </a:rPr>
              <a:t>Pilote mesuré</a:t>
            </a:r>
          </a:p>
        </p:txBody>
      </p:sp>
      <p:sp>
        <p:nvSpPr>
          <p:cNvPr id="15" name="">
            <a:extLst xmlns:a="http://schemas.openxmlformats.org/drawingml/2006/main">
              <a:ext uri="{FF2B5EF4-FFF2-40B4-BE49-F238E27FC236}">
                <a16:creationId xmlns:a16="http://schemas.microsoft.com/office/drawing/2014/main" id="{27D4EB8D-F250-4474-9259-4DA6B0066953}"/>
              </a:ext>
            </a:extLst>
          </p:cNvPr>
          <p:cNvSpPr>
            <a:spLocks xmlns:a="http://schemas.openxmlformats.org/drawingml/2006/main" noGrp="1"/>
          </p:cNvSpPr>
          <p:nvPr/>
        </p:nvSpPr>
        <p:spPr>
          <a:xfrm xmlns:a="http://schemas.openxmlformats.org/drawingml/2006/main">
            <a:off x="7191375" y="4724400"/>
            <a:ext cx="433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870"/>
                </a:solidFill>
                <a:latin typeface="Arial"/>
                <a:ea typeface="Arial"/>
                <a:cs typeface="Arial"/>
              </a:defRPr>
            </a:defPPr>
          </a:lstStyle>
          <a:p xmlns:a="http://schemas.openxmlformats.org/drawingml/2006/main">
            <a:pPr>
              <a:defRPr sz="1875" b="0">
                <a:solidFill>
                  <a:srgbClr val="526870"/>
                </a:solidFill>
                <a:latin typeface="Arial"/>
                <a:ea typeface="Arial"/>
                <a:cs typeface="Arial"/>
              </a:defRPr>
            </a:pPr>
            <a:r>
              <a:rPr sz="1875" b="0">
                <a:solidFill>
                  <a:srgbClr val="526870"/>
                </a:solidFill>
                <a:latin typeface="Arial"/>
                <a:ea typeface="Arial"/>
                <a:cs typeface="Arial"/>
              </a:rPr>
              <a:t>Comparer délai, kilomètres, erreurs et interventions humaines.</a:t>
            </a:r>
          </a:p>
        </p:txBody>
      </p:sp>
    </p:spTree>
    <p:extLst>
      <p:ext uri="{BB962C8B-B14F-4D97-AF65-F5344CB8AC3E}">
        <p14:creationId xmlns:p14="http://schemas.microsoft.com/office/powerpoint/2010/main" val="1021273568"/>
      </p:ext>
    </p:extLst>
  </p:cSld>
</p:sld>
</file>

<file path=ppt/slides/slide26.xml><?xml version="1.0" encoding="utf-8"?>
<p:sld xmlns:p="http://schemas.openxmlformats.org/presentationml/2006/main">
  <p:cSld>
    <p:bg>
      <p:bgPr>
        <a:solidFill xmlns:a="http://schemas.openxmlformats.org/drawingml/2006/main">
          <a:srgbClr val="17303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208F8D4-BF30-4CA7-B927-5F79B60BDDBF}"/>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La démonstration</a:t>
            </a:r>
          </a:p>
        </p:txBody>
      </p:sp>
      <p:sp>
        <p:nvSpPr>
          <p:cNvPr id="2" name="">
            <a:extLst xmlns:a="http://schemas.openxmlformats.org/drawingml/2006/main">
              <a:ext uri="{FF2B5EF4-FFF2-40B4-BE49-F238E27FC236}">
                <a16:creationId xmlns:a16="http://schemas.microsoft.com/office/drawing/2014/main" id="{92AD11DD-A6D1-40A5-AA03-2C7B0B6A85D3}"/>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B5DED7"/>
                </a:solidFill>
                <a:latin typeface="Arial"/>
                <a:ea typeface="Arial"/>
                <a:cs typeface="Arial"/>
              </a:defRPr>
            </a:defPPr>
          </a:lstStyle>
          <a:p xmlns:a="http://schemas.openxmlformats.org/drawingml/2006/main">
            <a:pPr>
              <a:defRPr sz="1125" b="0">
                <a:solidFill>
                  <a:srgbClr val="B5DED7"/>
                </a:solidFill>
                <a:latin typeface="Arial"/>
                <a:ea typeface="Arial"/>
                <a:cs typeface="Arial"/>
              </a:defRPr>
            </a:pPr>
            <a:r>
              <a:rPr sz="1125" b="0">
                <a:solidFill>
                  <a:srgbClr val="B5DED7"/>
                </a:solidFill>
                <a:latin typeface="Arial"/>
                <a:ea typeface="Arial"/>
                <a:cs typeface="Arial"/>
              </a:rPr>
              <a:t>26</a:t>
            </a:r>
          </a:p>
        </p:txBody>
      </p:sp>
      <p:sp>
        <p:nvSpPr>
          <p:cNvPr id="3" name="">
            <a:extLst xmlns:a="http://schemas.openxmlformats.org/drawingml/2006/main">
              <a:ext uri="{FF2B5EF4-FFF2-40B4-BE49-F238E27FC236}">
                <a16:creationId xmlns:a16="http://schemas.microsoft.com/office/drawing/2014/main" id="{2FA97B8D-2453-4512-9292-95F9C164931F}"/>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B5DED7"/>
                </a:solidFill>
                <a:latin typeface="Arial"/>
                <a:ea typeface="Arial"/>
                <a:cs typeface="Arial"/>
              </a:defRPr>
            </a:defPPr>
          </a:lstStyle>
          <a:p xmlns:a="http://schemas.openxmlformats.org/drawingml/2006/main">
            <a:pPr>
              <a:defRPr sz="1425" b="0">
                <a:solidFill>
                  <a:srgbClr val="B5DED7"/>
                </a:solidFill>
                <a:latin typeface="Arial"/>
                <a:ea typeface="Arial"/>
                <a:cs typeface="Arial"/>
              </a:defRPr>
            </a:pPr>
            <a:r>
              <a:rPr sz="1425" b="0">
                <a:solidFill>
                  <a:srgbClr val="B5DED7"/>
                </a:solidFill>
                <a:latin typeface="Arial"/>
                <a:ea typeface="Arial"/>
                <a:cs typeface="Arial"/>
              </a:rPr>
              <a:t>Départ simulé après validation humaine. Références techniques dans les notes suivantes.</a:t>
            </a:r>
          </a:p>
        </p:txBody>
      </p:sp>
      <p:sp>
        <p:nvSpPr>
          <p:cNvPr id="4" name="">
            <a:extLst xmlns:a="http://schemas.openxmlformats.org/drawingml/2006/main">
              <a:ext uri="{FF2B5EF4-FFF2-40B4-BE49-F238E27FC236}">
                <a16:creationId xmlns:a16="http://schemas.microsoft.com/office/drawing/2014/main" id="{E6C10291-CCED-46B4-9787-A530C23E5F57}"/>
              </a:ext>
            </a:extLst>
          </p:cNvPr>
          <p:cNvSpPr>
            <a:spLocks xmlns:a="http://schemas.openxmlformats.org/drawingml/2006/main" noGrp="1"/>
          </p:cNvSpPr>
          <p:nvPr/>
        </p:nvSpPr>
        <p:spPr>
          <a:xfrm xmlns:a="http://schemas.openxmlformats.org/drawingml/2006/main">
            <a:off x="609600" y="1924050"/>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575" b="1">
                <a:solidFill>
                  <a:srgbClr val="FFFFFF"/>
                </a:solidFill>
                <a:latin typeface="Arial"/>
                <a:ea typeface="Arial"/>
                <a:cs typeface="Arial"/>
              </a:defRPr>
            </a:defPPr>
          </a:lstStyle>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Une commande.</a:t>
            </a:r>
          </a:p>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Une proposition vérifiable.</a:t>
            </a:r>
          </a:p>
        </p:txBody>
      </p:sp>
      <p:sp>
        <p:nvSpPr>
          <p:cNvPr id="5" name="">
            <a:extLst xmlns:a="http://schemas.openxmlformats.org/drawingml/2006/main">
              <a:ext uri="{FF2B5EF4-FFF2-40B4-BE49-F238E27FC236}">
                <a16:creationId xmlns:a16="http://schemas.microsoft.com/office/drawing/2014/main" id="{CB9B517C-E836-4EE8-A59C-0015E9D0E516}"/>
              </a:ext>
            </a:extLst>
          </p:cNvPr>
          <p:cNvSpPr>
            <a:spLocks xmlns:a="http://schemas.openxmlformats.org/drawingml/2006/main" noGrp="1"/>
          </p:cNvSpPr>
          <p:nvPr/>
        </p:nvSpPr>
        <p:spPr>
          <a:xfrm xmlns:a="http://schemas.openxmlformats.org/drawingml/2006/main">
            <a:off x="609600" y="44481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Opérations</a:t>
            </a:r>
          </a:p>
        </p:txBody>
      </p:sp>
      <p:sp>
        <p:nvSpPr>
          <p:cNvPr id="6" name="">
            <a:extLst xmlns:a="http://schemas.openxmlformats.org/drawingml/2006/main">
              <a:ext uri="{FF2B5EF4-FFF2-40B4-BE49-F238E27FC236}">
                <a16:creationId xmlns:a16="http://schemas.microsoft.com/office/drawing/2014/main" id="{6934537B-7F31-4976-84DC-3BB69BBF8E26}"/>
              </a:ext>
            </a:extLst>
          </p:cNvPr>
          <p:cNvSpPr>
            <a:spLocks xmlns:a="http://schemas.openxmlformats.org/drawingml/2006/main" noGrp="1"/>
          </p:cNvSpPr>
          <p:nvPr/>
        </p:nvSpPr>
        <p:spPr>
          <a:xfrm xmlns:a="http://schemas.openxmlformats.org/drawingml/2006/main">
            <a:off x="609600" y="50006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5DED7"/>
                </a:solidFill>
                <a:latin typeface="Arial"/>
                <a:ea typeface="Arial"/>
                <a:cs typeface="Arial"/>
              </a:defRPr>
            </a:defPPr>
          </a:lstStyle>
          <a:p xmlns:a="http://schemas.openxmlformats.org/drawingml/2006/main">
            <a:pPr>
              <a:defRPr sz="1800" b="0">
                <a:solidFill>
                  <a:srgbClr val="B5DED7"/>
                </a:solidFill>
                <a:latin typeface="Arial"/>
                <a:ea typeface="Arial"/>
                <a:cs typeface="Arial"/>
              </a:defRPr>
            </a:pPr>
            <a:r>
              <a:rPr sz="1800" b="0">
                <a:solidFill>
                  <a:srgbClr val="B5DED7"/>
                </a:solidFill>
                <a:latin typeface="Arial"/>
                <a:ea typeface="Arial"/>
                <a:cs typeface="Arial"/>
              </a:rPr>
              <a:t>Importer, choisir le dépôt et comparer la proposition.</a:t>
            </a:r>
          </a:p>
        </p:txBody>
      </p:sp>
      <p:sp>
        <p:nvSpPr>
          <p:cNvPr id="7" name="">
            <a:extLst xmlns:a="http://schemas.openxmlformats.org/drawingml/2006/main">
              <a:ext uri="{FF2B5EF4-FFF2-40B4-BE49-F238E27FC236}">
                <a16:creationId xmlns:a16="http://schemas.microsoft.com/office/drawing/2014/main" id="{59AF54A9-794F-4D72-9729-F895D2F5844C}"/>
              </a:ext>
            </a:extLst>
          </p:cNvPr>
          <p:cNvSpPr>
            <a:spLocks xmlns:a="http://schemas.openxmlformats.org/drawingml/2006/main" noGrp="1"/>
          </p:cNvSpPr>
          <p:nvPr/>
        </p:nvSpPr>
        <p:spPr>
          <a:xfrm xmlns:a="http://schemas.openxmlformats.org/drawingml/2006/main">
            <a:off x="4400550" y="44481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Agents</a:t>
            </a:r>
          </a:p>
        </p:txBody>
      </p:sp>
      <p:sp>
        <p:nvSpPr>
          <p:cNvPr id="8" name="">
            <a:extLst xmlns:a="http://schemas.openxmlformats.org/drawingml/2006/main">
              <a:ext uri="{FF2B5EF4-FFF2-40B4-BE49-F238E27FC236}">
                <a16:creationId xmlns:a16="http://schemas.microsoft.com/office/drawing/2014/main" id="{CCC00B03-35B0-41D7-A02E-170E7213F6FF}"/>
              </a:ext>
            </a:extLst>
          </p:cNvPr>
          <p:cNvSpPr>
            <a:spLocks xmlns:a="http://schemas.openxmlformats.org/drawingml/2006/main" noGrp="1"/>
          </p:cNvSpPr>
          <p:nvPr/>
        </p:nvSpPr>
        <p:spPr>
          <a:xfrm xmlns:a="http://schemas.openxmlformats.org/drawingml/2006/main">
            <a:off x="4400550" y="50006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5DED7"/>
                </a:solidFill>
                <a:latin typeface="Arial"/>
                <a:ea typeface="Arial"/>
                <a:cs typeface="Arial"/>
              </a:defRPr>
            </a:defPPr>
          </a:lstStyle>
          <a:p xmlns:a="http://schemas.openxmlformats.org/drawingml/2006/main">
            <a:pPr>
              <a:defRPr sz="1800" b="0">
                <a:solidFill>
                  <a:srgbClr val="B5DED7"/>
                </a:solidFill>
                <a:latin typeface="Arial"/>
                <a:ea typeface="Arial"/>
                <a:cs typeface="Arial"/>
              </a:defRPr>
            </a:pPr>
            <a:r>
              <a:rPr sz="1800" b="0">
                <a:solidFill>
                  <a:srgbClr val="B5DED7"/>
                </a:solidFill>
                <a:latin typeface="Arial"/>
                <a:ea typeface="Arial"/>
                <a:cs typeface="Arial"/>
              </a:rPr>
              <a:t>Lire les cinq résultats, le certificat et les appels réellement émis.</a:t>
            </a:r>
          </a:p>
        </p:txBody>
      </p:sp>
      <p:sp>
        <p:nvSpPr>
          <p:cNvPr id="9" name="">
            <a:extLst xmlns:a="http://schemas.openxmlformats.org/drawingml/2006/main">
              <a:ext uri="{FF2B5EF4-FFF2-40B4-BE49-F238E27FC236}">
                <a16:creationId xmlns:a16="http://schemas.microsoft.com/office/drawing/2014/main" id="{65883CD5-4752-431F-BB6F-41F1B59BFD31}"/>
              </a:ext>
            </a:extLst>
          </p:cNvPr>
          <p:cNvSpPr>
            <a:spLocks xmlns:a="http://schemas.openxmlformats.org/drawingml/2006/main" noGrp="1"/>
          </p:cNvSpPr>
          <p:nvPr/>
        </p:nvSpPr>
        <p:spPr>
          <a:xfrm xmlns:a="http://schemas.openxmlformats.org/drawingml/2006/main">
            <a:off x="8191500" y="44481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Analytique</a:t>
            </a:r>
          </a:p>
        </p:txBody>
      </p:sp>
      <p:sp>
        <p:nvSpPr>
          <p:cNvPr id="10" name="">
            <a:extLst xmlns:a="http://schemas.openxmlformats.org/drawingml/2006/main">
              <a:ext uri="{FF2B5EF4-FFF2-40B4-BE49-F238E27FC236}">
                <a16:creationId xmlns:a16="http://schemas.microsoft.com/office/drawing/2014/main" id="{538AD58A-1141-4FC4-AF80-671CBD32B530}"/>
              </a:ext>
            </a:extLst>
          </p:cNvPr>
          <p:cNvSpPr>
            <a:spLocks xmlns:a="http://schemas.openxmlformats.org/drawingml/2006/main" noGrp="1"/>
          </p:cNvSpPr>
          <p:nvPr/>
        </p:nvSpPr>
        <p:spPr>
          <a:xfrm xmlns:a="http://schemas.openxmlformats.org/drawingml/2006/main">
            <a:off x="8191500" y="50006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B5DED7"/>
                </a:solidFill>
                <a:latin typeface="Arial"/>
                <a:ea typeface="Arial"/>
                <a:cs typeface="Arial"/>
              </a:defRPr>
            </a:defPPr>
          </a:lstStyle>
          <a:p xmlns:a="http://schemas.openxmlformats.org/drawingml/2006/main">
            <a:pPr>
              <a:defRPr sz="1800" b="0">
                <a:solidFill>
                  <a:srgbClr val="B5DED7"/>
                </a:solidFill>
                <a:latin typeface="Arial"/>
                <a:ea typeface="Arial"/>
                <a:cs typeface="Arial"/>
              </a:defRPr>
            </a:pPr>
            <a:r>
              <a:rPr sz="1800" b="0">
                <a:solidFill>
                  <a:srgbClr val="B5DED7"/>
                </a:solidFill>
                <a:latin typeface="Arial"/>
                <a:ea typeface="Arial"/>
                <a:cs typeface="Arial"/>
              </a:rPr>
              <a:t>Comparer la cohorte et vérifier le budget global.</a:t>
            </a:r>
          </a:p>
        </p:txBody>
      </p:sp>
    </p:spTree>
    <p:extLst>
      <p:ext uri="{BB962C8B-B14F-4D97-AF65-F5344CB8AC3E}">
        <p14:creationId xmlns:p14="http://schemas.microsoft.com/office/powerpoint/2010/main" val="1161789273"/>
      </p:ext>
    </p:extLst>
  </p:cSld>
</p:sld>
</file>

<file path=ppt/slides/slide27.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AD7742F-915D-460D-B8E9-50F323899244}"/>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Python dans l’application</a:t>
            </a:r>
          </a:p>
        </p:txBody>
      </p:sp>
      <p:sp>
        <p:nvSpPr>
          <p:cNvPr id="2" name="">
            <a:extLst xmlns:a="http://schemas.openxmlformats.org/drawingml/2006/main">
              <a:ext uri="{FF2B5EF4-FFF2-40B4-BE49-F238E27FC236}">
                <a16:creationId xmlns:a16="http://schemas.microsoft.com/office/drawing/2014/main" id="{3AF1A5BE-A26F-4A3E-A84C-E4938FE9BB25}"/>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27</a:t>
            </a:r>
          </a:p>
        </p:txBody>
      </p:sp>
      <p:sp>
        <p:nvSpPr>
          <p:cNvPr id="3" name="">
            <a:extLst xmlns:a="http://schemas.openxmlformats.org/drawingml/2006/main">
              <a:ext uri="{FF2B5EF4-FFF2-40B4-BE49-F238E27FC236}">
                <a16:creationId xmlns:a16="http://schemas.microsoft.com/office/drawing/2014/main" id="{5C605EA9-C24F-4C47-B118-3C25A8A2BFC1}"/>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Inventaire intégral de ce groupe dans les notes : nom, version, fonction et statut.</a:t>
            </a:r>
          </a:p>
        </p:txBody>
      </p:sp>
      <p:sp>
        <p:nvSpPr>
          <p:cNvPr id="4" name="">
            <a:extLst xmlns:a="http://schemas.openxmlformats.org/drawingml/2006/main">
              <a:ext uri="{FF2B5EF4-FFF2-40B4-BE49-F238E27FC236}">
                <a16:creationId xmlns:a16="http://schemas.microsoft.com/office/drawing/2014/main" id="{AEAE2A01-1C35-436B-A2E2-AF792DAB230D}"/>
              </a:ext>
            </a:extLst>
          </p:cNvPr>
          <p:cNvSpPr>
            <a:spLocks xmlns:a="http://schemas.openxmlformats.org/drawingml/2006/main" noGrp="1"/>
          </p:cNvSpPr>
          <p:nvPr/>
        </p:nvSpPr>
        <p:spPr>
          <a:xfrm xmlns:a="http://schemas.openxmlformats.org/drawingml/2006/main">
            <a:off x="609600" y="2028825"/>
            <a:ext cx="328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775" b="1">
                <a:solidFill>
                  <a:srgbClr val="146C78"/>
                </a:solidFill>
                <a:latin typeface="Arial"/>
                <a:ea typeface="Arial"/>
                <a:cs typeface="Arial"/>
              </a:defRPr>
            </a:defPPr>
          </a:lstStyle>
          <a:p xmlns:a="http://schemas.openxmlformats.org/drawingml/2006/main">
            <a:pPr>
              <a:defRPr sz="8775" b="1">
                <a:solidFill>
                  <a:srgbClr val="146C78"/>
                </a:solidFill>
                <a:latin typeface="Arial"/>
                <a:ea typeface="Arial"/>
                <a:cs typeface="Arial"/>
              </a:defRPr>
            </a:pPr>
            <a:r>
              <a:rPr sz="8775" b="1">
                <a:solidFill>
                  <a:srgbClr val="146C78"/>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ABF34C7-8800-4CA8-98E2-E82644960E2F}"/>
              </a:ext>
            </a:extLst>
          </p:cNvPr>
          <p:cNvSpPr>
            <a:spLocks xmlns:a="http://schemas.openxmlformats.org/drawingml/2006/main" noGrp="1"/>
          </p:cNvSpPr>
          <p:nvPr/>
        </p:nvSpPr>
        <p:spPr>
          <a:xfrm xmlns:a="http://schemas.openxmlformats.org/drawingml/2006/main">
            <a:off x="666750" y="35242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039"/>
                </a:solidFill>
                <a:latin typeface="Arial"/>
                <a:ea typeface="Arial"/>
                <a:cs typeface="Arial"/>
              </a:defRPr>
            </a:defPPr>
          </a:lstStyle>
          <a:p xmlns:a="http://schemas.openxmlformats.org/drawingml/2006/main">
            <a:pPr>
              <a:defRPr sz="2175" b="0">
                <a:solidFill>
                  <a:srgbClr val="173039"/>
                </a:solidFill>
                <a:latin typeface="Arial"/>
                <a:ea typeface="Arial"/>
                <a:cs typeface="Arial"/>
              </a:defRPr>
            </a:pPr>
            <a:r>
              <a:rPr sz="2175" b="0">
                <a:solidFill>
                  <a:srgbClr val="173039"/>
                </a:solidFill>
                <a:latin typeface="Arial"/>
                <a:ea typeface="Arial"/>
                <a:cs typeface="Arial"/>
              </a:rPr>
              <a:t>paquets Python</a:t>
            </a:r>
          </a:p>
        </p:txBody>
      </p:sp>
      <p:sp>
        <p:nvSpPr>
          <p:cNvPr id="6" name="">
            <a:extLst xmlns:a="http://schemas.openxmlformats.org/drawingml/2006/main">
              <a:ext uri="{FF2B5EF4-FFF2-40B4-BE49-F238E27FC236}">
                <a16:creationId xmlns:a16="http://schemas.microsoft.com/office/drawing/2014/main" id="{33A7B1D7-7145-49D4-9033-E825D1E4D614}"/>
              </a:ext>
            </a:extLst>
          </p:cNvPr>
          <p:cNvSpPr>
            <a:spLocks xmlns:a="http://schemas.openxmlformats.org/drawingml/2006/main" noGrp="1"/>
          </p:cNvSpPr>
          <p:nvPr/>
        </p:nvSpPr>
        <p:spPr>
          <a:xfrm xmlns:a="http://schemas.openxmlformats.org/drawingml/2006/main">
            <a:off x="609600" y="4448175"/>
            <a:ext cx="33813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870"/>
                </a:solidFill>
                <a:latin typeface="Arial"/>
                <a:ea typeface="Arial"/>
                <a:cs typeface="Arial"/>
              </a:defRPr>
            </a:defPPr>
          </a:lstStyle>
          <a:p xmlns:a="http://schemas.openxmlformats.org/drawingml/2006/main">
            <a:pPr>
              <a:defRPr sz="1875" b="0">
                <a:solidFill>
                  <a:srgbClr val="526870"/>
                </a:solidFill>
                <a:latin typeface="Arial"/>
                <a:ea typeface="Arial"/>
                <a:cs typeface="Arial"/>
              </a:defRPr>
            </a:pPr>
            <a:r>
              <a:rPr sz="1875" b="0">
                <a:solidFill>
                  <a:srgbClr val="526870"/>
                </a:solidFill>
                <a:latin typeface="Arial"/>
                <a:ea typeface="Arial"/>
                <a:cs typeface="Arial"/>
              </a:rPr>
              <a:t>Bibliothèques appelées directement par le code Genesis.</a:t>
            </a:r>
          </a:p>
        </p:txBody>
      </p:sp>
      <p:sp>
        <p:nvSpPr>
          <p:cNvPr id="7" name="">
            <a:extLst xmlns:a="http://schemas.openxmlformats.org/drawingml/2006/main">
              <a:ext uri="{FF2B5EF4-FFF2-40B4-BE49-F238E27FC236}">
                <a16:creationId xmlns:a16="http://schemas.microsoft.com/office/drawing/2014/main" id="{A364646B-FAEF-4FFF-9D6F-78AE1F167B29}"/>
              </a:ext>
            </a:extLst>
          </p:cNvPr>
          <p:cNvSpPr>
            <a:spLocks xmlns:a="http://schemas.openxmlformats.org/drawingml/2006/main" noGrp="1"/>
          </p:cNvSpPr>
          <p:nvPr/>
        </p:nvSpPr>
        <p:spPr>
          <a:xfrm xmlns:a="http://schemas.openxmlformats.org/drawingml/2006/main">
            <a:off x="4953000" y="2057400"/>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API et contrats</a:t>
            </a:r>
          </a:p>
        </p:txBody>
      </p:sp>
      <p:sp>
        <p:nvSpPr>
          <p:cNvPr id="8" name="">
            <a:extLst xmlns:a="http://schemas.openxmlformats.org/drawingml/2006/main">
              <a:ext uri="{FF2B5EF4-FFF2-40B4-BE49-F238E27FC236}">
                <a16:creationId xmlns:a16="http://schemas.microsoft.com/office/drawing/2014/main" id="{1CE9BB07-31D4-44AD-8281-3B2EE99A7D53}"/>
              </a:ext>
            </a:extLst>
          </p:cNvPr>
          <p:cNvSpPr>
            <a:spLocks xmlns:a="http://schemas.openxmlformats.org/drawingml/2006/main" noGrp="1"/>
          </p:cNvSpPr>
          <p:nvPr/>
        </p:nvSpPr>
        <p:spPr>
          <a:xfrm xmlns:a="http://schemas.openxmlformats.org/drawingml/2006/main">
            <a:off x="4953000" y="2486025"/>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FastAPI, Uvicorn et Pydantic structurent les frontières.</a:t>
            </a:r>
          </a:p>
        </p:txBody>
      </p:sp>
      <p:sp>
        <p:nvSpPr>
          <p:cNvPr id="9" name="">
            <a:extLst xmlns:a="http://schemas.openxmlformats.org/drawingml/2006/main">
              <a:ext uri="{FF2B5EF4-FFF2-40B4-BE49-F238E27FC236}">
                <a16:creationId xmlns:a16="http://schemas.microsoft.com/office/drawing/2014/main" id="{1C9DAED5-B522-4A43-B963-8863A23389A9}"/>
              </a:ext>
            </a:extLst>
          </p:cNvPr>
          <p:cNvSpPr>
            <a:spLocks xmlns:a="http://schemas.openxmlformats.org/drawingml/2006/main" noGrp="1"/>
          </p:cNvSpPr>
          <p:nvPr/>
        </p:nvSpPr>
        <p:spPr>
          <a:xfrm xmlns:a="http://schemas.openxmlformats.org/drawingml/2006/main">
            <a:off x="4953000" y="3248025"/>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Exécution et calcul</a:t>
            </a:r>
          </a:p>
        </p:txBody>
      </p:sp>
      <p:sp>
        <p:nvSpPr>
          <p:cNvPr id="10" name="">
            <a:extLst xmlns:a="http://schemas.openxmlformats.org/drawingml/2006/main">
              <a:ext uri="{FF2B5EF4-FFF2-40B4-BE49-F238E27FC236}">
                <a16:creationId xmlns:a16="http://schemas.microsoft.com/office/drawing/2014/main" id="{438F0D7C-A939-400D-B217-7F939977C207}"/>
              </a:ext>
            </a:extLst>
          </p:cNvPr>
          <p:cNvSpPr>
            <a:spLocks xmlns:a="http://schemas.openxmlformats.org/drawingml/2006/main" noGrp="1"/>
          </p:cNvSpPr>
          <p:nvPr/>
        </p:nvSpPr>
        <p:spPr>
          <a:xfrm xmlns:a="http://schemas.openxmlformats.org/drawingml/2006/main">
            <a:off x="4953000" y="3676650"/>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LangGraph et OR-Tools portent le workflow et les routes.</a:t>
            </a:r>
          </a:p>
        </p:txBody>
      </p:sp>
      <p:sp>
        <p:nvSpPr>
          <p:cNvPr id="11" name="">
            <a:extLst xmlns:a="http://schemas.openxmlformats.org/drawingml/2006/main">
              <a:ext uri="{FF2B5EF4-FFF2-40B4-BE49-F238E27FC236}">
                <a16:creationId xmlns:a16="http://schemas.microsoft.com/office/drawing/2014/main" id="{26B1B141-3B0C-4CB5-8657-4C0AF5E87AAB}"/>
              </a:ext>
            </a:extLst>
          </p:cNvPr>
          <p:cNvSpPr>
            <a:spLocks xmlns:a="http://schemas.openxmlformats.org/drawingml/2006/main" noGrp="1"/>
          </p:cNvSpPr>
          <p:nvPr/>
        </p:nvSpPr>
        <p:spPr>
          <a:xfrm xmlns:a="http://schemas.openxmlformats.org/drawingml/2006/main">
            <a:off x="4953000" y="4438650"/>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Données et fournisseurs</a:t>
            </a:r>
          </a:p>
        </p:txBody>
      </p:sp>
      <p:sp>
        <p:nvSpPr>
          <p:cNvPr id="12" name="">
            <a:extLst xmlns:a="http://schemas.openxmlformats.org/drawingml/2006/main">
              <a:ext uri="{FF2B5EF4-FFF2-40B4-BE49-F238E27FC236}">
                <a16:creationId xmlns:a16="http://schemas.microsoft.com/office/drawing/2014/main" id="{FD50FDB3-3C1B-41A7-A9D6-BE363341753C}"/>
              </a:ext>
            </a:extLst>
          </p:cNvPr>
          <p:cNvSpPr>
            <a:spLocks xmlns:a="http://schemas.openxmlformats.org/drawingml/2006/main" noGrp="1"/>
          </p:cNvSpPr>
          <p:nvPr/>
        </p:nvSpPr>
        <p:spPr>
          <a:xfrm xmlns:a="http://schemas.openxmlformats.org/drawingml/2006/main">
            <a:off x="4953000" y="4867275"/>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SQLAlchemy, HTTPX et Anthropic relient les services.</a:t>
            </a:r>
          </a:p>
        </p:txBody>
      </p:sp>
    </p:spTree>
    <p:extLst>
      <p:ext uri="{BB962C8B-B14F-4D97-AF65-F5344CB8AC3E}">
        <p14:creationId xmlns:p14="http://schemas.microsoft.com/office/powerpoint/2010/main" val="2136887564"/>
      </p:ext>
    </p:extLst>
  </p:cSld>
</p:sld>
</file>

<file path=ppt/slides/slide28.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3A5A44-7A55-4F3D-BEA9-D587FE7E465A}"/>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Le socle de dépendances Python</a:t>
            </a:r>
          </a:p>
        </p:txBody>
      </p:sp>
      <p:sp>
        <p:nvSpPr>
          <p:cNvPr id="2" name="">
            <a:extLst xmlns:a="http://schemas.openxmlformats.org/drawingml/2006/main">
              <a:ext uri="{FF2B5EF4-FFF2-40B4-BE49-F238E27FC236}">
                <a16:creationId xmlns:a16="http://schemas.microsoft.com/office/drawing/2014/main" id="{46587882-4199-41E5-940F-FEF7C1A2D772}"/>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28</a:t>
            </a:r>
          </a:p>
        </p:txBody>
      </p:sp>
      <p:sp>
        <p:nvSpPr>
          <p:cNvPr id="3" name="">
            <a:extLst xmlns:a="http://schemas.openxmlformats.org/drawingml/2006/main">
              <a:ext uri="{FF2B5EF4-FFF2-40B4-BE49-F238E27FC236}">
                <a16:creationId xmlns:a16="http://schemas.microsoft.com/office/drawing/2014/main" id="{D962EF9F-B7A3-437C-97FC-AFB945E23321}"/>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Inventaire intégral de ce groupe dans les notes : nom, version, fonction et statut.</a:t>
            </a:r>
          </a:p>
        </p:txBody>
      </p:sp>
      <p:sp>
        <p:nvSpPr>
          <p:cNvPr id="4" name="">
            <a:extLst xmlns:a="http://schemas.openxmlformats.org/drawingml/2006/main">
              <a:ext uri="{FF2B5EF4-FFF2-40B4-BE49-F238E27FC236}">
                <a16:creationId xmlns:a16="http://schemas.microsoft.com/office/drawing/2014/main" id="{D893ECB0-4610-4CF2-B2B2-F13C72C1E0EB}"/>
              </a:ext>
            </a:extLst>
          </p:cNvPr>
          <p:cNvSpPr>
            <a:spLocks xmlns:a="http://schemas.openxmlformats.org/drawingml/2006/main" noGrp="1"/>
          </p:cNvSpPr>
          <p:nvPr/>
        </p:nvSpPr>
        <p:spPr>
          <a:xfrm xmlns:a="http://schemas.openxmlformats.org/drawingml/2006/main">
            <a:off x="609600" y="2028825"/>
            <a:ext cx="328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775" b="1">
                <a:solidFill>
                  <a:srgbClr val="146C78"/>
                </a:solidFill>
                <a:latin typeface="Arial"/>
                <a:ea typeface="Arial"/>
                <a:cs typeface="Arial"/>
              </a:defRPr>
            </a:defPPr>
          </a:lstStyle>
          <a:p xmlns:a="http://schemas.openxmlformats.org/drawingml/2006/main">
            <a:pPr>
              <a:defRPr sz="8775" b="1">
                <a:solidFill>
                  <a:srgbClr val="146C78"/>
                </a:solidFill>
                <a:latin typeface="Arial"/>
                <a:ea typeface="Arial"/>
                <a:cs typeface="Arial"/>
              </a:defRPr>
            </a:pPr>
            <a:r>
              <a:rPr sz="8775" b="1">
                <a:solidFill>
                  <a:srgbClr val="146C78"/>
                </a:solidFill>
                <a:latin typeface="Arial"/>
                <a:ea typeface="Arial"/>
                <a:cs typeface="Arial"/>
              </a:rPr>
              <a:t>60</a:t>
            </a:r>
          </a:p>
        </p:txBody>
      </p:sp>
      <p:sp>
        <p:nvSpPr>
          <p:cNvPr id="5" name="">
            <a:extLst xmlns:a="http://schemas.openxmlformats.org/drawingml/2006/main">
              <a:ext uri="{FF2B5EF4-FFF2-40B4-BE49-F238E27FC236}">
                <a16:creationId xmlns:a16="http://schemas.microsoft.com/office/drawing/2014/main" id="{A11A2B11-E143-4B86-9BB8-3D4ACFB99659}"/>
              </a:ext>
            </a:extLst>
          </p:cNvPr>
          <p:cNvSpPr>
            <a:spLocks xmlns:a="http://schemas.openxmlformats.org/drawingml/2006/main" noGrp="1"/>
          </p:cNvSpPr>
          <p:nvPr/>
        </p:nvSpPr>
        <p:spPr>
          <a:xfrm xmlns:a="http://schemas.openxmlformats.org/drawingml/2006/main">
            <a:off x="666750" y="35242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039"/>
                </a:solidFill>
                <a:latin typeface="Arial"/>
                <a:ea typeface="Arial"/>
                <a:cs typeface="Arial"/>
              </a:defRPr>
            </a:defPPr>
          </a:lstStyle>
          <a:p xmlns:a="http://schemas.openxmlformats.org/drawingml/2006/main">
            <a:pPr>
              <a:defRPr sz="2175" b="0">
                <a:solidFill>
                  <a:srgbClr val="173039"/>
                </a:solidFill>
                <a:latin typeface="Arial"/>
                <a:ea typeface="Arial"/>
                <a:cs typeface="Arial"/>
              </a:defRPr>
            </a:pPr>
            <a:r>
              <a:rPr sz="2175" b="0">
                <a:solidFill>
                  <a:srgbClr val="173039"/>
                </a:solidFill>
                <a:latin typeface="Arial"/>
                <a:ea typeface="Arial"/>
                <a:cs typeface="Arial"/>
              </a:rPr>
              <a:t>paquets Python</a:t>
            </a:r>
          </a:p>
        </p:txBody>
      </p:sp>
      <p:sp>
        <p:nvSpPr>
          <p:cNvPr id="6" name="">
            <a:extLst xmlns:a="http://schemas.openxmlformats.org/drawingml/2006/main">
              <a:ext uri="{FF2B5EF4-FFF2-40B4-BE49-F238E27FC236}">
                <a16:creationId xmlns:a16="http://schemas.microsoft.com/office/drawing/2014/main" id="{1BBA97B8-466D-4276-A16D-5E2451EA21DB}"/>
              </a:ext>
            </a:extLst>
          </p:cNvPr>
          <p:cNvSpPr>
            <a:spLocks xmlns:a="http://schemas.openxmlformats.org/drawingml/2006/main" noGrp="1"/>
          </p:cNvSpPr>
          <p:nvPr/>
        </p:nvSpPr>
        <p:spPr>
          <a:xfrm xmlns:a="http://schemas.openxmlformats.org/drawingml/2006/main">
            <a:off x="609600" y="4448175"/>
            <a:ext cx="33813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870"/>
                </a:solidFill>
                <a:latin typeface="Arial"/>
                <a:ea typeface="Arial"/>
                <a:cs typeface="Arial"/>
              </a:defRPr>
            </a:defPPr>
          </a:lstStyle>
          <a:p xmlns:a="http://schemas.openxmlformats.org/drawingml/2006/main">
            <a:pPr>
              <a:defRPr sz="1875" b="0">
                <a:solidFill>
                  <a:srgbClr val="526870"/>
                </a:solidFill>
                <a:latin typeface="Arial"/>
                <a:ea typeface="Arial"/>
                <a:cs typeface="Arial"/>
              </a:defRPr>
            </a:pPr>
            <a:r>
              <a:rPr sz="1875" b="0">
                <a:solidFill>
                  <a:srgbClr val="526870"/>
                </a:solidFill>
                <a:latin typeface="Arial"/>
                <a:ea typeface="Arial"/>
                <a:cs typeface="Arial"/>
              </a:rPr>
              <a:t>Support transitif des frameworks, SDK et outils épinglés.</a:t>
            </a:r>
          </a:p>
        </p:txBody>
      </p:sp>
      <p:sp>
        <p:nvSpPr>
          <p:cNvPr id="7" name="">
            <a:extLst xmlns:a="http://schemas.openxmlformats.org/drawingml/2006/main">
              <a:ext uri="{FF2B5EF4-FFF2-40B4-BE49-F238E27FC236}">
                <a16:creationId xmlns:a16="http://schemas.microsoft.com/office/drawing/2014/main" id="{D4298F59-B751-4134-8974-D8FECFB46672}"/>
              </a:ext>
            </a:extLst>
          </p:cNvPr>
          <p:cNvSpPr>
            <a:spLocks xmlns:a="http://schemas.openxmlformats.org/drawingml/2006/main" noGrp="1"/>
          </p:cNvSpPr>
          <p:nvPr/>
        </p:nvSpPr>
        <p:spPr>
          <a:xfrm xmlns:a="http://schemas.openxmlformats.org/drawingml/2006/main">
            <a:off x="4953000" y="2057400"/>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Transport et protocoles</a:t>
            </a:r>
          </a:p>
        </p:txBody>
      </p:sp>
      <p:sp>
        <p:nvSpPr>
          <p:cNvPr id="8" name="">
            <a:extLst xmlns:a="http://schemas.openxmlformats.org/drawingml/2006/main">
              <a:ext uri="{FF2B5EF4-FFF2-40B4-BE49-F238E27FC236}">
                <a16:creationId xmlns:a16="http://schemas.microsoft.com/office/drawing/2014/main" id="{7A7A05C9-FE6B-4BFB-9A71-F04045B04D4C}"/>
              </a:ext>
            </a:extLst>
          </p:cNvPr>
          <p:cNvSpPr>
            <a:spLocks xmlns:a="http://schemas.openxmlformats.org/drawingml/2006/main" noGrp="1"/>
          </p:cNvSpPr>
          <p:nvPr/>
        </p:nvSpPr>
        <p:spPr>
          <a:xfrm xmlns:a="http://schemas.openxmlformats.org/drawingml/2006/main">
            <a:off x="4953000" y="2486025"/>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HTTP, TLS, concurrence et sérialisation.</a:t>
            </a:r>
          </a:p>
        </p:txBody>
      </p:sp>
      <p:sp>
        <p:nvSpPr>
          <p:cNvPr id="9" name="">
            <a:extLst xmlns:a="http://schemas.openxmlformats.org/drawingml/2006/main">
              <a:ext uri="{FF2B5EF4-FFF2-40B4-BE49-F238E27FC236}">
                <a16:creationId xmlns:a16="http://schemas.microsoft.com/office/drawing/2014/main" id="{F57AE1BE-79FF-422D-ABE0-4FC042EB4E30}"/>
              </a:ext>
            </a:extLst>
          </p:cNvPr>
          <p:cNvSpPr>
            <a:spLocks xmlns:a="http://schemas.openxmlformats.org/drawingml/2006/main" noGrp="1"/>
          </p:cNvSpPr>
          <p:nvPr/>
        </p:nvSpPr>
        <p:spPr>
          <a:xfrm xmlns:a="http://schemas.openxmlformats.org/drawingml/2006/main">
            <a:off x="4953000" y="3248025"/>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Exécution des bibliothèques</a:t>
            </a:r>
          </a:p>
        </p:txBody>
      </p:sp>
      <p:sp>
        <p:nvSpPr>
          <p:cNvPr id="10" name="">
            <a:extLst xmlns:a="http://schemas.openxmlformats.org/drawingml/2006/main">
              <a:ext uri="{FF2B5EF4-FFF2-40B4-BE49-F238E27FC236}">
                <a16:creationId xmlns:a16="http://schemas.microsoft.com/office/drawing/2014/main" id="{82CB619D-5ACC-48E8-8BDE-CFFA032E2E2D}"/>
              </a:ext>
            </a:extLst>
          </p:cNvPr>
          <p:cNvSpPr>
            <a:spLocks xmlns:a="http://schemas.openxmlformats.org/drawingml/2006/main" noGrp="1"/>
          </p:cNvSpPr>
          <p:nvPr/>
        </p:nvSpPr>
        <p:spPr>
          <a:xfrm xmlns:a="http://schemas.openxmlformats.org/drawingml/2006/main">
            <a:off x="4953000" y="3676650"/>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Types, structures de données et compatibilité.</a:t>
            </a:r>
          </a:p>
        </p:txBody>
      </p:sp>
      <p:sp>
        <p:nvSpPr>
          <p:cNvPr id="11" name="">
            <a:extLst xmlns:a="http://schemas.openxmlformats.org/drawingml/2006/main">
              <a:ext uri="{FF2B5EF4-FFF2-40B4-BE49-F238E27FC236}">
                <a16:creationId xmlns:a16="http://schemas.microsoft.com/office/drawing/2014/main" id="{107BEA6F-6846-44FC-82EA-567B3AC436B1}"/>
              </a:ext>
            </a:extLst>
          </p:cNvPr>
          <p:cNvSpPr>
            <a:spLocks xmlns:a="http://schemas.openxmlformats.org/drawingml/2006/main" noGrp="1"/>
          </p:cNvSpPr>
          <p:nvPr/>
        </p:nvSpPr>
        <p:spPr>
          <a:xfrm xmlns:a="http://schemas.openxmlformats.org/drawingml/2006/main">
            <a:off x="4953000" y="4438650"/>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Traçabilité des versions</a:t>
            </a:r>
          </a:p>
        </p:txBody>
      </p:sp>
      <p:sp>
        <p:nvSpPr>
          <p:cNvPr id="12" name="">
            <a:extLst xmlns:a="http://schemas.openxmlformats.org/drawingml/2006/main">
              <a:ext uri="{FF2B5EF4-FFF2-40B4-BE49-F238E27FC236}">
                <a16:creationId xmlns:a16="http://schemas.microsoft.com/office/drawing/2014/main" id="{F4BAB21A-FCAC-4644-8F5F-0282151A019C}"/>
              </a:ext>
            </a:extLst>
          </p:cNvPr>
          <p:cNvSpPr>
            <a:spLocks xmlns:a="http://schemas.openxmlformats.org/drawingml/2006/main" noGrp="1"/>
          </p:cNvSpPr>
          <p:nvPr/>
        </p:nvSpPr>
        <p:spPr>
          <a:xfrm xmlns:a="http://schemas.openxmlformats.org/drawingml/2006/main">
            <a:off x="4953000" y="4867275"/>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Chaque paquet et son rôle figurent dans les notes.</a:t>
            </a:r>
          </a:p>
        </p:txBody>
      </p:sp>
    </p:spTree>
    <p:extLst>
      <p:ext uri="{BB962C8B-B14F-4D97-AF65-F5344CB8AC3E}">
        <p14:creationId xmlns:p14="http://schemas.microsoft.com/office/powerpoint/2010/main" val="475015756"/>
      </p:ext>
    </p:extLst>
  </p:cSld>
</p:sld>
</file>

<file path=ppt/slides/slide29.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EBF3819-55B1-49A3-936A-F69FE6D21703}"/>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Intégrations optionnelles</a:t>
            </a:r>
          </a:p>
        </p:txBody>
      </p:sp>
      <p:sp>
        <p:nvSpPr>
          <p:cNvPr id="2" name="">
            <a:extLst xmlns:a="http://schemas.openxmlformats.org/drawingml/2006/main">
              <a:ext uri="{FF2B5EF4-FFF2-40B4-BE49-F238E27FC236}">
                <a16:creationId xmlns:a16="http://schemas.microsoft.com/office/drawing/2014/main" id="{E96558F2-F555-49D2-AE33-0DFA385C116C}"/>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6054DBB3-2E4C-49BB-BA6C-96FED0F6E537}"/>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Inventaire intégral de ce groupe dans les notes : nom, version, fonction et statut.</a:t>
            </a:r>
          </a:p>
        </p:txBody>
      </p:sp>
      <p:sp>
        <p:nvSpPr>
          <p:cNvPr id="4" name="">
            <a:extLst xmlns:a="http://schemas.openxmlformats.org/drawingml/2006/main">
              <a:ext uri="{FF2B5EF4-FFF2-40B4-BE49-F238E27FC236}">
                <a16:creationId xmlns:a16="http://schemas.microsoft.com/office/drawing/2014/main" id="{C6D6F213-D589-4D80-95E4-685D62252EB5}"/>
              </a:ext>
            </a:extLst>
          </p:cNvPr>
          <p:cNvSpPr>
            <a:spLocks xmlns:a="http://schemas.openxmlformats.org/drawingml/2006/main" noGrp="1"/>
          </p:cNvSpPr>
          <p:nvPr/>
        </p:nvSpPr>
        <p:spPr>
          <a:xfrm xmlns:a="http://schemas.openxmlformats.org/drawingml/2006/main">
            <a:off x="609600" y="2028825"/>
            <a:ext cx="328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775" b="1">
                <a:solidFill>
                  <a:srgbClr val="146C78"/>
                </a:solidFill>
                <a:latin typeface="Arial"/>
                <a:ea typeface="Arial"/>
                <a:cs typeface="Arial"/>
              </a:defRPr>
            </a:defPPr>
          </a:lstStyle>
          <a:p xmlns:a="http://schemas.openxmlformats.org/drawingml/2006/main">
            <a:pPr>
              <a:defRPr sz="8775" b="1">
                <a:solidFill>
                  <a:srgbClr val="146C78"/>
                </a:solidFill>
                <a:latin typeface="Arial"/>
                <a:ea typeface="Arial"/>
                <a:cs typeface="Arial"/>
              </a:defRPr>
            </a:pPr>
            <a:r>
              <a:rPr sz="8775" b="1">
                <a:solidFill>
                  <a:srgbClr val="146C78"/>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A1E01507-3FB4-45BD-A6C0-9C38EEB80411}"/>
              </a:ext>
            </a:extLst>
          </p:cNvPr>
          <p:cNvSpPr>
            <a:spLocks xmlns:a="http://schemas.openxmlformats.org/drawingml/2006/main" noGrp="1"/>
          </p:cNvSpPr>
          <p:nvPr/>
        </p:nvSpPr>
        <p:spPr>
          <a:xfrm xmlns:a="http://schemas.openxmlformats.org/drawingml/2006/main">
            <a:off x="666750" y="35242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039"/>
                </a:solidFill>
                <a:latin typeface="Arial"/>
                <a:ea typeface="Arial"/>
                <a:cs typeface="Arial"/>
              </a:defRPr>
            </a:defPPr>
          </a:lstStyle>
          <a:p xmlns:a="http://schemas.openxmlformats.org/drawingml/2006/main">
            <a:pPr>
              <a:defRPr sz="2175" b="0">
                <a:solidFill>
                  <a:srgbClr val="173039"/>
                </a:solidFill>
                <a:latin typeface="Arial"/>
                <a:ea typeface="Arial"/>
                <a:cs typeface="Arial"/>
              </a:defRPr>
            </a:pPr>
            <a:r>
              <a:rPr sz="2175" b="0">
                <a:solidFill>
                  <a:srgbClr val="173039"/>
                </a:solidFill>
                <a:latin typeface="Arial"/>
                <a:ea typeface="Arial"/>
                <a:cs typeface="Arial"/>
              </a:rPr>
              <a:t>paquets Python</a:t>
            </a:r>
          </a:p>
        </p:txBody>
      </p:sp>
      <p:sp>
        <p:nvSpPr>
          <p:cNvPr id="6" name="">
            <a:extLst xmlns:a="http://schemas.openxmlformats.org/drawingml/2006/main">
              <a:ext uri="{FF2B5EF4-FFF2-40B4-BE49-F238E27FC236}">
                <a16:creationId xmlns:a16="http://schemas.microsoft.com/office/drawing/2014/main" id="{2493EFA8-694D-4BF8-8222-230AB7B37F99}"/>
              </a:ext>
            </a:extLst>
          </p:cNvPr>
          <p:cNvSpPr>
            <a:spLocks xmlns:a="http://schemas.openxmlformats.org/drawingml/2006/main" noGrp="1"/>
          </p:cNvSpPr>
          <p:nvPr/>
        </p:nvSpPr>
        <p:spPr>
          <a:xfrm xmlns:a="http://schemas.openxmlformats.org/drawingml/2006/main">
            <a:off x="609600" y="4448175"/>
            <a:ext cx="33813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870"/>
                </a:solidFill>
                <a:latin typeface="Arial"/>
                <a:ea typeface="Arial"/>
                <a:cs typeface="Arial"/>
              </a:defRPr>
            </a:defPPr>
          </a:lstStyle>
          <a:p xmlns:a="http://schemas.openxmlformats.org/drawingml/2006/main">
            <a:pPr>
              <a:defRPr sz="1875" b="0">
                <a:solidFill>
                  <a:srgbClr val="526870"/>
                </a:solidFill>
                <a:latin typeface="Arial"/>
                <a:ea typeface="Arial"/>
                <a:cs typeface="Arial"/>
              </a:defRPr>
            </a:pPr>
            <a:r>
              <a:rPr sz="1875" b="0">
                <a:solidFill>
                  <a:srgbClr val="526870"/>
                </a:solidFill>
                <a:latin typeface="Arial"/>
                <a:ea typeface="Arial"/>
                <a:cs typeface="Arial"/>
              </a:rPr>
              <a:t>Le paquet installé ne prouve pas une intégration exécutée.</a:t>
            </a:r>
          </a:p>
        </p:txBody>
      </p:sp>
      <p:sp>
        <p:nvSpPr>
          <p:cNvPr id="7" name="">
            <a:extLst xmlns:a="http://schemas.openxmlformats.org/drawingml/2006/main">
              <a:ext uri="{FF2B5EF4-FFF2-40B4-BE49-F238E27FC236}">
                <a16:creationId xmlns:a16="http://schemas.microsoft.com/office/drawing/2014/main" id="{02919643-2254-461F-8FC2-D7AD5EADBB37}"/>
              </a:ext>
            </a:extLst>
          </p:cNvPr>
          <p:cNvSpPr>
            <a:spLocks xmlns:a="http://schemas.openxmlformats.org/drawingml/2006/main" noGrp="1"/>
          </p:cNvSpPr>
          <p:nvPr/>
        </p:nvSpPr>
        <p:spPr>
          <a:xfrm xmlns:a="http://schemas.openxmlformats.org/drawingml/2006/main">
            <a:off x="4953000" y="2057400"/>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Langfuse</a:t>
            </a:r>
          </a:p>
        </p:txBody>
      </p:sp>
      <p:sp>
        <p:nvSpPr>
          <p:cNvPr id="8" name="">
            <a:extLst xmlns:a="http://schemas.openxmlformats.org/drawingml/2006/main">
              <a:ext uri="{FF2B5EF4-FFF2-40B4-BE49-F238E27FC236}">
                <a16:creationId xmlns:a16="http://schemas.microsoft.com/office/drawing/2014/main" id="{0C665B87-D1E0-4AB4-B3F7-99B088EC266E}"/>
              </a:ext>
            </a:extLst>
          </p:cNvPr>
          <p:cNvSpPr>
            <a:spLocks xmlns:a="http://schemas.openxmlformats.org/drawingml/2006/main" noGrp="1"/>
          </p:cNvSpPr>
          <p:nvPr/>
        </p:nvSpPr>
        <p:spPr>
          <a:xfrm xmlns:a="http://schemas.openxmlformats.org/drawingml/2006/main">
            <a:off x="4953000" y="2486025"/>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Export secondaire configuré, validation cloud ouverte.</a:t>
            </a:r>
          </a:p>
        </p:txBody>
      </p:sp>
      <p:sp>
        <p:nvSpPr>
          <p:cNvPr id="9" name="">
            <a:extLst xmlns:a="http://schemas.openxmlformats.org/drawingml/2006/main">
              <a:ext uri="{FF2B5EF4-FFF2-40B4-BE49-F238E27FC236}">
                <a16:creationId xmlns:a16="http://schemas.microsoft.com/office/drawing/2014/main" id="{A4AC6B5D-95FB-423A-8E3E-22C32D79089A}"/>
              </a:ext>
            </a:extLst>
          </p:cNvPr>
          <p:cNvSpPr>
            <a:spLocks xmlns:a="http://schemas.openxmlformats.org/drawingml/2006/main" noGrp="1"/>
          </p:cNvSpPr>
          <p:nvPr/>
        </p:nvSpPr>
        <p:spPr>
          <a:xfrm xmlns:a="http://schemas.openxmlformats.org/drawingml/2006/main">
            <a:off x="4953000" y="3248025"/>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PostgreSQL</a:t>
            </a:r>
          </a:p>
        </p:txBody>
      </p:sp>
      <p:sp>
        <p:nvSpPr>
          <p:cNvPr id="10" name="">
            <a:extLst xmlns:a="http://schemas.openxmlformats.org/drawingml/2006/main">
              <a:ext uri="{FF2B5EF4-FFF2-40B4-BE49-F238E27FC236}">
                <a16:creationId xmlns:a16="http://schemas.microsoft.com/office/drawing/2014/main" id="{A52F55D1-DF24-4F5F-9534-D76C4EA1C50D}"/>
              </a:ext>
            </a:extLst>
          </p:cNvPr>
          <p:cNvSpPr>
            <a:spLocks xmlns:a="http://schemas.openxmlformats.org/drawingml/2006/main" noGrp="1"/>
          </p:cNvSpPr>
          <p:nvPr/>
        </p:nvSpPr>
        <p:spPr>
          <a:xfrm xmlns:a="http://schemas.openxmlformats.org/drawingml/2006/main">
            <a:off x="4953000" y="3676650"/>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Psycopg et son pool pour un profil non validé localement.</a:t>
            </a:r>
          </a:p>
        </p:txBody>
      </p:sp>
      <p:sp>
        <p:nvSpPr>
          <p:cNvPr id="11" name="">
            <a:extLst xmlns:a="http://schemas.openxmlformats.org/drawingml/2006/main">
              <a:ext uri="{FF2B5EF4-FFF2-40B4-BE49-F238E27FC236}">
                <a16:creationId xmlns:a16="http://schemas.microsoft.com/office/drawing/2014/main" id="{A2415B87-6D19-4AC3-B5A6-36C7C6576C9D}"/>
              </a:ext>
            </a:extLst>
          </p:cNvPr>
          <p:cNvSpPr>
            <a:spLocks xmlns:a="http://schemas.openxmlformats.org/drawingml/2006/main" noGrp="1"/>
          </p:cNvSpPr>
          <p:nvPr/>
        </p:nvSpPr>
        <p:spPr>
          <a:xfrm xmlns:a="http://schemas.openxmlformats.org/drawingml/2006/main">
            <a:off x="4953000" y="4438650"/>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Checkpoints PostgreSQL</a:t>
            </a:r>
          </a:p>
        </p:txBody>
      </p:sp>
      <p:sp>
        <p:nvSpPr>
          <p:cNvPr id="12" name="">
            <a:extLst xmlns:a="http://schemas.openxmlformats.org/drawingml/2006/main">
              <a:ext uri="{FF2B5EF4-FFF2-40B4-BE49-F238E27FC236}">
                <a16:creationId xmlns:a16="http://schemas.microsoft.com/office/drawing/2014/main" id="{83FA0468-0AE1-4778-8687-EC0DDA0A4DC4}"/>
              </a:ext>
            </a:extLst>
          </p:cNvPr>
          <p:cNvSpPr>
            <a:spLocks xmlns:a="http://schemas.openxmlformats.org/drawingml/2006/main" noGrp="1"/>
          </p:cNvSpPr>
          <p:nvPr/>
        </p:nvSpPr>
        <p:spPr>
          <a:xfrm xmlns:a="http://schemas.openxmlformats.org/drawingml/2006/main">
            <a:off x="4953000" y="4867275"/>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Saver installé, le workflow courant emploie SQLite.</a:t>
            </a:r>
          </a:p>
        </p:txBody>
      </p:sp>
    </p:spTree>
    <p:extLst>
      <p:ext uri="{BB962C8B-B14F-4D97-AF65-F5344CB8AC3E}">
        <p14:creationId xmlns:p14="http://schemas.microsoft.com/office/powerpoint/2010/main" val="868315553"/>
      </p:ext>
    </p:extLst>
  </p:cSld>
</p:sld>
</file>

<file path=ppt/slides/slide30.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8F96399-FF8F-42B5-BBDA-A0750C5C1047}"/>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Outils de qualité Python</a:t>
            </a:r>
          </a:p>
        </p:txBody>
      </p:sp>
      <p:sp>
        <p:nvSpPr>
          <p:cNvPr id="2" name="">
            <a:extLst xmlns:a="http://schemas.openxmlformats.org/drawingml/2006/main">
              <a:ext uri="{FF2B5EF4-FFF2-40B4-BE49-F238E27FC236}">
                <a16:creationId xmlns:a16="http://schemas.microsoft.com/office/drawing/2014/main" id="{F9D60819-A75B-4012-80FB-86AEB188F1B6}"/>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30</a:t>
            </a:r>
          </a:p>
        </p:txBody>
      </p:sp>
      <p:sp>
        <p:nvSpPr>
          <p:cNvPr id="3" name="">
            <a:extLst xmlns:a="http://schemas.openxmlformats.org/drawingml/2006/main">
              <a:ext uri="{FF2B5EF4-FFF2-40B4-BE49-F238E27FC236}">
                <a16:creationId xmlns:a16="http://schemas.microsoft.com/office/drawing/2014/main" id="{00B94DE3-2899-46DA-BB3C-2580D3608E49}"/>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Inventaire intégral de ce groupe dans les notes : nom, version, fonction et statut.</a:t>
            </a:r>
          </a:p>
        </p:txBody>
      </p:sp>
      <p:sp>
        <p:nvSpPr>
          <p:cNvPr id="4" name="">
            <a:extLst xmlns:a="http://schemas.openxmlformats.org/drawingml/2006/main">
              <a:ext uri="{FF2B5EF4-FFF2-40B4-BE49-F238E27FC236}">
                <a16:creationId xmlns:a16="http://schemas.microsoft.com/office/drawing/2014/main" id="{11C48F87-E0EB-4DD6-BC86-1F7D6F7F064A}"/>
              </a:ext>
            </a:extLst>
          </p:cNvPr>
          <p:cNvSpPr>
            <a:spLocks xmlns:a="http://schemas.openxmlformats.org/drawingml/2006/main" noGrp="1"/>
          </p:cNvSpPr>
          <p:nvPr/>
        </p:nvSpPr>
        <p:spPr>
          <a:xfrm xmlns:a="http://schemas.openxmlformats.org/drawingml/2006/main">
            <a:off x="609600" y="2028825"/>
            <a:ext cx="328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775" b="1">
                <a:solidFill>
                  <a:srgbClr val="146C78"/>
                </a:solidFill>
                <a:latin typeface="Arial"/>
                <a:ea typeface="Arial"/>
                <a:cs typeface="Arial"/>
              </a:defRPr>
            </a:defPPr>
          </a:lstStyle>
          <a:p xmlns:a="http://schemas.openxmlformats.org/drawingml/2006/main">
            <a:pPr>
              <a:defRPr sz="8775" b="1">
                <a:solidFill>
                  <a:srgbClr val="146C78"/>
                </a:solidFill>
                <a:latin typeface="Arial"/>
                <a:ea typeface="Arial"/>
                <a:cs typeface="Arial"/>
              </a:defRPr>
            </a:pPr>
            <a:r>
              <a:rPr sz="8775" b="1">
                <a:solidFill>
                  <a:srgbClr val="146C78"/>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A28C6418-BFB7-4D3F-A0FE-0F71768189E2}"/>
              </a:ext>
            </a:extLst>
          </p:cNvPr>
          <p:cNvSpPr>
            <a:spLocks xmlns:a="http://schemas.openxmlformats.org/drawingml/2006/main" noGrp="1"/>
          </p:cNvSpPr>
          <p:nvPr/>
        </p:nvSpPr>
        <p:spPr>
          <a:xfrm xmlns:a="http://schemas.openxmlformats.org/drawingml/2006/main">
            <a:off x="666750" y="35242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039"/>
                </a:solidFill>
                <a:latin typeface="Arial"/>
                <a:ea typeface="Arial"/>
                <a:cs typeface="Arial"/>
              </a:defRPr>
            </a:defPPr>
          </a:lstStyle>
          <a:p xmlns:a="http://schemas.openxmlformats.org/drawingml/2006/main">
            <a:pPr>
              <a:defRPr sz="2175" b="0">
                <a:solidFill>
                  <a:srgbClr val="173039"/>
                </a:solidFill>
                <a:latin typeface="Arial"/>
                <a:ea typeface="Arial"/>
                <a:cs typeface="Arial"/>
              </a:defRPr>
            </a:pPr>
            <a:r>
              <a:rPr sz="2175" b="0">
                <a:solidFill>
                  <a:srgbClr val="173039"/>
                </a:solidFill>
                <a:latin typeface="Arial"/>
                <a:ea typeface="Arial"/>
                <a:cs typeface="Arial"/>
              </a:rPr>
              <a:t>paquets Python</a:t>
            </a:r>
          </a:p>
        </p:txBody>
      </p:sp>
      <p:sp>
        <p:nvSpPr>
          <p:cNvPr id="6" name="">
            <a:extLst xmlns:a="http://schemas.openxmlformats.org/drawingml/2006/main">
              <a:ext uri="{FF2B5EF4-FFF2-40B4-BE49-F238E27FC236}">
                <a16:creationId xmlns:a16="http://schemas.microsoft.com/office/drawing/2014/main" id="{B54EEA37-DC37-488D-BAD1-FBBAAFA253CA}"/>
              </a:ext>
            </a:extLst>
          </p:cNvPr>
          <p:cNvSpPr>
            <a:spLocks xmlns:a="http://schemas.openxmlformats.org/drawingml/2006/main" noGrp="1"/>
          </p:cNvSpPr>
          <p:nvPr/>
        </p:nvSpPr>
        <p:spPr>
          <a:xfrm xmlns:a="http://schemas.openxmlformats.org/drawingml/2006/main">
            <a:off x="609600" y="4448175"/>
            <a:ext cx="33813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870"/>
                </a:solidFill>
                <a:latin typeface="Arial"/>
                <a:ea typeface="Arial"/>
                <a:cs typeface="Arial"/>
              </a:defRPr>
            </a:defPPr>
          </a:lstStyle>
          <a:p xmlns:a="http://schemas.openxmlformats.org/drawingml/2006/main">
            <a:pPr>
              <a:defRPr sz="1875" b="0">
                <a:solidFill>
                  <a:srgbClr val="526870"/>
                </a:solidFill>
                <a:latin typeface="Arial"/>
                <a:ea typeface="Arial"/>
                <a:cs typeface="Arial"/>
              </a:defRPr>
            </a:pPr>
            <a:r>
              <a:rPr sz="1875" b="0">
                <a:solidFill>
                  <a:srgbClr val="526870"/>
                </a:solidFill>
                <a:latin typeface="Arial"/>
                <a:ea typeface="Arial"/>
                <a:cs typeface="Arial"/>
              </a:rPr>
              <a:t>Tests automatisés et analyse statique du projet.</a:t>
            </a:r>
          </a:p>
        </p:txBody>
      </p:sp>
      <p:sp>
        <p:nvSpPr>
          <p:cNvPr id="7" name="">
            <a:extLst xmlns:a="http://schemas.openxmlformats.org/drawingml/2006/main">
              <a:ext uri="{FF2B5EF4-FFF2-40B4-BE49-F238E27FC236}">
                <a16:creationId xmlns:a16="http://schemas.microsoft.com/office/drawing/2014/main" id="{6EDF7206-04FF-423A-91D3-D09EB2909872}"/>
              </a:ext>
            </a:extLst>
          </p:cNvPr>
          <p:cNvSpPr>
            <a:spLocks xmlns:a="http://schemas.openxmlformats.org/drawingml/2006/main" noGrp="1"/>
          </p:cNvSpPr>
          <p:nvPr/>
        </p:nvSpPr>
        <p:spPr>
          <a:xfrm xmlns:a="http://schemas.openxmlformats.org/drawingml/2006/main">
            <a:off x="4953000" y="2057400"/>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pytest</a:t>
            </a:r>
          </a:p>
        </p:txBody>
      </p:sp>
      <p:sp>
        <p:nvSpPr>
          <p:cNvPr id="8" name="">
            <a:extLst xmlns:a="http://schemas.openxmlformats.org/drawingml/2006/main">
              <a:ext uri="{FF2B5EF4-FFF2-40B4-BE49-F238E27FC236}">
                <a16:creationId xmlns:a16="http://schemas.microsoft.com/office/drawing/2014/main" id="{69A355B8-B3EB-4681-B4FF-11C90AD4B4EA}"/>
              </a:ext>
            </a:extLst>
          </p:cNvPr>
          <p:cNvSpPr>
            <a:spLocks xmlns:a="http://schemas.openxmlformats.org/drawingml/2006/main" noGrp="1"/>
          </p:cNvSpPr>
          <p:nvPr/>
        </p:nvSpPr>
        <p:spPr>
          <a:xfrm xmlns:a="http://schemas.openxmlformats.org/drawingml/2006/main">
            <a:off x="4953000" y="2486025"/>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Exécuter les fixtures, assertions et régressions.</a:t>
            </a:r>
          </a:p>
        </p:txBody>
      </p:sp>
      <p:sp>
        <p:nvSpPr>
          <p:cNvPr id="9" name="">
            <a:extLst xmlns:a="http://schemas.openxmlformats.org/drawingml/2006/main">
              <a:ext uri="{FF2B5EF4-FFF2-40B4-BE49-F238E27FC236}">
                <a16:creationId xmlns:a16="http://schemas.microsoft.com/office/drawing/2014/main" id="{DBDD430E-7905-4165-ACE3-5504928A02FC}"/>
              </a:ext>
            </a:extLst>
          </p:cNvPr>
          <p:cNvSpPr>
            <a:spLocks xmlns:a="http://schemas.openxmlformats.org/drawingml/2006/main" noGrp="1"/>
          </p:cNvSpPr>
          <p:nvPr/>
        </p:nvSpPr>
        <p:spPr>
          <a:xfrm xmlns:a="http://schemas.openxmlformats.org/drawingml/2006/main">
            <a:off x="4953000" y="3248025"/>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Ruff</a:t>
            </a:r>
          </a:p>
        </p:txBody>
      </p:sp>
      <p:sp>
        <p:nvSpPr>
          <p:cNvPr id="10" name="">
            <a:extLst xmlns:a="http://schemas.openxmlformats.org/drawingml/2006/main">
              <a:ext uri="{FF2B5EF4-FFF2-40B4-BE49-F238E27FC236}">
                <a16:creationId xmlns:a16="http://schemas.microsoft.com/office/drawing/2014/main" id="{79238120-24F4-4B85-B377-53269F3C06F9}"/>
              </a:ext>
            </a:extLst>
          </p:cNvPr>
          <p:cNvSpPr>
            <a:spLocks xmlns:a="http://schemas.openxmlformats.org/drawingml/2006/main" noGrp="1"/>
          </p:cNvSpPr>
          <p:nvPr/>
        </p:nvSpPr>
        <p:spPr>
          <a:xfrm xmlns:a="http://schemas.openxmlformats.org/drawingml/2006/main">
            <a:off x="4953000" y="3676650"/>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Détecter erreurs de code et imports incohérents.</a:t>
            </a:r>
          </a:p>
        </p:txBody>
      </p:sp>
      <p:sp>
        <p:nvSpPr>
          <p:cNvPr id="11" name="">
            <a:extLst xmlns:a="http://schemas.openxmlformats.org/drawingml/2006/main">
              <a:ext uri="{FF2B5EF4-FFF2-40B4-BE49-F238E27FC236}">
                <a16:creationId xmlns:a16="http://schemas.microsoft.com/office/drawing/2014/main" id="{FB583357-4133-4F73-982D-8E318AE36295}"/>
              </a:ext>
            </a:extLst>
          </p:cNvPr>
          <p:cNvSpPr>
            <a:spLocks xmlns:a="http://schemas.openxmlformats.org/drawingml/2006/main" noGrp="1"/>
          </p:cNvSpPr>
          <p:nvPr/>
        </p:nvSpPr>
        <p:spPr>
          <a:xfrm xmlns:a="http://schemas.openxmlformats.org/drawingml/2006/main">
            <a:off x="4953000" y="4438650"/>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Portée</a:t>
            </a:r>
          </a:p>
        </p:txBody>
      </p:sp>
      <p:sp>
        <p:nvSpPr>
          <p:cNvPr id="12" name="">
            <a:extLst xmlns:a="http://schemas.openxmlformats.org/drawingml/2006/main">
              <a:ext uri="{FF2B5EF4-FFF2-40B4-BE49-F238E27FC236}">
                <a16:creationId xmlns:a16="http://schemas.microsoft.com/office/drawing/2014/main" id="{A3352304-2394-48CA-A337-81CDF8197626}"/>
              </a:ext>
            </a:extLst>
          </p:cNvPr>
          <p:cNvSpPr>
            <a:spLocks xmlns:a="http://schemas.openxmlformats.org/drawingml/2006/main" noGrp="1"/>
          </p:cNvSpPr>
          <p:nvPr/>
        </p:nvSpPr>
        <p:spPr>
          <a:xfrm xmlns:a="http://schemas.openxmlformats.org/drawingml/2006/main">
            <a:off x="4953000" y="4867275"/>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Aucun de ces outils ne certifie une opération réelle.</a:t>
            </a:r>
          </a:p>
        </p:txBody>
      </p:sp>
    </p:spTree>
    <p:extLst>
      <p:ext uri="{BB962C8B-B14F-4D97-AF65-F5344CB8AC3E}">
        <p14:creationId xmlns:p14="http://schemas.microsoft.com/office/powerpoint/2010/main" val="1043319331"/>
      </p:ext>
    </p:extLst>
  </p:cSld>
</p:sld>
</file>

<file path=ppt/slides/slide31.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128D018-31A6-4EC4-80AE-019056C94951}"/>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Installation et usage effectif</a:t>
            </a:r>
          </a:p>
        </p:txBody>
      </p:sp>
      <p:sp>
        <p:nvSpPr>
          <p:cNvPr id="2" name="">
            <a:extLst xmlns:a="http://schemas.openxmlformats.org/drawingml/2006/main">
              <a:ext uri="{FF2B5EF4-FFF2-40B4-BE49-F238E27FC236}">
                <a16:creationId xmlns:a16="http://schemas.microsoft.com/office/drawing/2014/main" id="{F1278098-E7F3-49D7-BF80-FDB97F899661}"/>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31</a:t>
            </a:r>
          </a:p>
        </p:txBody>
      </p:sp>
      <p:sp>
        <p:nvSpPr>
          <p:cNvPr id="3" name="">
            <a:extLst xmlns:a="http://schemas.openxmlformats.org/drawingml/2006/main">
              <a:ext uri="{FF2B5EF4-FFF2-40B4-BE49-F238E27FC236}">
                <a16:creationId xmlns:a16="http://schemas.microsoft.com/office/drawing/2014/main" id="{F4E6221A-82F6-49D3-8EB5-1E2EE3B809CA}"/>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Inventaire intégral de ce groupe dans les notes : nom, version, fonction et statut.</a:t>
            </a:r>
          </a:p>
        </p:txBody>
      </p:sp>
      <p:sp>
        <p:nvSpPr>
          <p:cNvPr id="4" name="">
            <a:extLst xmlns:a="http://schemas.openxmlformats.org/drawingml/2006/main">
              <a:ext uri="{FF2B5EF4-FFF2-40B4-BE49-F238E27FC236}">
                <a16:creationId xmlns:a16="http://schemas.microsoft.com/office/drawing/2014/main" id="{D768C918-C2A2-4DBB-961D-8D90EE41BE44}"/>
              </a:ext>
            </a:extLst>
          </p:cNvPr>
          <p:cNvSpPr>
            <a:spLocks xmlns:a="http://schemas.openxmlformats.org/drawingml/2006/main" noGrp="1"/>
          </p:cNvSpPr>
          <p:nvPr/>
        </p:nvSpPr>
        <p:spPr>
          <a:xfrm xmlns:a="http://schemas.openxmlformats.org/drawingml/2006/main">
            <a:off x="609600" y="2028825"/>
            <a:ext cx="328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775" b="1">
                <a:solidFill>
                  <a:srgbClr val="146C78"/>
                </a:solidFill>
                <a:latin typeface="Arial"/>
                <a:ea typeface="Arial"/>
                <a:cs typeface="Arial"/>
              </a:defRPr>
            </a:defPPr>
          </a:lstStyle>
          <a:p xmlns:a="http://schemas.openxmlformats.org/drawingml/2006/main">
            <a:pPr>
              <a:defRPr sz="8775" b="1">
                <a:solidFill>
                  <a:srgbClr val="146C78"/>
                </a:solidFill>
                <a:latin typeface="Arial"/>
                <a:ea typeface="Arial"/>
                <a:cs typeface="Arial"/>
              </a:defRPr>
            </a:pPr>
            <a:r>
              <a:rPr sz="8775" b="1">
                <a:solidFill>
                  <a:srgbClr val="146C78"/>
                </a:solidFill>
                <a:latin typeface="Arial"/>
                <a:ea typeface="Arial"/>
                <a:cs typeface="Arial"/>
              </a:rPr>
              <a:t>9</a:t>
            </a:r>
          </a:p>
        </p:txBody>
      </p:sp>
      <p:sp>
        <p:nvSpPr>
          <p:cNvPr id="5" name="">
            <a:extLst xmlns:a="http://schemas.openxmlformats.org/drawingml/2006/main">
              <a:ext uri="{FF2B5EF4-FFF2-40B4-BE49-F238E27FC236}">
                <a16:creationId xmlns:a16="http://schemas.microsoft.com/office/drawing/2014/main" id="{9B65AD80-90CD-4DEA-9E65-3B018661C125}"/>
              </a:ext>
            </a:extLst>
          </p:cNvPr>
          <p:cNvSpPr>
            <a:spLocks xmlns:a="http://schemas.openxmlformats.org/drawingml/2006/main" noGrp="1"/>
          </p:cNvSpPr>
          <p:nvPr/>
        </p:nvSpPr>
        <p:spPr>
          <a:xfrm xmlns:a="http://schemas.openxmlformats.org/drawingml/2006/main">
            <a:off x="666750" y="35242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039"/>
                </a:solidFill>
                <a:latin typeface="Arial"/>
                <a:ea typeface="Arial"/>
                <a:cs typeface="Arial"/>
              </a:defRPr>
            </a:defPPr>
          </a:lstStyle>
          <a:p xmlns:a="http://schemas.openxmlformats.org/drawingml/2006/main">
            <a:pPr>
              <a:defRPr sz="2175" b="0">
                <a:solidFill>
                  <a:srgbClr val="173039"/>
                </a:solidFill>
                <a:latin typeface="Arial"/>
                <a:ea typeface="Arial"/>
                <a:cs typeface="Arial"/>
              </a:defRPr>
            </a:pPr>
            <a:r>
              <a:rPr sz="2175" b="0">
                <a:solidFill>
                  <a:srgbClr val="173039"/>
                </a:solidFill>
                <a:latin typeface="Arial"/>
                <a:ea typeface="Arial"/>
                <a:cs typeface="Arial"/>
              </a:rPr>
              <a:t>paquets Python</a:t>
            </a:r>
          </a:p>
        </p:txBody>
      </p:sp>
      <p:sp>
        <p:nvSpPr>
          <p:cNvPr id="6" name="">
            <a:extLst xmlns:a="http://schemas.openxmlformats.org/drawingml/2006/main">
              <a:ext uri="{FF2B5EF4-FFF2-40B4-BE49-F238E27FC236}">
                <a16:creationId xmlns:a16="http://schemas.microsoft.com/office/drawing/2014/main" id="{3F0D8815-EEE1-4E69-9115-991D982786E2}"/>
              </a:ext>
            </a:extLst>
          </p:cNvPr>
          <p:cNvSpPr>
            <a:spLocks xmlns:a="http://schemas.openxmlformats.org/drawingml/2006/main" noGrp="1"/>
          </p:cNvSpPr>
          <p:nvPr/>
        </p:nvSpPr>
        <p:spPr>
          <a:xfrm xmlns:a="http://schemas.openxmlformats.org/drawingml/2006/main">
            <a:off x="609600" y="4448175"/>
            <a:ext cx="33813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6870"/>
                </a:solidFill>
                <a:latin typeface="Arial"/>
                <a:ea typeface="Arial"/>
                <a:cs typeface="Arial"/>
              </a:defRPr>
            </a:defPPr>
          </a:lstStyle>
          <a:p xmlns:a="http://schemas.openxmlformats.org/drawingml/2006/main">
            <a:pPr>
              <a:defRPr sz="1875" b="0">
                <a:solidFill>
                  <a:srgbClr val="526870"/>
                </a:solidFill>
                <a:latin typeface="Arial"/>
                <a:ea typeface="Arial"/>
                <a:cs typeface="Arial"/>
              </a:defRPr>
            </a:pPr>
            <a:r>
              <a:rPr sz="1875" b="0">
                <a:solidFill>
                  <a:srgbClr val="526870"/>
                </a:solidFill>
                <a:latin typeface="Arial"/>
                <a:ea typeface="Arial"/>
                <a:cs typeface="Arial"/>
              </a:rPr>
              <a:t>Ces paquets ne démontrent pas une fonction métier activée.</a:t>
            </a:r>
          </a:p>
        </p:txBody>
      </p:sp>
      <p:sp>
        <p:nvSpPr>
          <p:cNvPr id="7" name="">
            <a:extLst xmlns:a="http://schemas.openxmlformats.org/drawingml/2006/main">
              <a:ext uri="{FF2B5EF4-FFF2-40B4-BE49-F238E27FC236}">
                <a16:creationId xmlns:a16="http://schemas.microsoft.com/office/drawing/2014/main" id="{3C3D20D8-8BC8-48E0-93ED-890A42EEDF8D}"/>
              </a:ext>
            </a:extLst>
          </p:cNvPr>
          <p:cNvSpPr>
            <a:spLocks xmlns:a="http://schemas.openxmlformats.org/drawingml/2006/main" noGrp="1"/>
          </p:cNvSpPr>
          <p:nvPr/>
        </p:nvSpPr>
        <p:spPr>
          <a:xfrm xmlns:a="http://schemas.openxmlformats.org/drawingml/2006/main">
            <a:off x="4953000" y="2057400"/>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Analyse et vecteurs</a:t>
            </a:r>
          </a:p>
        </p:txBody>
      </p:sp>
      <p:sp>
        <p:nvSpPr>
          <p:cNvPr id="8" name="">
            <a:extLst xmlns:a="http://schemas.openxmlformats.org/drawingml/2006/main">
              <a:ext uri="{FF2B5EF4-FFF2-40B4-BE49-F238E27FC236}">
                <a16:creationId xmlns:a16="http://schemas.microsoft.com/office/drawing/2014/main" id="{A1BA79BA-8B27-44E3-A486-555BBC420E09}"/>
              </a:ext>
            </a:extLst>
          </p:cNvPr>
          <p:cNvSpPr>
            <a:spLocks xmlns:a="http://schemas.openxmlformats.org/drawingml/2006/main" noGrp="1"/>
          </p:cNvSpPr>
          <p:nvPr/>
        </p:nvSpPr>
        <p:spPr>
          <a:xfrm xmlns:a="http://schemas.openxmlformats.org/drawingml/2006/main">
            <a:off x="4953000" y="2486025"/>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NumPy, Pandas et sqlite-vec dans l’environnement.</a:t>
            </a:r>
          </a:p>
        </p:txBody>
      </p:sp>
      <p:sp>
        <p:nvSpPr>
          <p:cNvPr id="9" name="">
            <a:extLst xmlns:a="http://schemas.openxmlformats.org/drawingml/2006/main">
              <a:ext uri="{FF2B5EF4-FFF2-40B4-BE49-F238E27FC236}">
                <a16:creationId xmlns:a16="http://schemas.microsoft.com/office/drawing/2014/main" id="{F6F93717-8967-4BA6-A3EF-CA3377656679}"/>
              </a:ext>
            </a:extLst>
          </p:cNvPr>
          <p:cNvSpPr>
            <a:spLocks xmlns:a="http://schemas.openxmlformats.org/drawingml/2006/main" noGrp="1"/>
          </p:cNvSpPr>
          <p:nvPr/>
        </p:nvSpPr>
        <p:spPr>
          <a:xfrm xmlns:a="http://schemas.openxmlformats.org/drawingml/2006/main">
            <a:off x="4953000" y="3248025"/>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Infrastructure déclarée</a:t>
            </a:r>
          </a:p>
        </p:txBody>
      </p:sp>
      <p:sp>
        <p:nvSpPr>
          <p:cNvPr id="10" name="">
            <a:extLst xmlns:a="http://schemas.openxmlformats.org/drawingml/2006/main">
              <a:ext uri="{FF2B5EF4-FFF2-40B4-BE49-F238E27FC236}">
                <a16:creationId xmlns:a16="http://schemas.microsoft.com/office/drawing/2014/main" id="{B54EC1B7-C2BC-4999-9E8E-0A43252B2662}"/>
              </a:ext>
            </a:extLst>
          </p:cNvPr>
          <p:cNvSpPr>
            <a:spLocks xmlns:a="http://schemas.openxmlformats.org/drawingml/2006/main" noGrp="1"/>
          </p:cNvSpPr>
          <p:nvPr/>
        </p:nvSpPr>
        <p:spPr>
          <a:xfrm xmlns:a="http://schemas.openxmlformats.org/drawingml/2006/main">
            <a:off x="4953000" y="3676650"/>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Alembic et adaptateurs présents, usage à distinguer.</a:t>
            </a:r>
          </a:p>
        </p:txBody>
      </p:sp>
      <p:sp>
        <p:nvSpPr>
          <p:cNvPr id="11" name="">
            <a:extLst xmlns:a="http://schemas.openxmlformats.org/drawingml/2006/main">
              <a:ext uri="{FF2B5EF4-FFF2-40B4-BE49-F238E27FC236}">
                <a16:creationId xmlns:a16="http://schemas.microsoft.com/office/drawing/2014/main" id="{EDD4729D-E00C-466A-9E19-68C26CD9D039}"/>
              </a:ext>
            </a:extLst>
          </p:cNvPr>
          <p:cNvSpPr>
            <a:spLocks xmlns:a="http://schemas.openxmlformats.org/drawingml/2006/main" noGrp="1"/>
          </p:cNvSpPr>
          <p:nvPr/>
        </p:nvSpPr>
        <p:spPr>
          <a:xfrm xmlns:a="http://schemas.openxmlformats.org/drawingml/2006/main">
            <a:off x="4953000" y="4438650"/>
            <a:ext cx="6505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039"/>
                </a:solidFill>
                <a:latin typeface="Arial"/>
                <a:ea typeface="Arial"/>
                <a:cs typeface="Arial"/>
              </a:defRPr>
            </a:defPPr>
          </a:lstStyle>
          <a:p xmlns:a="http://schemas.openxmlformats.org/drawingml/2006/main">
            <a:pPr>
              <a:defRPr sz="2100" b="1">
                <a:solidFill>
                  <a:srgbClr val="173039"/>
                </a:solidFill>
                <a:latin typeface="Arial"/>
                <a:ea typeface="Arial"/>
                <a:cs typeface="Arial"/>
              </a:defRPr>
            </a:pPr>
            <a:r>
              <a:rPr sz="2100" b="1">
                <a:solidFill>
                  <a:srgbClr val="173039"/>
                </a:solidFill>
                <a:latin typeface="Arial"/>
                <a:ea typeface="Arial"/>
                <a:cs typeface="Arial"/>
              </a:rPr>
              <a:t>Référence complète</a:t>
            </a:r>
          </a:p>
        </p:txBody>
      </p:sp>
      <p:sp>
        <p:nvSpPr>
          <p:cNvPr id="12" name="">
            <a:extLst xmlns:a="http://schemas.openxmlformats.org/drawingml/2006/main">
              <a:ext uri="{FF2B5EF4-FFF2-40B4-BE49-F238E27FC236}">
                <a16:creationId xmlns:a16="http://schemas.microsoft.com/office/drawing/2014/main" id="{9BB75F26-11E1-40B8-8504-A9825F7F06F9}"/>
              </a:ext>
            </a:extLst>
          </p:cNvPr>
          <p:cNvSpPr>
            <a:spLocks xmlns:a="http://schemas.openxmlformats.org/drawingml/2006/main" noGrp="1"/>
          </p:cNvSpPr>
          <p:nvPr/>
        </p:nvSpPr>
        <p:spPr>
          <a:xfrm xmlns:a="http://schemas.openxmlformats.org/drawingml/2006/main">
            <a:off x="4953000" y="4867275"/>
            <a:ext cx="6505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6870"/>
                </a:solidFill>
                <a:latin typeface="Arial"/>
                <a:ea typeface="Arial"/>
                <a:cs typeface="Arial"/>
              </a:defRPr>
            </a:defPPr>
          </a:lstStyle>
          <a:p xmlns:a="http://schemas.openxmlformats.org/drawingml/2006/main">
            <a:pPr>
              <a:defRPr sz="1800" b="0">
                <a:solidFill>
                  <a:srgbClr val="526870"/>
                </a:solidFill>
                <a:latin typeface="Arial"/>
                <a:ea typeface="Arial"/>
                <a:cs typeface="Arial"/>
              </a:defRPr>
            </a:pPr>
            <a:r>
              <a:rPr sz="1800" b="0">
                <a:solidFill>
                  <a:srgbClr val="526870"/>
                </a:solidFill>
                <a:latin typeface="Arial"/>
                <a:ea typeface="Arial"/>
                <a:cs typeface="Arial"/>
              </a:rPr>
              <a:t>Versions, fonction et statut pour chaque paquet en notes.</a:t>
            </a:r>
          </a:p>
        </p:txBody>
      </p:sp>
    </p:spTree>
    <p:extLst>
      <p:ext uri="{BB962C8B-B14F-4D97-AF65-F5344CB8AC3E}">
        <p14:creationId xmlns:p14="http://schemas.microsoft.com/office/powerpoint/2010/main" val="1631037400"/>
      </p:ext>
    </p:extLst>
  </p:cSld>
</p:sld>
</file>

<file path=ppt/slides/slide32.xml><?xml version="1.0" encoding="utf-8"?>
<p:sld xmlns:p="http://schemas.openxmlformats.org/presentationml/2006/main">
  <p:cSld>
    <p:bg>
      <p:bgPr>
        <a:solidFill xmlns:a="http://schemas.openxmlformats.org/drawingml/2006/main">
          <a:srgbClr val="F4F7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9B47D4A8-23DA-43D9-889D-A109D33B88C8}"/>
              </a:ext>
            </a:extLst>
          </p:cNvPr>
          <p:cNvSpPr>
            <a:spLocks xmlns:a="http://schemas.openxmlformats.org/drawingml/2006/main" noGrp="1"/>
          </p:cNvSpPr>
          <p:nvPr/>
        </p:nvSpPr>
        <p:spPr>
          <a:xfrm xmlns:a="http://schemas.openxmlformats.org/drawingml/2006/main">
            <a:off x="609600" y="55245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039"/>
                </a:solidFill>
                <a:latin typeface="Arial"/>
                <a:ea typeface="Arial"/>
                <a:cs typeface="Arial"/>
              </a:defRPr>
            </a:defPPr>
          </a:lstStyle>
          <a:p xmlns:a="http://schemas.openxmlformats.org/drawingml/2006/main">
            <a:pPr>
              <a:defRPr sz="3450" b="1">
                <a:solidFill>
                  <a:srgbClr val="173039"/>
                </a:solidFill>
                <a:latin typeface="Arial"/>
                <a:ea typeface="Arial"/>
                <a:cs typeface="Arial"/>
              </a:defRPr>
            </a:pPr>
            <a:r>
              <a:rPr sz="3450" b="1">
                <a:solidFill>
                  <a:srgbClr val="173039"/>
                </a:solidFill>
                <a:latin typeface="Arial"/>
                <a:ea typeface="Arial"/>
                <a:cs typeface="Arial"/>
              </a:rPr>
              <a:t>Interface, build et QA</a:t>
            </a:r>
          </a:p>
        </p:txBody>
      </p:sp>
      <p:sp>
        <p:nvSpPr>
          <p:cNvPr id="2" name="">
            <a:extLst xmlns:a="http://schemas.openxmlformats.org/drawingml/2006/main">
              <a:ext uri="{FF2B5EF4-FFF2-40B4-BE49-F238E27FC236}">
                <a16:creationId xmlns:a16="http://schemas.microsoft.com/office/drawing/2014/main" id="{1E43BA56-1FBD-41A1-BD81-3F4BE428ADE9}"/>
              </a:ext>
            </a:extLst>
          </p:cNvPr>
          <p:cNvSpPr>
            <a:spLocks xmlns:a="http://schemas.openxmlformats.org/drawingml/2006/main" noGrp="1"/>
          </p:cNvSpPr>
          <p:nvPr/>
        </p:nvSpPr>
        <p:spPr>
          <a:xfrm xmlns:a="http://schemas.openxmlformats.org/drawingml/2006/main">
            <a:off x="11353800" y="64960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 b="0">
                <a:solidFill>
                  <a:srgbClr val="526870"/>
                </a:solidFill>
                <a:latin typeface="Arial"/>
                <a:ea typeface="Arial"/>
                <a:cs typeface="Arial"/>
              </a:defRPr>
            </a:defPPr>
          </a:lstStyle>
          <a:p xmlns:a="http://schemas.openxmlformats.org/drawingml/2006/main">
            <a:pPr>
              <a:defRPr sz="1125" b="0">
                <a:solidFill>
                  <a:srgbClr val="526870"/>
                </a:solidFill>
                <a:latin typeface="Arial"/>
                <a:ea typeface="Arial"/>
                <a:cs typeface="Arial"/>
              </a:defRPr>
            </a:pPr>
            <a:r>
              <a:rPr sz="1125" b="0">
                <a:solidFill>
                  <a:srgbClr val="526870"/>
                </a:solidFill>
                <a:latin typeface="Arial"/>
                <a:ea typeface="Arial"/>
                <a:cs typeface="Arial"/>
              </a:rPr>
              <a:t>32</a:t>
            </a:r>
          </a:p>
        </p:txBody>
      </p:sp>
      <p:sp>
        <p:nvSpPr>
          <p:cNvPr id="3" name="">
            <a:extLst xmlns:a="http://schemas.openxmlformats.org/drawingml/2006/main">
              <a:ext uri="{FF2B5EF4-FFF2-40B4-BE49-F238E27FC236}">
                <a16:creationId xmlns:a16="http://schemas.microsoft.com/office/drawing/2014/main" id="{C8684E24-4FFC-498F-A64B-C2DECE81C7B3}"/>
              </a:ext>
            </a:extLst>
          </p:cNvPr>
          <p:cNvSpPr>
            <a:spLocks xmlns:a="http://schemas.openxmlformats.org/drawingml/2006/main" noGrp="1"/>
          </p:cNvSpPr>
          <p:nvPr/>
        </p:nvSpPr>
        <p:spPr>
          <a:xfrm xmlns:a="http://schemas.openxmlformats.org/drawingml/2006/main">
            <a:off x="609600" y="60388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870"/>
                </a:solidFill>
                <a:latin typeface="Arial"/>
                <a:ea typeface="Arial"/>
                <a:cs typeface="Arial"/>
              </a:defRPr>
            </a:defPPr>
          </a:lstStyle>
          <a:p xmlns:a="http://schemas.openxmlformats.org/drawingml/2006/main">
            <a:pPr>
              <a:defRPr sz="1425" b="0">
                <a:solidFill>
                  <a:srgbClr val="526870"/>
                </a:solidFill>
                <a:latin typeface="Arial"/>
                <a:ea typeface="Arial"/>
                <a:cs typeface="Arial"/>
              </a:defRPr>
            </a:pPr>
            <a:r>
              <a:rPr sz="1425" b="0">
                <a:solidFill>
                  <a:srgbClr val="526870"/>
                </a:solidFill>
                <a:latin typeface="Arial"/>
                <a:ea typeface="Arial"/>
                <a:cs typeface="Arial"/>
              </a:rPr>
              <a:t>17 dépendances directes. Fonctions détaillées en notes, transitives dans les lockfiles.</a:t>
            </a:r>
          </a:p>
        </p:txBody>
      </p:sp>
      <p:sp>
        <p:nvSpPr>
          <p:cNvPr id="4" name="">
            <a:extLst xmlns:a="http://schemas.openxmlformats.org/drawingml/2006/main">
              <a:ext uri="{FF2B5EF4-FFF2-40B4-BE49-F238E27FC236}">
                <a16:creationId xmlns:a16="http://schemas.microsoft.com/office/drawing/2014/main" id="{3CE9792C-C8FD-456E-A4AC-9FE6C9074613}"/>
              </a:ext>
            </a:extLst>
          </p:cNvPr>
          <p:cNvSpPr>
            <a:spLocks xmlns:a="http://schemas.openxmlformats.org/drawingml/2006/main" noGrp="1"/>
          </p:cNvSpPr>
          <p:nvPr/>
        </p:nvSpPr>
        <p:spPr>
          <a:xfrm xmlns:a="http://schemas.openxmlformats.org/drawingml/2006/main">
            <a:off x="609600" y="18954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73039"/>
                </a:solidFill>
                <a:latin typeface="Arial"/>
                <a:ea typeface="Arial"/>
                <a:cs typeface="Arial"/>
              </a:defRPr>
            </a:defPPr>
          </a:lstStyle>
          <a:p xmlns:a="http://schemas.openxmlformats.org/drawingml/2006/main">
            <a:pPr>
              <a:defRPr sz="1725" b="1">
                <a:solidFill>
                  <a:srgbClr val="173039"/>
                </a:solidFill>
                <a:latin typeface="Arial"/>
                <a:ea typeface="Arial"/>
                <a:cs typeface="Arial"/>
              </a:defRPr>
            </a:pPr>
            <a:r>
              <a:rPr sz="1725" b="1">
                <a:solidFill>
                  <a:srgbClr val="173039"/>
                </a:solidFill>
                <a:latin typeface="Arial"/>
                <a:ea typeface="Arial"/>
                <a:cs typeface="Arial"/>
              </a:rPr>
              <a:t>@fontsource-variable/inter</a:t>
            </a:r>
          </a:p>
        </p:txBody>
      </p:sp>
      <p:sp>
        <p:nvSpPr>
          <p:cNvPr id="5" name="">
            <a:extLst xmlns:a="http://schemas.openxmlformats.org/drawingml/2006/main">
              <a:ext uri="{FF2B5EF4-FFF2-40B4-BE49-F238E27FC236}">
                <a16:creationId xmlns:a16="http://schemas.microsoft.com/office/drawing/2014/main" id="{DC4C0676-F8A7-417F-99DC-B15074E40635}"/>
              </a:ext>
            </a:extLst>
          </p:cNvPr>
          <p:cNvSpPr>
            <a:spLocks xmlns:a="http://schemas.openxmlformats.org/drawingml/2006/main" noGrp="1"/>
          </p:cNvSpPr>
          <p:nvPr/>
        </p:nvSpPr>
        <p:spPr>
          <a:xfrm xmlns:a="http://schemas.openxmlformats.org/drawingml/2006/main">
            <a:off x="4800600" y="18954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5.2.8</a:t>
            </a:r>
          </a:p>
        </p:txBody>
      </p:sp>
      <p:sp>
        <p:nvSpPr>
          <p:cNvPr id="6" name="">
            <a:extLst xmlns:a="http://schemas.openxmlformats.org/drawingml/2006/main">
              <a:ext uri="{FF2B5EF4-FFF2-40B4-BE49-F238E27FC236}">
                <a16:creationId xmlns:a16="http://schemas.microsoft.com/office/drawing/2014/main" id="{53215778-D1D9-4C0A-B46D-587DEEA23FE7}"/>
              </a:ext>
            </a:extLst>
          </p:cNvPr>
          <p:cNvSpPr>
            <a:spLocks xmlns:a="http://schemas.openxmlformats.org/drawingml/2006/main" noGrp="1"/>
          </p:cNvSpPr>
          <p:nvPr/>
        </p:nvSpPr>
        <p:spPr>
          <a:xfrm xmlns:a="http://schemas.openxmlformats.org/drawingml/2006/main">
            <a:off x="609600" y="23145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73039"/>
                </a:solidFill>
                <a:latin typeface="Arial"/>
                <a:ea typeface="Arial"/>
                <a:cs typeface="Arial"/>
              </a:defRPr>
            </a:defPPr>
          </a:lstStyle>
          <a:p xmlns:a="http://schemas.openxmlformats.org/drawingml/2006/main">
            <a:pPr>
              <a:defRPr sz="1725" b="1">
                <a:solidFill>
                  <a:srgbClr val="173039"/>
                </a:solidFill>
                <a:latin typeface="Arial"/>
                <a:ea typeface="Arial"/>
                <a:cs typeface="Arial"/>
              </a:defRPr>
            </a:pPr>
            <a:r>
              <a:rPr sz="1725" b="1">
                <a:solidFill>
                  <a:srgbClr val="173039"/>
                </a:solidFill>
                <a:latin typeface="Arial"/>
                <a:ea typeface="Arial"/>
                <a:cs typeface="Arial"/>
              </a:rPr>
              <a:t>@xyflow/react</a:t>
            </a:r>
          </a:p>
        </p:txBody>
      </p:sp>
      <p:sp>
        <p:nvSpPr>
          <p:cNvPr id="7" name="">
            <a:extLst xmlns:a="http://schemas.openxmlformats.org/drawingml/2006/main">
              <a:ext uri="{FF2B5EF4-FFF2-40B4-BE49-F238E27FC236}">
                <a16:creationId xmlns:a16="http://schemas.microsoft.com/office/drawing/2014/main" id="{3B38C6B7-3846-4E4B-9D4F-F3D60E9C9440}"/>
              </a:ext>
            </a:extLst>
          </p:cNvPr>
          <p:cNvSpPr>
            <a:spLocks xmlns:a="http://schemas.openxmlformats.org/drawingml/2006/main" noGrp="1"/>
          </p:cNvSpPr>
          <p:nvPr/>
        </p:nvSpPr>
        <p:spPr>
          <a:xfrm xmlns:a="http://schemas.openxmlformats.org/drawingml/2006/main">
            <a:off x="4800600" y="23145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12.10.0</a:t>
            </a:r>
          </a:p>
        </p:txBody>
      </p:sp>
      <p:sp>
        <p:nvSpPr>
          <p:cNvPr id="8" name="">
            <a:extLst xmlns:a="http://schemas.openxmlformats.org/drawingml/2006/main">
              <a:ext uri="{FF2B5EF4-FFF2-40B4-BE49-F238E27FC236}">
                <a16:creationId xmlns:a16="http://schemas.microsoft.com/office/drawing/2014/main" id="{05F3FB59-1B08-4F24-BC72-1B089FD204E6}"/>
              </a:ext>
            </a:extLst>
          </p:cNvPr>
          <p:cNvSpPr>
            <a:spLocks xmlns:a="http://schemas.openxmlformats.org/drawingml/2006/main" noGrp="1"/>
          </p:cNvSpPr>
          <p:nvPr/>
        </p:nvSpPr>
        <p:spPr>
          <a:xfrm xmlns:a="http://schemas.openxmlformats.org/drawingml/2006/main">
            <a:off x="609600" y="27336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73039"/>
                </a:solidFill>
                <a:latin typeface="Arial"/>
                <a:ea typeface="Arial"/>
                <a:cs typeface="Arial"/>
              </a:defRPr>
            </a:defPPr>
          </a:lstStyle>
          <a:p xmlns:a="http://schemas.openxmlformats.org/drawingml/2006/main">
            <a:pPr>
              <a:defRPr sz="1725" b="1">
                <a:solidFill>
                  <a:srgbClr val="173039"/>
                </a:solidFill>
                <a:latin typeface="Arial"/>
                <a:ea typeface="Arial"/>
                <a:cs typeface="Arial"/>
              </a:defRPr>
            </a:pPr>
            <a:r>
              <a:rPr sz="1725" b="1">
                <a:solidFill>
                  <a:srgbClr val="173039"/>
                </a:solidFill>
                <a:latin typeface="Arial"/>
                <a:ea typeface="Arial"/>
                <a:cs typeface="Arial"/>
              </a:rPr>
              <a:t>echarts</a:t>
            </a:r>
          </a:p>
        </p:txBody>
      </p:sp>
      <p:sp>
        <p:nvSpPr>
          <p:cNvPr id="9" name="">
            <a:extLst xmlns:a="http://schemas.openxmlformats.org/drawingml/2006/main">
              <a:ext uri="{FF2B5EF4-FFF2-40B4-BE49-F238E27FC236}">
                <a16:creationId xmlns:a16="http://schemas.microsoft.com/office/drawing/2014/main" id="{A0F6A47E-DCE0-4BC1-9776-28564B8BA872}"/>
              </a:ext>
            </a:extLst>
          </p:cNvPr>
          <p:cNvSpPr>
            <a:spLocks xmlns:a="http://schemas.openxmlformats.org/drawingml/2006/main" noGrp="1"/>
          </p:cNvSpPr>
          <p:nvPr/>
        </p:nvSpPr>
        <p:spPr>
          <a:xfrm xmlns:a="http://schemas.openxmlformats.org/drawingml/2006/main">
            <a:off x="4800600" y="27336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6.1.0</a:t>
            </a:r>
          </a:p>
        </p:txBody>
      </p:sp>
      <p:sp>
        <p:nvSpPr>
          <p:cNvPr id="10" name="">
            <a:extLst xmlns:a="http://schemas.openxmlformats.org/drawingml/2006/main">
              <a:ext uri="{FF2B5EF4-FFF2-40B4-BE49-F238E27FC236}">
                <a16:creationId xmlns:a16="http://schemas.microsoft.com/office/drawing/2014/main" id="{E7455175-238E-430F-889E-7820D984E2A1}"/>
              </a:ext>
            </a:extLst>
          </p:cNvPr>
          <p:cNvSpPr>
            <a:spLocks xmlns:a="http://schemas.openxmlformats.org/drawingml/2006/main" noGrp="1"/>
          </p:cNvSpPr>
          <p:nvPr/>
        </p:nvSpPr>
        <p:spPr>
          <a:xfrm xmlns:a="http://schemas.openxmlformats.org/drawingml/2006/main">
            <a:off x="609600" y="31527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73039"/>
                </a:solidFill>
                <a:latin typeface="Arial"/>
                <a:ea typeface="Arial"/>
                <a:cs typeface="Arial"/>
              </a:defRPr>
            </a:defPPr>
          </a:lstStyle>
          <a:p xmlns:a="http://schemas.openxmlformats.org/drawingml/2006/main">
            <a:pPr>
              <a:defRPr sz="1725" b="1">
                <a:solidFill>
                  <a:srgbClr val="173039"/>
                </a:solidFill>
                <a:latin typeface="Arial"/>
                <a:ea typeface="Arial"/>
                <a:cs typeface="Arial"/>
              </a:defRPr>
            </a:pPr>
            <a:r>
              <a:rPr sz="1725" b="1">
                <a:solidFill>
                  <a:srgbClr val="173039"/>
                </a:solidFill>
                <a:latin typeface="Arial"/>
                <a:ea typeface="Arial"/>
                <a:cs typeface="Arial"/>
              </a:rPr>
              <a:t>lucide-react</a:t>
            </a:r>
          </a:p>
        </p:txBody>
      </p:sp>
      <p:sp>
        <p:nvSpPr>
          <p:cNvPr id="11" name="">
            <a:extLst xmlns:a="http://schemas.openxmlformats.org/drawingml/2006/main">
              <a:ext uri="{FF2B5EF4-FFF2-40B4-BE49-F238E27FC236}">
                <a16:creationId xmlns:a16="http://schemas.microsoft.com/office/drawing/2014/main" id="{38071BEA-526F-4268-A7A1-F40EC374D3FC}"/>
              </a:ext>
            </a:extLst>
          </p:cNvPr>
          <p:cNvSpPr>
            <a:spLocks xmlns:a="http://schemas.openxmlformats.org/drawingml/2006/main" noGrp="1"/>
          </p:cNvSpPr>
          <p:nvPr/>
        </p:nvSpPr>
        <p:spPr>
          <a:xfrm xmlns:a="http://schemas.openxmlformats.org/drawingml/2006/main">
            <a:off x="4800600" y="31527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0.577.0</a:t>
            </a:r>
          </a:p>
        </p:txBody>
      </p:sp>
      <p:sp>
        <p:nvSpPr>
          <p:cNvPr id="12" name="">
            <a:extLst xmlns:a="http://schemas.openxmlformats.org/drawingml/2006/main">
              <a:ext uri="{FF2B5EF4-FFF2-40B4-BE49-F238E27FC236}">
                <a16:creationId xmlns:a16="http://schemas.microsoft.com/office/drawing/2014/main" id="{541D8B5A-C209-464D-AE98-0DF43C7CB68F}"/>
              </a:ext>
            </a:extLst>
          </p:cNvPr>
          <p:cNvSpPr>
            <a:spLocks xmlns:a="http://schemas.openxmlformats.org/drawingml/2006/main" noGrp="1"/>
          </p:cNvSpPr>
          <p:nvPr/>
        </p:nvSpPr>
        <p:spPr>
          <a:xfrm xmlns:a="http://schemas.openxmlformats.org/drawingml/2006/main">
            <a:off x="609600" y="35718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73039"/>
                </a:solidFill>
                <a:latin typeface="Arial"/>
                <a:ea typeface="Arial"/>
                <a:cs typeface="Arial"/>
              </a:defRPr>
            </a:defPPr>
          </a:lstStyle>
          <a:p xmlns:a="http://schemas.openxmlformats.org/drawingml/2006/main">
            <a:pPr>
              <a:defRPr sz="1725" b="1">
                <a:solidFill>
                  <a:srgbClr val="173039"/>
                </a:solidFill>
                <a:latin typeface="Arial"/>
                <a:ea typeface="Arial"/>
                <a:cs typeface="Arial"/>
              </a:defRPr>
            </a:pPr>
            <a:r>
              <a:rPr sz="1725" b="1">
                <a:solidFill>
                  <a:srgbClr val="173039"/>
                </a:solidFill>
                <a:latin typeface="Arial"/>
                <a:ea typeface="Arial"/>
                <a:cs typeface="Arial"/>
              </a:rPr>
              <a:t>maplibre-gl</a:t>
            </a:r>
          </a:p>
        </p:txBody>
      </p:sp>
      <p:sp>
        <p:nvSpPr>
          <p:cNvPr id="13" name="">
            <a:extLst xmlns:a="http://schemas.openxmlformats.org/drawingml/2006/main">
              <a:ext uri="{FF2B5EF4-FFF2-40B4-BE49-F238E27FC236}">
                <a16:creationId xmlns:a16="http://schemas.microsoft.com/office/drawing/2014/main" id="{4B454B2C-54F3-40DC-9A42-EE78FD30B5CE}"/>
              </a:ext>
            </a:extLst>
          </p:cNvPr>
          <p:cNvSpPr>
            <a:spLocks xmlns:a="http://schemas.openxmlformats.org/drawingml/2006/main" noGrp="1"/>
          </p:cNvSpPr>
          <p:nvPr/>
        </p:nvSpPr>
        <p:spPr>
          <a:xfrm xmlns:a="http://schemas.openxmlformats.org/drawingml/2006/main">
            <a:off x="4800600" y="35718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6.13.0</a:t>
            </a:r>
          </a:p>
        </p:txBody>
      </p:sp>
      <p:sp>
        <p:nvSpPr>
          <p:cNvPr id="14" name="">
            <a:extLst xmlns:a="http://schemas.openxmlformats.org/drawingml/2006/main">
              <a:ext uri="{FF2B5EF4-FFF2-40B4-BE49-F238E27FC236}">
                <a16:creationId xmlns:a16="http://schemas.microsoft.com/office/drawing/2014/main" id="{94EE0204-0E14-4DA2-88E2-7AD0E5C196C4}"/>
              </a:ext>
            </a:extLst>
          </p:cNvPr>
          <p:cNvSpPr>
            <a:spLocks xmlns:a="http://schemas.openxmlformats.org/drawingml/2006/main" noGrp="1"/>
          </p:cNvSpPr>
          <p:nvPr/>
        </p:nvSpPr>
        <p:spPr>
          <a:xfrm xmlns:a="http://schemas.openxmlformats.org/drawingml/2006/main">
            <a:off x="609600" y="39909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73039"/>
                </a:solidFill>
                <a:latin typeface="Arial"/>
                <a:ea typeface="Arial"/>
                <a:cs typeface="Arial"/>
              </a:defRPr>
            </a:defPPr>
          </a:lstStyle>
          <a:p xmlns:a="http://schemas.openxmlformats.org/drawingml/2006/main">
            <a:pPr>
              <a:defRPr sz="1725" b="1">
                <a:solidFill>
                  <a:srgbClr val="173039"/>
                </a:solidFill>
                <a:latin typeface="Arial"/>
                <a:ea typeface="Arial"/>
                <a:cs typeface="Arial"/>
              </a:defRPr>
            </a:pPr>
            <a:r>
              <a:rPr sz="1725" b="1">
                <a:solidFill>
                  <a:srgbClr val="173039"/>
                </a:solidFill>
                <a:latin typeface="Arial"/>
                <a:ea typeface="Arial"/>
                <a:cs typeface="Arial"/>
              </a:rPr>
              <a:t>react</a:t>
            </a:r>
          </a:p>
        </p:txBody>
      </p:sp>
      <p:sp>
        <p:nvSpPr>
          <p:cNvPr id="15" name="">
            <a:extLst xmlns:a="http://schemas.openxmlformats.org/drawingml/2006/main">
              <a:ext uri="{FF2B5EF4-FFF2-40B4-BE49-F238E27FC236}">
                <a16:creationId xmlns:a16="http://schemas.microsoft.com/office/drawing/2014/main" id="{2006698F-58AC-41B3-8A8B-1BDDD38F6865}"/>
              </a:ext>
            </a:extLst>
          </p:cNvPr>
          <p:cNvSpPr>
            <a:spLocks xmlns:a="http://schemas.openxmlformats.org/drawingml/2006/main" noGrp="1"/>
          </p:cNvSpPr>
          <p:nvPr/>
        </p:nvSpPr>
        <p:spPr>
          <a:xfrm xmlns:a="http://schemas.openxmlformats.org/drawingml/2006/main">
            <a:off x="4800600" y="39909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19.2.0</a:t>
            </a:r>
          </a:p>
        </p:txBody>
      </p:sp>
      <p:sp>
        <p:nvSpPr>
          <p:cNvPr id="16" name="">
            <a:extLst xmlns:a="http://schemas.openxmlformats.org/drawingml/2006/main">
              <a:ext uri="{FF2B5EF4-FFF2-40B4-BE49-F238E27FC236}">
                <a16:creationId xmlns:a16="http://schemas.microsoft.com/office/drawing/2014/main" id="{1AFF2E04-EC40-4E70-89FD-BB934F22CB26}"/>
              </a:ext>
            </a:extLst>
          </p:cNvPr>
          <p:cNvSpPr>
            <a:spLocks xmlns:a="http://schemas.openxmlformats.org/drawingml/2006/main" noGrp="1"/>
          </p:cNvSpPr>
          <p:nvPr/>
        </p:nvSpPr>
        <p:spPr>
          <a:xfrm xmlns:a="http://schemas.openxmlformats.org/drawingml/2006/main">
            <a:off x="609600" y="44100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73039"/>
                </a:solidFill>
                <a:latin typeface="Arial"/>
                <a:ea typeface="Arial"/>
                <a:cs typeface="Arial"/>
              </a:defRPr>
            </a:defPPr>
          </a:lstStyle>
          <a:p xmlns:a="http://schemas.openxmlformats.org/drawingml/2006/main">
            <a:pPr>
              <a:defRPr sz="1725" b="1">
                <a:solidFill>
                  <a:srgbClr val="173039"/>
                </a:solidFill>
                <a:latin typeface="Arial"/>
                <a:ea typeface="Arial"/>
                <a:cs typeface="Arial"/>
              </a:defRPr>
            </a:pPr>
            <a:r>
              <a:rPr sz="1725" b="1">
                <a:solidFill>
                  <a:srgbClr val="173039"/>
                </a:solidFill>
                <a:latin typeface="Arial"/>
                <a:ea typeface="Arial"/>
                <a:cs typeface="Arial"/>
              </a:rPr>
              <a:t>react-dom</a:t>
            </a:r>
          </a:p>
        </p:txBody>
      </p:sp>
      <p:sp>
        <p:nvSpPr>
          <p:cNvPr id="17" name="">
            <a:extLst xmlns:a="http://schemas.openxmlformats.org/drawingml/2006/main">
              <a:ext uri="{FF2B5EF4-FFF2-40B4-BE49-F238E27FC236}">
                <a16:creationId xmlns:a16="http://schemas.microsoft.com/office/drawing/2014/main" id="{568ECF0C-FC9B-42C9-8869-782701B14CB5}"/>
              </a:ext>
            </a:extLst>
          </p:cNvPr>
          <p:cNvSpPr>
            <a:spLocks xmlns:a="http://schemas.openxmlformats.org/drawingml/2006/main" noGrp="1"/>
          </p:cNvSpPr>
          <p:nvPr/>
        </p:nvSpPr>
        <p:spPr>
          <a:xfrm xmlns:a="http://schemas.openxmlformats.org/drawingml/2006/main">
            <a:off x="4800600" y="44100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19.2.0</a:t>
            </a:r>
          </a:p>
        </p:txBody>
      </p:sp>
      <p:sp>
        <p:nvSpPr>
          <p:cNvPr id="18" name="">
            <a:extLst xmlns:a="http://schemas.openxmlformats.org/drawingml/2006/main">
              <a:ext uri="{FF2B5EF4-FFF2-40B4-BE49-F238E27FC236}">
                <a16:creationId xmlns:a16="http://schemas.microsoft.com/office/drawing/2014/main" id="{20124B2F-9A92-432B-AE3E-2353C9941EF6}"/>
              </a:ext>
            </a:extLst>
          </p:cNvPr>
          <p:cNvSpPr>
            <a:spLocks xmlns:a="http://schemas.openxmlformats.org/drawingml/2006/main" noGrp="1"/>
          </p:cNvSpPr>
          <p:nvPr/>
        </p:nvSpPr>
        <p:spPr>
          <a:xfrm xmlns:a="http://schemas.openxmlformats.org/drawingml/2006/main">
            <a:off x="609600" y="48291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73039"/>
                </a:solidFill>
                <a:latin typeface="Arial"/>
                <a:ea typeface="Arial"/>
                <a:cs typeface="Arial"/>
              </a:defRPr>
            </a:defPPr>
          </a:lstStyle>
          <a:p xmlns:a="http://schemas.openxmlformats.org/drawingml/2006/main">
            <a:pPr>
              <a:defRPr sz="1725" b="1">
                <a:solidFill>
                  <a:srgbClr val="173039"/>
                </a:solidFill>
                <a:latin typeface="Arial"/>
                <a:ea typeface="Arial"/>
                <a:cs typeface="Arial"/>
              </a:defRPr>
            </a:pPr>
            <a:r>
              <a:rPr sz="1725" b="1">
                <a:solidFill>
                  <a:srgbClr val="173039"/>
                </a:solidFill>
                <a:latin typeface="Arial"/>
                <a:ea typeface="Arial"/>
                <a:cs typeface="Arial"/>
              </a:rPr>
              <a:t>@types/react</a:t>
            </a:r>
          </a:p>
        </p:txBody>
      </p:sp>
      <p:sp>
        <p:nvSpPr>
          <p:cNvPr id="19" name="">
            <a:extLst xmlns:a="http://schemas.openxmlformats.org/drawingml/2006/main">
              <a:ext uri="{FF2B5EF4-FFF2-40B4-BE49-F238E27FC236}">
                <a16:creationId xmlns:a16="http://schemas.microsoft.com/office/drawing/2014/main" id="{AFFF3178-FB06-46B1-9708-7491F95870BE}"/>
              </a:ext>
            </a:extLst>
          </p:cNvPr>
          <p:cNvSpPr>
            <a:spLocks xmlns:a="http://schemas.openxmlformats.org/drawingml/2006/main" noGrp="1"/>
          </p:cNvSpPr>
          <p:nvPr/>
        </p:nvSpPr>
        <p:spPr>
          <a:xfrm xmlns:a="http://schemas.openxmlformats.org/drawingml/2006/main">
            <a:off x="4800600" y="48291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19.2.14</a:t>
            </a:r>
          </a:p>
        </p:txBody>
      </p:sp>
      <p:sp>
        <p:nvSpPr>
          <p:cNvPr id="20" name="">
            <a:extLst xmlns:a="http://schemas.openxmlformats.org/drawingml/2006/main">
              <a:ext uri="{FF2B5EF4-FFF2-40B4-BE49-F238E27FC236}">
                <a16:creationId xmlns:a16="http://schemas.microsoft.com/office/drawing/2014/main" id="{128196C7-DEC0-4E5F-878B-656F6D244276}"/>
              </a:ext>
            </a:extLst>
          </p:cNvPr>
          <p:cNvSpPr>
            <a:spLocks xmlns:a="http://schemas.openxmlformats.org/drawingml/2006/main" noGrp="1"/>
          </p:cNvSpPr>
          <p:nvPr/>
        </p:nvSpPr>
        <p:spPr>
          <a:xfrm xmlns:a="http://schemas.openxmlformats.org/drawingml/2006/main">
            <a:off x="609600" y="52482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173039"/>
                </a:solidFill>
                <a:latin typeface="Arial"/>
                <a:ea typeface="Arial"/>
                <a:cs typeface="Arial"/>
              </a:defRPr>
            </a:defPPr>
          </a:lstStyle>
          <a:p xmlns:a="http://schemas.openxmlformats.org/drawingml/2006/main">
            <a:pPr>
              <a:defRPr sz="1725" b="1">
                <a:solidFill>
                  <a:srgbClr val="173039"/>
                </a:solidFill>
                <a:latin typeface="Arial"/>
                <a:ea typeface="Arial"/>
                <a:cs typeface="Arial"/>
              </a:defRPr>
            </a:pPr>
            <a:r>
              <a:rPr sz="1725" b="1">
                <a:solidFill>
                  <a:srgbClr val="173039"/>
                </a:solidFill>
                <a:latin typeface="Arial"/>
                <a:ea typeface="Arial"/>
                <a:cs typeface="Arial"/>
              </a:rPr>
              <a:t>@types/react-dom</a:t>
            </a:r>
          </a:p>
        </p:txBody>
      </p:sp>
      <p:sp>
        <p:nvSpPr>
          <p:cNvPr id="21" name="">
            <a:extLst xmlns:a="http://schemas.openxmlformats.org/drawingml/2006/main">
              <a:ext uri="{FF2B5EF4-FFF2-40B4-BE49-F238E27FC236}">
                <a16:creationId xmlns:a16="http://schemas.microsoft.com/office/drawing/2014/main" id="{1F4F241E-44E7-4E50-BDA5-5B91B5DB252A}"/>
              </a:ext>
            </a:extLst>
          </p:cNvPr>
          <p:cNvSpPr>
            <a:spLocks xmlns:a="http://schemas.openxmlformats.org/drawingml/2006/main" noGrp="1"/>
          </p:cNvSpPr>
          <p:nvPr/>
        </p:nvSpPr>
        <p:spPr>
          <a:xfrm xmlns:a="http://schemas.openxmlformats.org/drawingml/2006/main">
            <a:off x="4800600" y="52482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19.2.3</a:t>
            </a:r>
          </a:p>
        </p:txBody>
      </p:sp>
      <p:sp>
        <p:nvSpPr>
          <p:cNvPr id="22" name="">
            <a:extLst xmlns:a="http://schemas.openxmlformats.org/drawingml/2006/main">
              <a:ext uri="{FF2B5EF4-FFF2-40B4-BE49-F238E27FC236}">
                <a16:creationId xmlns:a16="http://schemas.microsoft.com/office/drawing/2014/main" id="{6B53EAB5-6B67-4CE6-A1DF-0EF32A69ECB9}"/>
              </a:ext>
            </a:extLst>
          </p:cNvPr>
          <p:cNvSpPr>
            <a:spLocks xmlns:a="http://schemas.openxmlformats.org/drawingml/2006/main" noGrp="1"/>
          </p:cNvSpPr>
          <p:nvPr/>
        </p:nvSpPr>
        <p:spPr>
          <a:xfrm xmlns:a="http://schemas.openxmlformats.org/drawingml/2006/main">
            <a:off x="6381750" y="18954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73039"/>
                </a:solidFill>
                <a:latin typeface="Arial"/>
                <a:ea typeface="Arial"/>
                <a:cs typeface="Arial"/>
              </a:defRPr>
            </a:defPPr>
          </a:lstStyle>
          <a:p xmlns:a="http://schemas.openxmlformats.org/drawingml/2006/main">
            <a:pPr>
              <a:defRPr sz="1725" b="0">
                <a:solidFill>
                  <a:srgbClr val="173039"/>
                </a:solidFill>
                <a:latin typeface="Arial"/>
                <a:ea typeface="Arial"/>
                <a:cs typeface="Arial"/>
              </a:defRPr>
            </a:pPr>
            <a:r>
              <a:rPr sz="1725" b="0">
                <a:solidFill>
                  <a:srgbClr val="173039"/>
                </a:solidFill>
                <a:latin typeface="Arial"/>
                <a:ea typeface="Arial"/>
                <a:cs typeface="Arial"/>
              </a:rPr>
              <a:t>@vitejs/plugin-react</a:t>
            </a:r>
          </a:p>
        </p:txBody>
      </p:sp>
      <p:sp>
        <p:nvSpPr>
          <p:cNvPr id="23" name="">
            <a:extLst xmlns:a="http://schemas.openxmlformats.org/drawingml/2006/main">
              <a:ext uri="{FF2B5EF4-FFF2-40B4-BE49-F238E27FC236}">
                <a16:creationId xmlns:a16="http://schemas.microsoft.com/office/drawing/2014/main" id="{5944B1B5-C846-45BC-807B-E7AA0208701F}"/>
              </a:ext>
            </a:extLst>
          </p:cNvPr>
          <p:cNvSpPr>
            <a:spLocks xmlns:a="http://schemas.openxmlformats.org/drawingml/2006/main" noGrp="1"/>
          </p:cNvSpPr>
          <p:nvPr/>
        </p:nvSpPr>
        <p:spPr>
          <a:xfrm xmlns:a="http://schemas.openxmlformats.org/drawingml/2006/main">
            <a:off x="10572750" y="18954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5.1.4</a:t>
            </a:r>
          </a:p>
        </p:txBody>
      </p:sp>
      <p:sp>
        <p:nvSpPr>
          <p:cNvPr id="24" name="">
            <a:extLst xmlns:a="http://schemas.openxmlformats.org/drawingml/2006/main">
              <a:ext uri="{FF2B5EF4-FFF2-40B4-BE49-F238E27FC236}">
                <a16:creationId xmlns:a16="http://schemas.microsoft.com/office/drawing/2014/main" id="{D46A0014-7356-4CB7-A4CD-7B5871FD8127}"/>
              </a:ext>
            </a:extLst>
          </p:cNvPr>
          <p:cNvSpPr>
            <a:spLocks xmlns:a="http://schemas.openxmlformats.org/drawingml/2006/main" noGrp="1"/>
          </p:cNvSpPr>
          <p:nvPr/>
        </p:nvSpPr>
        <p:spPr>
          <a:xfrm xmlns:a="http://schemas.openxmlformats.org/drawingml/2006/main">
            <a:off x="6381750" y="23145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73039"/>
                </a:solidFill>
                <a:latin typeface="Arial"/>
                <a:ea typeface="Arial"/>
                <a:cs typeface="Arial"/>
              </a:defRPr>
            </a:defPPr>
          </a:lstStyle>
          <a:p xmlns:a="http://schemas.openxmlformats.org/drawingml/2006/main">
            <a:pPr>
              <a:defRPr sz="1725" b="0">
                <a:solidFill>
                  <a:srgbClr val="173039"/>
                </a:solidFill>
                <a:latin typeface="Arial"/>
                <a:ea typeface="Arial"/>
                <a:cs typeface="Arial"/>
              </a:defRPr>
            </a:pPr>
            <a:r>
              <a:rPr sz="1725" b="0">
                <a:solidFill>
                  <a:srgbClr val="173039"/>
                </a:solidFill>
                <a:latin typeface="Arial"/>
                <a:ea typeface="Arial"/>
                <a:cs typeface="Arial"/>
              </a:rPr>
              <a:t>prettier</a:t>
            </a:r>
          </a:p>
        </p:txBody>
      </p:sp>
      <p:sp>
        <p:nvSpPr>
          <p:cNvPr id="25" name="">
            <a:extLst xmlns:a="http://schemas.openxmlformats.org/drawingml/2006/main">
              <a:ext uri="{FF2B5EF4-FFF2-40B4-BE49-F238E27FC236}">
                <a16:creationId xmlns:a16="http://schemas.microsoft.com/office/drawing/2014/main" id="{74EDBD01-313A-496C-BA86-3C7D81070B9D}"/>
              </a:ext>
            </a:extLst>
          </p:cNvPr>
          <p:cNvSpPr>
            <a:spLocks xmlns:a="http://schemas.openxmlformats.org/drawingml/2006/main" noGrp="1"/>
          </p:cNvSpPr>
          <p:nvPr/>
        </p:nvSpPr>
        <p:spPr>
          <a:xfrm xmlns:a="http://schemas.openxmlformats.org/drawingml/2006/main">
            <a:off x="10572750" y="23145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3.9.10</a:t>
            </a:r>
          </a:p>
        </p:txBody>
      </p:sp>
      <p:sp>
        <p:nvSpPr>
          <p:cNvPr id="26" name="">
            <a:extLst xmlns:a="http://schemas.openxmlformats.org/drawingml/2006/main">
              <a:ext uri="{FF2B5EF4-FFF2-40B4-BE49-F238E27FC236}">
                <a16:creationId xmlns:a16="http://schemas.microsoft.com/office/drawing/2014/main" id="{E23F00CE-FB68-4F84-A85C-5F0B4C2A1299}"/>
              </a:ext>
            </a:extLst>
          </p:cNvPr>
          <p:cNvSpPr>
            <a:spLocks xmlns:a="http://schemas.openxmlformats.org/drawingml/2006/main" noGrp="1"/>
          </p:cNvSpPr>
          <p:nvPr/>
        </p:nvSpPr>
        <p:spPr>
          <a:xfrm xmlns:a="http://schemas.openxmlformats.org/drawingml/2006/main">
            <a:off x="6381750" y="27336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73039"/>
                </a:solidFill>
                <a:latin typeface="Arial"/>
                <a:ea typeface="Arial"/>
                <a:cs typeface="Arial"/>
              </a:defRPr>
            </a:defPPr>
          </a:lstStyle>
          <a:p xmlns:a="http://schemas.openxmlformats.org/drawingml/2006/main">
            <a:pPr>
              <a:defRPr sz="1725" b="0">
                <a:solidFill>
                  <a:srgbClr val="173039"/>
                </a:solidFill>
                <a:latin typeface="Arial"/>
                <a:ea typeface="Arial"/>
                <a:cs typeface="Arial"/>
              </a:defRPr>
            </a:pPr>
            <a:r>
              <a:rPr sz="1725" b="0">
                <a:solidFill>
                  <a:srgbClr val="173039"/>
                </a:solidFill>
                <a:latin typeface="Arial"/>
                <a:ea typeface="Arial"/>
                <a:cs typeface="Arial"/>
              </a:rPr>
              <a:t>typescript</a:t>
            </a:r>
          </a:p>
        </p:txBody>
      </p:sp>
      <p:sp>
        <p:nvSpPr>
          <p:cNvPr id="27" name="">
            <a:extLst xmlns:a="http://schemas.openxmlformats.org/drawingml/2006/main">
              <a:ext uri="{FF2B5EF4-FFF2-40B4-BE49-F238E27FC236}">
                <a16:creationId xmlns:a16="http://schemas.microsoft.com/office/drawing/2014/main" id="{53438449-FA70-490A-AD1F-302815650A5D}"/>
              </a:ext>
            </a:extLst>
          </p:cNvPr>
          <p:cNvSpPr>
            <a:spLocks xmlns:a="http://schemas.openxmlformats.org/drawingml/2006/main" noGrp="1"/>
          </p:cNvSpPr>
          <p:nvPr/>
        </p:nvSpPr>
        <p:spPr>
          <a:xfrm xmlns:a="http://schemas.openxmlformats.org/drawingml/2006/main">
            <a:off x="10572750" y="27336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5.9.3</a:t>
            </a:r>
          </a:p>
        </p:txBody>
      </p:sp>
      <p:sp>
        <p:nvSpPr>
          <p:cNvPr id="28" name="">
            <a:extLst xmlns:a="http://schemas.openxmlformats.org/drawingml/2006/main">
              <a:ext uri="{FF2B5EF4-FFF2-40B4-BE49-F238E27FC236}">
                <a16:creationId xmlns:a16="http://schemas.microsoft.com/office/drawing/2014/main" id="{5A7D671E-37CA-4819-BED0-5E105C837FD4}"/>
              </a:ext>
            </a:extLst>
          </p:cNvPr>
          <p:cNvSpPr>
            <a:spLocks xmlns:a="http://schemas.openxmlformats.org/drawingml/2006/main" noGrp="1"/>
          </p:cNvSpPr>
          <p:nvPr/>
        </p:nvSpPr>
        <p:spPr>
          <a:xfrm xmlns:a="http://schemas.openxmlformats.org/drawingml/2006/main">
            <a:off x="6381750" y="31527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73039"/>
                </a:solidFill>
                <a:latin typeface="Arial"/>
                <a:ea typeface="Arial"/>
                <a:cs typeface="Arial"/>
              </a:defRPr>
            </a:defPPr>
          </a:lstStyle>
          <a:p xmlns:a="http://schemas.openxmlformats.org/drawingml/2006/main">
            <a:pPr>
              <a:defRPr sz="1725" b="0">
                <a:solidFill>
                  <a:srgbClr val="173039"/>
                </a:solidFill>
                <a:latin typeface="Arial"/>
                <a:ea typeface="Arial"/>
                <a:cs typeface="Arial"/>
              </a:defRPr>
            </a:pPr>
            <a:r>
              <a:rPr sz="1725" b="0">
                <a:solidFill>
                  <a:srgbClr val="173039"/>
                </a:solidFill>
                <a:latin typeface="Arial"/>
                <a:ea typeface="Arial"/>
                <a:cs typeface="Arial"/>
              </a:rPr>
              <a:t>vite</a:t>
            </a:r>
          </a:p>
        </p:txBody>
      </p:sp>
      <p:sp>
        <p:nvSpPr>
          <p:cNvPr id="29" name="">
            <a:extLst xmlns:a="http://schemas.openxmlformats.org/drawingml/2006/main">
              <a:ext uri="{FF2B5EF4-FFF2-40B4-BE49-F238E27FC236}">
                <a16:creationId xmlns:a16="http://schemas.microsoft.com/office/drawing/2014/main" id="{C65FA18B-B9F7-4ED3-9E4D-FE2A6452503D}"/>
              </a:ext>
            </a:extLst>
          </p:cNvPr>
          <p:cNvSpPr>
            <a:spLocks xmlns:a="http://schemas.openxmlformats.org/drawingml/2006/main" noGrp="1"/>
          </p:cNvSpPr>
          <p:nvPr/>
        </p:nvSpPr>
        <p:spPr>
          <a:xfrm xmlns:a="http://schemas.openxmlformats.org/drawingml/2006/main">
            <a:off x="10572750" y="31527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7.3.7</a:t>
            </a:r>
          </a:p>
        </p:txBody>
      </p:sp>
      <p:sp>
        <p:nvSpPr>
          <p:cNvPr id="30" name="">
            <a:extLst xmlns:a="http://schemas.openxmlformats.org/drawingml/2006/main">
              <a:ext uri="{FF2B5EF4-FFF2-40B4-BE49-F238E27FC236}">
                <a16:creationId xmlns:a16="http://schemas.microsoft.com/office/drawing/2014/main" id="{1B20C387-162F-40BA-BB2D-FE3CCED19958}"/>
              </a:ext>
            </a:extLst>
          </p:cNvPr>
          <p:cNvSpPr>
            <a:spLocks xmlns:a="http://schemas.openxmlformats.org/drawingml/2006/main" noGrp="1"/>
          </p:cNvSpPr>
          <p:nvPr/>
        </p:nvSpPr>
        <p:spPr>
          <a:xfrm xmlns:a="http://schemas.openxmlformats.org/drawingml/2006/main">
            <a:off x="6381750" y="35718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73039"/>
                </a:solidFill>
                <a:latin typeface="Arial"/>
                <a:ea typeface="Arial"/>
                <a:cs typeface="Arial"/>
              </a:defRPr>
            </a:defPPr>
          </a:lstStyle>
          <a:p xmlns:a="http://schemas.openxmlformats.org/drawingml/2006/main">
            <a:pPr>
              <a:defRPr sz="1725" b="0">
                <a:solidFill>
                  <a:srgbClr val="173039"/>
                </a:solidFill>
                <a:latin typeface="Arial"/>
                <a:ea typeface="Arial"/>
                <a:cs typeface="Arial"/>
              </a:defRPr>
            </a:pPr>
            <a:r>
              <a:rPr sz="1725" b="0">
                <a:solidFill>
                  <a:srgbClr val="173039"/>
                </a:solidFill>
                <a:latin typeface="Arial"/>
                <a:ea typeface="Arial"/>
                <a:cs typeface="Arial"/>
              </a:rPr>
              <a:t>vitest</a:t>
            </a:r>
          </a:p>
        </p:txBody>
      </p:sp>
      <p:sp>
        <p:nvSpPr>
          <p:cNvPr id="31" name="">
            <a:extLst xmlns:a="http://schemas.openxmlformats.org/drawingml/2006/main">
              <a:ext uri="{FF2B5EF4-FFF2-40B4-BE49-F238E27FC236}">
                <a16:creationId xmlns:a16="http://schemas.microsoft.com/office/drawing/2014/main" id="{CD30EF15-9839-48A8-9D40-5B0508EDC5BB}"/>
              </a:ext>
            </a:extLst>
          </p:cNvPr>
          <p:cNvSpPr>
            <a:spLocks xmlns:a="http://schemas.openxmlformats.org/drawingml/2006/main" noGrp="1"/>
          </p:cNvSpPr>
          <p:nvPr/>
        </p:nvSpPr>
        <p:spPr>
          <a:xfrm xmlns:a="http://schemas.openxmlformats.org/drawingml/2006/main">
            <a:off x="10572750" y="35718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4.1.11</a:t>
            </a:r>
          </a:p>
        </p:txBody>
      </p:sp>
      <p:sp>
        <p:nvSpPr>
          <p:cNvPr id="32" name="">
            <a:extLst xmlns:a="http://schemas.openxmlformats.org/drawingml/2006/main">
              <a:ext uri="{FF2B5EF4-FFF2-40B4-BE49-F238E27FC236}">
                <a16:creationId xmlns:a16="http://schemas.microsoft.com/office/drawing/2014/main" id="{A34C36EB-EDD2-4C57-973B-9F546D6B30F3}"/>
              </a:ext>
            </a:extLst>
          </p:cNvPr>
          <p:cNvSpPr>
            <a:spLocks xmlns:a="http://schemas.openxmlformats.org/drawingml/2006/main" noGrp="1"/>
          </p:cNvSpPr>
          <p:nvPr/>
        </p:nvSpPr>
        <p:spPr>
          <a:xfrm xmlns:a="http://schemas.openxmlformats.org/drawingml/2006/main">
            <a:off x="6381750" y="39909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73039"/>
                </a:solidFill>
                <a:latin typeface="Arial"/>
                <a:ea typeface="Arial"/>
                <a:cs typeface="Arial"/>
              </a:defRPr>
            </a:defPPr>
          </a:lstStyle>
          <a:p xmlns:a="http://schemas.openxmlformats.org/drawingml/2006/main">
            <a:pPr>
              <a:defRPr sz="1725" b="0">
                <a:solidFill>
                  <a:srgbClr val="173039"/>
                </a:solidFill>
                <a:latin typeface="Arial"/>
                <a:ea typeface="Arial"/>
                <a:cs typeface="Arial"/>
              </a:defRPr>
            </a:pPr>
            <a:r>
              <a:rPr sz="1725" b="0">
                <a:solidFill>
                  <a:srgbClr val="173039"/>
                </a:solidFill>
                <a:latin typeface="Arial"/>
                <a:ea typeface="Arial"/>
                <a:cs typeface="Arial"/>
              </a:rPr>
              <a:t>@axe-core/playwright</a:t>
            </a:r>
          </a:p>
        </p:txBody>
      </p:sp>
      <p:sp>
        <p:nvSpPr>
          <p:cNvPr id="33" name="">
            <a:extLst xmlns:a="http://schemas.openxmlformats.org/drawingml/2006/main">
              <a:ext uri="{FF2B5EF4-FFF2-40B4-BE49-F238E27FC236}">
                <a16:creationId xmlns:a16="http://schemas.microsoft.com/office/drawing/2014/main" id="{54ED2D4A-1F8F-4D8B-BCEB-21A0A0E5D815}"/>
              </a:ext>
            </a:extLst>
          </p:cNvPr>
          <p:cNvSpPr>
            <a:spLocks xmlns:a="http://schemas.openxmlformats.org/drawingml/2006/main" noGrp="1"/>
          </p:cNvSpPr>
          <p:nvPr/>
        </p:nvSpPr>
        <p:spPr>
          <a:xfrm xmlns:a="http://schemas.openxmlformats.org/drawingml/2006/main">
            <a:off x="10572750" y="39909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4.11.1</a:t>
            </a:r>
          </a:p>
        </p:txBody>
      </p:sp>
      <p:sp>
        <p:nvSpPr>
          <p:cNvPr id="34" name="">
            <a:extLst xmlns:a="http://schemas.openxmlformats.org/drawingml/2006/main">
              <a:ext uri="{FF2B5EF4-FFF2-40B4-BE49-F238E27FC236}">
                <a16:creationId xmlns:a16="http://schemas.microsoft.com/office/drawing/2014/main" id="{802F0A66-2A1B-4D39-B8EB-40386223E3B1}"/>
              </a:ext>
            </a:extLst>
          </p:cNvPr>
          <p:cNvSpPr>
            <a:spLocks xmlns:a="http://schemas.openxmlformats.org/drawingml/2006/main" noGrp="1"/>
          </p:cNvSpPr>
          <p:nvPr/>
        </p:nvSpPr>
        <p:spPr>
          <a:xfrm xmlns:a="http://schemas.openxmlformats.org/drawingml/2006/main">
            <a:off x="6381750" y="44100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73039"/>
                </a:solidFill>
                <a:latin typeface="Arial"/>
                <a:ea typeface="Arial"/>
                <a:cs typeface="Arial"/>
              </a:defRPr>
            </a:defPPr>
          </a:lstStyle>
          <a:p xmlns:a="http://schemas.openxmlformats.org/drawingml/2006/main">
            <a:pPr>
              <a:defRPr sz="1725" b="0">
                <a:solidFill>
                  <a:srgbClr val="173039"/>
                </a:solidFill>
                <a:latin typeface="Arial"/>
                <a:ea typeface="Arial"/>
                <a:cs typeface="Arial"/>
              </a:defRPr>
            </a:pPr>
            <a:r>
              <a:rPr sz="1725" b="0">
                <a:solidFill>
                  <a:srgbClr val="173039"/>
                </a:solidFill>
                <a:latin typeface="Arial"/>
                <a:ea typeface="Arial"/>
                <a:cs typeface="Arial"/>
              </a:rPr>
              <a:t>@playwright/test</a:t>
            </a:r>
          </a:p>
        </p:txBody>
      </p:sp>
      <p:sp>
        <p:nvSpPr>
          <p:cNvPr id="35" name="">
            <a:extLst xmlns:a="http://schemas.openxmlformats.org/drawingml/2006/main">
              <a:ext uri="{FF2B5EF4-FFF2-40B4-BE49-F238E27FC236}">
                <a16:creationId xmlns:a16="http://schemas.microsoft.com/office/drawing/2014/main" id="{AF7806B6-9A87-4BBD-9775-EBDB58A7A3EA}"/>
              </a:ext>
            </a:extLst>
          </p:cNvPr>
          <p:cNvSpPr>
            <a:spLocks xmlns:a="http://schemas.openxmlformats.org/drawingml/2006/main" noGrp="1"/>
          </p:cNvSpPr>
          <p:nvPr/>
        </p:nvSpPr>
        <p:spPr>
          <a:xfrm xmlns:a="http://schemas.openxmlformats.org/drawingml/2006/main">
            <a:off x="10572750" y="44100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1.59.1</a:t>
            </a:r>
          </a:p>
        </p:txBody>
      </p:sp>
      <p:sp>
        <p:nvSpPr>
          <p:cNvPr id="36" name="">
            <a:extLst xmlns:a="http://schemas.openxmlformats.org/drawingml/2006/main">
              <a:ext uri="{FF2B5EF4-FFF2-40B4-BE49-F238E27FC236}">
                <a16:creationId xmlns:a16="http://schemas.microsoft.com/office/drawing/2014/main" id="{12684F6C-7041-44B9-9145-23DD7AAD6DB9}"/>
              </a:ext>
            </a:extLst>
          </p:cNvPr>
          <p:cNvSpPr>
            <a:spLocks xmlns:a="http://schemas.openxmlformats.org/drawingml/2006/main" noGrp="1"/>
          </p:cNvSpPr>
          <p:nvPr/>
        </p:nvSpPr>
        <p:spPr>
          <a:xfrm xmlns:a="http://schemas.openxmlformats.org/drawingml/2006/main">
            <a:off x="6381750" y="48291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73039"/>
                </a:solidFill>
                <a:latin typeface="Arial"/>
                <a:ea typeface="Arial"/>
                <a:cs typeface="Arial"/>
              </a:defRPr>
            </a:defPPr>
          </a:lstStyle>
          <a:p xmlns:a="http://schemas.openxmlformats.org/drawingml/2006/main">
            <a:pPr>
              <a:defRPr sz="1725" b="0">
                <a:solidFill>
                  <a:srgbClr val="173039"/>
                </a:solidFill>
                <a:latin typeface="Arial"/>
                <a:ea typeface="Arial"/>
                <a:cs typeface="Arial"/>
              </a:defRPr>
            </a:pPr>
            <a:r>
              <a:rPr sz="1725" b="0">
                <a:solidFill>
                  <a:srgbClr val="173039"/>
                </a:solidFill>
                <a:latin typeface="Arial"/>
                <a:ea typeface="Arial"/>
                <a:cs typeface="Arial"/>
              </a:rPr>
              <a:t>json-schema-to-typescript</a:t>
            </a:r>
          </a:p>
        </p:txBody>
      </p:sp>
      <p:sp>
        <p:nvSpPr>
          <p:cNvPr id="37" name="">
            <a:extLst xmlns:a="http://schemas.openxmlformats.org/drawingml/2006/main">
              <a:ext uri="{FF2B5EF4-FFF2-40B4-BE49-F238E27FC236}">
                <a16:creationId xmlns:a16="http://schemas.microsoft.com/office/drawing/2014/main" id="{24E757C5-33CA-4B02-973A-814D59EBB73C}"/>
              </a:ext>
            </a:extLst>
          </p:cNvPr>
          <p:cNvSpPr>
            <a:spLocks xmlns:a="http://schemas.openxmlformats.org/drawingml/2006/main" noGrp="1"/>
          </p:cNvSpPr>
          <p:nvPr/>
        </p:nvSpPr>
        <p:spPr>
          <a:xfrm xmlns:a="http://schemas.openxmlformats.org/drawingml/2006/main">
            <a:off x="10572750" y="4829175"/>
            <a:ext cx="1000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146C78"/>
                </a:solidFill>
                <a:latin typeface="Arial"/>
                <a:ea typeface="Arial"/>
                <a:cs typeface="Arial"/>
              </a:defRPr>
            </a:defPPr>
          </a:lstStyle>
          <a:p xmlns:a="http://schemas.openxmlformats.org/drawingml/2006/main">
            <a:pPr>
              <a:defRPr sz="1650" b="0">
                <a:solidFill>
                  <a:srgbClr val="146C78"/>
                </a:solidFill>
                <a:latin typeface="Arial"/>
                <a:ea typeface="Arial"/>
                <a:cs typeface="Arial"/>
              </a:defRPr>
            </a:pPr>
            <a:r>
              <a:rPr sz="1650" b="0">
                <a:solidFill>
                  <a:srgbClr val="146C78"/>
                </a:solidFill>
                <a:latin typeface="Arial"/>
                <a:ea typeface="Arial"/>
                <a:cs typeface="Arial"/>
              </a:rPr>
              <a:t>^15.0.4</a:t>
            </a:r>
          </a:p>
        </p:txBody>
      </p:sp>
    </p:spTree>
    <p:extLst>
      <p:ext uri="{BB962C8B-B14F-4D97-AF65-F5344CB8AC3E}">
        <p14:creationId xmlns:p14="http://schemas.microsoft.com/office/powerpoint/2010/main" val="3528421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2026-10-11T16:51:37.8650000Z</dcterms:created>
  <dcterms:modified xsi:type="dcterms:W3CDTF">2026-10-11T16:51:37.8650000Z</dcterms:modified>
</coreProperties>
</file>