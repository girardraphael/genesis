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03e53962974e7a" /><Relationship Type="http://schemas.openxmlformats.org/officeDocument/2006/relationships/extended-properties" Target="/docProps/app.xml" Id="Rb1f256e469a9420e" /><Relationship Type="http://schemas.openxmlformats.org/officeDocument/2006/relationships/officeDocument" Target="/ppt/presentation.xml" Id="R61211daba1e04ad0" /></Relationships>
</file>

<file path=ppt/presentation.xml><?xml version="1.0" encoding="utf-8"?>
<p:presentation xmlns:p="http://schemas.openxmlformats.org/presentationml/2006/main">
  <p:sldMasterIdLst>
    <p:sldMasterId xmlns:r="http://schemas.openxmlformats.org/officeDocument/2006/relationships" id="2147483648" r:id="Rbe23935278c747ad"/>
  </p:sldMasterIdLst>
  <p:notesMasterIdLst>
    <p:notesMasterId xmlns:r="http://schemas.openxmlformats.org/officeDocument/2006/relationships" r:id="R0e19c81535fe456a"/>
  </p:notesMasterIdLst>
  <p:sldIdLst>
    <p:sldId xmlns:r="http://schemas.openxmlformats.org/officeDocument/2006/relationships" id="256" r:id="Rcc6a8dc081804aa4"/>
    <p:sldId xmlns:r="http://schemas.openxmlformats.org/officeDocument/2006/relationships" id="257" r:id="Rea1e19d86cca4b54"/>
    <p:sldId xmlns:r="http://schemas.openxmlformats.org/officeDocument/2006/relationships" id="258" r:id="Rb1897d9879f449a8"/>
    <p:sldId xmlns:r="http://schemas.openxmlformats.org/officeDocument/2006/relationships" id="259" r:id="R8b1d50f070b34a81"/>
    <p:sldId xmlns:r="http://schemas.openxmlformats.org/officeDocument/2006/relationships" id="260" r:id="R59b8abb84cbc48a8"/>
    <p:sldId xmlns:r="http://schemas.openxmlformats.org/officeDocument/2006/relationships" id="261" r:id="Rcb7ed4016c044301"/>
    <p:sldId xmlns:r="http://schemas.openxmlformats.org/officeDocument/2006/relationships" id="262" r:id="R378262c0c97f49c9"/>
    <p:sldId xmlns:r="http://schemas.openxmlformats.org/officeDocument/2006/relationships" id="263" r:id="R4df21a33e99f4c37"/>
    <p:sldId xmlns:r="http://schemas.openxmlformats.org/officeDocument/2006/relationships" id="264" r:id="Rb0ec773ffccb4886"/>
    <p:sldId xmlns:r="http://schemas.openxmlformats.org/officeDocument/2006/relationships" id="265" r:id="R0591692d05034f70"/>
    <p:sldId xmlns:r="http://schemas.openxmlformats.org/officeDocument/2006/relationships" id="266" r:id="R296d0af83f8c4076"/>
    <p:sldId xmlns:r="http://schemas.openxmlformats.org/officeDocument/2006/relationships" id="267" r:id="Ree420fd60aec4d5d"/>
    <p:sldId xmlns:r="http://schemas.openxmlformats.org/officeDocument/2006/relationships" id="268" r:id="R18b9ea937dac4cc2"/>
    <p:sldId xmlns:r="http://schemas.openxmlformats.org/officeDocument/2006/relationships" id="269" r:id="Ra8edcabfd1304fff"/>
    <p:sldId xmlns:r="http://schemas.openxmlformats.org/officeDocument/2006/relationships" id="270" r:id="Rf1d0f95472af4187"/>
    <p:sldId xmlns:r="http://schemas.openxmlformats.org/officeDocument/2006/relationships" id="271" r:id="Rbb31187406064210"/>
    <p:sldId xmlns:r="http://schemas.openxmlformats.org/officeDocument/2006/relationships" id="272" r:id="R39e590c6ddc747b0"/>
    <p:sldId xmlns:r="http://schemas.openxmlformats.org/officeDocument/2006/relationships" id="273" r:id="Rc7b6b88a3e254126"/>
    <p:sldId xmlns:r="http://schemas.openxmlformats.org/officeDocument/2006/relationships" id="274" r:id="R1917a468d56749f8"/>
    <p:sldId xmlns:r="http://schemas.openxmlformats.org/officeDocument/2006/relationships" id="275" r:id="Rda60d266027d496a"/>
    <p:sldId xmlns:r="http://schemas.openxmlformats.org/officeDocument/2006/relationships" id="276" r:id="R892c0f62b7d847f4"/>
    <p:sldId xmlns:r="http://schemas.openxmlformats.org/officeDocument/2006/relationships" id="277" r:id="R4bd4e181b6564e79"/>
    <p:sldId xmlns:r="http://schemas.openxmlformats.org/officeDocument/2006/relationships" id="278" r:id="R26d91a8478274bef"/>
    <p:sldId xmlns:r="http://schemas.openxmlformats.org/officeDocument/2006/relationships" id="279" r:id="R3ff9b621350c43e1"/>
    <p:sldId xmlns:r="http://schemas.openxmlformats.org/officeDocument/2006/relationships" id="280" r:id="R78353e7119594606"/>
    <p:sldId xmlns:r="http://schemas.openxmlformats.org/officeDocument/2006/relationships" id="281" r:id="Rfa00ca78d3d34f1b"/>
    <p:sldId xmlns:r="http://schemas.openxmlformats.org/officeDocument/2006/relationships" id="282" r:id="Ref22c1917c3f4e4c"/>
    <p:sldId xmlns:r="http://schemas.openxmlformats.org/officeDocument/2006/relationships" id="283" r:id="Rf58f00089cd64c4a"/>
    <p:sldId xmlns:r="http://schemas.openxmlformats.org/officeDocument/2006/relationships" id="284" r:id="R121577bb27d24b62"/>
    <p:sldId xmlns:r="http://schemas.openxmlformats.org/officeDocument/2006/relationships" id="285" r:id="R5bd615539ed04268"/>
    <p:sldId xmlns:r="http://schemas.openxmlformats.org/officeDocument/2006/relationships" id="286" r:id="R4f700c4d80184024"/>
    <p:sldId xmlns:r="http://schemas.openxmlformats.org/officeDocument/2006/relationships" id="287" r:id="R165595d65d984a32"/>
    <p:sldId xmlns:r="http://schemas.openxmlformats.org/officeDocument/2006/relationships" id="288" r:id="R573296d54af04754"/>
    <p:sldId xmlns:r="http://schemas.openxmlformats.org/officeDocument/2006/relationships" id="289" r:id="Rf1becfe0b8ea4726"/>
    <p:sldId xmlns:r="http://schemas.openxmlformats.org/officeDocument/2006/relationships" id="290" r:id="R53bad0d367374af3"/>
    <p:sldId xmlns:r="http://schemas.openxmlformats.org/officeDocument/2006/relationships" id="291" r:id="R8cb3a2a18e6a4e4b"/>
    <p:sldId xmlns:r="http://schemas.openxmlformats.org/officeDocument/2006/relationships" id="292" r:id="R8356b87bb9fe441d"/>
    <p:sldId xmlns:r="http://schemas.openxmlformats.org/officeDocument/2006/relationships" id="293" r:id="Rc64ddd0512e04eb1"/>
    <p:sldId xmlns:r="http://schemas.openxmlformats.org/officeDocument/2006/relationships" id="294" r:id="R95c7058c73b043b3"/>
    <p:sldId xmlns:r="http://schemas.openxmlformats.org/officeDocument/2006/relationships" id="295" r:id="Ra2cc644e52f54777"/>
    <p:sldId xmlns:r="http://schemas.openxmlformats.org/officeDocument/2006/relationships" id="296" r:id="R779cb20aadb94b65"/>
    <p:sldId xmlns:r="http://schemas.openxmlformats.org/officeDocument/2006/relationships" id="297" r:id="R8d0c4de9a63b4841"/>
    <p:sldId xmlns:r="http://schemas.openxmlformats.org/officeDocument/2006/relationships" id="298" r:id="R6a6182e31fb24d65"/>
    <p:sldId xmlns:r="http://schemas.openxmlformats.org/officeDocument/2006/relationships" id="299" r:id="R9eae288949bb4955"/>
    <p:sldId xmlns:r="http://schemas.openxmlformats.org/officeDocument/2006/relationships" id="300" r:id="R98e41923c6654a9f"/>
    <p:sldId xmlns:r="http://schemas.openxmlformats.org/officeDocument/2006/relationships" id="301" r:id="R1564702a94b74c22"/>
    <p:sldId xmlns:r="http://schemas.openxmlformats.org/officeDocument/2006/relationships" id="302" r:id="Rc76e69147db447db"/>
    <p:sldId xmlns:r="http://schemas.openxmlformats.org/officeDocument/2006/relationships" id="303" r:id="Re5a64c99a20141b6"/>
    <p:sldId xmlns:r="http://schemas.openxmlformats.org/officeDocument/2006/relationships" id="304" r:id="Ra1ca81ca436b4473"/>
    <p:sldId xmlns:r="http://schemas.openxmlformats.org/officeDocument/2006/relationships" id="305" r:id="Rd4c1e0c1732a43ea"/>
    <p:sldId xmlns:r="http://schemas.openxmlformats.org/officeDocument/2006/relationships" id="306" r:id="R120000f72ccb4f37"/>
    <p:sldId xmlns:r="http://schemas.openxmlformats.org/officeDocument/2006/relationships" id="307" r:id="R7410ac2a4ece4639"/>
    <p:sldId xmlns:r="http://schemas.openxmlformats.org/officeDocument/2006/relationships" id="308" r:id="R8579f6b8de5246ed"/>
    <p:sldId xmlns:r="http://schemas.openxmlformats.org/officeDocument/2006/relationships" id="309" r:id="Rc6a20fd661f94ead"/>
    <p:sldId xmlns:r="http://schemas.openxmlformats.org/officeDocument/2006/relationships" id="310" r:id="R1901695722364fb4"/>
    <p:sldId xmlns:r="http://schemas.openxmlformats.org/officeDocument/2006/relationships" id="311" r:id="R99470104b3334b9c"/>
    <p:sldId xmlns:r="http://schemas.openxmlformats.org/officeDocument/2006/relationships" id="312" r:id="Re172a5984fb244da"/>
    <p:sldId xmlns:r="http://schemas.openxmlformats.org/officeDocument/2006/relationships" id="313" r:id="Re69f8fb825954355"/>
    <p:sldId xmlns:r="http://schemas.openxmlformats.org/officeDocument/2006/relationships" id="314" r:id="R289eeed4667c44ca"/>
    <p:sldId xmlns:r="http://schemas.openxmlformats.org/officeDocument/2006/relationships" id="315" r:id="Rccfc14fda1ad423b"/>
    <p:sldId xmlns:r="http://schemas.openxmlformats.org/officeDocument/2006/relationships" id="316" r:id="Ra0d5043ca60e4535"/>
    <p:sldId xmlns:r="http://schemas.openxmlformats.org/officeDocument/2006/relationships" id="317" r:id="R529aa1334c58476f"/>
    <p:sldId xmlns:r="http://schemas.openxmlformats.org/officeDocument/2006/relationships" id="318" r:id="R43bec81a035d478a"/>
    <p:sldId xmlns:r="http://schemas.openxmlformats.org/officeDocument/2006/relationships" id="319" r:id="R97b1c106b1804f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6de3a63434420e" /><Relationship Type="http://schemas.openxmlformats.org/officeDocument/2006/relationships/slideMaster" Target="/ppt/slideMasters/slideMaster1.xml" Id="Rbe23935278c747ad" /><Relationship Type="http://schemas.openxmlformats.org/officeDocument/2006/relationships/notesMaster" Target="/ppt/notesMasters/notesMaster1.xml" Id="R0e19c81535fe456a" /><Relationship Type="http://schemas.openxmlformats.org/officeDocument/2006/relationships/presProps" Target="/ppt/presProps.xml" Id="R0b26a76b980e40aa" /><Relationship Type="http://schemas.openxmlformats.org/officeDocument/2006/relationships/tableStyles" Target="/ppt/tableStyles.xml" Id="Rb466d3b3de914def" /><Relationship Type="http://schemas.openxmlformats.org/officeDocument/2006/relationships/slide" Target="/ppt/slides/slide1.xml" Id="Rcc6a8dc081804aa4" /><Relationship Type="http://schemas.openxmlformats.org/officeDocument/2006/relationships/slide" Target="/ppt/slides/slide2.xml" Id="Rea1e19d86cca4b54" /><Relationship Type="http://schemas.openxmlformats.org/officeDocument/2006/relationships/slide" Target="/ppt/slides/slide3.xml" Id="Rb1897d9879f449a8" /><Relationship Type="http://schemas.openxmlformats.org/officeDocument/2006/relationships/slide" Target="/ppt/slides/slide4.xml" Id="R8b1d50f070b34a81" /><Relationship Type="http://schemas.openxmlformats.org/officeDocument/2006/relationships/slide" Target="/ppt/slides/slide5.xml" Id="R59b8abb84cbc48a8" /><Relationship Type="http://schemas.openxmlformats.org/officeDocument/2006/relationships/slide" Target="/ppt/slides/slide6.xml" Id="Rcb7ed4016c044301" /><Relationship Type="http://schemas.openxmlformats.org/officeDocument/2006/relationships/slide" Target="/ppt/slides/slide7.xml" Id="R378262c0c97f49c9" /><Relationship Type="http://schemas.openxmlformats.org/officeDocument/2006/relationships/slide" Target="/ppt/slides/slide8.xml" Id="R4df21a33e99f4c37" /><Relationship Type="http://schemas.openxmlformats.org/officeDocument/2006/relationships/slide" Target="/ppt/slides/slide9.xml" Id="Rb0ec773ffccb4886" /><Relationship Type="http://schemas.openxmlformats.org/officeDocument/2006/relationships/slide" Target="/ppt/slides/slide10.xml" Id="R0591692d05034f70" /><Relationship Type="http://schemas.openxmlformats.org/officeDocument/2006/relationships/slide" Target="/ppt/slides/slide11.xml" Id="R296d0af83f8c4076" /><Relationship Type="http://schemas.openxmlformats.org/officeDocument/2006/relationships/slide" Target="/ppt/slides/slide12.xml" Id="Ree420fd60aec4d5d" /><Relationship Type="http://schemas.openxmlformats.org/officeDocument/2006/relationships/slide" Target="/ppt/slides/slide13.xml" Id="R18b9ea937dac4cc2" /><Relationship Type="http://schemas.openxmlformats.org/officeDocument/2006/relationships/slide" Target="/ppt/slides/slide14.xml" Id="Ra8edcabfd1304fff" /><Relationship Type="http://schemas.openxmlformats.org/officeDocument/2006/relationships/slide" Target="/ppt/slides/slide15.xml" Id="Rf1d0f95472af4187" /><Relationship Type="http://schemas.openxmlformats.org/officeDocument/2006/relationships/slide" Target="/ppt/slides/slide16.xml" Id="Rbb31187406064210" /><Relationship Type="http://schemas.openxmlformats.org/officeDocument/2006/relationships/slide" Target="/ppt/slides/slide17.xml" Id="R39e590c6ddc747b0" /><Relationship Type="http://schemas.openxmlformats.org/officeDocument/2006/relationships/slide" Target="/ppt/slides/slide18.xml" Id="Rc7b6b88a3e254126" /><Relationship Type="http://schemas.openxmlformats.org/officeDocument/2006/relationships/slide" Target="/ppt/slides/slide19.xml" Id="R1917a468d56749f8" /><Relationship Type="http://schemas.openxmlformats.org/officeDocument/2006/relationships/slide" Target="/ppt/slides/slide20.xml" Id="Rda60d266027d496a" /><Relationship Type="http://schemas.openxmlformats.org/officeDocument/2006/relationships/slide" Target="/ppt/slides/slide21.xml" Id="R892c0f62b7d847f4" /><Relationship Type="http://schemas.openxmlformats.org/officeDocument/2006/relationships/slide" Target="/ppt/slides/slide22.xml" Id="R4bd4e181b6564e79" /><Relationship Type="http://schemas.openxmlformats.org/officeDocument/2006/relationships/slide" Target="/ppt/slides/slide23.xml" Id="R26d91a8478274bef" /><Relationship Type="http://schemas.openxmlformats.org/officeDocument/2006/relationships/slide" Target="/ppt/slides/slide24.xml" Id="R3ff9b621350c43e1" /><Relationship Type="http://schemas.openxmlformats.org/officeDocument/2006/relationships/slide" Target="/ppt/slides/slide25.xml" Id="R78353e7119594606" /><Relationship Type="http://schemas.openxmlformats.org/officeDocument/2006/relationships/slide" Target="/ppt/slides/slide26.xml" Id="Rfa00ca78d3d34f1b" /><Relationship Type="http://schemas.openxmlformats.org/officeDocument/2006/relationships/slide" Target="/ppt/slides/slide27.xml" Id="Ref22c1917c3f4e4c" /><Relationship Type="http://schemas.openxmlformats.org/officeDocument/2006/relationships/slide" Target="/ppt/slides/slide28.xml" Id="Rf58f00089cd64c4a" /><Relationship Type="http://schemas.openxmlformats.org/officeDocument/2006/relationships/slide" Target="/ppt/slides/slide29.xml" Id="R121577bb27d24b62" /><Relationship Type="http://schemas.openxmlformats.org/officeDocument/2006/relationships/slide" Target="/ppt/slides/slide30.xml" Id="R5bd615539ed04268" /><Relationship Type="http://schemas.openxmlformats.org/officeDocument/2006/relationships/slide" Target="/ppt/slides/slide31.xml" Id="R4f700c4d80184024" /><Relationship Type="http://schemas.openxmlformats.org/officeDocument/2006/relationships/slide" Target="/ppt/slides/slide32.xml" Id="R165595d65d984a32" /><Relationship Type="http://schemas.openxmlformats.org/officeDocument/2006/relationships/slide" Target="/ppt/slides/slide33.xml" Id="R573296d54af04754" /><Relationship Type="http://schemas.openxmlformats.org/officeDocument/2006/relationships/slide" Target="/ppt/slides/slide34.xml" Id="Rf1becfe0b8ea4726" /><Relationship Type="http://schemas.openxmlformats.org/officeDocument/2006/relationships/slide" Target="/ppt/slides/slide35.xml" Id="R53bad0d367374af3" /><Relationship Type="http://schemas.openxmlformats.org/officeDocument/2006/relationships/slide" Target="/ppt/slides/slide36.xml" Id="R8cb3a2a18e6a4e4b" /><Relationship Type="http://schemas.openxmlformats.org/officeDocument/2006/relationships/slide" Target="/ppt/slides/slide37.xml" Id="R8356b87bb9fe441d" /><Relationship Type="http://schemas.openxmlformats.org/officeDocument/2006/relationships/slide" Target="/ppt/slides/slide38.xml" Id="Rc64ddd0512e04eb1" /><Relationship Type="http://schemas.openxmlformats.org/officeDocument/2006/relationships/slide" Target="/ppt/slides/slide39.xml" Id="R95c7058c73b043b3" /><Relationship Type="http://schemas.openxmlformats.org/officeDocument/2006/relationships/slide" Target="/ppt/slides/slide40.xml" Id="Ra2cc644e52f54777" /><Relationship Type="http://schemas.openxmlformats.org/officeDocument/2006/relationships/slide" Target="/ppt/slides/slide41.xml" Id="R779cb20aadb94b65" /><Relationship Type="http://schemas.openxmlformats.org/officeDocument/2006/relationships/slide" Target="/ppt/slides/slide42.xml" Id="R8d0c4de9a63b4841" /><Relationship Type="http://schemas.openxmlformats.org/officeDocument/2006/relationships/slide" Target="/ppt/slides/slide43.xml" Id="R6a6182e31fb24d65" /><Relationship Type="http://schemas.openxmlformats.org/officeDocument/2006/relationships/slide" Target="/ppt/slides/slide44.xml" Id="R9eae288949bb4955" /><Relationship Type="http://schemas.openxmlformats.org/officeDocument/2006/relationships/slide" Target="/ppt/slides/slide45.xml" Id="R98e41923c6654a9f" /><Relationship Type="http://schemas.openxmlformats.org/officeDocument/2006/relationships/slide" Target="/ppt/slides/slide46.xml" Id="R1564702a94b74c22" /><Relationship Type="http://schemas.openxmlformats.org/officeDocument/2006/relationships/slide" Target="/ppt/slides/slide47.xml" Id="Rc76e69147db447db" /><Relationship Type="http://schemas.openxmlformats.org/officeDocument/2006/relationships/slide" Target="/ppt/slides/slide48.xml" Id="Re5a64c99a20141b6" /><Relationship Type="http://schemas.openxmlformats.org/officeDocument/2006/relationships/slide" Target="/ppt/slides/slide49.xml" Id="Ra1ca81ca436b4473" /><Relationship Type="http://schemas.openxmlformats.org/officeDocument/2006/relationships/slide" Target="/ppt/slides/slide50.xml" Id="Rd4c1e0c1732a43ea" /><Relationship Type="http://schemas.openxmlformats.org/officeDocument/2006/relationships/slide" Target="/ppt/slides/slide51.xml" Id="R120000f72ccb4f37" /><Relationship Type="http://schemas.openxmlformats.org/officeDocument/2006/relationships/slide" Target="/ppt/slides/slide52.xml" Id="R7410ac2a4ece4639" /><Relationship Type="http://schemas.openxmlformats.org/officeDocument/2006/relationships/slide" Target="/ppt/slides/slide53.xml" Id="R8579f6b8de5246ed" /><Relationship Type="http://schemas.openxmlformats.org/officeDocument/2006/relationships/slide" Target="/ppt/slides/slide54.xml" Id="Rc6a20fd661f94ead" /><Relationship Type="http://schemas.openxmlformats.org/officeDocument/2006/relationships/slide" Target="/ppt/slides/slide55.xml" Id="R1901695722364fb4" /><Relationship Type="http://schemas.openxmlformats.org/officeDocument/2006/relationships/slide" Target="/ppt/slides/slide56.xml" Id="R99470104b3334b9c" /><Relationship Type="http://schemas.openxmlformats.org/officeDocument/2006/relationships/slide" Target="/ppt/slides/slide57.xml" Id="Re172a5984fb244da" /><Relationship Type="http://schemas.openxmlformats.org/officeDocument/2006/relationships/slide" Target="/ppt/slides/slide58.xml" Id="Re69f8fb825954355" /><Relationship Type="http://schemas.openxmlformats.org/officeDocument/2006/relationships/slide" Target="/ppt/slides/slide59.xml" Id="R289eeed4667c44ca" /><Relationship Type="http://schemas.openxmlformats.org/officeDocument/2006/relationships/slide" Target="/ppt/slides/slide60.xml" Id="Rccfc14fda1ad423b" /><Relationship Type="http://schemas.openxmlformats.org/officeDocument/2006/relationships/slide" Target="/ppt/slides/slide61.xml" Id="Ra0d5043ca60e4535" /><Relationship Type="http://schemas.openxmlformats.org/officeDocument/2006/relationships/slide" Target="/ppt/slides/slide62.xml" Id="R529aa1334c58476f" /><Relationship Type="http://schemas.openxmlformats.org/officeDocument/2006/relationships/slide" Target="/ppt/slides/slide63.xml" Id="R43bec81a035d478a" /><Relationship Type="http://schemas.openxmlformats.org/officeDocument/2006/relationships/slide" Target="/ppt/slides/slide64.xml" Id="R97b1c106b1804f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a2fba9202d48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30be4f4dfc47f5" /><Relationship Type="http://schemas.openxmlformats.org/officeDocument/2006/relationships/notesMaster" Target="/ppt/notesMasters/notesMaster1.xml" Id="R090443b1f3d7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7a69d5002549ac" /><Relationship Type="http://schemas.openxmlformats.org/officeDocument/2006/relationships/notesMaster" Target="/ppt/notesMasters/notesMaster1.xml" Id="R620ee2c76b734d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9b60bcdf6d4cbf" /><Relationship Type="http://schemas.openxmlformats.org/officeDocument/2006/relationships/notesMaster" Target="/ppt/notesMasters/notesMaster1.xml" Id="R09b005cea969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c3e6c0794e4b7b" /><Relationship Type="http://schemas.openxmlformats.org/officeDocument/2006/relationships/notesMaster" Target="/ppt/notesMasters/notesMaster1.xml" Id="R59f1ea9edcc34b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4d077d903d455d" /><Relationship Type="http://schemas.openxmlformats.org/officeDocument/2006/relationships/notesMaster" Target="/ppt/notesMasters/notesMaster1.xml" Id="Rf4ea56504c2e41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c5bde3d63844ae" /><Relationship Type="http://schemas.openxmlformats.org/officeDocument/2006/relationships/notesMaster" Target="/ppt/notesMasters/notesMaster1.xml" Id="Rd9fed35112b848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dbfe8c9cc247c4" /><Relationship Type="http://schemas.openxmlformats.org/officeDocument/2006/relationships/notesMaster" Target="/ppt/notesMasters/notesMaster1.xml" Id="Rd2fbc2400e0d46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c59013d5a9402f" /><Relationship Type="http://schemas.openxmlformats.org/officeDocument/2006/relationships/notesMaster" Target="/ppt/notesMasters/notesMaster1.xml" Id="Rbcd5ff4e081c40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b3b18734d94bab" /><Relationship Type="http://schemas.openxmlformats.org/officeDocument/2006/relationships/notesMaster" Target="/ppt/notesMasters/notesMaster1.xml" Id="R6eb2d96f1fd741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06385bd1304b4a" /><Relationship Type="http://schemas.openxmlformats.org/officeDocument/2006/relationships/notesMaster" Target="/ppt/notesMasters/notesMaster1.xml" Id="R94cac6aba9b849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8d08c4fac94a5c" /><Relationship Type="http://schemas.openxmlformats.org/officeDocument/2006/relationships/notesMaster" Target="/ppt/notesMasters/notesMaster1.xml" Id="R4cf366c13d1a46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5ce05b341942f7" /><Relationship Type="http://schemas.openxmlformats.org/officeDocument/2006/relationships/notesMaster" Target="/ppt/notesMasters/notesMaster1.xml" Id="R31690013bc9241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11345e21004d90" /><Relationship Type="http://schemas.openxmlformats.org/officeDocument/2006/relationships/notesMaster" Target="/ppt/notesMasters/notesMaster1.xml" Id="R87c70e191fbc48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7e7da400ee43f9" /><Relationship Type="http://schemas.openxmlformats.org/officeDocument/2006/relationships/notesMaster" Target="/ppt/notesMasters/notesMaster1.xml" Id="R80d97c4059a94c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9c65e4eaf24006" /><Relationship Type="http://schemas.openxmlformats.org/officeDocument/2006/relationships/notesMaster" Target="/ppt/notesMasters/notesMaster1.xml" Id="R4db99f6306b344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cc19d010bc4507" /><Relationship Type="http://schemas.openxmlformats.org/officeDocument/2006/relationships/notesMaster" Target="/ppt/notesMasters/notesMaster1.xml" Id="R9cf950779f1043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d1c85d6f464862" /><Relationship Type="http://schemas.openxmlformats.org/officeDocument/2006/relationships/notesMaster" Target="/ppt/notesMasters/notesMaster1.xml" Id="R7d43e8638d414a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bbaee305c74dd9" /><Relationship Type="http://schemas.openxmlformats.org/officeDocument/2006/relationships/notesMaster" Target="/ppt/notesMasters/notesMaster1.xml" Id="R26f7905f9b744c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81ef5a6fb74155" /><Relationship Type="http://schemas.openxmlformats.org/officeDocument/2006/relationships/notesMaster" Target="/ppt/notesMasters/notesMaster1.xml" Id="R792c1075b7364c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c4955fcc4c64293" /><Relationship Type="http://schemas.openxmlformats.org/officeDocument/2006/relationships/notesMaster" Target="/ppt/notesMasters/notesMaster1.xml" Id="R54a86a60d2b747a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3277af416984896" /><Relationship Type="http://schemas.openxmlformats.org/officeDocument/2006/relationships/notesMaster" Target="/ppt/notesMasters/notesMaster1.xml" Id="R4359cee9dfa544d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cd28e6204a408e" /><Relationship Type="http://schemas.openxmlformats.org/officeDocument/2006/relationships/notesMaster" Target="/ppt/notesMasters/notesMaster1.xml" Id="R3b56d0ad365644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466db9affc486a" /><Relationship Type="http://schemas.openxmlformats.org/officeDocument/2006/relationships/notesMaster" Target="/ppt/notesMasters/notesMaster1.xml" Id="R8354190bd5df43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511f3c9a194f8c" /><Relationship Type="http://schemas.openxmlformats.org/officeDocument/2006/relationships/notesMaster" Target="/ppt/notesMasters/notesMaster1.xml" Id="Rd3b48d7338a74e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77672ee6a14038" /><Relationship Type="http://schemas.openxmlformats.org/officeDocument/2006/relationships/notesMaster" Target="/ppt/notesMasters/notesMaster1.xml" Id="Re9ef96d7ee7146c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de0f8cbd4764e73" /><Relationship Type="http://schemas.openxmlformats.org/officeDocument/2006/relationships/notesMaster" Target="/ppt/notesMasters/notesMaster1.xml" Id="Ra6eb232c4ceb45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49a59afc524fa5" /><Relationship Type="http://schemas.openxmlformats.org/officeDocument/2006/relationships/notesMaster" Target="/ppt/notesMasters/notesMaster1.xml" Id="R9061f2503c73490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90c530b7034a81" /><Relationship Type="http://schemas.openxmlformats.org/officeDocument/2006/relationships/notesMaster" Target="/ppt/notesMasters/notesMaster1.xml" Id="R17fc9eb006d04d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79addeca6874050" /><Relationship Type="http://schemas.openxmlformats.org/officeDocument/2006/relationships/notesMaster" Target="/ppt/notesMasters/notesMaster1.xml" Id="R7a0a0c8054c64bf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427fdd4fce2494e" /><Relationship Type="http://schemas.openxmlformats.org/officeDocument/2006/relationships/notesMaster" Target="/ppt/notesMasters/notesMaster1.xml" Id="R233c8a212d464bd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7d2f0c59ac43c9" /><Relationship Type="http://schemas.openxmlformats.org/officeDocument/2006/relationships/notesMaster" Target="/ppt/notesMasters/notesMaster1.xml" Id="R808238fedd3341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2247012b4e0446c" /><Relationship Type="http://schemas.openxmlformats.org/officeDocument/2006/relationships/notesMaster" Target="/ppt/notesMasters/notesMaster1.xml" Id="R8e09cdcd6b614cf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4899db4f2734e38" /><Relationship Type="http://schemas.openxmlformats.org/officeDocument/2006/relationships/notesMaster" Target="/ppt/notesMasters/notesMaster1.xml" Id="Rc85223cd078e49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56abfc31e8a4467" /><Relationship Type="http://schemas.openxmlformats.org/officeDocument/2006/relationships/notesMaster" Target="/ppt/notesMasters/notesMaster1.xml" Id="R763449dc8fcf40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355a750f41f470d" /><Relationship Type="http://schemas.openxmlformats.org/officeDocument/2006/relationships/notesMaster" Target="/ppt/notesMasters/notesMaster1.xml" Id="R5f1783279fe9419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430244df53a4c24" /><Relationship Type="http://schemas.openxmlformats.org/officeDocument/2006/relationships/notesMaster" Target="/ppt/notesMasters/notesMaster1.xml" Id="R2c4cfd8ded2a40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998818eaa54a58" /><Relationship Type="http://schemas.openxmlformats.org/officeDocument/2006/relationships/notesMaster" Target="/ppt/notesMasters/notesMaster1.xml" Id="R5f7abb3457b1497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8b252f42614cca" /><Relationship Type="http://schemas.openxmlformats.org/officeDocument/2006/relationships/notesMaster" Target="/ppt/notesMasters/notesMaster1.xml" Id="R1ad6ab4188554e9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000182e632f4be1" /><Relationship Type="http://schemas.openxmlformats.org/officeDocument/2006/relationships/notesMaster" Target="/ppt/notesMasters/notesMaster1.xml" Id="R59b389f2c7824d7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2178e530d044b29" /><Relationship Type="http://schemas.openxmlformats.org/officeDocument/2006/relationships/notesMaster" Target="/ppt/notesMasters/notesMaster1.xml" Id="Rc95d70b01f63465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2c613bf030401f" /><Relationship Type="http://schemas.openxmlformats.org/officeDocument/2006/relationships/notesMaster" Target="/ppt/notesMasters/notesMaster1.xml" Id="Rc21669218c1b4cd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063c60e2f44968" /><Relationship Type="http://schemas.openxmlformats.org/officeDocument/2006/relationships/notesMaster" Target="/ppt/notesMasters/notesMaster1.xml" Id="R013d7db3daf043d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8496f9b60504e0e" /><Relationship Type="http://schemas.openxmlformats.org/officeDocument/2006/relationships/notesMaster" Target="/ppt/notesMasters/notesMaster1.xml" Id="R61680d86509a45f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feb5a946b2746da" /><Relationship Type="http://schemas.openxmlformats.org/officeDocument/2006/relationships/notesMaster" Target="/ppt/notesMasters/notesMaster1.xml" Id="R670b586c543c4fb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e2166e541734dda" /><Relationship Type="http://schemas.openxmlformats.org/officeDocument/2006/relationships/notesMaster" Target="/ppt/notesMasters/notesMaster1.xml" Id="R95dbd4c9d8c242c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9a4c85475b84d5f" /><Relationship Type="http://schemas.openxmlformats.org/officeDocument/2006/relationships/notesMaster" Target="/ppt/notesMasters/notesMaster1.xml" Id="R0f300162978f4a3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81b6a54ef0c4157" /><Relationship Type="http://schemas.openxmlformats.org/officeDocument/2006/relationships/notesMaster" Target="/ppt/notesMasters/notesMaster1.xml" Id="R96628de8264b483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0a164c8997b446d" /><Relationship Type="http://schemas.openxmlformats.org/officeDocument/2006/relationships/notesMaster" Target="/ppt/notesMasters/notesMaster1.xml" Id="R35644b73b98b4aa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c12b355168d443c" /><Relationship Type="http://schemas.openxmlformats.org/officeDocument/2006/relationships/notesMaster" Target="/ppt/notesMasters/notesMaster1.xml" Id="R53be88ed89b945f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32306918522427a" /><Relationship Type="http://schemas.openxmlformats.org/officeDocument/2006/relationships/notesMaster" Target="/ppt/notesMasters/notesMaster1.xml" Id="R52d6e8992688407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11760f0da92476b" /><Relationship Type="http://schemas.openxmlformats.org/officeDocument/2006/relationships/notesMaster" Target="/ppt/notesMasters/notesMaster1.xml" Id="R1b076480e86a4f5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f4bf85f01be4b77" /><Relationship Type="http://schemas.openxmlformats.org/officeDocument/2006/relationships/notesMaster" Target="/ppt/notesMasters/notesMaster1.xml" Id="R77fd33bde9b9493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d12c82525ec4198" /><Relationship Type="http://schemas.openxmlformats.org/officeDocument/2006/relationships/notesMaster" Target="/ppt/notesMasters/notesMaster1.xml" Id="R3dbdc035a5f747c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87f1fe573b448cf" /><Relationship Type="http://schemas.openxmlformats.org/officeDocument/2006/relationships/notesMaster" Target="/ppt/notesMasters/notesMaster1.xml" Id="Rd0cfeccb3fa5414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597b001c29440f1" /><Relationship Type="http://schemas.openxmlformats.org/officeDocument/2006/relationships/notesMaster" Target="/ppt/notesMasters/notesMaster1.xml" Id="R03b4cca3c84f4a1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ca2709d360a457a" /><Relationship Type="http://schemas.openxmlformats.org/officeDocument/2006/relationships/notesMaster" Target="/ppt/notesMasters/notesMaster1.xml" Id="Ra9ca6ab74f9c4bc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c0e9384dad54101" /><Relationship Type="http://schemas.openxmlformats.org/officeDocument/2006/relationships/notesMaster" Target="/ppt/notesMasters/notesMaster1.xml" Id="R1ec19ce028294d4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d4ed2dd124c4b98" /><Relationship Type="http://schemas.openxmlformats.org/officeDocument/2006/relationships/notesMaster" Target="/ppt/notesMasters/notesMaster1.xml" Id="R717625e6aba9447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26968e3652a4801" /><Relationship Type="http://schemas.openxmlformats.org/officeDocument/2006/relationships/notesMaster" Target="/ppt/notesMasters/notesMaster1.xml" Id="R6c26ce3194714aa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0e69a664f254885" /><Relationship Type="http://schemas.openxmlformats.org/officeDocument/2006/relationships/notesMaster" Target="/ppt/notesMasters/notesMaster1.xml" Id="Re915f2d514554a0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373e34de0b6a4301" /><Relationship Type="http://schemas.openxmlformats.org/officeDocument/2006/relationships/notesMaster" Target="/ppt/notesMasters/notesMaster1.xml" Id="Rc95f0d06a33f46a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63c6347244945ce" /><Relationship Type="http://schemas.openxmlformats.org/officeDocument/2006/relationships/notesMaster" Target="/ppt/notesMasters/notesMaster1.xml" Id="R48fc7479b51f452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2ef819345ec4edb" /><Relationship Type="http://schemas.openxmlformats.org/officeDocument/2006/relationships/notesMaster" Target="/ppt/notesMasters/notesMaster1.xml" Id="R6a91962d5fbb433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4eed88030c2478c" /><Relationship Type="http://schemas.openxmlformats.org/officeDocument/2006/relationships/notesMaster" Target="/ppt/notesMasters/notesMaster1.xml" Id="Ra83261c7a26b4d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présentation décrit le code du projet Genesis et son profil local vérifié. Les noms de modèles et versions de dépendances correspondent au dépôt, et non aux dernières versions du marché. Le système actuel reste un démonstrateur avancé : données et déplacements simulés, même lorsque la géométrie des rues est réelle.</a:t>
            </a:r>
          </a:p>
          <a:p xmlns:a="http://schemas.openxmlformats.org/drawingml/2006/main">
            <a:r>
              <a:t/>
            </a:r>
          </a:p>
          <a:p xmlns:a="http://schemas.openxmlformats.org/drawingml/2006/main">
            <a:r>
              <a:t>Sources — état du dépôt au 11 octobre 2026 :</a:t>
            </a:r>
          </a:p>
          <a:p xmlns:a="http://schemas.openxmlformats.org/drawingml/2006/main">
            <a:r>
              <a:t>README.md</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besoin commercial est une aide à la répartition de livraisons et à la compréhension des décisions. Genesis permet de préparer plusieurs enlèvements et dépôts, puis de comparer des affectations. Le périmètre livré est une application locale avec preuves et simulations. La réduction de kilomètres, de retards ou de coûts constitue un objectif à mesurer sur des données représentatives; aucune économie client ni rentabilité SaaS n’est démontrée ici. La qualité de la décision dépend notamment des fenêtres, capacités, positions initiales et données routières fournies.</a:t>
            </a:r>
          </a:p>
          <a:p xmlns:a="http://schemas.openxmlformats.org/drawingml/2006/main">
            <a:r>
              <a:t/>
            </a:r>
          </a:p>
          <a:p xmlns:a="http://schemas.openxmlformats.org/drawingml/2006/main">
            <a:r>
              <a:t>Sources — état du dépôt au 11 octobre 2026 :</a:t>
            </a:r>
          </a:p>
          <a:p xmlns:a="http://schemas.openxmlformats.org/drawingml/2006/main">
            <a:r>
              <a:t>docs/LOGISTICS-SPEC.md</a:t>
            </a:r>
          </a:p>
          <a:p xmlns:a="http://schemas.openxmlformats.org/drawingml/2006/main">
            <a:r>
              <a:t>docs/DISPATCH.md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carte réelle ne transforme pas la simulation en transport réel. Les géométries OpenStreetMap/OSRM et les permis de travaux municipaux sont des sources externes; les mouvements et événements de livraison sont produits par le simulateur. Les vérifications historiques du profil local sont documentées. PostgreSQL, télémétrie cloud et exigences de service commercial doivent être testés avant toute promesse client. Le statut des prix, modèles, configurations privées et fournisseurs doit être revalidé à chaque nouvelle installation.</a:t>
            </a:r>
          </a:p>
          <a:p xmlns:a="http://schemas.openxmlformats.org/drawingml/2006/main">
            <a:r>
              <a:t/>
            </a:r>
          </a:p>
          <a:p xmlns:a="http://schemas.openxmlformats.org/drawingml/2006/main">
            <a:r>
              <a:t>Sources — état du dépôt au 11 octobre 2026 :</a:t>
            </a:r>
          </a:p>
          <a:p xmlns:a="http://schemas.openxmlformats.org/drawingml/2006/main">
            <a:r>
              <a:t>README.md</a:t>
            </a:r>
          </a:p>
          <a:p xmlns:a="http://schemas.openxmlformats.org/drawingml/2006/main">
            <a:r>
              <a:t>docs/IMPLEMENTATION-STATUS.md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navigation U14 regroupe les anciens écrans au lieu de répéter les mêmes indicateurs dans sept destinations principales. Les vues overview, fleet, runs, compare et observatory restent des projections d’exécution dans le sélecteur Dossier des agents. Les liens historiques gardent leur vue, leurs identifiants et leurs filtres. La page par défaut et le logo conduisent aux opérations. Les données globales et le suivi du courriel de budget sont centralisés dans Analytique; les détails d’un appel restent dans Agents. La nouvelle disposition n’a pas encore sa validation visuelle MCP complète.</a:t>
            </a:r>
          </a:p>
          <a:p xmlns:a="http://schemas.openxmlformats.org/drawingml/2006/main">
            <a:r>
              <a:t/>
            </a:r>
          </a:p>
          <a:p xmlns:a="http://schemas.openxmlformats.org/drawingml/2006/main">
            <a:r>
              <a:t>Sources — état du dépôt au 11 octobre 2026 :</a:t>
            </a:r>
          </a:p>
          <a:p xmlns:a="http://schemas.openxmlformats.org/drawingml/2006/main">
            <a:r>
              <a:t>apps/web/src/WorkspaceControls.tsx</a:t>
            </a:r>
          </a:p>
          <a:p xmlns:a="http://schemas.openxmlformats.org/drawingml/2006/main">
            <a:r>
              <a:t>apps/web/src/App.tsx</a:t>
            </a:r>
          </a:p>
          <a:p xmlns:a="http://schemas.openxmlformats.org/drawingml/2006/main">
            <a:r>
              <a:t>apps/web/src/state.ts</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scripts/start.ps1 démarre trois processus indépendants: le serveur Vite, l’API Uvicorn et le worker. L’interface ne détient pas la clé du modèle et n’exécute pas le solveur. Elle interroge l’API, qui persiste la demande avant de laisser le worker la traiter. Cette séparation permet de recharger le navigateur sans perdre le dossier. Les transactions et revendications de tâches restent le mécanisme de coordination du profil local. Les checkpoints conservent la progression du graphe, tandis que les tables métier et événements restent la référence observable.</a:t>
            </a:r>
          </a:p>
          <a:p xmlns:a="http://schemas.openxmlformats.org/drawingml/2006/main">
            <a:r>
              <a:t/>
            </a:r>
          </a:p>
          <a:p xmlns:a="http://schemas.openxmlformats.org/drawingml/2006/main">
            <a:r>
              <a:t>Sources — état du dépôt au 11 octobre 2026 :</a:t>
            </a:r>
          </a:p>
          <a:p xmlns:a="http://schemas.openxmlformats.org/drawingml/2006/main">
            <a:r>
              <a:t>scripts/start.ps1</a:t>
            </a:r>
          </a:p>
          <a:p xmlns:a="http://schemas.openxmlformats.org/drawingml/2006/main">
            <a:r>
              <a:t>services/genesis/api.py</a:t>
            </a:r>
          </a:p>
          <a:p xmlns:a="http://schemas.openxmlformats.org/drawingml/2006/main">
            <a:r>
              <a:t>services/genesis/worker.py</a:t>
            </a:r>
          </a:p>
          <a:p xmlns:a="http://schemas.openxmlformats.org/drawingml/2006/main">
            <a:r>
              <a:t>services/genesis/db.py</a:t>
            </a:r>
          </a:p>
          <a:p xmlns:a="http://schemas.openxmlformats.org/drawingml/2006/main">
            <a:r>
              <a:t>services/genesis/workflow.py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organisation relie chaque fonctionnalité à un contrat et à ses preuves. Le frontend contient des projections de données, tandis que les contraintes du transport et l’autorité financière sont côté serveur. Les scénarios de benchmark et leurs manifestes sont séparés des opérations de courtage. Les secrets restent hors Git. Les sources de cette présentation sont publiques dans le dépôt; aucune valeur de configuration privée n’a été copiée. Les liens de notes correspondent à la révision U14 4c8dd4c et au dossier technique créé le 11 octobre 2026.</a:t>
            </a:r>
          </a:p>
          <a:p xmlns:a="http://schemas.openxmlformats.org/drawingml/2006/main">
            <a:r>
              <a:t/>
            </a:r>
          </a:p>
          <a:p xmlns:a="http://schemas.openxmlformats.org/drawingml/2006/main">
            <a:r>
              <a:t>Sources — état du dépôt au 11 octobre 2026 :</a:t>
            </a:r>
          </a:p>
          <a:p xmlns:a="http://schemas.openxmlformats.org/drawingml/2006/main">
            <a:r>
              <a:t>README.md</a:t>
            </a:r>
          </a:p>
          <a:p xmlns:a="http://schemas.openxmlformats.org/drawingml/2006/main">
            <a:r>
              <a:t>AGENTS.md</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19.2.0 et React DOM rendent une application à page unique. App.tsx coordonne la sélection d’exécution, les filtres et les vues; Analytics, Dispatch, Metering et OverallCost possèdent leurs projections. state.ts lit et écrit les paramètres URL. Les actions de navigation créent un historique, tandis que les saisies de recherche remplacent l’entrée courante pour éviter une entrée par caractère. Les requêtes restent validées côté Python: les types TypeScript ne protègent pas à eux seuls une frontière réseau. Les composants natifs conservent des noms accessibles et la navigation clavier.</a:t>
            </a:r>
          </a:p>
          <a:p xmlns:a="http://schemas.openxmlformats.org/drawingml/2006/main">
            <a:r>
              <a:t/>
            </a:r>
          </a:p>
          <a:p xmlns:a="http://schemas.openxmlformats.org/drawingml/2006/main">
            <a:r>
              <a:t>Sources — état du dépôt au 11 octobre 2026 :</a:t>
            </a:r>
          </a:p>
          <a:p xmlns:a="http://schemas.openxmlformats.org/drawingml/2006/main">
            <a:r>
              <a:t>apps/web/package.json</a:t>
            </a:r>
          </a:p>
          <a:p xmlns:a="http://schemas.openxmlformats.org/drawingml/2006/main">
            <a:r>
              <a:t>apps/web/src/App.tsx</a:t>
            </a:r>
          </a:p>
          <a:p xmlns:a="http://schemas.openxmlformats.org/drawingml/2006/main">
            <a:r>
              <a:t>apps/web/src/state.ts</a:t>
            </a:r>
          </a:p>
          <a:p xmlns:a="http://schemas.openxmlformats.org/drawingml/2006/main">
            <a:r>
              <a:t>apps/web/src/types.ts</a:t>
            </a:r>
          </a:p>
          <a:p xmlns:a="http://schemas.openxmlformats.org/drawingml/2006/main">
            <a:r>
              <a:t>https://react.dev/learn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ECharts est chargé avec des composants de graphique explicitement enregistrés et un rendu SVG. React Flow, via @xyflow/react, fournit le canevas interactif du graphe d’agents; il ne dirige pas l’exécution backend. MapLibre affiche la cartographie et les marqueurs mais ne calcule pas lui-même l’itinéraire. lucide-react évite un ensemble hétérogène d’icônes et @fontsource-variable/inter évite un appel distant pour la police. Ces quatre responsabilités sont distinctes; aucune de ces bibliothèques n’est un modèle d’IA ni un moteur de contraintes.</a:t>
            </a:r>
          </a:p>
          <a:p xmlns:a="http://schemas.openxmlformats.org/drawingml/2006/main">
            <a:r>
              <a:t/>
            </a:r>
          </a:p>
          <a:p xmlns:a="http://schemas.openxmlformats.org/drawingml/2006/main">
            <a:r>
              <a:t>Sources — état du dépôt au 11 octobre 2026 :</a:t>
            </a:r>
          </a:p>
          <a:p xmlns:a="http://schemas.openxmlformats.org/drawingml/2006/main">
            <a:r>
              <a:t>apps/web/src/Chart.tsx</a:t>
            </a:r>
          </a:p>
          <a:p xmlns:a="http://schemas.openxmlformats.org/drawingml/2006/main">
            <a:r>
              <a:t>apps/web/src/Observability.tsx</a:t>
            </a:r>
          </a:p>
          <a:p xmlns:a="http://schemas.openxmlformats.org/drawingml/2006/main">
            <a:r>
              <a:t>apps/web/src/DispatchMap.tsx</a:t>
            </a:r>
          </a:p>
          <a:p xmlns:a="http://schemas.openxmlformats.org/drawingml/2006/main">
            <a:r>
              <a:t>apps/web/src/main.tsx</a:t>
            </a:r>
          </a:p>
          <a:p xmlns:a="http://schemas.openxmlformats.org/drawingml/2006/main">
            <a:r>
              <a:t>https://echarts.apache.org/en/index.html</a:t>
            </a:r>
          </a:p>
          <a:p xmlns:a="http://schemas.openxmlformats.org/drawingml/2006/main">
            <a:r>
              <a:t>https://reactflow.dev/learn</a:t>
            </a:r>
          </a:p>
          <a:p xmlns:a="http://schemas.openxmlformats.org/drawingml/2006/main">
            <a:r>
              <a:t>https://maplibre.org/maplibre-gl-js/docs/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Vite 7.3.7, @vitejs/plugin-react 5.1.4 et TypeScript 5.9.3 constituent la chaîne de build. Les types React et React DOM sont des dépendances de développement. Le composant Dispatch est chargé à la demande avec React.lazy et Suspense. Des blocs séparés isolent les principaux fournisseurs graphiques, mais les avertissements supérieurs à 500 kB persistent. Cela justifie un profil de performance réel avant un déploiement sur connexion mobile. Prettier 3.9.10 est déclaré comme formateur du projet; il ne prouve ni la correction fonctionnelle ni l’accessibilité.</a:t>
            </a:r>
          </a:p>
          <a:p xmlns:a="http://schemas.openxmlformats.org/drawingml/2006/main">
            <a:r>
              <a:t/>
            </a:r>
          </a:p>
          <a:p xmlns:a="http://schemas.openxmlformats.org/drawingml/2006/main">
            <a:r>
              <a:t>Sources — état du dépôt au 11 octobre 2026 :</a:t>
            </a:r>
          </a:p>
          <a:p xmlns:a="http://schemas.openxmlformats.org/drawingml/2006/main">
            <a:r>
              <a:t>apps/web/package.json</a:t>
            </a:r>
          </a:p>
          <a:p xmlns:a="http://schemas.openxmlformats.org/drawingml/2006/main">
            <a:r>
              <a:t>apps/web/vite.config.ts</a:t>
            </a:r>
          </a:p>
          <a:p xmlns:a="http://schemas.openxmlformats.org/drawingml/2006/main">
            <a:r>
              <a:t>apps/web/src/App.tsx</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0.143.0 définit les routes HTTP et s’appuie sur les modèles Pydantic 2.14.0. Uvicorn 0.54.0 sert l’application ASGI. Les modèles déclarent des contraintes telles que le nombre de livraisons ou de véhicules et structurent le contrat OpenAPI. packages/contracts/openapi.json provient du schéma exécutable, mais cela ne signifie pas que tous les types frontend sont automatiquement générés. Une erreur de validation n’autorise jamais le modèle à modifier les capacités ou les règles du transport. Les tâches coûteuses restent dans le worker plutôt que dans une requête HTTP longue.</a:t>
            </a:r>
          </a:p>
          <a:p xmlns:a="http://schemas.openxmlformats.org/drawingml/2006/main">
            <a:r>
              <a:t/>
            </a:r>
          </a:p>
          <a:p xmlns:a="http://schemas.openxmlformats.org/drawingml/2006/main">
            <a:r>
              <a:t>Sources — état du dépôt au 11 octobre 2026 :</a:t>
            </a:r>
          </a:p>
          <a:p xmlns:a="http://schemas.openxmlformats.org/drawingml/2006/main">
            <a:r>
              <a:t>services/genesis/api.py</a:t>
            </a:r>
          </a:p>
          <a:p xmlns:a="http://schemas.openxmlformats.org/drawingml/2006/main">
            <a:r>
              <a:t>services/genesis/broker_api.py</a:t>
            </a:r>
          </a:p>
          <a:p xmlns:a="http://schemas.openxmlformats.org/drawingml/2006/main">
            <a:r>
              <a:t>services/genesis/models.py</a:t>
            </a:r>
          </a:p>
          <a:p xmlns:a="http://schemas.openxmlformats.org/drawingml/2006/main">
            <a:r>
              <a:t>packages/contracts/openapi.json</a:t>
            </a:r>
          </a:p>
          <a:p xmlns:a="http://schemas.openxmlformats.org/drawingml/2006/main">
            <a:r>
              <a:t>https://fastapi.tiangolo.com/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base sépare les concepts qui pourraient sinon être confondus. Un rôle peut avoir un résultat déterministe sans appel fournisseur. Une tentative peut échouer tout en conservant un coût connu, ou rester financièrement incertaine. Un plan analysé peut produire un diagnostic accepté sans trajet dispatchable. Un événement alimente la lecture chronologique; un artefact contient le résultat détaillé. Les réservations financières et de véhicules répondent à des contraintes différentes. Le schéma et les projections de lecture rendent ces distinctions explicites dans l’interface.</a:t>
            </a:r>
          </a:p>
          <a:p xmlns:a="http://schemas.openxmlformats.org/drawingml/2006/main">
            <a:r>
              <a:t/>
            </a:r>
          </a:p>
          <a:p xmlns:a="http://schemas.openxmlformats.org/drawingml/2006/main">
            <a:r>
              <a:t>Sources — état du dépôt au 11 octobre 2026 :</a:t>
            </a:r>
          </a:p>
          <a:p xmlns:a="http://schemas.openxmlformats.org/drawingml/2006/main">
            <a:r>
              <a:t>services/genesis/db.py</a:t>
            </a:r>
          </a:p>
          <a:p xmlns:a="http://schemas.openxmlformats.org/drawingml/2006/main">
            <a:r>
              <a:t>docs/DATA-CONTRACT.md</a:t>
            </a:r>
          </a:p>
          <a:p xmlns:a="http://schemas.openxmlformats.org/drawingml/2006/main">
            <a:r>
              <a:t>services/genesis/telemetry.py</a:t>
            </a:r>
          </a:p>
          <a:p xmlns:a="http://schemas.openxmlformats.org/drawingml/2006/main">
            <a:r>
              <a:t>services/genesis/api.py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SQLAlchemy 2.1.4 est la couche SQL utilisée par le store. La configuration par défaut est sqlite:///data/genesis.db. Les opérations sensibles utilisent des transactions afin de coordonner états, réservations et preuves. Le worker utilise aussi des revendications avec propriétaire et génération: le seul fait de lancer deux processus ne doit pas autoriser deux exécutions de la même tâche. SQLite convient au profil local vérifié; le projet ne dispose pas encore des preuves de charge, sauvegarde/restauration et isolation multi-tenant exigées pour une flotte cliente. PostgreSQL est un profil configurable distinct, non validé ici.</a:t>
            </a:r>
          </a:p>
          <a:p xmlns:a="http://schemas.openxmlformats.org/drawingml/2006/main">
            <a:r>
              <a:t/>
            </a:r>
          </a:p>
          <a:p xmlns:a="http://schemas.openxmlformats.org/drawingml/2006/main">
            <a:r>
              <a:t>Sources — état du dépôt au 11 octobre 2026 :</a:t>
            </a:r>
          </a:p>
          <a:p xmlns:a="http://schemas.openxmlformats.org/drawingml/2006/main">
            <a:r>
              <a:t>services/genesis/db.py</a:t>
            </a:r>
          </a:p>
          <a:p xmlns:a="http://schemas.openxmlformats.org/drawingml/2006/main">
            <a:r>
              <a:t>services/genesis/worker.py</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worker est un processus Python dédié. Une génération sert de barrière: un ancien worker qui revient tard ne doit pas publier comme s’il possédait encore la tâche. La reprise n’est pas une garantie universelle de exactement une fois. Elle s’appuie sur la persistance des résultats et sur les règles financières de non-réémission quand une facturation est incertaine. L’annulation est observable et ne signifie pas qu’un appel déjà reçu par le fournisseur ne coûtera rien. Les trajets prêts appartenant à un plan annulé ou échoué sont retirés suivant les règles d’admission.</a:t>
            </a:r>
          </a:p>
          <a:p xmlns:a="http://schemas.openxmlformats.org/drawingml/2006/main">
            <a:r>
              <a:t/>
            </a:r>
          </a:p>
          <a:p xmlns:a="http://schemas.openxmlformats.org/drawingml/2006/main">
            <a:r>
              <a:t>Sources — état du dépôt au 11 octobre 2026 :</a:t>
            </a:r>
          </a:p>
          <a:p xmlns:a="http://schemas.openxmlformats.org/drawingml/2006/main">
            <a:r>
              <a:t>services/genesis/worker.py</a:t>
            </a:r>
          </a:p>
          <a:p xmlns:a="http://schemas.openxmlformats.org/drawingml/2006/main">
            <a:r>
              <a:t>services/genesis/workflow.py</a:t>
            </a:r>
          </a:p>
          <a:p xmlns:a="http://schemas.openxmlformats.org/drawingml/2006/main">
            <a:r>
              <a:t>services/genesis/db.py</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LangGraph 1.2.14 encode le graphe de contrôle. Ce graphe est séquentiel dans l’implémentation actuelle; cinq agents ne signifient pas cinq modèles autonomes travaillant simultanément. SqliteSaver, fourni par langgraph-checkpoint-sqlite 3.1.1, persiste ses checkpoints. La bibliothèque fournit un cadre de graphe avec état; Genesis ajoute ses propres transactions, événements, clôtures de bail et politiques budgétaires. Le graphe du navigateur est une visualisation React Flow de cette activité, pas le moteur LangGraph. Un agent exécute d’abord son opération déterministe puis, si la politique l’autorise, demande une explication au modèle.</a:t>
            </a:r>
          </a:p>
          <a:p xmlns:a="http://schemas.openxmlformats.org/drawingml/2006/main">
            <a:r>
              <a:t/>
            </a:r>
          </a:p>
          <a:p xmlns:a="http://schemas.openxmlformats.org/drawingml/2006/main">
            <a:r>
              <a:t>Sources — état du dépôt au 11 octobre 2026 :</a:t>
            </a:r>
          </a:p>
          <a:p xmlns:a="http://schemas.openxmlformats.org/drawingml/2006/main">
            <a:r>
              <a:t>services/genesis/workflow.py</a:t>
            </a:r>
          </a:p>
          <a:p xmlns:a="http://schemas.openxmlformats.org/drawingml/2006/main">
            <a:r>
              <a:t>services/genesis/broker_runtime.py</a:t>
            </a:r>
          </a:p>
          <a:p xmlns:a="http://schemas.openxmlformats.org/drawingml/2006/main">
            <a:r>
              <a:t>https://docs.langchain.com/oss/python/langgraph/overview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rôle laisse un résultat et des références de preuves. Le nom Trafic désigne une responsabilité de données de trajet, pas une capacité actuelle de prévision du trafic réel. Surveillance ne confie pas la validité du plan à une appréciation textuelle: la vérification déterministe reste l’autorité. Exception n’improvise pas une réaffectation de cargaison réelle. Les règles actuelles décident entre résultat admissible et diagnostic. Cette séparation permet d’inspecter précisément où une demande échoue sans inventer un itinéraire pour masquer l’échec.</a:t>
            </a:r>
          </a:p>
          <a:p xmlns:a="http://schemas.openxmlformats.org/drawingml/2006/main">
            <a:r>
              <a:t/>
            </a:r>
          </a:p>
          <a:p xmlns:a="http://schemas.openxmlformats.org/drawingml/2006/main">
            <a:r>
              <a:t>Sources — état du dépôt au 11 octobre 2026 :</a:t>
            </a:r>
          </a:p>
          <a:p xmlns:a="http://schemas.openxmlformats.org/drawingml/2006/main">
            <a:r>
              <a:t>services/genesis/broker_runtime.py</a:t>
            </a:r>
          </a:p>
          <a:p xmlns:a="http://schemas.openxmlformats.org/drawingml/2006/main">
            <a:r>
              <a:t>services/genesis/workflow.py</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/api/v1/dispatch/plans valide la requête, vérifie une disponibilité initiale de flotte et fige la sélection des modèles pour une exécution live. Une prévalidation ne remplace pas le contrôle final: un autre plan peut utiliser un véhicule entre-temps. L’optimisation doit donc être suivie d’une admission transactionnelle. Un plan analysé peut terminer avec accepted_diagnostic sans trajets prêts. Cette distinction doit rester visible dans une démonstration commerciale, car une explication réussie n’équivaut pas à un camion réellement affecté.</a:t>
            </a:r>
          </a:p>
          <a:p xmlns:a="http://schemas.openxmlformats.org/drawingml/2006/main">
            <a:r>
              <a:t/>
            </a:r>
          </a:p>
          <a:p xmlns:a="http://schemas.openxmlformats.org/drawingml/2006/main">
            <a:r>
              <a:t>Sources — état du dépôt au 11 octobre 2026 :</a:t>
            </a:r>
          </a:p>
          <a:p xmlns:a="http://schemas.openxmlformats.org/drawingml/2006/main">
            <a:r>
              <a:t>services/genesis/broker_api.py</a:t>
            </a:r>
          </a:p>
          <a:p xmlns:a="http://schemas.openxmlformats.org/drawingml/2006/main">
            <a:r>
              <a:t>services/genesis/broker_runtime.py</a:t>
            </a:r>
          </a:p>
          <a:p xmlns:a="http://schemas.openxmlformats.org/drawingml/2006/main">
            <a:r>
              <a:t>services/genesis/dispatch.py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fournisseur de géocodage identifie les lieux; le moteur de route calcule un chemin; MapLibre dessine la carte. Ces fonctions ne sont pas interchangeables. Les services keyless évitent une clé Google Maps pour la démonstration, mais ne constituent pas un engagement contractuel de débit ou disponibilité. Les durées OSRM sont statiques et ne prouvent pas une prise en compte du trafic instantané. Les données municipales de travaux sont timestampées et affichables; elles ne deviennent pas automatiquement des interdictions de parcours. Des services adaptés aux poids lourds restent nécessaires pour une exploitation de transport général.</a:t>
            </a:r>
          </a:p>
          <a:p xmlns:a="http://schemas.openxmlformats.org/drawingml/2006/main">
            <a:r>
              <a:t/>
            </a:r>
          </a:p>
          <a:p xmlns:a="http://schemas.openxmlformats.org/drawingml/2006/main">
            <a:r>
              <a:t>Sources — état du dépôt au 11 octobre 2026 :</a:t>
            </a:r>
          </a:p>
          <a:p xmlns:a="http://schemas.openxmlformats.org/drawingml/2006/main">
            <a:r>
              <a:t>services/genesis/dispatch.py</a:t>
            </a:r>
          </a:p>
          <a:p xmlns:a="http://schemas.openxmlformats.org/drawingml/2006/main">
            <a:r>
              <a:t>services/genesis/traffic.py</a:t>
            </a:r>
          </a:p>
          <a:p xmlns:a="http://schemas.openxmlformats.org/drawingml/2006/main">
            <a:r>
              <a:t>apps/web/src/DispatchMap.tsx</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OR-Tools 9.15.6755 est le moteur de recherche combinatoire. Les déplacements proviennent de la matrice de données; les contraintes portent sur les visites, le temps, la capacité et les règles de pickup/drop-off. Une limite de recherche permet de garder un délai exploitable. Un timeout ne prouve pas que le problème est infaisable, et un bon candidat ne prouve pas qu’il est optimal. L’application calcule et conserve les métriques nécessaires à la comparaison. Un validateur séparé recalculera ensuite la faisabilité du candidat.</a:t>
            </a:r>
          </a:p>
          <a:p xmlns:a="http://schemas.openxmlformats.org/drawingml/2006/main">
            <a:r>
              <a:t/>
            </a:r>
          </a:p>
          <a:p xmlns:a="http://schemas.openxmlformats.org/drawingml/2006/main">
            <a:r>
              <a:t>Sources — état du dépôt au 11 octobre 2026 :</a:t>
            </a:r>
          </a:p>
          <a:p xmlns:a="http://schemas.openxmlformats.org/drawingml/2006/main">
            <a:r>
              <a:t>services/genesis/solver.py</a:t>
            </a:r>
          </a:p>
          <a:p xmlns:a="http://schemas.openxmlformats.org/drawingml/2006/main">
            <a:r>
              <a:t>services/genesis/broker_solver.py</a:t>
            </a:r>
          </a:p>
          <a:p xmlns:a="http://schemas.openxmlformats.org/drawingml/2006/main">
            <a:r>
              <a:t>docs/LOGISTICS-SPEC.md</a:t>
            </a:r>
          </a:p>
          <a:p xmlns:a="http://schemas.openxmlformats.org/drawingml/2006/main">
            <a:r>
              <a:t>https://developers.google.com/optimization/routing/vrp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L’utilisateur souhaite une logique de courtier: affecter un même conducteur à plusieurs livraisons ou séparer les missions lorsque cela améliore l’objectif. Le backend évalue des stratégies candidates dans le cadre de la flotte et des contraintes fournies. La réponse ne se réduit pas à demander au modèle quelle tournée il préfère. L’objectif métier et la faisabilité déterminent les compromis. Un regroupement peut économiser des kilomètres mais dégrader la ponctualité; une affectation séparée peut augmenter le coût des véhicules. Les résultats doivent toujours être comparés sur un périmètre et des unités identiques.</a:t>
            </a:r>
          </a:p>
          <a:p xmlns:a="http://schemas.openxmlformats.org/drawingml/2006/main">
            <a:r>
              <a:t/>
            </a:r>
          </a:p>
          <a:p xmlns:a="http://schemas.openxmlformats.org/drawingml/2006/main">
            <a:r>
              <a:t>Sources — état du dépôt au 11 octobre 2026 :</a:t>
            </a:r>
          </a:p>
          <a:p xmlns:a="http://schemas.openxmlformats.org/drawingml/2006/main">
            <a:r>
              <a:t>services/genesis/broker_solver.py</a:t>
            </a:r>
          </a:p>
          <a:p xmlns:a="http://schemas.openxmlformats.org/drawingml/2006/main">
            <a:r>
              <a:t>services/genesis/broker_runtime.py</a:t>
            </a:r>
          </a:p>
          <a:p xmlns:a="http://schemas.openxmlformats.org/drawingml/2006/main">
            <a:r>
              <a:t>docs/DISPATCH.md</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certificat constitue une vérification indépendante du candidat produit par le solveur. Le benchmark distingue plan initial, simulation de journée et éventuel suffixe résiduel replanifié. Un certificat valide signifie que le candidat respecte les contraintes représentées dans ce problème; il ne garantit pas l’exactitude des données d’entrée, le trafic réel ou le comportement du conducteur. Les modèles ne peuvent pas annuler une violation. Dans le courtage, l’admission finale peut encore refuser des trajets même après la validation mathématique, par exemple si un véhicule n’est plus disponible.</a:t>
            </a:r>
          </a:p>
          <a:p xmlns:a="http://schemas.openxmlformats.org/drawingml/2006/main">
            <a:r>
              <a:t/>
            </a:r>
          </a:p>
          <a:p xmlns:a="http://schemas.openxmlformats.org/drawingml/2006/main">
            <a:r>
              <a:t>Sources — état du dépôt au 11 octobre 2026 :</a:t>
            </a:r>
          </a:p>
          <a:p xmlns:a="http://schemas.openxmlformats.org/drawingml/2006/main">
            <a:r>
              <a:t>services/genesis/solver.py</a:t>
            </a:r>
          </a:p>
          <a:p xmlns:a="http://schemas.openxmlformats.org/drawingml/2006/main">
            <a:r>
              <a:t>services/genesis/broker_solver.py</a:t>
            </a:r>
          </a:p>
          <a:p xmlns:a="http://schemas.openxmlformats.org/drawingml/2006/main">
            <a:r>
              <a:t>docs/LOGISTICS-SPEC.md</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SDK Anthropic 1.13.0 est instancié à la demande pour les exécutions live. L’appel reçoit un contexte borné d’artefacts et doit renvoyer un objet conforme. Le backend vérifie que les références désignent des éléments réellement fournis. Une réponse invalide ne devient pas un résultat métier, même si des tokens ont été facturés. Les tentatives historiques OpenAI restent des données de comptabilité et de diagnostic: elles ne réactivent pas ce fournisseur. La clé et les identifiants réellement configurés ne sont pas exposés dans cette présentation.</a:t>
            </a:r>
          </a:p>
          <a:p xmlns:a="http://schemas.openxmlformats.org/drawingml/2006/main">
            <a:r>
              <a:t/>
            </a:r>
          </a:p>
          <a:p xmlns:a="http://schemas.openxmlformats.org/drawingml/2006/main">
            <a:r>
              <a:t>Sources — état du dépôt au 11 octobre 2026 :</a:t>
            </a:r>
          </a:p>
          <a:p xmlns:a="http://schemas.openxmlformats.org/drawingml/2006/main">
            <a:r>
              <a:t>services/genesis/llm.py</a:t>
            </a:r>
          </a:p>
          <a:p xmlns:a="http://schemas.openxmlformats.org/drawingml/2006/main">
            <a:r>
              <a:t>services/genesis/workflow.py</a:t>
            </a:r>
          </a:p>
          <a:p xmlns:a="http://schemas.openxmlformats.org/drawingml/2006/main">
            <a:r>
              <a:t>docs/BUDGET.md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dépôt documente des profils Claude Haiku 5.5, Sonnet 5.5 et Opus 5.5 et contient leurs entrées tarifaires. Ils représentent une configuration de projet, pas une affirmation sur les modèles actuellement disponibles dans un compte. llm.py exige les variables de modèle et les tarifs; il ne remplace pas automatiquement un modèle indisponible. Les tarifs versionnés examinés expirent le 17 octobre 2026. Ils doivent être revérifiés avant d’autres appels après cette date. Une famille plus puissante n’obtient aucun droit supplémentaire sur les contraintes, le budget ou le certificat.</a:t>
            </a:r>
          </a:p>
          <a:p xmlns:a="http://schemas.openxmlformats.org/drawingml/2006/main">
            <a:r>
              <a:t/>
            </a:r>
          </a:p>
          <a:p xmlns:a="http://schemas.openxmlformats.org/drawingml/2006/main">
            <a:r>
              <a:t>Sources — état du dépôt au 11 octobre 2026 :</a:t>
            </a:r>
          </a:p>
          <a:p xmlns:a="http://schemas.openxmlformats.org/drawingml/2006/main">
            <a:r>
              <a:t>docs/BUDGET.md</a:t>
            </a:r>
          </a:p>
          <a:p xmlns:a="http://schemas.openxmlformats.org/drawingml/2006/main">
            <a:r>
              <a:t>config/anthropic-prices.json</a:t>
            </a:r>
          </a:p>
          <a:p xmlns:a="http://schemas.openxmlformats.org/drawingml/2006/main">
            <a:r>
              <a:t>services/genesis/llm.py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politique par défaut de l’API est always, tandis que l’interface documente la politique routine pour économiser les appels. Une omission produit un événement model.omitted et une raison observable. Elle ne crée ni tentative fournisseur ni réservation budgétaire. Un rôle peut donc réussir sans tokens déclarés, avec une catégorie de non-applicabilité distincte d’une réponse fournisseur inconnue. Les nombres 5, 3 et 0 décrivent une exécution normale selon la politique: annulations, erreurs et retries peuvent changer le nombre effectif de tentatives. Le cache de tokens du fournisseur est un mécanisme séparé.</a:t>
            </a:r>
          </a:p>
          <a:p xmlns:a="http://schemas.openxmlformats.org/drawingml/2006/main">
            <a:r>
              <a:t/>
            </a:r>
          </a:p>
          <a:p xmlns:a="http://schemas.openxmlformats.org/drawingml/2006/main">
            <a:r>
              <a:t>Sources — état du dépôt au 11 octobre 2026 :</a:t>
            </a:r>
          </a:p>
          <a:p xmlns:a="http://schemas.openxmlformats.org/drawingml/2006/main">
            <a:r>
              <a:t>services/genesis/broker_api.py</a:t>
            </a:r>
          </a:p>
          <a:p xmlns:a="http://schemas.openxmlformats.org/drawingml/2006/main">
            <a:r>
              <a:t>services/genesis/broker_runtime.py</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mémoire utilise dispatch_trips comme historique autoritaire; elle n’entraîne pas un nouveau modèle et n’est pas une base vectorielle de suggestions libres. La lecture porte sur les 500 trajets les plus récents et au plus trois candidats de courtage classés. Une mission réutilisable exige ses trajets complets, un plan accepté et réussi, une correspondance du travail et de la politique, des preuves routières et une provenance cohérente. Une ambiguïté entre livraisons identiques empêche de conclure que l’ordre est réutilisable. Le solveur, les routes, le certificat et l’admission finale restent exécutés.</a:t>
            </a:r>
          </a:p>
          <a:p xmlns:a="http://schemas.openxmlformats.org/drawingml/2006/main">
            <a:r>
              <a:t/>
            </a:r>
          </a:p>
          <a:p xmlns:a="http://schemas.openxmlformats.org/drawingml/2006/main">
            <a:r>
              <a:t>Sources — état du dépôt au 11 octobre 2026 :</a:t>
            </a:r>
          </a:p>
          <a:p xmlns:a="http://schemas.openxmlformats.org/drawingml/2006/main">
            <a:r>
              <a:t>services/genesis/route_memory.py</a:t>
            </a:r>
          </a:p>
          <a:p xmlns:a="http://schemas.openxmlformats.org/drawingml/2006/main">
            <a:r>
              <a:t>services/genesis/broker_runtime.py</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indicateurs d’historique doivent conserver leur unité d’échantillon: un trajet n’est pas une mission multi-véhicules. Les métriques de contexte du courtier s’appuient sur la mission complète. Les accélérations de simulation ne doivent jamais être interprétées comme des durées de travail réelles. La réutilisation peut éviter une explication tout en échouant ensuite à l’admission; selection_outcome et admission_outcome restent séparés. Il ne faut donc pas vendre cette mémoire comme une preuve d’apprentissage des embouteillages ou de performance réelle des conducteurs.</a:t>
            </a:r>
          </a:p>
          <a:p xmlns:a="http://schemas.openxmlformats.org/drawingml/2006/main">
            <a:r>
              <a:t/>
            </a:r>
          </a:p>
          <a:p xmlns:a="http://schemas.openxmlformats.org/drawingml/2006/main">
            <a:r>
              <a:t>Sources — état du dépôt au 11 octobre 2026 :</a:t>
            </a:r>
          </a:p>
          <a:p xmlns:a="http://schemas.openxmlformats.org/drawingml/2006/main">
            <a:r>
              <a:t>services/genesis/route_memory.py</a:t>
            </a:r>
          </a:p>
          <a:p xmlns:a="http://schemas.openxmlformats.org/drawingml/2006/main">
            <a:r>
              <a:t>docs/ROUTE-MEMORY.md</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coûts API sont calculés avec des valeurs décimales et des tarifs versionnés en USD. Les entrées, sorties et catégories de cache peuvent avoir des prix différents. Une donnée manquante reste indisponible; elle ne devient pas zéro. Les coûts par rôle ou modèle sont des projections de tentatives, et les totaux du projet restent indépendants des filtres de cohorte. Les coûts de flotte simulés et les charges du fournisseur d’IA sont deux métriques différentes. Un échec de sortie structurée conserve le coût connu de la tentative au lieu d’effacer la dépense.</a:t>
            </a:r>
          </a:p>
          <a:p xmlns:a="http://schemas.openxmlformats.org/drawingml/2006/main">
            <a:r>
              <a:t/>
            </a:r>
          </a:p>
          <a:p xmlns:a="http://schemas.openxmlformats.org/drawingml/2006/main">
            <a:r>
              <a:t>Sources — état du dépôt au 11 octobre 2026 :</a:t>
            </a:r>
          </a:p>
          <a:p xmlns:a="http://schemas.openxmlformats.org/drawingml/2006/main">
            <a:r>
              <a:t>services/genesis/llm.py</a:t>
            </a:r>
          </a:p>
          <a:p xmlns:a="http://schemas.openxmlformats.org/drawingml/2006/main">
            <a:r>
              <a:t>services/genesis/db.py</a:t>
            </a:r>
          </a:p>
          <a:p xmlns:a="http://schemas.openxmlformats.org/drawingml/2006/main">
            <a:r>
              <a:t>apps/web/src/Metering.tsx</a:t>
            </a:r>
          </a:p>
          <a:p xmlns:a="http://schemas.openxmlformats.org/drawingml/2006/main">
            <a:r>
              <a:t>apps/web/src/OverallCost.tsx</a:t>
            </a:r>
          </a:p>
          <a:p xmlns:a="http://schemas.openxmlformats.org/drawingml/2006/main">
            <a:r>
              <a:t>docs/BUDGET.md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plafond persistant autorisé est de 100 dollars canadiens pour les appels de modèles, partagé entre exécutions, retries et vérifications. Le profil documenté valorise prudemment un dollar USD à deux dollars CAD; 100 CAD correspondent alors à 50 USD d’exposition permise. Ce coefficient est une politique de sécurité, pas un taux de change de marché ni une facture. Les réservations concernent le connu et l’exposition encore incertaine. Une alerte de budget n’autorise aucun dépassement et ne remet pas le plafond à zéro. Le coût des fournisseurs cartographiques ou d’hébergement futurs nécessiterait un suivi séparé.</a:t>
            </a:r>
          </a:p>
          <a:p xmlns:a="http://schemas.openxmlformats.org/drawingml/2006/main">
            <a:r>
              <a:t/>
            </a:r>
          </a:p>
          <a:p xmlns:a="http://schemas.openxmlformats.org/drawingml/2006/main">
            <a:r>
              <a:t>Sources — état du dépôt au 11 octobre 2026 :</a:t>
            </a:r>
          </a:p>
          <a:p xmlns:a="http://schemas.openxmlformats.org/drawingml/2006/main">
            <a:r>
              <a:t>services/genesis/db.py</a:t>
            </a:r>
          </a:p>
          <a:p xmlns:a="http://schemas.openxmlformats.org/drawingml/2006/main">
            <a:r>
              <a:t>services/genesis/llm.py</a:t>
            </a:r>
          </a:p>
          <a:p xmlns:a="http://schemas.openxmlformats.org/drawingml/2006/main">
            <a:r>
              <a:t>docs/BUDGET.md</a:t>
            </a:r>
          </a:p>
          <a:p xmlns:a="http://schemas.openxmlformats.org/drawingml/2006/main">
            <a:r>
              <a:t>config/anthropic-prices.json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erreur réseau ne démontre pas que le fournisseur n’a rien reçu. C’est pourquoi une tentative incertaine reste financièrement retenue et ne doit pas être relancée automatiquement. Seul un rejet explicite de limitation de débit suit le retry prévu. Le worker expose actuellement BillingUncertain sous budget_exceeded avec un indicateur distinct d’incertitude; l’interface doit donc montrer le diagnostic détaillé, pas interpréter le seul statut comme une preuve de consommation du plafond. Ces mécanismes privilégient la visibilité de l’exposition plutôt qu’un total artificiellement bas.</a:t>
            </a:r>
          </a:p>
          <a:p xmlns:a="http://schemas.openxmlformats.org/drawingml/2006/main">
            <a:r>
              <a:t/>
            </a:r>
          </a:p>
          <a:p xmlns:a="http://schemas.openxmlformats.org/drawingml/2006/main">
            <a:r>
              <a:t>Sources — état du dépôt au 11 octobre 2026 :</a:t>
            </a:r>
          </a:p>
          <a:p xmlns:a="http://schemas.openxmlformats.org/drawingml/2006/main">
            <a:r>
              <a:t>services/genesis/llm.py</a:t>
            </a:r>
          </a:p>
          <a:p xmlns:a="http://schemas.openxmlformats.org/drawingml/2006/main">
            <a:r>
              <a:t>services/genesis/worker.py</a:t>
            </a:r>
          </a:p>
          <a:p xmlns:a="http://schemas.openxmlformats.org/drawingml/2006/main">
            <a:r>
              <a:t>services/genesis/db.py</a:t>
            </a:r>
          </a:p>
          <a:p xmlns:a="http://schemas.openxmlformats.org/drawingml/2006/main">
            <a:r>
              <a:t>docs/BUDGET.md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service notifications utilise smtplib, ssl et email de la bibliothèque standard Python, avec des paramètres privés. Une limite propre à une seule exécution n’est pas le même événement qu’un blocage du budget global. Les échecs connus avant DATA peuvent être réessayés après 30 puis 60 secondes, au maximum trois tentatives. Une réponse DATA explicitement rejetée termine en échec; un résultat DATA ambigu ou un bail d’envoi expiré termine en uncertain. Un Message-ID stable ne garantit pas exactement une fois. Le compte Gmail a passé TLS/authentification; aucun message externe de test n’a été envoyé.</a:t>
            </a:r>
          </a:p>
          <a:p xmlns:a="http://schemas.openxmlformats.org/drawingml/2006/main">
            <a:r>
              <a:t/>
            </a:r>
          </a:p>
          <a:p xmlns:a="http://schemas.openxmlformats.org/drawingml/2006/main">
            <a:r>
              <a:t>Sources — état du dépôt au 11 octobre 2026 :</a:t>
            </a:r>
          </a:p>
          <a:p xmlns:a="http://schemas.openxmlformats.org/drawingml/2006/main">
            <a:r>
              <a:t>services/genesis/notifications.py</a:t>
            </a:r>
          </a:p>
          <a:p xmlns:a="http://schemas.openxmlformats.org/drawingml/2006/main">
            <a:r>
              <a:t>docs/BUDGET-EMAIL.md</a:t>
            </a:r>
          </a:p>
          <a:p xmlns:a="http://schemas.openxmlformats.org/drawingml/2006/main">
            <a:r>
              <a:t>apps/web/src/BudgetAlertStatus.tsx</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replay masque les résultats qui n’existaient pas encore à l’événement sélectionné. Les temps de simulation et les latences de modèle sont distincts; comparer l’un à l’autre produirait un indicateur faux. La carte U14 conserve des éléments de marqueur stables pour éviter de perdre la sélection lors du polling et ne recadre pas continuellement le même arrêt. Les contraintes indisponibles restent signalées. Le suivi à l’écran reste une simulation; il n’utilise pas de GPS conducteur. Le nouveau comportement de focus et de carte requiert encore sa vérification navigateur finale.</a:t>
            </a:r>
          </a:p>
          <a:p xmlns:a="http://schemas.openxmlformats.org/drawingml/2006/main">
            <a:r>
              <a:t/>
            </a:r>
          </a:p>
          <a:p xmlns:a="http://schemas.openxmlformats.org/drawingml/2006/main">
            <a:r>
              <a:t>Sources — état du dépôt au 11 octobre 2026 :</a:t>
            </a:r>
          </a:p>
          <a:p xmlns:a="http://schemas.openxmlformats.org/drawingml/2006/main">
            <a:r>
              <a:t>apps/web/src/Replay.tsx</a:t>
            </a:r>
          </a:p>
          <a:p xmlns:a="http://schemas.openxmlformats.org/drawingml/2006/main">
            <a:r>
              <a:t>apps/web/src/replayState.ts</a:t>
            </a:r>
          </a:p>
          <a:p xmlns:a="http://schemas.openxmlformats.org/drawingml/2006/main">
            <a:r>
              <a:t>apps/web/src/Dispatch.tsx</a:t>
            </a:r>
          </a:p>
          <a:p xmlns:a="http://schemas.openxmlformats.org/drawingml/2006/main">
            <a:r>
              <a:t>apps/web/src/DispatchMap.tsx</a:t>
            </a:r>
          </a:p>
          <a:p xmlns:a="http://schemas.openxmlformats.org/drawingml/2006/main">
            <a:r>
              <a:t>docs/work/U14-dispatch.md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Analytics charge des projections agrégées et sépare les snapshots par requête. L’export reste désactivé sans snapshot correspondant au filtre courant; un ancien snapshot de la même requête peut être exporté avec son état stale. Les caractères pouvant déclencher une formule de tableur sont neutralisés dans les chaînes. Le CSV ne contient ni adresses, ni sorties complètes de modèles, ni secrets. Les données de trois endpoints ne forment pas un instantané transactionnel unique. Les inventaires bornés aux 200 lignes les plus récentes ne doivent pas être présentés comme des totaux exhaustifs.</a:t>
            </a:r>
          </a:p>
          <a:p xmlns:a="http://schemas.openxmlformats.org/drawingml/2006/main">
            <a:r>
              <a:t/>
            </a:r>
          </a:p>
          <a:p xmlns:a="http://schemas.openxmlformats.org/drawingml/2006/main">
            <a:r>
              <a:t>Sources — état du dépôt au 11 octobre 2026 :</a:t>
            </a:r>
          </a:p>
          <a:p xmlns:a="http://schemas.openxmlformats.org/drawingml/2006/main">
            <a:r>
              <a:t>apps/web/src/Analytics.tsx</a:t>
            </a:r>
          </a:p>
          <a:p xmlns:a="http://schemas.openxmlformats.org/drawingml/2006/main">
            <a:r>
              <a:t>apps/web/src/analyticsExport.ts</a:t>
            </a:r>
          </a:p>
          <a:p xmlns:a="http://schemas.openxmlformats.org/drawingml/2006/main">
            <a:r>
              <a:t>apps/web/src/OverallCost.tsx</a:t>
            </a:r>
          </a:p>
          <a:p xmlns:a="http://schemas.openxmlformats.org/drawingml/2006/main">
            <a:r>
              <a:t>docs/work/U14-analytics.md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distinction évite de transformer une longue liste de paquets en promesse de fonctionnalités. Certains paquets sont requis par des bibliothèques de plus haut niveau; d’autres relèvent d’un profil optionnel ou d’un reste de développement. langgraph-checkpoint-postgres est installé, mais le workflow courant importe SqliteSaver. L’outbox Langfuse est réellement prévue dans le worker mais son fonctionnement cloud n’est pas validé par le profil local. L’annexe donne chaque paquet Python épinglé et les dépendances directes JavaScript. Les lockfiles npm contiennent en complément leur arbre transitif complet.</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services/genesis/worker.py</a:t>
            </a:r>
          </a:p>
          <a:p xmlns:a="http://schemas.openxmlformats.org/drawingml/2006/main">
            <a:r>
              <a:t>services/genesis/workflow.py</a:t>
            </a:r>
          </a:p>
          <a:p xmlns:a="http://schemas.openxmlformats.org/drawingml/2006/main">
            <a:r>
              <a:t>compose.yaml</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configuration CI épingle les actions et utilise Python 3.13 et Node 24. Elle installe les requirements et les lockfiles npm, exécute les tests Python et frontend puis prépare un profil déterministe pour les parcours navigateur. Les tests fournisseurs peuvent utiliser des réponses enregistrées ou mocks: cela protège les coûts mais ne certifie pas la disponibilité des services publics. U14 a passé 60 tests frontend, un build TypeScript/Vite et huit tests API isolés. Ces résultats sont une preuve ciblée, pas un nouveau passage de toute la suite Python ou un certificat WCAG.</a:t>
            </a:r>
          </a:p>
          <a:p xmlns:a="http://schemas.openxmlformats.org/drawingml/2006/main">
            <a:r>
              <a:t/>
            </a:r>
          </a:p>
          <a:p xmlns:a="http://schemas.openxmlformats.org/drawingml/2006/main">
            <a:r>
              <a:t>Sources — état du dépôt au 11 octobre 2026 :</a:t>
            </a:r>
          </a:p>
          <a:p xmlns:a="http://schemas.openxmlformats.org/drawingml/2006/main">
            <a:r>
              <a:t>.github/workflows/verify.yml</a:t>
            </a:r>
          </a:p>
          <a:p xmlns:a="http://schemas.openxmlformats.org/drawingml/2006/main">
            <a:r>
              <a:t>pyproject.toml</a:t>
            </a:r>
          </a:p>
          <a:p xmlns:a="http://schemas.openxmlformats.org/drawingml/2006/main">
            <a:r>
              <a:t>apps/web/package.json</a:t>
            </a:r>
          </a:p>
          <a:p xmlns:a="http://schemas.openxmlformats.org/drawingml/2006/main">
            <a:r>
              <a:t>qa/package.json</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vingt exécutions historiques correspondent aux cinq scénarios S01–S05, deux politiques logistiques et deux graines 17/29. Le manifeste live enregistre les identifiants et preuves; il ne doit pas être mélangé avec les fixtures. Le total API estimé du benchmark documenté est 0,6696181 USD, et n’est pas le total de toutes les opérations du projet. La revue U14 approuve une portée de source précise; elle n’approuve pas une nouvelle apparence vue dans le navigateur. Les avertissements de taille de bundle restent présents. Les anciens tests de capture ne constituent pas une capture de la nouvelle navigation.</a:t>
            </a:r>
          </a:p>
          <a:p xmlns:a="http://schemas.openxmlformats.org/drawingml/2006/main">
            <a:r>
              <a:t/>
            </a:r>
          </a:p>
          <a:p xmlns:a="http://schemas.openxmlformats.org/drawingml/2006/main">
            <a:r>
              <a:t>Sources — état du dépôt au 11 octobre 2026 :</a:t>
            </a:r>
          </a:p>
          <a:p xmlns:a="http://schemas.openxmlformats.org/drawingml/2006/main">
            <a:r>
              <a:t>experiments/live-manifest.json</a:t>
            </a:r>
          </a:p>
          <a:p xmlns:a="http://schemas.openxmlformats.org/drawingml/2006/main">
            <a:r>
              <a:t>docs/IMPLEMENTATION-STATUS.md</a:t>
            </a:r>
          </a:p>
          <a:p xmlns:a="http://schemas.openxmlformats.org/drawingml/2006/main">
            <a:r>
              <a:t>docs/reviews/interface-review.md</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 déroulé présente la chaîne fonctionnelle sans créer de coût modèle. La démonstration doit annoncer la simulation dès le départ. Elle peut montrer qu’un même véhicule dessert plusieurs arrêts et que les alternatives ont un coût ou une durée différente. Avant de simuler, vérifier que des trajets ont réellement été admis et que les véhicules sont disponibles. Pour illustrer la mémoire, utiliser une mission déjà terminée et strictement compatible; ne pas promettre un hit à chaque répétition d’adresse. Le passage en live exige disponibilité du modèle, tarif valide, clé privée et budget résiduel.</a:t>
            </a:r>
          </a:p>
          <a:p xmlns:a="http://schemas.openxmlformats.org/drawingml/2006/main">
            <a:r>
              <a:t/>
            </a:r>
          </a:p>
          <a:p xmlns:a="http://schemas.openxmlformats.org/drawingml/2006/main">
            <a:r>
              <a:t>Sources — état du dépôt au 11 octobre 2026 :</a:t>
            </a:r>
          </a:p>
          <a:p xmlns:a="http://schemas.openxmlformats.org/drawingml/2006/main">
            <a:r>
              <a:t>docs/DISPATCH.md</a:t>
            </a:r>
          </a:p>
          <a:p xmlns:a="http://schemas.openxmlformats.org/drawingml/2006/main">
            <a:r>
              <a:t>docs/ROUTE-MEMORY.md</a:t>
            </a:r>
          </a:p>
          <a:p xmlns:a="http://schemas.openxmlformats.org/drawingml/2006/main">
            <a:r>
              <a:t>apps/web/src/Dispatch.tsx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L’ordre de livraison recommandé est de sécuriser identité et séparation des entreprises, puis de fermer la boucle conducteur et les preuves opérationnelles, avant d’augmenter la complexité de l’IA. La mémoire de routes ne compense ni une mauvaise position de départ ni des restrictions poids lourds absentes. Le plafond modèle n’est pas un contrôle de toutes les dépenses d’une entreprise. Le plan de test doit inclure délais fournisseur, interruption du worker, double soumission, donnée périmée et reprise avec cargaison. Les critères de libération sont définis dans TRANSPORT-CHECKLIST; aucun de ces points n’est clos par l’apparence du tableau de bord.</a:t>
            </a:r>
          </a:p>
          <a:p xmlns:a="http://schemas.openxmlformats.org/drawingml/2006/main">
            <a:r>
              <a:t/>
            </a:r>
          </a:p>
          <a:p xmlns:a="http://schemas.openxmlformats.org/drawingml/2006/main">
            <a:r>
              <a:t>Sources — état du dépôt au 11 octobre 2026 :</a:t>
            </a:r>
          </a:p>
          <a:p xmlns:a="http://schemas.openxmlformats.org/drawingml/2006/main">
            <a:r>
              <a:t>docs/TRANSPORT-CHECKLIST.md</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recommandations sont une analyse du projet, pas des fonctionnalités déjà livrées. Les cinq rôles sont utiles comme structure d’observation, mais chacun doit justifier un appel payant par une valeur mesurée. Le profil routine est donc préférable pour les opérations répétitives validées. Un autre framework, une base vectorielle ou une multiplication des agents ajouteraient aujourd’hui une charge d’exploitation sans résoudre les principales lacunes. Le système a une base technique explicite et vérifiable; le succès client dépend maintenant de la qualité des données terrain, du traitement des exceptions et des engagements de service.</a:t>
            </a:r>
          </a:p>
          <a:p xmlns:a="http://schemas.openxmlformats.org/drawingml/2006/main">
            <a:r>
              <a:t/>
            </a:r>
          </a:p>
          <a:p xmlns:a="http://schemas.openxmlformats.org/drawingml/2006/main">
            <a:r>
              <a:t>Sources — état du dépôt au 11 octobre 2026 :</a:t>
            </a:r>
          </a:p>
          <a:p xmlns:a="http://schemas.openxmlformats.org/drawingml/2006/main">
            <a:r>
              <a:t>docs/DECISIONS.md</a:t>
            </a:r>
          </a:p>
          <a:p xmlns:a="http://schemas.openxmlformats.org/drawingml/2006/main">
            <a:r>
              <a:t>docs/MODEL-POLICY.md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L’API publie un flux Server-Sent Events par exécution. App.tsx crée EventSource lorsque le statut est queued ou running et écoute les événements genesis. mergeEvents fusionne par run_seq, trie et borne l’historique chargé. Les événements terminaux déclenchent une relecture; un rafraîchissement de cinq secondes complète le flux. Le serveur fournit une sémantique de curseur/reprise; l’interface ne traite pas le flux comme une base autoritaire isolée. Les trames invalides sont ignorées sans empêcher une actualisation explicite. SSE décrit l’observation du travail logiciel; cela ne fournit aucun GPS ni trafic réel.</a:t>
            </a:r>
          </a:p>
          <a:p xmlns:a="http://schemas.openxmlformats.org/drawingml/2006/main">
            <a:r>
              <a:t/>
            </a:r>
          </a:p>
          <a:p xmlns:a="http://schemas.openxmlformats.org/drawingml/2006/main">
            <a:r>
              <a:t>Sources — état du dépôt au 11 octobre 2026 :</a:t>
            </a:r>
          </a:p>
          <a:p xmlns:a="http://schemas.openxmlformats.org/drawingml/2006/main">
            <a:r>
              <a:t>services/genesis/api.py</a:t>
            </a:r>
          </a:p>
          <a:p xmlns:a="http://schemas.openxmlformats.org/drawingml/2006/main">
            <a:r>
              <a:t>services/genesis/db.py</a:t>
            </a:r>
          </a:p>
          <a:p xmlns:a="http://schemas.openxmlformats.org/drawingml/2006/main">
            <a:r>
              <a:t>apps/web/src/App.tsx</a:t>
            </a:r>
          </a:p>
          <a:p xmlns:a="http://schemas.openxmlformats.org/drawingml/2006/main">
            <a:r>
              <a:t>apps/web/src/state.ts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graphe React Flow et la chronologie ECharts répondent à des questions d’exécution. Le Sankey compte les handoffs réellement observés, avec deux identités distinctes par rôle, émetteur et destinataire; il ne représente pas une conservation de tokens. Les comparaisons sont limitées aux scénarios/graines/provenances compatibles. La heatmap scénario × agent et son tableau d’effectifs appartiennent désormais à la rubrique Durées des agents par scénario dans Analytique. Les KPI de cohorte ne doivent pas être confondus avec le coût global non filtré. Ces visualisations demeurent des contenus contextuels, pas six onglets principaux.</a:t>
            </a:r>
          </a:p>
          <a:p xmlns:a="http://schemas.openxmlformats.org/drawingml/2006/main">
            <a:r>
              <a:t/>
            </a:r>
          </a:p>
          <a:p xmlns:a="http://schemas.openxmlformats.org/drawingml/2006/main">
            <a:r>
              <a:t>Sources — état du dépôt au 11 octobre 2026 :</a:t>
            </a:r>
          </a:p>
          <a:p xmlns:a="http://schemas.openxmlformats.org/drawingml/2006/main">
            <a:r>
              <a:t>apps/web/src/Observability.tsx</a:t>
            </a:r>
          </a:p>
          <a:p xmlns:a="http://schemas.openxmlformats.org/drawingml/2006/main">
            <a:r>
              <a:t>apps/web/src/Chart.tsx</a:t>
            </a:r>
          </a:p>
          <a:p xmlns:a="http://schemas.openxmlformats.org/drawingml/2006/main">
            <a:r>
              <a:t>apps/web/src/Analytics.tsx</a:t>
            </a:r>
          </a:p>
          <a:p xmlns:a="http://schemas.openxmlformats.org/drawingml/2006/main">
            <a:r>
              <a:t>docs/DATA-CONTRACT.md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L’expérience historique comporte cinq scénarios, deux politiques et deux graines, soit vingt exécutions acceptées. Une politique logistique ne désigne pas une famille de modèle. Le benchmark évalue le service, le coût de flotte et les exceptions sous hypothèses synthétiques. Le courtage opérateur étend le produit à des demandes d’adresses et des trajectoires routières externes. Il possède ses propres contraintes d’affectation et d’admission. Les deux parcours partagent l’observation, les appels bornés et la comptabilité, mais leurs résultats ne sont pas directement interchangeables. Les courbes du benchmark ne démontrent pas une performance sur une flotte cliente réelle.</a:t>
            </a:r>
          </a:p>
          <a:p xmlns:a="http://schemas.openxmlformats.org/drawingml/2006/main">
            <a:r>
              <a:t/>
            </a:r>
          </a:p>
          <a:p xmlns:a="http://schemas.openxmlformats.org/drawingml/2006/main">
            <a:r>
              <a:t>Sources — état du dépôt au 11 octobre 2026 :</a:t>
            </a:r>
          </a:p>
          <a:p xmlns:a="http://schemas.openxmlformats.org/drawingml/2006/main">
            <a:r>
              <a:t>docs/LOGISTICS-SPEC.md</a:t>
            </a:r>
          </a:p>
          <a:p xmlns:a="http://schemas.openxmlformats.org/drawingml/2006/main">
            <a:r>
              <a:t>docs/DISPATCH.md</a:t>
            </a:r>
          </a:p>
          <a:p xmlns:a="http://schemas.openxmlformats.org/drawingml/2006/main">
            <a:r>
              <a:t>services/genesis/workflow.py</a:t>
            </a:r>
          </a:p>
          <a:p xmlns:a="http://schemas.openxmlformats.org/drawingml/2006/main">
            <a:r>
              <a:t>services/genesis/broker_runtime.py</a:t>
            </a:r>
          </a:p>
          <a:p xmlns:a="http://schemas.openxmlformats.org/drawingml/2006/main">
            <a:r>
              <a:t>experiments/live-manifest.json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python-dotenv 1.2.4 charge la configuration locale pour les processus API et worker. .env.example documente les paramètres sans fournir de secrets et .gitignore exclut les configurations privées. L’application locale ne possède pas encore l’identité et l’isolation client requises pour exposer son API à des entreprises. requirements.txt contient l’environnement Python épinglé, y compris des dépendances transitives; pyproject.toml s’y réfère dynamiquement. Les package-lock.json rendent les installations JavaScript reproductibles. Les bibliothèques standard decimal, hashlib, uuid, datetime/zoneinfo, smtplib, ssl et email assurent argent exact, empreintes, identifiants, temps et courriels sans ajouter un SDK pour chaque fonction.</a:t>
            </a:r>
          </a:p>
          <a:p xmlns:a="http://schemas.openxmlformats.org/drawingml/2006/main">
            <a:r>
              <a:t/>
            </a:r>
          </a:p>
          <a:p xmlns:a="http://schemas.openxmlformats.org/drawingml/2006/main">
            <a:r>
              <a:t>Sources — état du dépôt au 11 octobre 2026 :</a:t>
            </a:r>
          </a:p>
          <a:p xmlns:a="http://schemas.openxmlformats.org/drawingml/2006/main">
            <a:r>
              <a:t>.env.example</a:t>
            </a:r>
          </a:p>
          <a:p xmlns:a="http://schemas.openxmlformats.org/drawingml/2006/main">
            <a:r>
              <a:t>.gitignore</a:t>
            </a:r>
          </a:p>
          <a:p xmlns:a="http://schemas.openxmlformats.org/drawingml/2006/main">
            <a:r>
              <a:t>pyproject.toml</a:t>
            </a:r>
          </a:p>
          <a:p xmlns:a="http://schemas.openxmlformats.org/drawingml/2006/main">
            <a:r>
              <a:t>requirements.txt</a:t>
            </a:r>
          </a:p>
          <a:p xmlns:a="http://schemas.openxmlformats.org/drawingml/2006/main">
            <a:r>
              <a:t>services/genesis/llm.py</a:t>
            </a:r>
          </a:p>
          <a:p xmlns:a="http://schemas.openxmlformats.org/drawingml/2006/main">
            <a:r>
              <a:t>services/genesis/notifications.py</a:t>
            </a:r>
          </a:p>
          <a:p xmlns:a="http://schemas.openxmlformats.org/drawingml/2006/main">
            <a:r>
              <a:t>scripts/start.ps1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support principal est la révision U14 4c8dd4c du 11 octobre 2026. Les notes de chaque slide donnent les chemins sources. Les documentations officielles consultées confirment le rôle des bibliothèques, mais les versions affichées sont lues dans les manifestes locaux. L’annexe n’implique pas une utilisation métier directe de chaque paquet. Les statuts distinguent runtime, support de dépendance, option, outillage et installé sans usage direct. Les sources de création du diaporama utilisent Artifact Tool uniquement pour cet artefact; ce n’est pas une dépendance de l’application Genesis.</a:t>
            </a:r>
          </a:p>
          <a:p xmlns:a="http://schemas.openxmlformats.org/drawingml/2006/main">
            <a:r>
              <a:t/>
            </a:r>
          </a:p>
          <a:p xmlns:a="http://schemas.openxmlformats.org/drawingml/2006/main">
            <a:r>
              <a:t>Sources — état du dépôt au 11 octobre 2026 :</a:t>
            </a:r>
          </a:p>
          <a:p xmlns:a="http://schemas.openxmlformats.org/drawingml/2006/main">
            <a:r>
              <a:t>README.md</a:t>
            </a:r>
          </a:p>
          <a:p xmlns:a="http://schemas.openxmlformats.org/drawingml/2006/main">
            <a:r>
              <a:t>requirements.txt</a:t>
            </a:r>
          </a:p>
          <a:p xmlns:a="http://schemas.openxmlformats.org/drawingml/2006/main">
            <a:r>
              <a:t>apps/web/package.json</a:t>
            </a:r>
          </a:p>
          <a:p xmlns:a="http://schemas.openxmlformats.org/drawingml/2006/main">
            <a:r>
              <a:t>qa/package.json</a:t>
            </a:r>
          </a:p>
          <a:p xmlns:a="http://schemas.openxmlformats.org/drawingml/2006/main">
            <a:r>
              <a:t>https://react.dev/learn</a:t>
            </a:r>
          </a:p>
          <a:p xmlns:a="http://schemas.openxmlformats.org/drawingml/2006/main">
            <a:r>
              <a:t>https://fastapi.tiangolo.com/</a:t>
            </a:r>
          </a:p>
          <a:p xmlns:a="http://schemas.openxmlformats.org/drawingml/2006/main">
            <a:r>
              <a:t>https://docs.langchain.com/oss/python/langgraph/overview</a:t>
            </a:r>
          </a:p>
          <a:p xmlns:a="http://schemas.openxmlformats.org/drawingml/2006/main">
            <a:r>
              <a:t>https://developers.google.com/optimization/routing/vrp</a:t>
            </a:r>
          </a:p>
          <a:p xmlns:a="http://schemas.openxmlformats.org/drawingml/2006/main">
            <a:r>
              <a:t>https://maplibre.org/maplibre-gl-js/docs/</a:t>
            </a:r>
          </a:p>
          <a:p xmlns:a="http://schemas.openxmlformats.org/drawingml/2006/main">
            <a:r>
              <a:t>https://echarts.apache.org/en/index.html</a:t>
            </a:r>
          </a:p>
          <a:p xmlns:a="http://schemas.openxmlformats.org/drawingml/2006/main">
            <a:r>
              <a:t>https://reactflow.dev/learn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absl-py : Support de dépendance. Support transitif d’OR-Tools (utilitaires Abseil)</a:t>
            </a:r>
          </a:p>
          <a:p xmlns:a="http://schemas.openxmlformats.org/drawingml/2006/main">
            <a:r>
              <a:t>aiosqlite : Installé, sans usage métier direct. Adaptateur SQLite asynchrone; aucun appel applicatif observé</a:t>
            </a:r>
          </a:p>
          <a:p xmlns:a="http://schemas.openxmlformats.org/drawingml/2006/main">
            <a:r>
              <a:t>alembic : Installé, sans usage métier direct. Outil de migrations SQL; aucune migration active trouvée</a:t>
            </a:r>
          </a:p>
          <a:p xmlns:a="http://schemas.openxmlformats.org/drawingml/2006/main">
            <a:r>
              <a:t>annotated-doc : Support de dépendance. Métadonnées de documentation pour schémas annotés</a:t>
            </a:r>
          </a:p>
          <a:p xmlns:a="http://schemas.openxmlformats.org/drawingml/2006/main">
            <a:r>
              <a:t>annotated-types : Support de dépendance. Métadonnées de contraintes utilisées par Pydantic</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anthropic : Usage direct. SDK des appels IA directs; seul fournisseur live actif</a:t>
            </a:r>
          </a:p>
          <a:p xmlns:a="http://schemas.openxmlformats.org/drawingml/2006/main">
            <a:r>
              <a:t>anyio : Support de dépendance. Concurrence async utilisée sous FastAPI et ses clients</a:t>
            </a:r>
          </a:p>
          <a:p xmlns:a="http://schemas.openxmlformats.org/drawingml/2006/main">
            <a:r>
              <a:t>backoff : Support de dépendance. Reprises du SDK Langfuse facultatif</a:t>
            </a:r>
          </a:p>
          <a:p xmlns:a="http://schemas.openxmlformats.org/drawingml/2006/main">
            <a:r>
              <a:t>certifi : Support de dépendance. Certificats CA pour connexions TLS des clients HTTP</a:t>
            </a:r>
          </a:p>
          <a:p xmlns:a="http://schemas.openxmlformats.org/drawingml/2006/main">
            <a:r>
              <a:t>charset-normalizer : Support de dépendance. Détection d’encodage pour le client Requests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 Support de dépendance. Support CLI d’Uvicorn et des outils installés</a:t>
            </a:r>
          </a:p>
          <a:p xmlns:a="http://schemas.openxmlformats.org/drawingml/2006/main">
            <a:r>
              <a:t>colorama : Support de dépendance. Couleurs terminal pour outils Python sous Windows</a:t>
            </a:r>
          </a:p>
          <a:p xmlns:a="http://schemas.openxmlformats.org/drawingml/2006/main">
            <a:r>
              <a:t>distro : Support de dépendance. Détection de distribution système pour SDK dépendants</a:t>
            </a:r>
          </a:p>
          <a:p xmlns:a="http://schemas.openxmlformats.org/drawingml/2006/main">
            <a:r>
              <a:t>docstring_parser : Support de dépendance. Analyse de docstrings par bibliothèques de schémas</a:t>
            </a:r>
          </a:p>
          <a:p xmlns:a="http://schemas.openxmlformats.org/drawingml/2006/main">
            <a:r>
              <a:t>fastapi : Usage direct. API REST, validation HTTP et flux d’événements locaux</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googleapis-common-protos : Support de dépendance. Protos partagés requis par la chaîne OpenTelemetry</a:t>
            </a:r>
          </a:p>
          <a:p xmlns:a="http://schemas.openxmlformats.org/drawingml/2006/main">
            <a:r>
              <a:t>h11 : Support de dépendance. Protocole HTTP/1.1 bas niveau pour serveur et clients</a:t>
            </a:r>
          </a:p>
          <a:p xmlns:a="http://schemas.openxmlformats.org/drawingml/2006/main">
            <a:r>
              <a:t>httpcore : Support de dépendance. Transport HTTP bas niveau utilisé par HTTPX</a:t>
            </a:r>
          </a:p>
          <a:p xmlns:a="http://schemas.openxmlformats.org/drawingml/2006/main">
            <a:r>
              <a:t>httpcore2 : Support de dépendance. Transport bas niveau de httpx2 pour le SDK Anthropic</a:t>
            </a:r>
          </a:p>
          <a:p xmlns:a="http://schemas.openxmlformats.org/drawingml/2006/main">
            <a:r>
              <a:t>httpx : Usage direct. Requêtes bornées vers géocodage, routes et permis urbains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httpx2 : Support de dépendance. Client HTTP indirect du SDK Anthropic installé</a:t>
            </a:r>
          </a:p>
          <a:p xmlns:a="http://schemas.openxmlformats.org/drawingml/2006/main">
            <a:r>
              <a:t>idna : Support de dépendance. Encodage des noms de domaine pour clients HTTP</a:t>
            </a:r>
          </a:p>
          <a:p xmlns:a="http://schemas.openxmlformats.org/drawingml/2006/main">
            <a:r>
              <a:t>immutabledict : Support de dépendance. Structures immuables de support pour OR-Tools</a:t>
            </a:r>
          </a:p>
          <a:p xmlns:a="http://schemas.openxmlformats.org/drawingml/2006/main">
            <a:r>
              <a:t>iniconfig : Développement / QA. Lecture de configuration utilisée par pytest</a:t>
            </a:r>
          </a:p>
          <a:p xmlns:a="http://schemas.openxmlformats.org/drawingml/2006/main">
            <a:r>
              <a:t>jiter : Support de dépendance. Analyse JSON rapide utilisée par le SDK Anthropic</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jsonpatch : Support de dépendance. Diff d’état utilisé dans l’écosystème LangGraph</a:t>
            </a:r>
          </a:p>
          <a:p xmlns:a="http://schemas.openxmlformats.org/drawingml/2006/main">
            <a:r>
              <a:t>jsonpointer : Support de dépendance. Résolution de chemins JSON pour jsonpatch</a:t>
            </a:r>
          </a:p>
          <a:p xmlns:a="http://schemas.openxmlformats.org/drawingml/2006/main">
            <a:r>
              <a:t>langchain-core : Support de dépendance. Types de messages et primitives sous LangGraph</a:t>
            </a:r>
          </a:p>
          <a:p xmlns:a="http://schemas.openxmlformats.org/drawingml/2006/main">
            <a:r>
              <a:t>langchain-protocol : Support de dépendance. Protocole de compatibilité de l’écosystème LangChain</a:t>
            </a:r>
          </a:p>
          <a:p xmlns:a="http://schemas.openxmlformats.org/drawingml/2006/main">
            <a:r>
              <a:t>langfuse : Option / non validée. Export facultatif des événements vers Langfuse externe</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langgraph : Usage direct. Orchestration du workflow agent séquentiel avec reprise</a:t>
            </a:r>
          </a:p>
          <a:p xmlns:a="http://schemas.openxmlformats.org/drawingml/2006/main">
            <a:r>
              <a:t>langgraph-checkpoint : Support de dépendance. Contrats de checkpoints utilisés par LangGraph</a:t>
            </a:r>
          </a:p>
          <a:p xmlns:a="http://schemas.openxmlformats.org/drawingml/2006/main">
            <a:r>
              <a:t>langgraph-checkpoint-postgres : Installé, sans usage métier direct. Saver PostgreSQL installé; non utilisé par le graphe</a:t>
            </a:r>
          </a:p>
          <a:p xmlns:a="http://schemas.openxmlformats.org/drawingml/2006/main">
            <a:r>
              <a:t>langgraph-checkpoint-sqlite : Usage direct. Checkpoints SQLite persistants du workflow local</a:t>
            </a:r>
          </a:p>
          <a:p xmlns:a="http://schemas.openxmlformats.org/drawingml/2006/main">
            <a:r>
              <a:t>langgraph-prebuilt : Support de dépendance. Composants préfabriqués de l’écosystème LangGraph</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langgraph-sdk : Support de dépendance. Client SDK de support pour intégrations LangGraph</a:t>
            </a:r>
          </a:p>
          <a:p xmlns:a="http://schemas.openxmlformats.org/drawingml/2006/main">
            <a:r>
              <a:t>langsmith : Support de dépendance. Support LangChain; aucun appel explicite dans Genesis</a:t>
            </a:r>
          </a:p>
          <a:p xmlns:a="http://schemas.openxmlformats.org/drawingml/2006/main">
            <a:r>
              <a:t>Mako : Installé, sans usage métier direct. Moteur de gabarits utilisé par Alembic installé</a:t>
            </a:r>
          </a:p>
          <a:p xmlns:a="http://schemas.openxmlformats.org/drawingml/2006/main">
            <a:r>
              <a:t>MarkupSafe : Support de dépendance. Échappement des chaînes pour gabarits Mako</a:t>
            </a:r>
          </a:p>
          <a:p xmlns:a="http://schemas.openxmlformats.org/drawingml/2006/main">
            <a:r>
              <a:t>numpy : Installé, sans usage métier direct. Calcul numérique installé; aucun import applicatif trouvé</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opentelemetry-api : Support de dépendance. Support indirect de l’export Langfuse facultatif</a:t>
            </a:r>
          </a:p>
          <a:p xmlns:a="http://schemas.openxmlformats.org/drawingml/2006/main">
            <a:r>
              <a:t>opentelemetry-exporter-http-transport : Support de dépendance. Support indirect de l’export Langfuse facultatif</a:t>
            </a:r>
          </a:p>
          <a:p xmlns:a="http://schemas.openxmlformats.org/drawingml/2006/main">
            <a:r>
              <a:t>opentelemetry-exporter-otlp-common : Support de dépendance. Support indirect de l’export Langfuse facultatif</a:t>
            </a:r>
          </a:p>
          <a:p xmlns:a="http://schemas.openxmlformats.org/drawingml/2006/main">
            <a:r>
              <a:t>opentelemetry-exporter-otlp-proto-common : Support de dépendance. Support indirect de l’export Langfuse facultatif</a:t>
            </a:r>
          </a:p>
          <a:p xmlns:a="http://schemas.openxmlformats.org/drawingml/2006/main">
            <a:r>
              <a:t>opentelemetry-exporter-otlp-proto-http : Support de dépendance. Support indirect de l’export Langfuse facultatif</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opentelemetry-proto : Support de dépendance. Support indirect de l’export Langfuse facultatif</a:t>
            </a:r>
          </a:p>
          <a:p xmlns:a="http://schemas.openxmlformats.org/drawingml/2006/main">
            <a:r>
              <a:t>opentelemetry-sdk : Support de dépendance. Support indirect de l’export Langfuse facultatif</a:t>
            </a:r>
          </a:p>
          <a:p xmlns:a="http://schemas.openxmlformats.org/drawingml/2006/main">
            <a:r>
              <a:t>opentelemetry-semantic-conventions : Support de dépendance. Support indirect de l’export Langfuse facultatif</a:t>
            </a:r>
          </a:p>
          <a:p xmlns:a="http://schemas.openxmlformats.org/drawingml/2006/main">
            <a:r>
              <a:t>orjson : Support de dépendance. Sérialiseur rapide sous-jacent aux intégrations installées</a:t>
            </a:r>
          </a:p>
          <a:p xmlns:a="http://schemas.openxmlformats.org/drawingml/2006/main">
            <a:r>
              <a:t>ormsgpack : Support de dépendance. Sérialisation compacte utilisée par les checkpoints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ortools : Usage direct. Solveur borné des tournées, fenêtres horaires et capacités</a:t>
            </a:r>
          </a:p>
          <a:p xmlns:a="http://schemas.openxmlformats.org/drawingml/2006/main">
            <a:r>
              <a:t>packaging : Support de dépendance. Comparaison de versions pour les outils Python</a:t>
            </a:r>
          </a:p>
          <a:p xmlns:a="http://schemas.openxmlformats.org/drawingml/2006/main">
            <a:r>
              <a:t>pandas : Installé, sans usage métier direct. Analyse tabulaire installée; aucun import applicatif trouvé</a:t>
            </a:r>
          </a:p>
          <a:p xmlns:a="http://schemas.openxmlformats.org/drawingml/2006/main">
            <a:r>
              <a:t>pluggy : Développement / QA. Système de plugins utilisé par pytest</a:t>
            </a:r>
          </a:p>
          <a:p xmlns:a="http://schemas.openxmlformats.org/drawingml/2006/main">
            <a:r>
              <a:t>protobuf : Support de dépendance. Messages binaires requis par OR-Tools et protos installés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psycopg : Option / non validée. Pilote PostgreSQL pour profil alternatif non vérifié</a:t>
            </a:r>
          </a:p>
          <a:p xmlns:a="http://schemas.openxmlformats.org/drawingml/2006/main">
            <a:r>
              <a:t>psycopg-binary : Option / non validée. Binaire du pilote PostgreSQL du profil optionnel</a:t>
            </a:r>
          </a:p>
          <a:p xmlns:a="http://schemas.openxmlformats.org/drawingml/2006/main">
            <a:r>
              <a:t>psycopg-pool : Option / non validée. Pool du pilote PostgreSQL; profil alternatif optionnel</a:t>
            </a:r>
          </a:p>
          <a:p xmlns:a="http://schemas.openxmlformats.org/drawingml/2006/main">
            <a:r>
              <a:t>pydantic : Usage direct. Contrats de données et validation des entrées/sorties</a:t>
            </a:r>
          </a:p>
          <a:p xmlns:a="http://schemas.openxmlformats.org/drawingml/2006/main">
            <a:r>
              <a:t>pydantic_core : Support de dépendance. Moteur Rust sous-jacent à Pydantic</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Pygments : Support de dépendance. Coloration syntaxique optionnelle des outils de documentation</a:t>
            </a:r>
          </a:p>
          <a:p xmlns:a="http://schemas.openxmlformats.org/drawingml/2006/main">
            <a:r>
              <a:t>pytest : Développement / QA. Exécution des tests backend dans tests/</a:t>
            </a:r>
          </a:p>
          <a:p xmlns:a="http://schemas.openxmlformats.org/drawingml/2006/main">
            <a:r>
              <a:t>python-dateutil : Support de dépendance. Utilitaires dates installés pour bibliothèques dépendantes</a:t>
            </a:r>
          </a:p>
          <a:p xmlns:a="http://schemas.openxmlformats.org/drawingml/2006/main">
            <a:r>
              <a:t>python-dotenv : Usage direct. Chargement de configuration locale depuis l’environnement</a:t>
            </a:r>
          </a:p>
          <a:p xmlns:a="http://schemas.openxmlformats.org/drawingml/2006/main">
            <a:r>
              <a:t>PyYAML : Support de dépendance. Lecture YAML de support par dépendances installées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regex : Support de dépendance. Expressions régulières Unicode pour dépendances LangChain</a:t>
            </a:r>
          </a:p>
          <a:p xmlns:a="http://schemas.openxmlformats.org/drawingml/2006/main">
            <a:r>
              <a:t>requests : Installé, sans usage métier direct. Client HTTP de dépendance; l’application utilise HTTPX</a:t>
            </a:r>
          </a:p>
          <a:p xmlns:a="http://schemas.openxmlformats.org/drawingml/2006/main">
            <a:r>
              <a:t>requests-toolbelt : Support de dépendance. Utilitaires de transport pour Requests installé</a:t>
            </a:r>
          </a:p>
          <a:p xmlns:a="http://schemas.openxmlformats.org/drawingml/2006/main">
            <a:r>
              <a:t>ruff : Développement / QA. Lint Python selon les règles locales du pyproject</a:t>
            </a:r>
          </a:p>
          <a:p xmlns:a="http://schemas.openxmlformats.org/drawingml/2006/main">
            <a:r>
              <a:t>six : Support de dépendance. Compatibilité Python 2/3 de bibliothèques dépendantes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sniffio : Support de dépendance. Détection du runtime async pour AnyIO/HTTPX</a:t>
            </a:r>
          </a:p>
          <a:p xmlns:a="http://schemas.openxmlformats.org/drawingml/2006/main">
            <a:r>
              <a:t>SQLAlchemy : Usage direct. Transactions et stockage SQLite des missions et événements</a:t>
            </a:r>
          </a:p>
          <a:p xmlns:a="http://schemas.openxmlformats.org/drawingml/2006/main">
            <a:r>
              <a:t>sqlite-vec : Installé, sans usage métier direct. Extension SQLite vectorielle installée; non appelée</a:t>
            </a:r>
          </a:p>
          <a:p xmlns:a="http://schemas.openxmlformats.org/drawingml/2006/main">
            <a:r>
              <a:t>starlette : Support de dépendance. Couche ASGI sous FastAPI pour requêtes et réponses</a:t>
            </a:r>
          </a:p>
          <a:p xmlns:a="http://schemas.openxmlformats.org/drawingml/2006/main">
            <a:r>
              <a:t>tenacity : Support de dépendance. Utilitaire de reprises bornées pour intégrations Python</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tiktoken : Installé, sans usage métier direct. Tokeniseur installé; aucun comptage applicatif par ce module</a:t>
            </a:r>
          </a:p>
          <a:p xmlns:a="http://schemas.openxmlformats.org/drawingml/2006/main">
            <a:r>
              <a:t>truststore : Support de dépendance. Accès au magasin de certificats système pour clients HTTP</a:t>
            </a:r>
          </a:p>
          <a:p xmlns:a="http://schemas.openxmlformats.org/drawingml/2006/main">
            <a:r>
              <a:t>typing-inspection : Support de dépendance. Inspection des annotations utilisée par Pydantic</a:t>
            </a:r>
          </a:p>
          <a:p xmlns:a="http://schemas.openxmlformats.org/drawingml/2006/main">
            <a:r>
              <a:t>typing_extensions : Support de dépendance. Compatibilité des types Python pour dépendances</a:t>
            </a:r>
          </a:p>
          <a:p xmlns:a="http://schemas.openxmlformats.org/drawingml/2006/main">
            <a:r>
              <a:t>tzdata : Support de dépendance. Base de fuseaux horaires pour environnements sans tzdata système</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urllib3 : Support de dépendance. Transport HTTP bas niveau de Requests installé</a:t>
            </a:r>
          </a:p>
          <a:p xmlns:a="http://schemas.openxmlformats.org/drawingml/2006/main">
            <a:r>
              <a:t>uuid_utils : Support de dépendance. Génération d’identifiants accélérée par dépendances</a:t>
            </a:r>
          </a:p>
          <a:p xmlns:a="http://schemas.openxmlformats.org/drawingml/2006/main">
            <a:r>
              <a:t>uvicorn : Usage direct. Serveur ASGI qui expose l’API locale FastAPI</a:t>
            </a:r>
          </a:p>
          <a:p xmlns:a="http://schemas.openxmlformats.org/drawingml/2006/main">
            <a:r>
              <a:t>websockets : Support de dépendance. Transport WebSocket optionnel sous serveur ASGI</a:t>
            </a:r>
          </a:p>
          <a:p xmlns:a="http://schemas.openxmlformats.org/drawingml/2006/main">
            <a:r>
              <a:t>wrapt : Support de dépendance. Décorateurs/proxies employés par bibliothèques de télémétrie</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xxhash : Support de dépendance. Hachage rapide de support pour dépendances installées</a:t>
            </a:r>
          </a:p>
          <a:p xmlns:a="http://schemas.openxmlformats.org/drawingml/2006/main">
            <a:r>
              <a:t>zstandard : Support de dépendance. Compression Zstandard pour formats de dépendances</a:t>
            </a:r>
          </a:p>
          <a:p xmlns:a="http://schemas.openxmlformats.org/drawingml/2006/main">
            <a:r>
              <a:t/>
            </a:r>
          </a:p>
          <a:p xmlns:a="http://schemas.openxmlformats.org/drawingml/2006/main">
            <a:r>
              <a:t>Sources — état du dépôt au 11 octobre 2026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Dépendances directes déclarées. Le graphe transitif complet et ses résolutions sont conservés dans package-lock.json.</a:t>
            </a:r>
          </a:p>
          <a:p xmlns:a="http://schemas.openxmlformats.org/drawingml/2006/main">
            <a:r>
              <a:t>@fontsource-variable/inter : Usage direct.</a:t>
            </a:r>
          </a:p>
          <a:p xmlns:a="http://schemas.openxmlformats.org/drawingml/2006/main">
            <a:r>
              <a:t>@xyflow/react : Usage direct.</a:t>
            </a:r>
          </a:p>
          <a:p xmlns:a="http://schemas.openxmlformats.org/drawingml/2006/main">
            <a:r>
              <a:t>echarts : Usage direct.</a:t>
            </a:r>
          </a:p>
          <a:p xmlns:a="http://schemas.openxmlformats.org/drawingml/2006/main">
            <a:r>
              <a:t>lucide-react : Usage direct.</a:t>
            </a:r>
          </a:p>
          <a:p xmlns:a="http://schemas.openxmlformats.org/drawingml/2006/main">
            <a:r>
              <a:t>maplibre-gl : Usage direct.</a:t>
            </a:r>
          </a:p>
          <a:p xmlns:a="http://schemas.openxmlformats.org/drawingml/2006/main">
            <a:r>
              <a:t/>
            </a:r>
          </a:p>
          <a:p xmlns:a="http://schemas.openxmlformats.org/drawingml/2006/main">
            <a:r>
              <a:t>Sources — état du dépôt au 11 octobre 2026 :</a:t>
            </a:r>
          </a:p>
          <a:p xmlns:a="http://schemas.openxmlformats.org/drawingml/2006/main">
            <a:r>
              <a:t>apps/web/package.json</a:t>
            </a:r>
          </a:p>
          <a:p xmlns:a="http://schemas.openxmlformats.org/drawingml/2006/main">
            <a:r>
              <a:t>apps/web/package-lock.json</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Dépendances directes déclarées. Le graphe transitif complet et ses résolutions sont conservés dans package-lock.json.</a:t>
            </a:r>
          </a:p>
          <a:p xmlns:a="http://schemas.openxmlformats.org/drawingml/2006/main">
            <a:r>
              <a:t>react : Usage direct.</a:t>
            </a:r>
          </a:p>
          <a:p xmlns:a="http://schemas.openxmlformats.org/drawingml/2006/main">
            <a:r>
              <a:t>react-dom : Usage direct.</a:t>
            </a:r>
          </a:p>
          <a:p xmlns:a="http://schemas.openxmlformats.org/drawingml/2006/main">
            <a:r>
              <a:t>@types/react : Développement / QA.</a:t>
            </a:r>
          </a:p>
          <a:p xmlns:a="http://schemas.openxmlformats.org/drawingml/2006/main">
            <a:r>
              <a:t>@types/react-dom : Développement / QA.</a:t>
            </a:r>
          </a:p>
          <a:p xmlns:a="http://schemas.openxmlformats.org/drawingml/2006/main">
            <a:r>
              <a:t>@vitejs/plugin-react : Développement / QA.</a:t>
            </a:r>
          </a:p>
          <a:p xmlns:a="http://schemas.openxmlformats.org/drawingml/2006/main">
            <a:r>
              <a:t/>
            </a:r>
          </a:p>
          <a:p xmlns:a="http://schemas.openxmlformats.org/drawingml/2006/main">
            <a:r>
              <a:t>Sources — état du dépôt au 11 octobre 2026 :</a:t>
            </a:r>
          </a:p>
          <a:p xmlns:a="http://schemas.openxmlformats.org/drawingml/2006/main">
            <a:r>
              <a:t>apps/web/package.json</a:t>
            </a:r>
          </a:p>
          <a:p xmlns:a="http://schemas.openxmlformats.org/drawingml/2006/main">
            <a:r>
              <a:t>apps/web/package-lock.json</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Dépendances directes déclarées. Le graphe transitif complet et ses résolutions sont conservés dans package-lock.json.</a:t>
            </a:r>
          </a:p>
          <a:p xmlns:a="http://schemas.openxmlformats.org/drawingml/2006/main">
            <a:r>
              <a:t>prettier : Installé, sans usage métier direct.</a:t>
            </a:r>
          </a:p>
          <a:p xmlns:a="http://schemas.openxmlformats.org/drawingml/2006/main">
            <a:r>
              <a:t>typescript : Développement / QA.</a:t>
            </a:r>
          </a:p>
          <a:p xmlns:a="http://schemas.openxmlformats.org/drawingml/2006/main">
            <a:r>
              <a:t>vite : Développement / QA.</a:t>
            </a:r>
          </a:p>
          <a:p xmlns:a="http://schemas.openxmlformats.org/drawingml/2006/main">
            <a:r>
              <a:t>vitest : Développement / QA.</a:t>
            </a:r>
          </a:p>
          <a:p xmlns:a="http://schemas.openxmlformats.org/drawingml/2006/main">
            <a:r>
              <a:t/>
            </a:r>
          </a:p>
          <a:p xmlns:a="http://schemas.openxmlformats.org/drawingml/2006/main">
            <a:r>
              <a:t>Sources — état du dépôt au 11 octobre 2026 :</a:t>
            </a:r>
          </a:p>
          <a:p xmlns:a="http://schemas.openxmlformats.org/drawingml/2006/main">
            <a:r>
              <a:t>apps/web/package.json</a:t>
            </a:r>
          </a:p>
          <a:p xmlns:a="http://schemas.openxmlformats.org/drawingml/2006/main">
            <a:r>
              <a:t>apps/web/package-lock.json</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Dépendances directes déclarées. Le graphe transitif complet et ses résolutions sont conservés dans package-lock.json.</a:t>
            </a:r>
          </a:p>
          <a:p xmlns:a="http://schemas.openxmlformats.org/drawingml/2006/main">
            <a:r>
              <a:t>@axe-core/playwright : Développement / QA.</a:t>
            </a:r>
          </a:p>
          <a:p xmlns:a="http://schemas.openxmlformats.org/drawingml/2006/main">
            <a:r>
              <a:t>@playwright/test : Développement / QA.</a:t>
            </a:r>
          </a:p>
          <a:p xmlns:a="http://schemas.openxmlformats.org/drawingml/2006/main">
            <a:r>
              <a:t>json-schema-to-typescript : Installé, sans usage métier direct.</a:t>
            </a:r>
          </a:p>
          <a:p xmlns:a="http://schemas.openxmlformats.org/drawingml/2006/main">
            <a:r>
              <a:t/>
            </a:r>
          </a:p>
          <a:p xmlns:a="http://schemas.openxmlformats.org/drawingml/2006/main">
            <a:r>
              <a:t>Sources — état du dépôt au 11 octobre 2026 :</a:t>
            </a:r>
          </a:p>
          <a:p xmlns:a="http://schemas.openxmlformats.org/drawingml/2006/main">
            <a:r>
              <a:t>qa/package.json</a:t>
            </a:r>
          </a:p>
          <a:p xmlns:a="http://schemas.openxmlformats.org/drawingml/2006/main">
            <a:r>
              <a:t>qa/package-lock.json</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3b82c6259d4d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3035aa924b45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311dd1922e4b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8f33f38c8d4a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4d93caca6343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da2ad89cf541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DD771-76B1-4378-8EC1-521EE999E8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9BD818-F9AF-484E-B59F-27C17B6045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0AA0D1-E946-461F-8D89-95B855085F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AB2C4-D9F2-4558-BA3E-1026B98CE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F045DC-C5FD-4192-B00A-751EEF1B12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4678CD-B849-457A-A582-174E4435A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128E26-D3F2-44E3-A751-88D2CF472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E128C9-560D-44F5-91A3-857FE47EB7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37538-E8BB-4FD2-93A4-9FA92976B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8C46EF-6248-4725-8D08-240DF918DB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3cc8ba3d864149" /><Relationship Type="http://schemas.openxmlformats.org/officeDocument/2006/relationships/slideLayout" Target="/ppt/slideLayouts/slideLayout1.xml" Id="Rc10491a6d75144e3" /><Relationship Type="http://schemas.openxmlformats.org/officeDocument/2006/relationships/slideLayout" Target="/ppt/slideLayouts/slideLayout2.xml" Id="R9174871077114fee" /><Relationship Type="http://schemas.openxmlformats.org/officeDocument/2006/relationships/slideLayout" Target="/ppt/slideLayouts/slideLayout3.xml" Id="Ra7a39ecbdfc04258" /><Relationship Type="http://schemas.openxmlformats.org/officeDocument/2006/relationships/slideLayout" Target="/ppt/slideLayouts/slideLayout4.xml" Id="R247a683c3a5f4498" /><Relationship Type="http://schemas.openxmlformats.org/officeDocument/2006/relationships/slideLayout" Target="/ppt/slideLayouts/slideLayout5.xml" Id="R5b1c4cc8839f4283" /><Relationship Type="http://schemas.openxmlformats.org/officeDocument/2006/relationships/slideLayout" Target="/ppt/slideLayouts/slideLayout6.xml" Id="R4975dfe0fd1e48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0491a6d75144e3"/>
    <p:sldLayoutId xmlns:r="http://schemas.openxmlformats.org/officeDocument/2006/relationships" id="2147483650" r:id="R9174871077114fee"/>
    <p:sldLayoutId xmlns:r="http://schemas.openxmlformats.org/officeDocument/2006/relationships" id="2147483651" r:id="Ra7a39ecbdfc04258"/>
    <p:sldLayoutId xmlns:r="http://schemas.openxmlformats.org/officeDocument/2006/relationships" id="2147483652" r:id="R247a683c3a5f4498"/>
    <p:sldLayoutId xmlns:r="http://schemas.openxmlformats.org/officeDocument/2006/relationships" id="2147483653" r:id="R5b1c4cc8839f4283"/>
    <p:sldLayoutId xmlns:r="http://schemas.openxmlformats.org/officeDocument/2006/relationships" id="2147483654" r:id="R4975dfe0fd1e48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97864275ad48f7" /><Relationship Type="http://schemas.openxmlformats.org/officeDocument/2006/relationships/notesSlide" Target="/ppt/notesSlides/notesSlide1.xml" Id="R528e633645d642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5b7bf6200743da" /><Relationship Type="http://schemas.openxmlformats.org/officeDocument/2006/relationships/notesSlide" Target="/ppt/notesSlides/notesSlide2.xml" Id="R4c1e1c79ed8444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ccbde314dd4741" /><Relationship Type="http://schemas.openxmlformats.org/officeDocument/2006/relationships/notesSlide" Target="/ppt/notesSlides/notesSlide3.xml" Id="R6c044834a92640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a0c75f13be4996" /><Relationship Type="http://schemas.openxmlformats.org/officeDocument/2006/relationships/notesSlide" Target="/ppt/notesSlides/notesSlide4.xml" Id="R15401a6c1bb94d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41fe403149439a" /><Relationship Type="http://schemas.openxmlformats.org/officeDocument/2006/relationships/notesSlide" Target="/ppt/notesSlides/notesSlide5.xml" Id="R8b08d5aaf58c47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92773ca78904563" /><Relationship Type="http://schemas.openxmlformats.org/officeDocument/2006/relationships/notesSlide" Target="/ppt/notesSlides/notesSlide6.xml" Id="R3891ea1a574540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d9f7f940004c5a" /><Relationship Type="http://schemas.openxmlformats.org/officeDocument/2006/relationships/notesSlide" Target="/ppt/notesSlides/notesSlide7.xml" Id="Rd78d20e70ad640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51e78f24d84ab4" /><Relationship Type="http://schemas.openxmlformats.org/officeDocument/2006/relationships/notesSlide" Target="/ppt/notesSlides/notesSlide8.xml" Id="R15f4e61092fd4c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4e848303d44eb5" /><Relationship Type="http://schemas.openxmlformats.org/officeDocument/2006/relationships/notesSlide" Target="/ppt/notesSlides/notesSlide9.xml" Id="Ra6f86a5accb941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d7c4d237db4687" /><Relationship Type="http://schemas.openxmlformats.org/officeDocument/2006/relationships/notesSlide" Target="/ppt/notesSlides/notesSlide10.xml" Id="R094f87c615bf4d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6f91a338f44deb" /><Relationship Type="http://schemas.openxmlformats.org/officeDocument/2006/relationships/notesSlide" Target="/ppt/notesSlides/notesSlide11.xml" Id="R80f517880a8d48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9cea8097dbb4893" /><Relationship Type="http://schemas.openxmlformats.org/officeDocument/2006/relationships/notesSlide" Target="/ppt/notesSlides/notesSlide12.xml" Id="Rc38b433ecabf48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c922a2d21d54501" /><Relationship Type="http://schemas.openxmlformats.org/officeDocument/2006/relationships/notesSlide" Target="/ppt/notesSlides/notesSlide13.xml" Id="Rff72ff9f4a5442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50c75472a214461" /><Relationship Type="http://schemas.openxmlformats.org/officeDocument/2006/relationships/notesSlide" Target="/ppt/notesSlides/notesSlide14.xml" Id="R1e3e3c38b2b44c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ba05c69ec9b469b" /><Relationship Type="http://schemas.openxmlformats.org/officeDocument/2006/relationships/notesSlide" Target="/ppt/notesSlides/notesSlide15.xml" Id="R61c020d9abe040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8c54e98a3243e4" /><Relationship Type="http://schemas.openxmlformats.org/officeDocument/2006/relationships/notesSlide" Target="/ppt/notesSlides/notesSlide16.xml" Id="Rc62d33074db048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251f3288add4fbf" /><Relationship Type="http://schemas.openxmlformats.org/officeDocument/2006/relationships/notesSlide" Target="/ppt/notesSlides/notesSlide17.xml" Id="R14c8bc65fa6048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21d9be6d57484e" /><Relationship Type="http://schemas.openxmlformats.org/officeDocument/2006/relationships/notesSlide" Target="/ppt/notesSlides/notesSlide18.xml" Id="Rae00107aa59247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921c76d502c408d" /><Relationship Type="http://schemas.openxmlformats.org/officeDocument/2006/relationships/notesSlide" Target="/ppt/notesSlides/notesSlide19.xml" Id="R8f3f291ee3424b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db6ac6f94ea4ac3" /><Relationship Type="http://schemas.openxmlformats.org/officeDocument/2006/relationships/notesSlide" Target="/ppt/notesSlides/notesSlide20.xml" Id="R99f5ccd5ac4741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af2146328084630" /><Relationship Type="http://schemas.openxmlformats.org/officeDocument/2006/relationships/notesSlide" Target="/ppt/notesSlides/notesSlide21.xml" Id="Rd2e7cb4a2c0c42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59bcb4b5190417e" /><Relationship Type="http://schemas.openxmlformats.org/officeDocument/2006/relationships/notesSlide" Target="/ppt/notesSlides/notesSlide22.xml" Id="Rce65faf1d06e44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43842f219f8408f" /><Relationship Type="http://schemas.openxmlformats.org/officeDocument/2006/relationships/notesSlide" Target="/ppt/notesSlides/notesSlide23.xml" Id="R19d599f308c842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118106a99d3471b" /><Relationship Type="http://schemas.openxmlformats.org/officeDocument/2006/relationships/notesSlide" Target="/ppt/notesSlides/notesSlide24.xml" Id="R83cfce36061f4ad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20adaf72251457f" /><Relationship Type="http://schemas.openxmlformats.org/officeDocument/2006/relationships/notesSlide" Target="/ppt/notesSlides/notesSlide25.xml" Id="Rb843e6943a92461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6edfd9e3e6e469d" /><Relationship Type="http://schemas.openxmlformats.org/officeDocument/2006/relationships/notesSlide" Target="/ppt/notesSlides/notesSlide26.xml" Id="Rfdec3c6e463246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8216c6015884cd6" /><Relationship Type="http://schemas.openxmlformats.org/officeDocument/2006/relationships/notesSlide" Target="/ppt/notesSlides/notesSlide27.xml" Id="Rad03b9b89313427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9d6ebf226394fa2" /><Relationship Type="http://schemas.openxmlformats.org/officeDocument/2006/relationships/notesSlide" Target="/ppt/notesSlides/notesSlide28.xml" Id="Re02bbb51a2be4bf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f846816fd594693" /><Relationship Type="http://schemas.openxmlformats.org/officeDocument/2006/relationships/notesSlide" Target="/ppt/notesSlides/notesSlide29.xml" Id="R36a90eb6ab4348f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eff57efc9f545ce" /><Relationship Type="http://schemas.openxmlformats.org/officeDocument/2006/relationships/notesSlide" Target="/ppt/notesSlides/notesSlide30.xml" Id="R74226fe0c4e342c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b2a6b01ce504d71" /><Relationship Type="http://schemas.openxmlformats.org/officeDocument/2006/relationships/notesSlide" Target="/ppt/notesSlides/notesSlide31.xml" Id="Rd8b811555a9a43b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23df4dff56d43c3" /><Relationship Type="http://schemas.openxmlformats.org/officeDocument/2006/relationships/notesSlide" Target="/ppt/notesSlides/notesSlide32.xml" Id="Rcbc8e0ad98e6439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af0040d8d774144" /><Relationship Type="http://schemas.openxmlformats.org/officeDocument/2006/relationships/notesSlide" Target="/ppt/notesSlides/notesSlide33.xml" Id="R989dbaaa651b43c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dee146242de4324" /><Relationship Type="http://schemas.openxmlformats.org/officeDocument/2006/relationships/notesSlide" Target="/ppt/notesSlides/notesSlide34.xml" Id="Rb731807a419c4c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f2e4216f82947fb" /><Relationship Type="http://schemas.openxmlformats.org/officeDocument/2006/relationships/notesSlide" Target="/ppt/notesSlides/notesSlide35.xml" Id="R5c9c056fe0d0478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29dc60caf68474a" /><Relationship Type="http://schemas.openxmlformats.org/officeDocument/2006/relationships/notesSlide" Target="/ppt/notesSlides/notesSlide36.xml" Id="R4e56db2854de4bc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05dd686e4414a21" /><Relationship Type="http://schemas.openxmlformats.org/officeDocument/2006/relationships/notesSlide" Target="/ppt/notesSlides/notesSlide37.xml" Id="Rba34f30600ad41c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dea892248ca4ea3" /><Relationship Type="http://schemas.openxmlformats.org/officeDocument/2006/relationships/notesSlide" Target="/ppt/notesSlides/notesSlide38.xml" Id="R07ba32f3572e43c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62557e4bf7e4c10" /><Relationship Type="http://schemas.openxmlformats.org/officeDocument/2006/relationships/notesSlide" Target="/ppt/notesSlides/notesSlide39.xml" Id="Ra2bcce52b5f04dc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8c91dd2d70b41f1" /><Relationship Type="http://schemas.openxmlformats.org/officeDocument/2006/relationships/notesSlide" Target="/ppt/notesSlides/notesSlide40.xml" Id="R9959e33d942b47f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76e196a34a54bd7" /><Relationship Type="http://schemas.openxmlformats.org/officeDocument/2006/relationships/notesSlide" Target="/ppt/notesSlides/notesSlide41.xml" Id="R9db7586295d74a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2c2945b28a94a57" /><Relationship Type="http://schemas.openxmlformats.org/officeDocument/2006/relationships/notesSlide" Target="/ppt/notesSlides/notesSlide42.xml" Id="Ra6cc38db0c304b4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13915585e184ede" /><Relationship Type="http://schemas.openxmlformats.org/officeDocument/2006/relationships/notesSlide" Target="/ppt/notesSlides/notesSlide43.xml" Id="R4494ce100a994aa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8b3ff300a15472e" /><Relationship Type="http://schemas.openxmlformats.org/officeDocument/2006/relationships/notesSlide" Target="/ppt/notesSlides/notesSlide44.xml" Id="R69599d9b54fa4c0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eee53566694462f" /><Relationship Type="http://schemas.openxmlformats.org/officeDocument/2006/relationships/notesSlide" Target="/ppt/notesSlides/notesSlide45.xml" Id="R6ff553309a7749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644f932745c413f" /><Relationship Type="http://schemas.openxmlformats.org/officeDocument/2006/relationships/notesSlide" Target="/ppt/notesSlides/notesSlide46.xml" Id="R759749c28f024d6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172bc8bb0ca4fb7" /><Relationship Type="http://schemas.openxmlformats.org/officeDocument/2006/relationships/notesSlide" Target="/ppt/notesSlides/notesSlide47.xml" Id="R25ae37fc82fa49d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010c99620c04da9" /><Relationship Type="http://schemas.openxmlformats.org/officeDocument/2006/relationships/notesSlide" Target="/ppt/notesSlides/notesSlide48.xml" Id="Rb3a4901692cf481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13307c9cfd34306" /><Relationship Type="http://schemas.openxmlformats.org/officeDocument/2006/relationships/notesSlide" Target="/ppt/notesSlides/notesSlide49.xml" Id="R9cbaa4d89f1e4a8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08e9dd055234d96" /><Relationship Type="http://schemas.openxmlformats.org/officeDocument/2006/relationships/notesSlide" Target="/ppt/notesSlides/notesSlide50.xml" Id="R958853c0e3e145f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3e3c854d3fad494f" /><Relationship Type="http://schemas.openxmlformats.org/officeDocument/2006/relationships/notesSlide" Target="/ppt/notesSlides/notesSlide51.xml" Id="Rc1517c6bea2a43f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c251a65eb8d4662" /><Relationship Type="http://schemas.openxmlformats.org/officeDocument/2006/relationships/notesSlide" Target="/ppt/notesSlides/notesSlide52.xml" Id="R307e12055f5f486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bc4cec9924a4542" /><Relationship Type="http://schemas.openxmlformats.org/officeDocument/2006/relationships/notesSlide" Target="/ppt/notesSlides/notesSlide53.xml" Id="R1ee7ecfd9b824f6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3edfa866e9774eda" /><Relationship Type="http://schemas.openxmlformats.org/officeDocument/2006/relationships/notesSlide" Target="/ppt/notesSlides/notesSlide54.xml" Id="R46e184876fc946a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dd5626abd6ea409e" /><Relationship Type="http://schemas.openxmlformats.org/officeDocument/2006/relationships/notesSlide" Target="/ppt/notesSlides/notesSlide55.xml" Id="R03cadbc5f15649f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023dbdd566042ac" /><Relationship Type="http://schemas.openxmlformats.org/officeDocument/2006/relationships/notesSlide" Target="/ppt/notesSlides/notesSlide56.xml" Id="R86c053b2c53f41e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b869f30f0c44d46" /><Relationship Type="http://schemas.openxmlformats.org/officeDocument/2006/relationships/notesSlide" Target="/ppt/notesSlides/notesSlide57.xml" Id="R1d6f8c66cde646c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accd00514acc4881" /><Relationship Type="http://schemas.openxmlformats.org/officeDocument/2006/relationships/notesSlide" Target="/ppt/notesSlides/notesSlide58.xml" Id="R8e0a5764412f460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c81b5a4932034bba" /><Relationship Type="http://schemas.openxmlformats.org/officeDocument/2006/relationships/notesSlide" Target="/ppt/notesSlides/notesSlide59.xml" Id="Rf82da4d570f545b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aa4f44cf7074c86" /><Relationship Type="http://schemas.openxmlformats.org/officeDocument/2006/relationships/notesSlide" Target="/ppt/notesSlides/notesSlide60.xml" Id="R4e8b3d574b5c45f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9f7059224f2c47db" /><Relationship Type="http://schemas.openxmlformats.org/officeDocument/2006/relationships/notesSlide" Target="/ppt/notesSlides/notesSlide61.xml" Id="Rdc5d634a9e344e8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31e56679a4374b80" /><Relationship Type="http://schemas.openxmlformats.org/officeDocument/2006/relationships/notesSlide" Target="/ppt/notesSlides/notesSlide62.xml" Id="Rd459d3a1333f48d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f65ef24d7ca844ec" /><Relationship Type="http://schemas.openxmlformats.org/officeDocument/2006/relationships/notesSlide" Target="/ppt/notesSlides/notesSlide63.xml" Id="R3eb78ea9ce844dd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65ba502e5fd8472d" /><Relationship Type="http://schemas.openxmlformats.org/officeDocument/2006/relationships/notesSlide" Target="/ppt/notesSlides/notesSlide64.xml" Id="Rb1d2a10d07ac4cd6" /></Relationships>
</file>

<file path=ppt/slides/slide1.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9DA191-83A5-421C-8D6F-4CFB4A7AAB2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B5DED7"/>
                </a:solidFill>
                <a:latin typeface="Arial"/>
                <a:ea typeface="Arial"/>
                <a:cs typeface="Arial"/>
              </a:defRPr>
            </a:defPPr>
          </a:lstStyle>
          <a:p xmlns:a="http://schemas.openxmlformats.org/drawingml/2006/main">
            <a:pPr>
              <a:defRPr sz="1200" b="1">
                <a:solidFill>
                  <a:srgbClr val="B5DED7"/>
                </a:solidFill>
                <a:latin typeface="Arial"/>
                <a:ea typeface="Arial"/>
                <a:cs typeface="Arial"/>
              </a:defRPr>
            </a:pPr>
            <a:r>
              <a:rPr sz="1200" b="1">
                <a:solidFill>
                  <a:srgbClr val="B5DED7"/>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9714827-5B16-4A29-B5B5-48CC802407A4}"/>
              </a:ext>
            </a:extLst>
          </p:cNvPr>
          <p:cNvSpPr>
            <a:spLocks xmlns:a="http://schemas.openxmlformats.org/drawingml/2006/main" noGrp="1"/>
          </p:cNvSpPr>
          <p:nvPr/>
        </p:nvSpPr>
        <p:spPr>
          <a:xfrm xmlns:a="http://schemas.openxmlformats.org/drawingml/2006/main">
            <a:off x="609600" y="14382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genesis</a:t>
            </a:r>
          </a:p>
        </p:txBody>
      </p:sp>
      <p:sp>
        <p:nvSpPr>
          <p:cNvPr id="3" name="">
            <a:extLst xmlns:a="http://schemas.openxmlformats.org/drawingml/2006/main">
              <a:ext uri="{FF2B5EF4-FFF2-40B4-BE49-F238E27FC236}">
                <a16:creationId xmlns:a16="http://schemas.microsoft.com/office/drawing/2014/main" id="{74A3AA28-4D3E-420B-A130-BFF6682C4DF1}"/>
              </a:ext>
            </a:extLst>
          </p:cNvPr>
          <p:cNvSpPr>
            <a:spLocks xmlns:a="http://schemas.openxmlformats.org/drawingml/2006/main" noGrp="1"/>
          </p:cNvSpPr>
          <p:nvPr/>
        </p:nvSpPr>
        <p:spPr>
          <a:xfrm xmlns:a="http://schemas.openxmlformats.org/drawingml/2006/main">
            <a:off x="647700" y="2667000"/>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Architecture, technologies</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et fonctionnement</a:t>
            </a:r>
          </a:p>
        </p:txBody>
      </p:sp>
      <p:sp>
        <p:nvSpPr>
          <p:cNvPr id="4" name="">
            <a:extLst xmlns:a="http://schemas.openxmlformats.org/drawingml/2006/main">
              <a:ext uri="{FF2B5EF4-FFF2-40B4-BE49-F238E27FC236}">
                <a16:creationId xmlns:a16="http://schemas.microsoft.com/office/drawing/2014/main" id="{47B6F337-4621-4516-B302-8D4504CF2EFA}"/>
              </a:ext>
            </a:extLst>
          </p:cNvPr>
          <p:cNvSpPr>
            <a:spLocks xmlns:a="http://schemas.openxmlformats.org/drawingml/2006/main" noGrp="1"/>
          </p:cNvSpPr>
          <p:nvPr/>
        </p:nvSpPr>
        <p:spPr>
          <a:xfrm xmlns:a="http://schemas.openxmlformats.org/drawingml/2006/main">
            <a:off x="647700" y="4619625"/>
            <a:ext cx="962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5DED7"/>
                </a:solidFill>
                <a:latin typeface="Arial"/>
                <a:ea typeface="Arial"/>
                <a:cs typeface="Arial"/>
              </a:defRPr>
            </a:defPPr>
          </a:lstStyle>
          <a:p xmlns:a="http://schemas.openxmlformats.org/drawingml/2006/main">
            <a:pPr>
              <a:defRPr sz="1875" b="0">
                <a:solidFill>
                  <a:srgbClr val="B5DED7"/>
                </a:solidFill>
                <a:latin typeface="Arial"/>
                <a:ea typeface="Arial"/>
                <a:cs typeface="Arial"/>
              </a:defRPr>
            </a:pPr>
            <a:r>
              <a:rPr sz="1875" b="0">
                <a:solidFill>
                  <a:srgbClr val="B5DED7"/>
                </a:solidFill>
                <a:latin typeface="Arial"/>
                <a:ea typeface="Arial"/>
                <a:cs typeface="Arial"/>
              </a:rPr>
              <a:t>Observatoire multiagents pour la logistique montréalaise</a:t>
            </a:r>
          </a:p>
          <a:p xmlns:a="http://schemas.openxmlformats.org/drawingml/2006/main">
            <a:pPr>
              <a:defRPr sz="1875" b="0">
                <a:solidFill>
                  <a:srgbClr val="B5DED7"/>
                </a:solidFill>
                <a:latin typeface="Arial"/>
                <a:ea typeface="Arial"/>
                <a:cs typeface="Arial"/>
              </a:defRPr>
            </a:pPr>
            <a:r>
              <a:rPr sz="1875" b="0">
                <a:solidFill>
                  <a:srgbClr val="B5DED7"/>
                </a:solidFill>
                <a:latin typeface="Arial"/>
                <a:ea typeface="Arial"/>
                <a:cs typeface="Arial"/>
              </a:rPr>
              <a:t>Dossier technique · 11 octobre 2026</a:t>
            </a:r>
          </a:p>
        </p:txBody>
      </p:sp>
      <p:sp>
        <p:nvSpPr>
          <p:cNvPr id="5" name="">
            <a:extLst xmlns:a="http://schemas.openxmlformats.org/drawingml/2006/main">
              <a:ext uri="{FF2B5EF4-FFF2-40B4-BE49-F238E27FC236}">
                <a16:creationId xmlns:a16="http://schemas.microsoft.com/office/drawing/2014/main" id="{5AD531BC-210F-4BB6-9F45-9AFA8D1458C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01</a:t>
            </a:r>
          </a:p>
        </p:txBody>
      </p:sp>
    </p:spTree>
    <p:extLst>
      <p:ext uri="{BB962C8B-B14F-4D97-AF65-F5344CB8AC3E}">
        <p14:creationId xmlns:p14="http://schemas.microsoft.com/office/powerpoint/2010/main" val="282065504"/>
      </p:ext>
    </p:extLst>
  </p:cSld>
</p:sld>
</file>

<file path=ppt/slides/slide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E22201-1843-4992-B6A5-5C22F3318044}"/>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10CADF00-CFFE-495C-898C-A51049D47B38}"/>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Le problème traité</a:t>
            </a:r>
          </a:p>
        </p:txBody>
      </p:sp>
      <p:sp>
        <p:nvSpPr>
          <p:cNvPr id="3" name="">
            <a:extLst xmlns:a="http://schemas.openxmlformats.org/drawingml/2006/main">
              <a:ext uri="{FF2B5EF4-FFF2-40B4-BE49-F238E27FC236}">
                <a16:creationId xmlns:a16="http://schemas.microsoft.com/office/drawing/2014/main" id="{98880A21-9A0C-4892-87C0-7B6479F6DE7B}"/>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D9560F4-17E2-4979-9789-BEF0D08E7476}"/>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Décider comment répartir les livraisons</a:t>
            </a:r>
          </a:p>
        </p:txBody>
      </p:sp>
      <p:sp>
        <p:nvSpPr>
          <p:cNvPr id="5" name="">
            <a:extLst xmlns:a="http://schemas.openxmlformats.org/drawingml/2006/main">
              <a:ext uri="{FF2B5EF4-FFF2-40B4-BE49-F238E27FC236}">
                <a16:creationId xmlns:a16="http://schemas.microsoft.com/office/drawing/2014/main" id="{0853A05D-EFA8-4CBF-BDBC-6263F8B68C32}"/>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Comparer une tournée partagée, des véhicules séparés et une affectation hybride.</a:t>
            </a:r>
          </a:p>
        </p:txBody>
      </p:sp>
      <p:sp>
        <p:nvSpPr>
          <p:cNvPr id="6" name="">
            <a:extLst xmlns:a="http://schemas.openxmlformats.org/drawingml/2006/main">
              <a:ext uri="{FF2B5EF4-FFF2-40B4-BE49-F238E27FC236}">
                <a16:creationId xmlns:a16="http://schemas.microsoft.com/office/drawing/2014/main" id="{37A8E78A-A4E5-43D6-BC15-F64B9836D8A6}"/>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F6ECF6D-09B1-4CD4-B064-3BE57E689D7E}"/>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Comprendre chaque décision</a:t>
            </a:r>
          </a:p>
        </p:txBody>
      </p:sp>
      <p:sp>
        <p:nvSpPr>
          <p:cNvPr id="8" name="">
            <a:extLst xmlns:a="http://schemas.openxmlformats.org/drawingml/2006/main">
              <a:ext uri="{FF2B5EF4-FFF2-40B4-BE49-F238E27FC236}">
                <a16:creationId xmlns:a16="http://schemas.microsoft.com/office/drawing/2014/main" id="{04165A33-F0DF-4275-866A-FB99EF638906}"/>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Relier le résultat aux agents, aux outils, aux contraintes et au certificat indépendant.</a:t>
            </a:r>
          </a:p>
        </p:txBody>
      </p:sp>
      <p:sp>
        <p:nvSpPr>
          <p:cNvPr id="9" name="">
            <a:extLst xmlns:a="http://schemas.openxmlformats.org/drawingml/2006/main">
              <a:ext uri="{FF2B5EF4-FFF2-40B4-BE49-F238E27FC236}">
                <a16:creationId xmlns:a16="http://schemas.microsoft.com/office/drawing/2014/main" id="{6EF43F85-3D8C-4069-AE3F-431732FB4F0F}"/>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2B02320-12F4-4958-ADE6-B53FA42B192C}"/>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Maîtriser les appels aux modèles</a:t>
            </a:r>
          </a:p>
        </p:txBody>
      </p:sp>
      <p:sp>
        <p:nvSpPr>
          <p:cNvPr id="11" name="">
            <a:extLst xmlns:a="http://schemas.openxmlformats.org/drawingml/2006/main">
              <a:ext uri="{FF2B5EF4-FFF2-40B4-BE49-F238E27FC236}">
                <a16:creationId xmlns:a16="http://schemas.microsoft.com/office/drawing/2014/main" id="{6D5E956D-D890-4DB9-BF4F-422C4458FE7E}"/>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Voir les tokens et coûts par appel, agent, modèle et ensemble des opérations.</a:t>
            </a:r>
          </a:p>
        </p:txBody>
      </p:sp>
      <p:sp>
        <p:nvSpPr>
          <p:cNvPr id="12" name="">
            <a:extLst xmlns:a="http://schemas.openxmlformats.org/drawingml/2006/main">
              <a:ext uri="{FF2B5EF4-FFF2-40B4-BE49-F238E27FC236}">
                <a16:creationId xmlns:a16="http://schemas.microsoft.com/office/drawing/2014/main" id="{3A0A9581-CE90-455E-884B-CEC95F6D4E3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02</a:t>
            </a:r>
          </a:p>
        </p:txBody>
      </p:sp>
    </p:spTree>
    <p:extLst>
      <p:ext uri="{BB962C8B-B14F-4D97-AF65-F5344CB8AC3E}">
        <p14:creationId xmlns:p14="http://schemas.microsoft.com/office/powerpoint/2010/main" val="1678748796"/>
      </p:ext>
    </p:extLst>
  </p:cSld>
</p:sld>
</file>

<file path=ppt/slides/slide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A2A41A-168D-445B-AA90-D25CC4DFB99E}"/>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46884FA8-9291-4CE2-A9BA-D75E5C3E3D7D}"/>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Ce qui est réel, simulé ou à construire</a:t>
            </a:r>
          </a:p>
        </p:txBody>
      </p:sp>
      <p:graphicFrame>
        <p:nvGraphicFramePr>
          <p:cNvPr id="3" name="">
            <a:extLst xmlns:a="http://schemas.openxmlformats.org/drawingml/2006/main">
              <a:ext uri="{FF2B5EF4-FFF2-40B4-BE49-F238E27FC236}">
                <a16:creationId xmlns:a16="http://schemas.microsoft.com/office/drawing/2014/main" id="{DA68C707-2800-4FD3-B655-BD71A0022DA5}"/>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Implémenté</a:t>
                      </a:r>
                    </a:p>
                  </a:txBody>
                  <a:tcPr marL="91440" marR="91440" marT="45720" marB="45720">
                    <a:solidFill>
                      <a:srgbClr val="FFFFFF"/>
                    </a:solidFill>
                  </a:tcPr>
                </a:tc>
                <a:tc>
                  <a:txBody>
                    <a:bodyPr/>
                    <a:lstStyle/>
                    <a:p>
                      <a:r>
                        <a:rPr sz="1725" b="0">
                          <a:solidFill>
                            <a:srgbClr val="173039"/>
                          </a:solidFill>
                          <a:latin typeface="Arial"/>
                          <a:ea typeface="Arial"/>
                          <a:cs typeface="Arial"/>
                        </a:rPr>
                        <a:t>API, worker durable, solveur, certificats, budget et interface locale.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Données routières réelles</a:t>
                      </a:r>
                    </a:p>
                  </a:txBody>
                  <a:tcPr marL="91440" marR="91440" marT="45720" marB="45720">
                    <a:solidFill>
                      <a:srgbClr val="EAF0F1"/>
                    </a:solidFill>
                  </a:tcPr>
                </a:tc>
                <a:tc>
                  <a:txBody>
                    <a:bodyPr/>
                    <a:lstStyle/>
                    <a:p>
                      <a:r>
                        <a:rPr sz="1725" b="0">
                          <a:solidFill>
                            <a:srgbClr val="173039"/>
                          </a:solidFill>
                          <a:latin typeface="Arial"/>
                          <a:ea typeface="Arial"/>
                          <a:cs typeface="Arial"/>
                        </a:rPr>
                        <a:t>Adresses et routes issues de services cartographiques externes.</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Simulé</a:t>
                      </a:r>
                    </a:p>
                  </a:txBody>
                  <a:tcPr marL="91440" marR="91440" marT="45720" marB="45720">
                    <a:solidFill>
                      <a:srgbClr val="FFFFFF"/>
                    </a:solidFill>
                  </a:tcPr>
                </a:tc>
                <a:tc>
                  <a:txBody>
                    <a:bodyPr/>
                    <a:lstStyle/>
                    <a:p>
                      <a:r>
                        <a:rPr sz="1725" b="0">
                          <a:solidFill>
                            <a:srgbClr val="173039"/>
                          </a:solidFill>
                          <a:latin typeface="Arial"/>
                          <a:ea typeface="Arial"/>
                          <a:cs typeface="Arial"/>
                        </a:rPr>
                        <a:t>Positions des véhicules, livraisons et temps de parcours exécutés.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À construire pour les clients</a:t>
                      </a:r>
                    </a:p>
                  </a:txBody>
                  <a:tcPr marL="91440" marR="91440" marT="45720" marB="45720">
                    <a:solidFill>
                      <a:srgbClr val="EAF0F1"/>
                    </a:solidFill>
                  </a:tcPr>
                </a:tc>
                <a:tc>
                  <a:txBody>
                    <a:bodyPr/>
                    <a:lstStyle/>
                    <a:p>
                      <a:r>
                        <a:rPr sz="1725" b="0">
                          <a:solidFill>
                            <a:srgbClr val="173039"/>
                          </a:solidFill>
                          <a:latin typeface="Arial"/>
                          <a:ea typeface="Arial"/>
                          <a:cs typeface="Arial"/>
                        </a:rPr>
                        <a:t>Identité, GPS, acceptation conducteur, preuve de livraison et exploitation.</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90DE9B76-B505-4C20-AD65-A00A4A65184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03</a:t>
            </a:r>
          </a:p>
        </p:txBody>
      </p:sp>
    </p:spTree>
    <p:extLst>
      <p:ext uri="{BB962C8B-B14F-4D97-AF65-F5344CB8AC3E}">
        <p14:creationId xmlns:p14="http://schemas.microsoft.com/office/powerpoint/2010/main" val="2016697624"/>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013AAA-1B7B-4EB6-8087-8C9ECBAE8AA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BD503351-8806-4985-9761-F02CDAA44AE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Trois espaces de travail</a:t>
            </a:r>
          </a:p>
        </p:txBody>
      </p:sp>
      <p:graphicFrame>
        <p:nvGraphicFramePr>
          <p:cNvPr id="3" name="">
            <a:extLst xmlns:a="http://schemas.openxmlformats.org/drawingml/2006/main">
              <a:ext uri="{FF2B5EF4-FFF2-40B4-BE49-F238E27FC236}">
                <a16:creationId xmlns:a16="http://schemas.microsoft.com/office/drawing/2014/main" id="{C1A9EE16-F46F-4FD7-BD5B-AF959E5C6C1F}"/>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1133475">
                <a:tc>
                  <a:txBody>
                    <a:bodyPr/>
                    <a:lstStyle/>
                    <a:p>
                      <a:r>
                        <a:rPr sz="1725" b="1">
                          <a:solidFill>
                            <a:srgbClr val="173039"/>
                          </a:solidFill>
                          <a:latin typeface="Arial"/>
                          <a:ea typeface="Arial"/>
                          <a:cs typeface="Arial"/>
                        </a:rPr>
                        <a:t>Opérations</a:t>
                      </a:r>
                    </a:p>
                  </a:txBody>
                  <a:tcPr marL="91440" marR="91440" marT="45720" marB="45720">
                    <a:solidFill>
                      <a:srgbClr val="FFFFFF"/>
                    </a:solidFill>
                  </a:tcPr>
                </a:tc>
                <a:tc>
                  <a:txBody>
                    <a:bodyPr/>
                    <a:lstStyle/>
                    <a:p>
                      <a:r>
                        <a:rPr sz="1725" b="0">
                          <a:solidFill>
                            <a:srgbClr val="173039"/>
                          </a:solidFill>
                          <a:latin typeface="Arial"/>
                          <a:ea typeface="Arial"/>
                          <a:cs typeface="Arial"/>
                        </a:rPr>
                        <a:t>Saisir les adresses, préparer les livraisons et suivre les trajets simulés.</a:t>
                      </a:r>
                    </a:p>
                  </a:txBody>
                  <a:tcPr marL="91440" marR="91440" marT="45720" marB="45720">
                    <a:solidFill>
                      <a:srgbClr val="FFFFFF"/>
                    </a:solidFill>
                  </a:tcPr>
                </a:tc>
              </a:tr>
              <a:tr h="1133475">
                <a:tc>
                  <a:txBody>
                    <a:bodyPr/>
                    <a:lstStyle/>
                    <a:p>
                      <a:r>
                        <a:rPr sz="1725" b="1">
                          <a:solidFill>
                            <a:srgbClr val="173039"/>
                          </a:solidFill>
                          <a:latin typeface="Arial"/>
                          <a:ea typeface="Arial"/>
                          <a:cs typeface="Arial"/>
                        </a:rPr>
                        <a:t>Analytique</a:t>
                      </a:r>
                    </a:p>
                  </a:txBody>
                  <a:tcPr marL="91440" marR="91440" marT="45720" marB="45720">
                    <a:solidFill>
                      <a:srgbClr val="EAF0F1"/>
                    </a:solidFill>
                  </a:tcPr>
                </a:tc>
                <a:tc>
                  <a:txBody>
                    <a:bodyPr/>
                    <a:lstStyle/>
                    <a:p>
                      <a:r>
                        <a:rPr sz="1725" b="0">
                          <a:solidFill>
                            <a:srgbClr val="173039"/>
                          </a:solidFill>
                          <a:latin typeface="Arial"/>
                          <a:ea typeface="Arial"/>
                          <a:cs typeface="Arial"/>
                        </a:rPr>
                        <a:t>Lire les agrégats, le budget global, les graphiques et exporter le CSV.</a:t>
                      </a:r>
                    </a:p>
                  </a:txBody>
                  <a:tcPr marL="91440" marR="91440" marT="45720" marB="45720">
                    <a:solidFill>
                      <a:srgbClr val="EAF0F1"/>
                    </a:solidFill>
                  </a:tcPr>
                </a:tc>
              </a:tr>
              <a:tr h="1133475">
                <a:tc>
                  <a:txBody>
                    <a:bodyPr/>
                    <a:lstStyle/>
                    <a:p>
                      <a:r>
                        <a:rPr sz="1725" b="1">
                          <a:solidFill>
                            <a:srgbClr val="173039"/>
                          </a:solidFill>
                          <a:latin typeface="Arial"/>
                          <a:ea typeface="Arial"/>
                          <a:cs typeface="Arial"/>
                        </a:rPr>
                        <a:t>Agents</a:t>
                      </a:r>
                    </a:p>
                  </a:txBody>
                  <a:tcPr marL="91440" marR="91440" marT="45720" marB="45720">
                    <a:solidFill>
                      <a:srgbClr val="FFFFFF"/>
                    </a:solidFill>
                  </a:tcPr>
                </a:tc>
                <a:tc>
                  <a:txBody>
                    <a:bodyPr/>
                    <a:lstStyle/>
                    <a:p>
                      <a:r>
                        <a:rPr sz="1725" b="0">
                          <a:solidFill>
                            <a:srgbClr val="173039"/>
                          </a:solidFill>
                          <a:latin typeface="Arial"/>
                          <a:ea typeface="Arial"/>
                          <a:cs typeface="Arial"/>
                        </a:rPr>
                        <a:t>Inspecter les appels, résultats, historiques, comparaisons et preuves.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4D70988-1D2F-4540-998C-5DE461C4C2E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04</a:t>
            </a:r>
          </a:p>
        </p:txBody>
      </p:sp>
    </p:spTree>
    <p:extLst>
      <p:ext uri="{BB962C8B-B14F-4D97-AF65-F5344CB8AC3E}">
        <p14:creationId xmlns:p14="http://schemas.microsoft.com/office/powerpoint/2010/main" val="409175560"/>
      </p:ext>
    </p:extLst>
  </p:cSld>
</p:sld>
</file>

<file path=ppt/slides/slide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9EAE09-43CE-4346-8201-09DDD5A6A28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1ED30A6F-3FCE-45F8-BC77-B5D9F9B3F751}"/>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Architecture du profil local</a:t>
            </a:r>
          </a:p>
        </p:txBody>
      </p:sp>
      <p:graphicFrame>
        <p:nvGraphicFramePr>
          <p:cNvPr id="3" name="">
            <a:extLst xmlns:a="http://schemas.openxmlformats.org/drawingml/2006/main">
              <a:ext uri="{FF2B5EF4-FFF2-40B4-BE49-F238E27FC236}">
                <a16:creationId xmlns:a16="http://schemas.microsoft.com/office/drawing/2014/main" id="{177547FC-CF1F-489C-AABE-EF73517E0F90}"/>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Navigateur · port 5173</a:t>
                      </a:r>
                    </a:p>
                  </a:txBody>
                  <a:tcPr marL="91440" marR="91440" marT="45720" marB="45720">
                    <a:solidFill>
                      <a:srgbClr val="FFFFFF"/>
                    </a:solidFill>
                  </a:tcPr>
                </a:tc>
                <a:tc>
                  <a:txBody>
                    <a:bodyPr/>
                    <a:lstStyle/>
                    <a:p>
                      <a:r>
                        <a:rPr sz="1725" b="0">
                          <a:solidFill>
                            <a:srgbClr val="173039"/>
                          </a:solidFill>
                          <a:latin typeface="Arial"/>
                          <a:ea typeface="Arial"/>
                          <a:cs typeface="Arial"/>
                        </a:rPr>
                        <a:t>React / TypeScript : interface, filtres, carte, graphes et appels HTTP.</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API · port 8000</a:t>
                      </a:r>
                    </a:p>
                  </a:txBody>
                  <a:tcPr marL="91440" marR="91440" marT="45720" marB="45720">
                    <a:solidFill>
                      <a:srgbClr val="EAF0F1"/>
                    </a:solidFill>
                  </a:tcPr>
                </a:tc>
                <a:tc>
                  <a:txBody>
                    <a:bodyPr/>
                    <a:lstStyle/>
                    <a:p>
                      <a:r>
                        <a:rPr sz="1725" b="0">
                          <a:solidFill>
                            <a:srgbClr val="173039"/>
                          </a:solidFill>
                          <a:latin typeface="Arial"/>
                          <a:ea typeface="Arial"/>
                          <a:cs typeface="Arial"/>
                        </a:rPr>
                        <a:t>FastAPI / Uvicorn : contrats, lecture, validation et mise en file.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Worker Python</a:t>
                      </a:r>
                    </a:p>
                  </a:txBody>
                  <a:tcPr marL="91440" marR="91440" marT="45720" marB="45720">
                    <a:solidFill>
                      <a:srgbClr val="FFFFFF"/>
                    </a:solidFill>
                  </a:tcPr>
                </a:tc>
                <a:tc>
                  <a:txBody>
                    <a:bodyPr/>
                    <a:lstStyle/>
                    <a:p>
                      <a:r>
                        <a:rPr sz="1725" b="0">
                          <a:solidFill>
                            <a:srgbClr val="173039"/>
                          </a:solidFill>
                          <a:latin typeface="Arial"/>
                          <a:ea typeface="Arial"/>
                          <a:cs typeface="Arial"/>
                        </a:rPr>
                        <a:t>Réclame les tâches, exécute le graphe et conserve ses preuves.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Persistance locale</a:t>
                      </a:r>
                    </a:p>
                  </a:txBody>
                  <a:tcPr marL="91440" marR="91440" marT="45720" marB="45720">
                    <a:solidFill>
                      <a:srgbClr val="EAF0F1"/>
                    </a:solidFill>
                  </a:tcPr>
                </a:tc>
                <a:tc>
                  <a:txBody>
                    <a:bodyPr/>
                    <a:lstStyle/>
                    <a:p>
                      <a:r>
                        <a:rPr sz="1725" b="0">
                          <a:solidFill>
                            <a:srgbClr val="173039"/>
                          </a:solidFill>
                          <a:latin typeface="Arial"/>
                          <a:ea typeface="Arial"/>
                          <a:cs typeface="Arial"/>
                        </a:rPr>
                        <a:t>SQLite via SQLAlchemy + checkpoints LangGraph dans SQLite.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Services externes</a:t>
                      </a:r>
                    </a:p>
                  </a:txBody>
                  <a:tcPr marL="91440" marR="91440" marT="45720" marB="45720">
                    <a:solidFill>
                      <a:srgbClr val="FFFFFF"/>
                    </a:solidFill>
                  </a:tcPr>
                </a:tc>
                <a:tc>
                  <a:txBody>
                    <a:bodyPr/>
                    <a:lstStyle/>
                    <a:p>
                      <a:r>
                        <a:rPr sz="1725" b="0">
                          <a:solidFill>
                            <a:srgbClr val="173039"/>
                          </a:solidFill>
                          <a:latin typeface="Arial"/>
                          <a:ea typeface="Arial"/>
                          <a:cs typeface="Arial"/>
                        </a:rPr>
                        <a:t>Anthropic, géocodage, routes, tuiles; SMTP et Langfuse selon configuration.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33369A6-CBA8-4433-9DA0-82FC951C366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05</a:t>
            </a:r>
          </a:p>
        </p:txBody>
      </p:sp>
    </p:spTree>
    <p:extLst>
      <p:ext uri="{BB962C8B-B14F-4D97-AF65-F5344CB8AC3E}">
        <p14:creationId xmlns:p14="http://schemas.microsoft.com/office/powerpoint/2010/main" val="22133954"/>
      </p:ext>
    </p:extLst>
  </p:cSld>
</p:sld>
</file>

<file path=ppt/slides/slide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9FA94A-54B4-4544-9808-4740557E87B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E3BD351F-598F-478D-B7A3-6FC1FDC98B8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Organisation du dépôt</a:t>
            </a:r>
          </a:p>
        </p:txBody>
      </p:sp>
      <p:graphicFrame>
        <p:nvGraphicFramePr>
          <p:cNvPr id="3" name="">
            <a:extLst xmlns:a="http://schemas.openxmlformats.org/drawingml/2006/main">
              <a:ext uri="{FF2B5EF4-FFF2-40B4-BE49-F238E27FC236}">
                <a16:creationId xmlns:a16="http://schemas.microsoft.com/office/drawing/2014/main" id="{E77CB094-1C7E-4975-857E-E6BFCF90D8F9}"/>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apps/web</a:t>
                      </a:r>
                    </a:p>
                  </a:txBody>
                  <a:tcPr marL="91440" marR="91440" marT="45720" marB="45720">
                    <a:solidFill>
                      <a:srgbClr val="FFFFFF"/>
                    </a:solidFill>
                  </a:tcPr>
                </a:tc>
                <a:tc>
                  <a:txBody>
                    <a:bodyPr/>
                    <a:lstStyle/>
                    <a:p>
                      <a:r>
                        <a:rPr sz="1725" b="0">
                          <a:solidFill>
                            <a:srgbClr val="173039"/>
                          </a:solidFill>
                          <a:latin typeface="Arial"/>
                          <a:ea typeface="Arial"/>
                          <a:cs typeface="Arial"/>
                        </a:rPr>
                        <a:t>Composants React, styles, types, state URL et tests Vitest.</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services/genesis</a:t>
                      </a:r>
                    </a:p>
                  </a:txBody>
                  <a:tcPr marL="91440" marR="91440" marT="45720" marB="45720">
                    <a:solidFill>
                      <a:srgbClr val="EAF0F1"/>
                    </a:solidFill>
                  </a:tcPr>
                </a:tc>
                <a:tc>
                  <a:txBody>
                    <a:bodyPr/>
                    <a:lstStyle/>
                    <a:p>
                      <a:r>
                        <a:rPr sz="1725" b="0">
                          <a:solidFill>
                            <a:srgbClr val="173039"/>
                          </a:solidFill>
                          <a:latin typeface="Arial"/>
                          <a:ea typeface="Arial"/>
                          <a:cs typeface="Arial"/>
                        </a:rPr>
                        <a:t>API, orchestration, solveurs, validation, stockage et fournisseurs.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tests / qa</a:t>
                      </a:r>
                    </a:p>
                  </a:txBody>
                  <a:tcPr marL="91440" marR="91440" marT="45720" marB="45720">
                    <a:solidFill>
                      <a:srgbClr val="FFFFFF"/>
                    </a:solidFill>
                  </a:tcPr>
                </a:tc>
                <a:tc>
                  <a:txBody>
                    <a:bodyPr/>
                    <a:lstStyle/>
                    <a:p>
                      <a:r>
                        <a:rPr sz="1725" b="0">
                          <a:solidFill>
                            <a:srgbClr val="173039"/>
                          </a:solidFill>
                          <a:latin typeface="Arial"/>
                          <a:ea typeface="Arial"/>
                          <a:cs typeface="Arial"/>
                        </a:rPr>
                        <a:t>Tests Python isolés et parcours navigateur avec Playwright / axe.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config / packages/contracts</a:t>
                      </a:r>
                    </a:p>
                  </a:txBody>
                  <a:tcPr marL="91440" marR="91440" marT="45720" marB="45720">
                    <a:solidFill>
                      <a:srgbClr val="EAF0F1"/>
                    </a:solidFill>
                  </a:tcPr>
                </a:tc>
                <a:tc>
                  <a:txBody>
                    <a:bodyPr/>
                    <a:lstStyle/>
                    <a:p>
                      <a:r>
                        <a:rPr sz="1725" b="0">
                          <a:solidFill>
                            <a:srgbClr val="173039"/>
                          </a:solidFill>
                          <a:latin typeface="Arial"/>
                          <a:ea typeface="Arial"/>
                          <a:cs typeface="Arial"/>
                        </a:rPr>
                        <a:t>Tarifs versionnés et contrat OpenAPI exporté.</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docs / experiments</a:t>
                      </a:r>
                    </a:p>
                  </a:txBody>
                  <a:tcPr marL="91440" marR="91440" marT="45720" marB="45720">
                    <a:solidFill>
                      <a:srgbClr val="FFFFFF"/>
                    </a:solidFill>
                  </a:tcPr>
                </a:tc>
                <a:tc>
                  <a:txBody>
                    <a:bodyPr/>
                    <a:lstStyle/>
                    <a:p>
                      <a:r>
                        <a:rPr sz="1725" b="0">
                          <a:solidFill>
                            <a:srgbClr val="173039"/>
                          </a:solidFill>
                          <a:latin typeface="Arial"/>
                          <a:ea typeface="Arial"/>
                          <a:cs typeface="Arial"/>
                        </a:rPr>
                        <a:t>Spécifications, décisions, actions, revues et preuves expérimentales.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276F111-FDFD-48EF-A359-4A7C92124119}"/>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06</a:t>
            </a:r>
          </a:p>
        </p:txBody>
      </p:sp>
    </p:spTree>
    <p:extLst>
      <p:ext uri="{BB962C8B-B14F-4D97-AF65-F5344CB8AC3E}">
        <p14:creationId xmlns:p14="http://schemas.microsoft.com/office/powerpoint/2010/main" val="1241807781"/>
      </p:ext>
    </p:extLst>
  </p:cSld>
</p:sld>
</file>

<file path=ppt/slides/slide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DB38FD-8CB5-4A3E-A51E-A08AC1EE7546}"/>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715517B5-294D-4260-B0F0-BF7DC8F3B701}"/>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React et TypeScript</a:t>
            </a:r>
          </a:p>
        </p:txBody>
      </p:sp>
      <p:sp>
        <p:nvSpPr>
          <p:cNvPr id="3" name="">
            <a:extLst xmlns:a="http://schemas.openxmlformats.org/drawingml/2006/main">
              <a:ext uri="{FF2B5EF4-FFF2-40B4-BE49-F238E27FC236}">
                <a16:creationId xmlns:a16="http://schemas.microsoft.com/office/drawing/2014/main" id="{85161A07-62B4-4BED-AB2A-F78D6CE4CF4C}"/>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737BA3-D012-408E-B917-A03A51CE752B}"/>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Pourquoi React</a:t>
            </a:r>
          </a:p>
        </p:txBody>
      </p:sp>
      <p:sp>
        <p:nvSpPr>
          <p:cNvPr id="5" name="">
            <a:extLst xmlns:a="http://schemas.openxmlformats.org/drawingml/2006/main">
              <a:ext uri="{FF2B5EF4-FFF2-40B4-BE49-F238E27FC236}">
                <a16:creationId xmlns:a16="http://schemas.microsoft.com/office/drawing/2014/main" id="{5575EAC1-FBF7-48B0-B52D-C51645572CA3}"/>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Composer les écrans à partir de composants spécialisés et synchroniser leurs sélections.</a:t>
            </a:r>
          </a:p>
        </p:txBody>
      </p:sp>
      <p:sp>
        <p:nvSpPr>
          <p:cNvPr id="6" name="">
            <a:extLst xmlns:a="http://schemas.openxmlformats.org/drawingml/2006/main">
              <a:ext uri="{FF2B5EF4-FFF2-40B4-BE49-F238E27FC236}">
                <a16:creationId xmlns:a16="http://schemas.microsoft.com/office/drawing/2014/main" id="{85B67322-7277-4259-BF20-C786D2DDB73C}"/>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9231A08-CE90-4650-896B-2CD705FF1547}"/>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Comment l’état circule</a:t>
            </a:r>
          </a:p>
        </p:txBody>
      </p:sp>
      <p:sp>
        <p:nvSpPr>
          <p:cNvPr id="8" name="">
            <a:extLst xmlns:a="http://schemas.openxmlformats.org/drawingml/2006/main">
              <a:ext uri="{FF2B5EF4-FFF2-40B4-BE49-F238E27FC236}">
                <a16:creationId xmlns:a16="http://schemas.microsoft.com/office/drawing/2014/main" id="{5ADF2014-3E6B-4167-ABC5-6BCF8D082A2F}"/>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Les filtres et identifiants vivent dans l’URL; les réponses alimentent les vues locales.</a:t>
            </a:r>
          </a:p>
        </p:txBody>
      </p:sp>
      <p:sp>
        <p:nvSpPr>
          <p:cNvPr id="9" name="">
            <a:extLst xmlns:a="http://schemas.openxmlformats.org/drawingml/2006/main">
              <a:ext uri="{FF2B5EF4-FFF2-40B4-BE49-F238E27FC236}">
                <a16:creationId xmlns:a16="http://schemas.microsoft.com/office/drawing/2014/main" id="{E53B5EFE-9B5B-4F78-BB5D-98B64D4F6BA7}"/>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F05C123-9DD5-45CA-84D2-406D5D68B1AA}"/>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Pourquoi TypeScript</a:t>
            </a:r>
          </a:p>
        </p:txBody>
      </p:sp>
      <p:sp>
        <p:nvSpPr>
          <p:cNvPr id="11" name="">
            <a:extLst xmlns:a="http://schemas.openxmlformats.org/drawingml/2006/main">
              <a:ext uri="{FF2B5EF4-FFF2-40B4-BE49-F238E27FC236}">
                <a16:creationId xmlns:a16="http://schemas.microsoft.com/office/drawing/2014/main" id="{1111EA75-4A1B-4DE2-A3D6-AC85D3F1B7D1}"/>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Vérifier les contrats côté interface, les valeurs nulles et les propriétés des composants.</a:t>
            </a:r>
          </a:p>
        </p:txBody>
      </p:sp>
      <p:sp>
        <p:nvSpPr>
          <p:cNvPr id="12" name="">
            <a:extLst xmlns:a="http://schemas.openxmlformats.org/drawingml/2006/main">
              <a:ext uri="{FF2B5EF4-FFF2-40B4-BE49-F238E27FC236}">
                <a16:creationId xmlns:a16="http://schemas.microsoft.com/office/drawing/2014/main" id="{1188D78E-62AC-4A28-855B-A52630F3652C}"/>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07</a:t>
            </a:r>
          </a:p>
        </p:txBody>
      </p:sp>
    </p:spTree>
    <p:extLst>
      <p:ext uri="{BB962C8B-B14F-4D97-AF65-F5344CB8AC3E}">
        <p14:creationId xmlns:p14="http://schemas.microsoft.com/office/powerpoint/2010/main" val="413196455"/>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0E9EC9-E189-4381-8FFA-56C63D8F9BD3}"/>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864ADAF-8C51-47BA-989B-6D175D8FB5A3}"/>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Bibliothèques de visualisation</a:t>
            </a:r>
          </a:p>
        </p:txBody>
      </p:sp>
      <p:graphicFrame>
        <p:nvGraphicFramePr>
          <p:cNvPr id="3" name="">
            <a:extLst xmlns:a="http://schemas.openxmlformats.org/drawingml/2006/main">
              <a:ext uri="{FF2B5EF4-FFF2-40B4-BE49-F238E27FC236}">
                <a16:creationId xmlns:a16="http://schemas.microsoft.com/office/drawing/2014/main" id="{2A2A5D57-7CF1-4B40-867B-8C19CCAA0E6E}"/>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ECharts 6.1.0</a:t>
                      </a:r>
                    </a:p>
                  </a:txBody>
                  <a:tcPr marL="91440" marR="91440" marT="45720" marB="45720">
                    <a:solidFill>
                      <a:srgbClr val="FFFFFF"/>
                    </a:solidFill>
                  </a:tcPr>
                </a:tc>
                <a:tc>
                  <a:txBody>
                    <a:bodyPr/>
                    <a:lstStyle/>
                    <a:p>
                      <a:r>
                        <a:rPr sz="1725" b="0">
                          <a:solidFill>
                            <a:srgbClr val="173039"/>
                          </a:solidFill>
                          <a:latin typeface="Arial"/>
                          <a:ea typeface="Arial"/>
                          <a:cs typeface="Arial"/>
                        </a:rPr>
                        <a:t>Donuts, barres, séries et distributions; tableaux accessibles en complément.</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React Flow 12.10.0</a:t>
                      </a:r>
                    </a:p>
                  </a:txBody>
                  <a:tcPr marL="91440" marR="91440" marT="45720" marB="45720">
                    <a:solidFill>
                      <a:srgbClr val="EAF0F1"/>
                    </a:solidFill>
                  </a:tcPr>
                </a:tc>
                <a:tc>
                  <a:txBody>
                    <a:bodyPr/>
                    <a:lstStyle/>
                    <a:p>
                      <a:r>
                        <a:rPr sz="1725" b="0">
                          <a:solidFill>
                            <a:srgbClr val="173039"/>
                          </a:solidFill>
                          <a:latin typeface="Arial"/>
                          <a:ea typeface="Arial"/>
                          <a:cs typeface="Arial"/>
                        </a:rPr>
                        <a:t>Graphe des rôles, invocations et transmissions observées.</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MapLibre GL 6.13.0</a:t>
                      </a:r>
                    </a:p>
                  </a:txBody>
                  <a:tcPr marL="91440" marR="91440" marT="45720" marB="45720">
                    <a:solidFill>
                      <a:srgbClr val="FFFFFF"/>
                    </a:solidFill>
                  </a:tcPr>
                </a:tc>
                <a:tc>
                  <a:txBody>
                    <a:bodyPr/>
                    <a:lstStyle/>
                    <a:p>
                      <a:r>
                        <a:rPr sz="1725" b="0">
                          <a:solidFill>
                            <a:srgbClr val="173039"/>
                          </a:solidFill>
                          <a:latin typeface="Arial"/>
                          <a:ea typeface="Arial"/>
                          <a:cs typeface="Arial"/>
                        </a:rPr>
                        <a:t>Rendu de la carte, lignes de routes, arrêts et véhicules simulés.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Lucide + Inter Variable</a:t>
                      </a:r>
                    </a:p>
                  </a:txBody>
                  <a:tcPr marL="91440" marR="91440" marT="45720" marB="45720">
                    <a:solidFill>
                      <a:srgbClr val="EAF0F1"/>
                    </a:solidFill>
                  </a:tcPr>
                </a:tc>
                <a:tc>
                  <a:txBody>
                    <a:bodyPr/>
                    <a:lstStyle/>
                    <a:p>
                      <a:r>
                        <a:rPr sz="1725" b="0">
                          <a:solidFill>
                            <a:srgbClr val="173039"/>
                          </a:solidFill>
                          <a:latin typeface="Arial"/>
                          <a:ea typeface="Arial"/>
                          <a:cs typeface="Arial"/>
                        </a:rPr>
                        <a:t>Icônes cohérentes et police servie localement avec l’application.</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BB558534-2030-45F1-96EB-E819470F6025}"/>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08</a:t>
            </a:r>
          </a:p>
        </p:txBody>
      </p:sp>
    </p:spTree>
    <p:extLst>
      <p:ext uri="{BB962C8B-B14F-4D97-AF65-F5344CB8AC3E}">
        <p14:creationId xmlns:p14="http://schemas.microsoft.com/office/powerpoint/2010/main" val="199398578"/>
      </p:ext>
    </p:extLst>
  </p:cSld>
</p:sld>
</file>

<file path=ppt/slides/slide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54E13B-A448-42D5-9D64-A70A13E0D475}"/>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A196FB3D-559D-494C-B889-95DE42125F59}"/>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Vite, build et développement</a:t>
            </a:r>
          </a:p>
        </p:txBody>
      </p:sp>
      <p:sp>
        <p:nvSpPr>
          <p:cNvPr id="3" name="">
            <a:extLst xmlns:a="http://schemas.openxmlformats.org/drawingml/2006/main">
              <a:ext uri="{FF2B5EF4-FFF2-40B4-BE49-F238E27FC236}">
                <a16:creationId xmlns:a16="http://schemas.microsoft.com/office/drawing/2014/main" id="{3F50FC20-D0F6-4CAB-A653-5DD00946003D}"/>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49D8989-17D7-4E0B-96D5-D66F1E85A8EB}"/>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Vite + plugin React</a:t>
            </a:r>
          </a:p>
        </p:txBody>
      </p:sp>
      <p:sp>
        <p:nvSpPr>
          <p:cNvPr id="5" name="">
            <a:extLst xmlns:a="http://schemas.openxmlformats.org/drawingml/2006/main">
              <a:ext uri="{FF2B5EF4-FFF2-40B4-BE49-F238E27FC236}">
                <a16:creationId xmlns:a16="http://schemas.microsoft.com/office/drawing/2014/main" id="{9C8A0B17-A4CC-4D84-8DFF-909E4DBA1908}"/>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Démarrer le serveur local et actualiser les composants pendant le développement.</a:t>
            </a:r>
          </a:p>
        </p:txBody>
      </p:sp>
      <p:sp>
        <p:nvSpPr>
          <p:cNvPr id="6" name="">
            <a:extLst xmlns:a="http://schemas.openxmlformats.org/drawingml/2006/main">
              <a:ext uri="{FF2B5EF4-FFF2-40B4-BE49-F238E27FC236}">
                <a16:creationId xmlns:a16="http://schemas.microsoft.com/office/drawing/2014/main" id="{30227494-2242-4F2D-A7E2-7D075B9A837C}"/>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FBB28AF-5218-4F6D-9FFB-D3486ACE3813}"/>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TypeScript puis bundle</a:t>
            </a:r>
          </a:p>
        </p:txBody>
      </p:sp>
      <p:sp>
        <p:nvSpPr>
          <p:cNvPr id="8" name="">
            <a:extLst xmlns:a="http://schemas.openxmlformats.org/drawingml/2006/main">
              <a:ext uri="{FF2B5EF4-FFF2-40B4-BE49-F238E27FC236}">
                <a16:creationId xmlns:a16="http://schemas.microsoft.com/office/drawing/2014/main" id="{E9CF4F4F-8DA0-43F2-8A03-97B3365D5C16}"/>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npm run build exécute tsc -b, puis produit les fichiers statiques avec Vite.</a:t>
            </a:r>
          </a:p>
        </p:txBody>
      </p:sp>
      <p:sp>
        <p:nvSpPr>
          <p:cNvPr id="9" name="">
            <a:extLst xmlns:a="http://schemas.openxmlformats.org/drawingml/2006/main">
              <a:ext uri="{FF2B5EF4-FFF2-40B4-BE49-F238E27FC236}">
                <a16:creationId xmlns:a16="http://schemas.microsoft.com/office/drawing/2014/main" id="{C2C7D9B7-77F8-4844-9616-059EE1F95721}"/>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1DF6A83-B5FB-4ECF-9143-AE4C494D2EB2}"/>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Chargement des visualisations</a:t>
            </a:r>
          </a:p>
        </p:txBody>
      </p:sp>
      <p:sp>
        <p:nvSpPr>
          <p:cNvPr id="11" name="">
            <a:extLst xmlns:a="http://schemas.openxmlformats.org/drawingml/2006/main">
              <a:ext uri="{FF2B5EF4-FFF2-40B4-BE49-F238E27FC236}">
                <a16:creationId xmlns:a16="http://schemas.microsoft.com/office/drawing/2014/main" id="{7E9A75BF-BB6F-4034-83D1-52A61DCF5098}"/>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Découpage des dépendances; les blocs cartographie et graphiques restent volumineux.</a:t>
            </a:r>
          </a:p>
        </p:txBody>
      </p:sp>
      <p:sp>
        <p:nvSpPr>
          <p:cNvPr id="12" name="">
            <a:extLst xmlns:a="http://schemas.openxmlformats.org/drawingml/2006/main">
              <a:ext uri="{FF2B5EF4-FFF2-40B4-BE49-F238E27FC236}">
                <a16:creationId xmlns:a16="http://schemas.microsoft.com/office/drawing/2014/main" id="{762109FE-A25F-43E0-A9D6-400209B2601D}"/>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09</a:t>
            </a:r>
          </a:p>
        </p:txBody>
      </p:sp>
    </p:spTree>
    <p:extLst>
      <p:ext uri="{BB962C8B-B14F-4D97-AF65-F5344CB8AC3E}">
        <p14:creationId xmlns:p14="http://schemas.microsoft.com/office/powerpoint/2010/main" val="427591188"/>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9AAD12-AD73-448A-97F0-D4F963929EC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F3608FF3-96AA-46EF-B420-0DE5BA90ADF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FastAPI, Pydantic et Uvicorn</a:t>
            </a:r>
          </a:p>
        </p:txBody>
      </p:sp>
      <p:sp>
        <p:nvSpPr>
          <p:cNvPr id="3" name="">
            <a:extLst xmlns:a="http://schemas.openxmlformats.org/drawingml/2006/main">
              <a:ext uri="{FF2B5EF4-FFF2-40B4-BE49-F238E27FC236}">
                <a16:creationId xmlns:a16="http://schemas.microsoft.com/office/drawing/2014/main" id="{3CC16034-BE00-46E7-B572-CFEF7D023661}"/>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CE513CB-3C02-47F1-A593-578E5FCD2D49}"/>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FastAPI expose les opérations</a:t>
            </a:r>
          </a:p>
        </p:txBody>
      </p:sp>
      <p:sp>
        <p:nvSpPr>
          <p:cNvPr id="5" name="">
            <a:extLst xmlns:a="http://schemas.openxmlformats.org/drawingml/2006/main">
              <a:ext uri="{FF2B5EF4-FFF2-40B4-BE49-F238E27FC236}">
                <a16:creationId xmlns:a16="http://schemas.microsoft.com/office/drawing/2014/main" id="{B92975AF-902E-4334-B2C4-5423BCDCD966}"/>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Lire les exécutions, préparer un plan, suivre ses événements et inspecter les coûts.</a:t>
            </a:r>
          </a:p>
        </p:txBody>
      </p:sp>
      <p:sp>
        <p:nvSpPr>
          <p:cNvPr id="6" name="">
            <a:extLst xmlns:a="http://schemas.openxmlformats.org/drawingml/2006/main">
              <a:ext uri="{FF2B5EF4-FFF2-40B4-BE49-F238E27FC236}">
                <a16:creationId xmlns:a16="http://schemas.microsoft.com/office/drawing/2014/main" id="{6D706E59-C6B6-4FB9-B992-CBAD9613FAEC}"/>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771085A-332F-4C6E-A0DB-04B729B5F19F}"/>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Pydantic valide les frontières</a:t>
            </a:r>
          </a:p>
        </p:txBody>
      </p:sp>
      <p:sp>
        <p:nvSpPr>
          <p:cNvPr id="8" name="">
            <a:extLst xmlns:a="http://schemas.openxmlformats.org/drawingml/2006/main">
              <a:ext uri="{FF2B5EF4-FFF2-40B4-BE49-F238E27FC236}">
                <a16:creationId xmlns:a16="http://schemas.microsoft.com/office/drawing/2014/main" id="{877B2BCB-C56E-47FB-B9DD-2E9A253120C9}"/>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Contrôler types, limites, identifiants et sorties structurées avant leur utilisation.</a:t>
            </a:r>
          </a:p>
        </p:txBody>
      </p:sp>
      <p:sp>
        <p:nvSpPr>
          <p:cNvPr id="9" name="">
            <a:extLst xmlns:a="http://schemas.openxmlformats.org/drawingml/2006/main">
              <a:ext uri="{FF2B5EF4-FFF2-40B4-BE49-F238E27FC236}">
                <a16:creationId xmlns:a16="http://schemas.microsoft.com/office/drawing/2014/main" id="{2327EB7B-1886-4020-AB33-E3E108524A9F}"/>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703631C-6F5B-46EF-B0BC-5C0C884BDE83}"/>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Uvicorn sert le processus API</a:t>
            </a:r>
          </a:p>
        </p:txBody>
      </p:sp>
      <p:sp>
        <p:nvSpPr>
          <p:cNvPr id="11" name="">
            <a:extLst xmlns:a="http://schemas.openxmlformats.org/drawingml/2006/main">
              <a:ext uri="{FF2B5EF4-FFF2-40B4-BE49-F238E27FC236}">
                <a16:creationId xmlns:a16="http://schemas.microsoft.com/office/drawing/2014/main" id="{10E9DD8E-123F-45EE-8D50-909905238D57}"/>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L’API locale s’exécute séparément des tâches longues du worker.</a:t>
            </a:r>
          </a:p>
        </p:txBody>
      </p:sp>
      <p:sp>
        <p:nvSpPr>
          <p:cNvPr id="12" name="">
            <a:extLst xmlns:a="http://schemas.openxmlformats.org/drawingml/2006/main">
              <a:ext uri="{FF2B5EF4-FFF2-40B4-BE49-F238E27FC236}">
                <a16:creationId xmlns:a16="http://schemas.microsoft.com/office/drawing/2014/main" id="{F600CC81-697C-448B-A6F0-9D07997A3D2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10</a:t>
            </a:r>
          </a:p>
        </p:txBody>
      </p:sp>
    </p:spTree>
    <p:extLst>
      <p:ext uri="{BB962C8B-B14F-4D97-AF65-F5344CB8AC3E}">
        <p14:creationId xmlns:p14="http://schemas.microsoft.com/office/powerpoint/2010/main" val="1387720063"/>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F06E2B-7B60-4287-93F5-7E37976C099C}"/>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A8205759-514B-4CFB-A5F2-7BA1BF2C3312}"/>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Les objets persistés</a:t>
            </a:r>
          </a:p>
        </p:txBody>
      </p:sp>
      <p:graphicFrame>
        <p:nvGraphicFramePr>
          <p:cNvPr id="3" name="">
            <a:extLst xmlns:a="http://schemas.openxmlformats.org/drawingml/2006/main">
              <a:ext uri="{FF2B5EF4-FFF2-40B4-BE49-F238E27FC236}">
                <a16:creationId xmlns:a16="http://schemas.microsoft.com/office/drawing/2014/main" id="{A9B63605-5C3E-4591-9451-0D21BE7B9DC9}"/>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Exécution et invocation</a:t>
                      </a:r>
                    </a:p>
                  </a:txBody>
                  <a:tcPr marL="91440" marR="91440" marT="45720" marB="45720">
                    <a:solidFill>
                      <a:srgbClr val="FFFFFF"/>
                    </a:solidFill>
                  </a:tcPr>
                </a:tc>
                <a:tc>
                  <a:txBody>
                    <a:bodyPr/>
                    <a:lstStyle/>
                    <a:p>
                      <a:r>
                        <a:rPr sz="1725" b="0">
                          <a:solidFill>
                            <a:srgbClr val="173039"/>
                          </a:solidFill>
                          <a:latin typeface="Arial"/>
                          <a:ea typeface="Arial"/>
                          <a:cs typeface="Arial"/>
                        </a:rPr>
                        <a:t>Demande, statut, rôle, chronologie, parenté et résultat final.</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Événement et artefact</a:t>
                      </a:r>
                    </a:p>
                  </a:txBody>
                  <a:tcPr marL="91440" marR="91440" marT="45720" marB="45720">
                    <a:solidFill>
                      <a:srgbClr val="EAF0F1"/>
                    </a:solidFill>
                  </a:tcPr>
                </a:tc>
                <a:tc>
                  <a:txBody>
                    <a:bodyPr/>
                    <a:lstStyle/>
                    <a:p>
                      <a:r>
                        <a:rPr sz="1725" b="0">
                          <a:solidFill>
                            <a:srgbClr val="173039"/>
                          </a:solidFill>
                          <a:latin typeface="Arial"/>
                          <a:ea typeface="Arial"/>
                          <a:cs typeface="Arial"/>
                        </a:rPr>
                        <a:t>Fait observé ordonné et preuve structurée consultable.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Tentative et réservation</a:t>
                      </a:r>
                    </a:p>
                  </a:txBody>
                  <a:tcPr marL="91440" marR="91440" marT="45720" marB="45720">
                    <a:solidFill>
                      <a:srgbClr val="FFFFFF"/>
                    </a:solidFill>
                  </a:tcPr>
                </a:tc>
                <a:tc>
                  <a:txBody>
                    <a:bodyPr/>
                    <a:lstStyle/>
                    <a:p>
                      <a:r>
                        <a:rPr sz="1725" b="0">
                          <a:solidFill>
                            <a:srgbClr val="173039"/>
                          </a:solidFill>
                          <a:latin typeface="Arial"/>
                          <a:ea typeface="Arial"/>
                          <a:cs typeface="Arial"/>
                        </a:rPr>
                        <a:t>Modèle, tokens, charge estimée et exposition financière encore retenue.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Plan et trajet</a:t>
                      </a:r>
                    </a:p>
                  </a:txBody>
                  <a:tcPr marL="91440" marR="91440" marT="45720" marB="45720">
                    <a:solidFill>
                      <a:srgbClr val="EAF0F1"/>
                    </a:solidFill>
                  </a:tcPr>
                </a:tc>
                <a:tc>
                  <a:txBody>
                    <a:bodyPr/>
                    <a:lstStyle/>
                    <a:p>
                      <a:r>
                        <a:rPr sz="1725" b="0">
                          <a:solidFill>
                            <a:srgbClr val="173039"/>
                          </a:solidFill>
                          <a:latin typeface="Arial"/>
                          <a:ea typeface="Arial"/>
                          <a:cs typeface="Arial"/>
                        </a:rPr>
                        <a:t>Affectation des véhicules, arrêts, géométrie et progression simulée.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Alerte de budget</a:t>
                      </a:r>
                    </a:p>
                  </a:txBody>
                  <a:tcPr marL="91440" marR="91440" marT="45720" marB="45720">
                    <a:solidFill>
                      <a:srgbClr val="FFFFFF"/>
                    </a:solidFill>
                  </a:tcPr>
                </a:tc>
                <a:tc>
                  <a:txBody>
                    <a:bodyPr/>
                    <a:lstStyle/>
                    <a:p>
                      <a:r>
                        <a:rPr sz="1725" b="0">
                          <a:solidFill>
                            <a:srgbClr val="173039"/>
                          </a:solidFill>
                          <a:latin typeface="Arial"/>
                          <a:ea typeface="Arial"/>
                          <a:cs typeface="Arial"/>
                        </a:rPr>
                        <a:t>Un événement logique durable et son état de remise SMTP.</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BED5DC-5CB3-4576-92A3-C4D81538D28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11</a:t>
            </a:r>
          </a:p>
        </p:txBody>
      </p:sp>
    </p:spTree>
    <p:extLst>
      <p:ext uri="{BB962C8B-B14F-4D97-AF65-F5344CB8AC3E}">
        <p14:creationId xmlns:p14="http://schemas.microsoft.com/office/powerpoint/2010/main" val="1935271792"/>
      </p:ext>
    </p:extLst>
  </p:cSld>
</p:sld>
</file>

<file path=ppt/slides/slide1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FE7E39-9C4C-4191-8819-277A9B4A658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732F50B0-0F6D-4F0E-9A8D-43C7515AF5AB}"/>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SQLAlchemy et SQLite</a:t>
            </a:r>
          </a:p>
        </p:txBody>
      </p:sp>
      <p:sp>
        <p:nvSpPr>
          <p:cNvPr id="3" name="">
            <a:extLst xmlns:a="http://schemas.openxmlformats.org/drawingml/2006/main">
              <a:ext uri="{FF2B5EF4-FFF2-40B4-BE49-F238E27FC236}">
                <a16:creationId xmlns:a16="http://schemas.microsoft.com/office/drawing/2014/main" id="{7A24D2B6-28BC-4356-8C56-0DE9653CEB94}"/>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BBB090A-D686-4450-8B1F-208251CDE331}"/>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Pourquoi une base transactionnelle</a:t>
            </a:r>
          </a:p>
        </p:txBody>
      </p:sp>
      <p:sp>
        <p:nvSpPr>
          <p:cNvPr id="5" name="">
            <a:extLst xmlns:a="http://schemas.openxmlformats.org/drawingml/2006/main">
              <a:ext uri="{FF2B5EF4-FFF2-40B4-BE49-F238E27FC236}">
                <a16:creationId xmlns:a16="http://schemas.microsoft.com/office/drawing/2014/main" id="{9EF70FC0-DD97-4EEB-976D-F5DC3437EB1E}"/>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Enregistrer ensemble les changements qui doivent rester cohérents.</a:t>
            </a:r>
          </a:p>
        </p:txBody>
      </p:sp>
      <p:sp>
        <p:nvSpPr>
          <p:cNvPr id="6" name="">
            <a:extLst xmlns:a="http://schemas.openxmlformats.org/drawingml/2006/main">
              <a:ext uri="{FF2B5EF4-FFF2-40B4-BE49-F238E27FC236}">
                <a16:creationId xmlns:a16="http://schemas.microsoft.com/office/drawing/2014/main" id="{265159D7-34B2-40FB-BB9E-2CDA290A100E}"/>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7E4BF66-B7FA-43DD-A610-63CBE5C7E00E}"/>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Comment SQLAlchemy est utilisé</a:t>
            </a:r>
          </a:p>
        </p:txBody>
      </p:sp>
      <p:sp>
        <p:nvSpPr>
          <p:cNvPr id="8" name="">
            <a:extLst xmlns:a="http://schemas.openxmlformats.org/drawingml/2006/main">
              <a:ext uri="{FF2B5EF4-FFF2-40B4-BE49-F238E27FC236}">
                <a16:creationId xmlns:a16="http://schemas.microsoft.com/office/drawing/2014/main" id="{81D886F4-0157-4D47-A51F-5DBE2FBE2302}"/>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Définir les tables, lire les projections et encadrer les écritures par transaction.</a:t>
            </a:r>
          </a:p>
        </p:txBody>
      </p:sp>
      <p:sp>
        <p:nvSpPr>
          <p:cNvPr id="9" name="">
            <a:extLst xmlns:a="http://schemas.openxmlformats.org/drawingml/2006/main">
              <a:ext uri="{FF2B5EF4-FFF2-40B4-BE49-F238E27FC236}">
                <a16:creationId xmlns:a16="http://schemas.microsoft.com/office/drawing/2014/main" id="{FA5BAD52-2444-49E0-8DAC-769431580C9C}"/>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17E33D0-5129-46AD-A38B-F29C36BA658F}"/>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Pourquoi SQLite dans ce profil</a:t>
            </a:r>
          </a:p>
        </p:txBody>
      </p:sp>
      <p:sp>
        <p:nvSpPr>
          <p:cNvPr id="11" name="">
            <a:extLst xmlns:a="http://schemas.openxmlformats.org/drawingml/2006/main">
              <a:ext uri="{FF2B5EF4-FFF2-40B4-BE49-F238E27FC236}">
                <a16:creationId xmlns:a16="http://schemas.microsoft.com/office/drawing/2014/main" id="{14A3D0ED-9464-4884-B5CE-0A5F8E128165}"/>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Fournir un environnement local reproductible sans serveur de base externe.</a:t>
            </a:r>
          </a:p>
        </p:txBody>
      </p:sp>
      <p:sp>
        <p:nvSpPr>
          <p:cNvPr id="12" name="">
            <a:extLst xmlns:a="http://schemas.openxmlformats.org/drawingml/2006/main">
              <a:ext uri="{FF2B5EF4-FFF2-40B4-BE49-F238E27FC236}">
                <a16:creationId xmlns:a16="http://schemas.microsoft.com/office/drawing/2014/main" id="{D8095958-3B65-4BA4-9846-BFA850F8854C}"/>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12</a:t>
            </a:r>
          </a:p>
        </p:txBody>
      </p:sp>
    </p:spTree>
    <p:extLst>
      <p:ext uri="{BB962C8B-B14F-4D97-AF65-F5344CB8AC3E}">
        <p14:creationId xmlns:p14="http://schemas.microsoft.com/office/powerpoint/2010/main" val="602636035"/>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1414A6-F1B5-4866-A68C-81A63189CF9B}"/>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CD32F64E-B640-4CC2-8316-DA009D52F2C8}"/>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Worker durable et reprise</a:t>
            </a:r>
          </a:p>
        </p:txBody>
      </p:sp>
      <p:sp>
        <p:nvSpPr>
          <p:cNvPr id="3" name="">
            <a:extLst xmlns:a="http://schemas.openxmlformats.org/drawingml/2006/main">
              <a:ext uri="{FF2B5EF4-FFF2-40B4-BE49-F238E27FC236}">
                <a16:creationId xmlns:a16="http://schemas.microsoft.com/office/drawing/2014/main" id="{FAB464C1-0A74-4CB6-8698-D8994F632606}"/>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8714CAF-8E68-4320-8190-29151C365CD6}"/>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Réclamer une tâche</a:t>
            </a:r>
          </a:p>
        </p:txBody>
      </p:sp>
      <p:sp>
        <p:nvSpPr>
          <p:cNvPr id="5" name="">
            <a:extLst xmlns:a="http://schemas.openxmlformats.org/drawingml/2006/main">
              <a:ext uri="{FF2B5EF4-FFF2-40B4-BE49-F238E27FC236}">
                <a16:creationId xmlns:a16="http://schemas.microsoft.com/office/drawing/2014/main" id="{87CCE339-ECFA-4A79-BB0B-79EB87629573}"/>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worker prend un bail avec propriétaire et génération, puis renouvelle ce bail.</a:t>
            </a:r>
          </a:p>
        </p:txBody>
      </p:sp>
      <p:sp>
        <p:nvSpPr>
          <p:cNvPr id="6" name="">
            <a:extLst xmlns:a="http://schemas.openxmlformats.org/drawingml/2006/main">
              <a:ext uri="{FF2B5EF4-FFF2-40B4-BE49-F238E27FC236}">
                <a16:creationId xmlns:a16="http://schemas.microsoft.com/office/drawing/2014/main" id="{9F41BC04-8C67-4C0C-AEBF-1EC98A82CDFA}"/>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53FEE4B-1552-41D5-B4B2-B94426C0B64A}"/>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Conserver l’avancement</a:t>
            </a:r>
          </a:p>
        </p:txBody>
      </p:sp>
      <p:sp>
        <p:nvSpPr>
          <p:cNvPr id="8" name="">
            <a:extLst xmlns:a="http://schemas.openxmlformats.org/drawingml/2006/main">
              <a:ext uri="{FF2B5EF4-FFF2-40B4-BE49-F238E27FC236}">
                <a16:creationId xmlns:a16="http://schemas.microsoft.com/office/drawing/2014/main" id="{AD9C1E8E-15FA-4259-8960-81D38A10DE38}"/>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Résultats de rôles, événements et checkpoints permettent une reprise contrôlée.</a:t>
            </a:r>
          </a:p>
        </p:txBody>
      </p:sp>
      <p:sp>
        <p:nvSpPr>
          <p:cNvPr id="9" name="">
            <a:extLst xmlns:a="http://schemas.openxmlformats.org/drawingml/2006/main">
              <a:ext uri="{FF2B5EF4-FFF2-40B4-BE49-F238E27FC236}">
                <a16:creationId xmlns:a16="http://schemas.microsoft.com/office/drawing/2014/main" id="{43DBB908-07A3-41BF-B06C-D6BCDFB47D42}"/>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2100EBB-1C03-40A9-9D68-3135FA289F8E}"/>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Éviter les doublons coûteux</a:t>
            </a:r>
          </a:p>
        </p:txBody>
      </p:sp>
      <p:sp>
        <p:nvSpPr>
          <p:cNvPr id="11" name="">
            <a:extLst xmlns:a="http://schemas.openxmlformats.org/drawingml/2006/main">
              <a:ext uri="{FF2B5EF4-FFF2-40B4-BE49-F238E27FC236}">
                <a16:creationId xmlns:a16="http://schemas.microsoft.com/office/drawing/2014/main" id="{3BC6CCE5-2032-441B-8794-1D219CD4B20C}"/>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tentative fournisseur non résolue bloque une nouvelle émission automatique.</a:t>
            </a:r>
          </a:p>
        </p:txBody>
      </p:sp>
      <p:sp>
        <p:nvSpPr>
          <p:cNvPr id="12" name="">
            <a:extLst xmlns:a="http://schemas.openxmlformats.org/drawingml/2006/main">
              <a:ext uri="{FF2B5EF4-FFF2-40B4-BE49-F238E27FC236}">
                <a16:creationId xmlns:a16="http://schemas.microsoft.com/office/drawing/2014/main" id="{3C038FD5-87B7-4470-91E9-B12B33C77BD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13</a:t>
            </a:r>
          </a:p>
        </p:txBody>
      </p:sp>
    </p:spTree>
    <p:extLst>
      <p:ext uri="{BB962C8B-B14F-4D97-AF65-F5344CB8AC3E}">
        <p14:creationId xmlns:p14="http://schemas.microsoft.com/office/powerpoint/2010/main" val="642538221"/>
      </p:ext>
    </p:extLst>
  </p:cSld>
</p:sld>
</file>

<file path=ppt/slides/slide1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41CB7B-60F7-4242-9BB3-C79F6203F911}"/>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F55D04B1-F067-4B20-88D6-416AA03320E7}"/>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LangGraph et la chaîne des rôles</a:t>
            </a:r>
          </a:p>
        </p:txBody>
      </p:sp>
      <p:sp>
        <p:nvSpPr>
          <p:cNvPr id="3" name="">
            <a:extLst xmlns:a="http://schemas.openxmlformats.org/drawingml/2006/main">
              <a:ext uri="{FF2B5EF4-FFF2-40B4-BE49-F238E27FC236}">
                <a16:creationId xmlns:a16="http://schemas.microsoft.com/office/drawing/2014/main" id="{A60ECFE2-B95B-45A8-883B-1310204DF5CF}"/>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1B675B9-3292-4369-A661-A6C249941F8E}"/>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Planification → trafic → optimisation</a:t>
            </a:r>
          </a:p>
        </p:txBody>
      </p:sp>
      <p:sp>
        <p:nvSpPr>
          <p:cNvPr id="5" name="">
            <a:extLst xmlns:a="http://schemas.openxmlformats.org/drawingml/2006/main">
              <a:ext uri="{FF2B5EF4-FFF2-40B4-BE49-F238E27FC236}">
                <a16:creationId xmlns:a16="http://schemas.microsoft.com/office/drawing/2014/main" id="{1F43F42A-CD94-4993-93FA-CB9568AE7863}"/>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Construire le problème, obtenir la matrice routière et comparer les affectations.</a:t>
            </a:r>
          </a:p>
        </p:txBody>
      </p:sp>
      <p:sp>
        <p:nvSpPr>
          <p:cNvPr id="6" name="">
            <a:extLst xmlns:a="http://schemas.openxmlformats.org/drawingml/2006/main">
              <a:ext uri="{FF2B5EF4-FFF2-40B4-BE49-F238E27FC236}">
                <a16:creationId xmlns:a16="http://schemas.microsoft.com/office/drawing/2014/main" id="{EF9FF940-D96F-498B-9179-A6E819DBD684}"/>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E0C69C8-707D-4676-84B6-44FE924E5209}"/>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Surveillance → exception → finalisation</a:t>
            </a:r>
          </a:p>
        </p:txBody>
      </p:sp>
      <p:sp>
        <p:nvSpPr>
          <p:cNvPr id="8" name="">
            <a:extLst xmlns:a="http://schemas.openxmlformats.org/drawingml/2006/main">
              <a:ext uri="{FF2B5EF4-FFF2-40B4-BE49-F238E27FC236}">
                <a16:creationId xmlns:a16="http://schemas.microsoft.com/office/drawing/2014/main" id="{9FFB30D2-551B-4784-87EF-2C2A776DCC52}"/>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Vérifier indépendamment, produire un diagnostic et tenter l’admission des trajets.</a:t>
            </a:r>
          </a:p>
        </p:txBody>
      </p:sp>
      <p:sp>
        <p:nvSpPr>
          <p:cNvPr id="9" name="">
            <a:extLst xmlns:a="http://schemas.openxmlformats.org/drawingml/2006/main">
              <a:ext uri="{FF2B5EF4-FFF2-40B4-BE49-F238E27FC236}">
                <a16:creationId xmlns:a16="http://schemas.microsoft.com/office/drawing/2014/main" id="{926F0942-28E3-4C5C-80C5-B715A290B2B5}"/>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9EE5349-37AA-4D6D-93EF-15C53FED2030}"/>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Checkpoints SQLite</a:t>
            </a:r>
          </a:p>
        </p:txBody>
      </p:sp>
      <p:sp>
        <p:nvSpPr>
          <p:cNvPr id="11" name="">
            <a:extLst xmlns:a="http://schemas.openxmlformats.org/drawingml/2006/main">
              <a:ext uri="{FF2B5EF4-FFF2-40B4-BE49-F238E27FC236}">
                <a16:creationId xmlns:a16="http://schemas.microsoft.com/office/drawing/2014/main" id="{73D0FCEC-5AC5-46E8-B04D-4C6D7822CC5B}"/>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Conserver l’état du graphe pour suivre et reprendre une exécution.</a:t>
            </a:r>
          </a:p>
        </p:txBody>
      </p:sp>
      <p:sp>
        <p:nvSpPr>
          <p:cNvPr id="12" name="">
            <a:extLst xmlns:a="http://schemas.openxmlformats.org/drawingml/2006/main">
              <a:ext uri="{FF2B5EF4-FFF2-40B4-BE49-F238E27FC236}">
                <a16:creationId xmlns:a16="http://schemas.microsoft.com/office/drawing/2014/main" id="{E86CA751-42FB-4682-A947-EA27F87AB545}"/>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14</a:t>
            </a:r>
          </a:p>
        </p:txBody>
      </p:sp>
    </p:spTree>
    <p:extLst>
      <p:ext uri="{BB962C8B-B14F-4D97-AF65-F5344CB8AC3E}">
        <p14:creationId xmlns:p14="http://schemas.microsoft.com/office/powerpoint/2010/main" val="664465220"/>
      </p:ext>
    </p:extLst>
  </p:cSld>
</p:sld>
</file>

<file path=ppt/slides/slide1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2F0419-A295-4E00-8944-0064AEF3780D}"/>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F587EB77-3F83-4073-A743-951BA0F48E39}"/>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Les cinq agents : responsabilité et preuve</a:t>
            </a:r>
          </a:p>
        </p:txBody>
      </p:sp>
      <p:graphicFrame>
        <p:nvGraphicFramePr>
          <p:cNvPr id="3" name="">
            <a:extLst xmlns:a="http://schemas.openxmlformats.org/drawingml/2006/main">
              <a:ext uri="{FF2B5EF4-FFF2-40B4-BE49-F238E27FC236}">
                <a16:creationId xmlns:a16="http://schemas.microsoft.com/office/drawing/2014/main" id="{00580F48-0708-4C28-AB3D-7A76C1967EA7}"/>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Planification</a:t>
                      </a:r>
                    </a:p>
                  </a:txBody>
                  <a:tcPr marL="91440" marR="91440" marT="45720" marB="45720">
                    <a:solidFill>
                      <a:srgbClr val="FFFFFF"/>
                    </a:solidFill>
                  </a:tcPr>
                </a:tc>
                <a:tc>
                  <a:txBody>
                    <a:bodyPr/>
                    <a:lstStyle/>
                    <a:p>
                      <a:r>
                        <a:rPr sz="1725" b="0">
                          <a:solidFill>
                            <a:srgbClr val="173039"/>
                          </a:solidFill>
                          <a:latin typeface="Arial"/>
                          <a:ea typeface="Arial"/>
                          <a:cs typeface="Arial"/>
                        </a:rPr>
                        <a:t>Fige demandes, capacités et origines; prépare les contraintes et le contexte.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Trafic</a:t>
                      </a:r>
                    </a:p>
                  </a:txBody>
                  <a:tcPr marL="91440" marR="91440" marT="45720" marB="45720">
                    <a:solidFill>
                      <a:srgbClr val="EAF0F1"/>
                    </a:solidFill>
                  </a:tcPr>
                </a:tc>
                <a:tc>
                  <a:txBody>
                    <a:bodyPr/>
                    <a:lstStyle/>
                    <a:p>
                      <a:r>
                        <a:rPr sz="1725" b="0">
                          <a:solidFill>
                            <a:srgbClr val="173039"/>
                          </a:solidFill>
                          <a:latin typeface="Arial"/>
                          <a:ea typeface="Arial"/>
                          <a:cs typeface="Arial"/>
                        </a:rPr>
                        <a:t>Obtient la matrice routière statique ou la perturbation du benchmark.</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Optimisation</a:t>
                      </a:r>
                    </a:p>
                  </a:txBody>
                  <a:tcPr marL="91440" marR="91440" marT="45720" marB="45720">
                    <a:solidFill>
                      <a:srgbClr val="FFFFFF"/>
                    </a:solidFill>
                  </a:tcPr>
                </a:tc>
                <a:tc>
                  <a:txBody>
                    <a:bodyPr/>
                    <a:lstStyle/>
                    <a:p>
                      <a:r>
                        <a:rPr sz="1725" b="0">
                          <a:solidFill>
                            <a:srgbClr val="173039"/>
                          </a:solidFill>
                          <a:latin typeface="Arial"/>
                          <a:ea typeface="Arial"/>
                          <a:cs typeface="Arial"/>
                        </a:rPr>
                        <a:t>Évalue les stratégies avec un solveur déterministe borné.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Surveillance</a:t>
                      </a:r>
                    </a:p>
                  </a:txBody>
                  <a:tcPr marL="91440" marR="91440" marT="45720" marB="45720">
                    <a:solidFill>
                      <a:srgbClr val="EAF0F1"/>
                    </a:solidFill>
                  </a:tcPr>
                </a:tc>
                <a:tc>
                  <a:txBody>
                    <a:bodyPr/>
                    <a:lstStyle/>
                    <a:p>
                      <a:r>
                        <a:rPr sz="1725" b="0">
                          <a:solidFill>
                            <a:srgbClr val="173039"/>
                          </a:solidFill>
                          <a:latin typeface="Arial"/>
                          <a:ea typeface="Arial"/>
                          <a:cs typeface="Arial"/>
                        </a:rPr>
                        <a:t>Contrôle le résultat indépendamment et enregistre un certificat.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Exception</a:t>
                      </a:r>
                    </a:p>
                  </a:txBody>
                  <a:tcPr marL="91440" marR="91440" marT="45720" marB="45720">
                    <a:solidFill>
                      <a:srgbClr val="FFFFFF"/>
                    </a:solidFill>
                  </a:tcPr>
                </a:tc>
                <a:tc>
                  <a:txBody>
                    <a:bodyPr/>
                    <a:lstStyle/>
                    <a:p>
                      <a:r>
                        <a:rPr sz="1725" b="0">
                          <a:solidFill>
                            <a:srgbClr val="173039"/>
                          </a:solidFill>
                          <a:latin typeface="Arial"/>
                          <a:ea typeface="Arial"/>
                          <a:cs typeface="Arial"/>
                        </a:rPr>
                        <a:t>Détermine si le résultat peut être admis ou exige un diagnostic.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5368A44-9AF2-48B5-B0D9-1961687D889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15</a:t>
            </a:r>
          </a:p>
        </p:txBody>
      </p:sp>
    </p:spTree>
    <p:extLst>
      <p:ext uri="{BB962C8B-B14F-4D97-AF65-F5344CB8AC3E}">
        <p14:creationId xmlns:p14="http://schemas.microsoft.com/office/powerpoint/2010/main" val="1748506835"/>
      </p:ext>
    </p:extLst>
  </p:cSld>
</p:sld>
</file>

<file path=ppt/slides/slide1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D6B411-6B3C-4BA1-B7D5-57C11AF3DD1C}"/>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342D1FC4-BEC1-4325-B18E-1DE38C1B331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Demande de livraison : entrée et admission</a:t>
            </a:r>
          </a:p>
        </p:txBody>
      </p:sp>
      <p:sp>
        <p:nvSpPr>
          <p:cNvPr id="3" name="">
            <a:extLst xmlns:a="http://schemas.openxmlformats.org/drawingml/2006/main">
              <a:ext uri="{FF2B5EF4-FFF2-40B4-BE49-F238E27FC236}">
                <a16:creationId xmlns:a16="http://schemas.microsoft.com/office/drawing/2014/main" id="{DA754DA5-FEAD-45D0-81B5-81849198AA9B}"/>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04C33EC-D959-492F-ACBE-EDC9C0838570}"/>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Valider la demande</a:t>
            </a:r>
          </a:p>
        </p:txBody>
      </p:sp>
      <p:sp>
        <p:nvSpPr>
          <p:cNvPr id="5" name="">
            <a:extLst xmlns:a="http://schemas.openxmlformats.org/drawingml/2006/main">
              <a:ext uri="{FF2B5EF4-FFF2-40B4-BE49-F238E27FC236}">
                <a16:creationId xmlns:a16="http://schemas.microsoft.com/office/drawing/2014/main" id="{CB425063-278C-484A-8685-640D206128F2}"/>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1 à 10 livraisons et 1 à 4 véhicules; adresses, identifiants et contraintes contrôlés.</a:t>
            </a:r>
          </a:p>
        </p:txBody>
      </p:sp>
      <p:sp>
        <p:nvSpPr>
          <p:cNvPr id="6" name="">
            <a:extLst xmlns:a="http://schemas.openxmlformats.org/drawingml/2006/main">
              <a:ext uri="{FF2B5EF4-FFF2-40B4-BE49-F238E27FC236}">
                <a16:creationId xmlns:a16="http://schemas.microsoft.com/office/drawing/2014/main" id="{5AB68FBD-55CC-48E3-96CD-755523828F0B}"/>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3A7D45A-3C56-4925-A1A3-1C43090AAFFB}"/>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Persister puis traiter</a:t>
            </a:r>
          </a:p>
        </p:txBody>
      </p:sp>
      <p:sp>
        <p:nvSpPr>
          <p:cNvPr id="8" name="">
            <a:extLst xmlns:a="http://schemas.openxmlformats.org/drawingml/2006/main">
              <a:ext uri="{FF2B5EF4-FFF2-40B4-BE49-F238E27FC236}">
                <a16:creationId xmlns:a16="http://schemas.microsoft.com/office/drawing/2014/main" id="{CB8074EE-3D63-4525-812F-BDAC8719B4EC}"/>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clé d’idempotence évite de créer un second plan incompatible lors d’une répétition.</a:t>
            </a:r>
          </a:p>
        </p:txBody>
      </p:sp>
      <p:sp>
        <p:nvSpPr>
          <p:cNvPr id="9" name="">
            <a:extLst xmlns:a="http://schemas.openxmlformats.org/drawingml/2006/main">
              <a:ext uri="{FF2B5EF4-FFF2-40B4-BE49-F238E27FC236}">
                <a16:creationId xmlns:a16="http://schemas.microsoft.com/office/drawing/2014/main" id="{6F9F354D-5AD4-47B8-B8C4-4DC9055E34E0}"/>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9F4957A-E896-4AD5-A13C-D3C4334333A3}"/>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Revalider avant de créer les trajets</a:t>
            </a:r>
          </a:p>
        </p:txBody>
      </p:sp>
      <p:sp>
        <p:nvSpPr>
          <p:cNvPr id="11" name="">
            <a:extLst xmlns:a="http://schemas.openxmlformats.org/drawingml/2006/main">
              <a:ext uri="{FF2B5EF4-FFF2-40B4-BE49-F238E27FC236}">
                <a16:creationId xmlns:a16="http://schemas.microsoft.com/office/drawing/2014/main" id="{4CABAF33-61DF-44E2-A0DA-421BCE051062}"/>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flotte occupée ou une route devenue incompatible peut refuser l’admission finale.</a:t>
            </a:r>
          </a:p>
        </p:txBody>
      </p:sp>
      <p:sp>
        <p:nvSpPr>
          <p:cNvPr id="12" name="">
            <a:extLst xmlns:a="http://schemas.openxmlformats.org/drawingml/2006/main">
              <a:ext uri="{FF2B5EF4-FFF2-40B4-BE49-F238E27FC236}">
                <a16:creationId xmlns:a16="http://schemas.microsoft.com/office/drawing/2014/main" id="{509ACFE9-2029-43C7-9527-BAA28AC3C37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16</a:t>
            </a:r>
          </a:p>
        </p:txBody>
      </p:sp>
    </p:spTree>
    <p:extLst>
      <p:ext uri="{BB962C8B-B14F-4D97-AF65-F5344CB8AC3E}">
        <p14:creationId xmlns:p14="http://schemas.microsoft.com/office/powerpoint/2010/main" val="1109902401"/>
      </p:ext>
    </p:extLst>
  </p:cSld>
</p:sld>
</file>

<file path=ppt/slides/slide1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2B577F-B857-482E-89DF-85C1C4ADC85E}"/>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7FB65FE6-96F3-487E-8E61-9FDAD459CFDF}"/>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Adresses, routes et affichage</a:t>
            </a:r>
          </a:p>
        </p:txBody>
      </p:sp>
      <p:graphicFrame>
        <p:nvGraphicFramePr>
          <p:cNvPr id="3" name="">
            <a:extLst xmlns:a="http://schemas.openxmlformats.org/drawingml/2006/main">
              <a:ext uri="{FF2B5EF4-FFF2-40B4-BE49-F238E27FC236}">
                <a16:creationId xmlns:a16="http://schemas.microsoft.com/office/drawing/2014/main" id="{0E0096C7-FA1D-4E6D-B22E-DDE93E8FC6B0}"/>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Photon</a:t>
                      </a:r>
                    </a:p>
                  </a:txBody>
                  <a:tcPr marL="91440" marR="91440" marT="45720" marB="45720">
                    <a:solidFill>
                      <a:srgbClr val="FFFFFF"/>
                    </a:solidFill>
                  </a:tcPr>
                </a:tc>
                <a:tc>
                  <a:txBody>
                    <a:bodyPr/>
                    <a:lstStyle/>
                    <a:p>
                      <a:r>
                        <a:rPr sz="1725" b="0">
                          <a:solidFill>
                            <a:srgbClr val="173039"/>
                          </a:solidFill>
                          <a:latin typeface="Arial"/>
                          <a:ea typeface="Arial"/>
                          <a:cs typeface="Arial"/>
                        </a:rPr>
                        <a:t>Transformer une recherche d’adresse en candidats géographiques sélectionnables.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OSRM</a:t>
                      </a:r>
                    </a:p>
                  </a:txBody>
                  <a:tcPr marL="91440" marR="91440" marT="45720" marB="45720">
                    <a:solidFill>
                      <a:srgbClr val="EAF0F1"/>
                    </a:solidFill>
                  </a:tcPr>
                </a:tc>
                <a:tc>
                  <a:txBody>
                    <a:bodyPr/>
                    <a:lstStyle/>
                    <a:p>
                      <a:r>
                        <a:rPr sz="1725" b="0">
                          <a:solidFill>
                            <a:srgbClr val="173039"/>
                          </a:solidFill>
                          <a:latin typeface="Arial"/>
                          <a:ea typeface="Arial"/>
                          <a:cs typeface="Arial"/>
                        </a:rPr>
                        <a:t>Fournir matrice dirigée, distances, durées statiques et géométrie routière.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OpenFreeMap / OpenStreetMap</a:t>
                      </a:r>
                    </a:p>
                  </a:txBody>
                  <a:tcPr marL="91440" marR="91440" marT="45720" marB="45720">
                    <a:solidFill>
                      <a:srgbClr val="FFFFFF"/>
                    </a:solidFill>
                  </a:tcPr>
                </a:tc>
                <a:tc>
                  <a:txBody>
                    <a:bodyPr/>
                    <a:lstStyle/>
                    <a:p>
                      <a:r>
                        <a:rPr sz="1725" b="0">
                          <a:solidFill>
                            <a:srgbClr val="173039"/>
                          </a:solidFill>
                          <a:latin typeface="Arial"/>
                          <a:ea typeface="Arial"/>
                          <a:cs typeface="Arial"/>
                        </a:rPr>
                        <a:t>Fournir le fond de carte et les données cartographiques associées.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MapLibre GL</a:t>
                      </a:r>
                    </a:p>
                  </a:txBody>
                  <a:tcPr marL="91440" marR="91440" marT="45720" marB="45720">
                    <a:solidFill>
                      <a:srgbClr val="EAF0F1"/>
                    </a:solidFill>
                  </a:tcPr>
                </a:tc>
                <a:tc>
                  <a:txBody>
                    <a:bodyPr/>
                    <a:lstStyle/>
                    <a:p>
                      <a:r>
                        <a:rPr sz="1725" b="0">
                          <a:solidFill>
                            <a:srgbClr val="173039"/>
                          </a:solidFill>
                          <a:latin typeface="Arial"/>
                          <a:ea typeface="Arial"/>
                          <a:cs typeface="Arial"/>
                        </a:rPr>
                        <a:t>Afficher ces données et relier marqueur, arrêt sélectionné et fiche de trajet.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HTTPX</a:t>
                      </a:r>
                    </a:p>
                  </a:txBody>
                  <a:tcPr marL="91440" marR="91440" marT="45720" marB="45720">
                    <a:solidFill>
                      <a:srgbClr val="FFFFFF"/>
                    </a:solidFill>
                  </a:tcPr>
                </a:tc>
                <a:tc>
                  <a:txBody>
                    <a:bodyPr/>
                    <a:lstStyle/>
                    <a:p>
                      <a:r>
                        <a:rPr sz="1725" b="0">
                          <a:solidFill>
                            <a:srgbClr val="173039"/>
                          </a:solidFill>
                          <a:latin typeface="Arial"/>
                          <a:ea typeface="Arial"/>
                          <a:cs typeface="Arial"/>
                        </a:rPr>
                        <a:t>Appeler les fournisseurs depuis le serveur avec contrôle des réponses et erreurs.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A064F7F-7929-4F43-9ED4-C1DC1DC05A7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17</a:t>
            </a:r>
          </a:p>
        </p:txBody>
      </p:sp>
    </p:spTree>
    <p:extLst>
      <p:ext uri="{BB962C8B-B14F-4D97-AF65-F5344CB8AC3E}">
        <p14:creationId xmlns:p14="http://schemas.microsoft.com/office/powerpoint/2010/main" val="1165779533"/>
      </p:ext>
    </p:extLst>
  </p:cSld>
</p:sld>
</file>

<file path=ppt/slides/slide1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132FA1-61AD-4470-852B-08BC83D78EB2}"/>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A2FE298B-A19E-4D55-BAF8-D11AACF6FC40}"/>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OR-Tools et les contraintes de transport</a:t>
            </a:r>
          </a:p>
        </p:txBody>
      </p:sp>
      <p:sp>
        <p:nvSpPr>
          <p:cNvPr id="3" name="">
            <a:extLst xmlns:a="http://schemas.openxmlformats.org/drawingml/2006/main">
              <a:ext uri="{FF2B5EF4-FFF2-40B4-BE49-F238E27FC236}">
                <a16:creationId xmlns:a16="http://schemas.microsoft.com/office/drawing/2014/main" id="{B453B3BE-F143-4F2C-A7F8-82CE2E8BFD88}"/>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02F34C4-8AAB-4C17-941E-525D404094C7}"/>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Construire un problème de tournées</a:t>
            </a:r>
          </a:p>
        </p:txBody>
      </p:sp>
      <p:sp>
        <p:nvSpPr>
          <p:cNvPr id="5" name="">
            <a:extLst xmlns:a="http://schemas.openxmlformats.org/drawingml/2006/main">
              <a:ext uri="{FF2B5EF4-FFF2-40B4-BE49-F238E27FC236}">
                <a16:creationId xmlns:a16="http://schemas.microsoft.com/office/drawing/2014/main" id="{B0623C29-93C9-4E2A-B9ED-55AD9F341F59}"/>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Transformer livraisons, véhicules, capacités et fenêtres en variables et contraintes.</a:t>
            </a:r>
          </a:p>
        </p:txBody>
      </p:sp>
      <p:sp>
        <p:nvSpPr>
          <p:cNvPr id="6" name="">
            <a:extLst xmlns:a="http://schemas.openxmlformats.org/drawingml/2006/main">
              <a:ext uri="{FF2B5EF4-FFF2-40B4-BE49-F238E27FC236}">
                <a16:creationId xmlns:a16="http://schemas.microsoft.com/office/drawing/2014/main" id="{D742A6D6-A967-4841-9AA6-E17DDA392A1E}"/>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9F7DB16-5FA0-41FB-8EB9-A08C30EAB2CD}"/>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Explorer des solutions admissibles</a:t>
            </a:r>
          </a:p>
        </p:txBody>
      </p:sp>
      <p:sp>
        <p:nvSpPr>
          <p:cNvPr id="8" name="">
            <a:extLst xmlns:a="http://schemas.openxmlformats.org/drawingml/2006/main">
              <a:ext uri="{FF2B5EF4-FFF2-40B4-BE49-F238E27FC236}">
                <a16:creationId xmlns:a16="http://schemas.microsoft.com/office/drawing/2014/main" id="{CE45787F-980E-475C-AB1E-F8517A0132A7}"/>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Limiter le temps de recherche et comparer les candidats selon l’objectif configuré.</a:t>
            </a:r>
          </a:p>
        </p:txBody>
      </p:sp>
      <p:sp>
        <p:nvSpPr>
          <p:cNvPr id="9" name="">
            <a:extLst xmlns:a="http://schemas.openxmlformats.org/drawingml/2006/main">
              <a:ext uri="{FF2B5EF4-FFF2-40B4-BE49-F238E27FC236}">
                <a16:creationId xmlns:a16="http://schemas.microsoft.com/office/drawing/2014/main" id="{1FF00C7A-5DBA-45D2-A407-9C80D2518FF8}"/>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1627697-6258-4EE3-8C76-3FC434099C11}"/>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Qualifier honnêtement le résultat</a:t>
            </a:r>
          </a:p>
        </p:txBody>
      </p:sp>
      <p:sp>
        <p:nvSpPr>
          <p:cNvPr id="11" name="">
            <a:extLst xmlns:a="http://schemas.openxmlformats.org/drawingml/2006/main">
              <a:ext uri="{FF2B5EF4-FFF2-40B4-BE49-F238E27FC236}">
                <a16:creationId xmlns:a16="http://schemas.microsoft.com/office/drawing/2014/main" id="{D82676FE-FD0F-43E2-833D-5EEA9FF66680}"/>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Meilleur candidat trouvé dans la recherche; aucune promesse d’optimum global.</a:t>
            </a:r>
          </a:p>
        </p:txBody>
      </p:sp>
      <p:sp>
        <p:nvSpPr>
          <p:cNvPr id="12" name="">
            <a:extLst xmlns:a="http://schemas.openxmlformats.org/drawingml/2006/main">
              <a:ext uri="{FF2B5EF4-FFF2-40B4-BE49-F238E27FC236}">
                <a16:creationId xmlns:a16="http://schemas.microsoft.com/office/drawing/2014/main" id="{00DA4FD0-F274-41A7-9640-A692D5E8AA59}"/>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18</a:t>
            </a:r>
          </a:p>
        </p:txBody>
      </p:sp>
    </p:spTree>
    <p:extLst>
      <p:ext uri="{BB962C8B-B14F-4D97-AF65-F5344CB8AC3E}">
        <p14:creationId xmlns:p14="http://schemas.microsoft.com/office/powerpoint/2010/main" val="1954016997"/>
      </p:ext>
    </p:extLst>
  </p:cSld>
</p:sld>
</file>

<file path=ppt/slides/slide1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E674AB-E398-48E7-B30F-E49A54A7AA3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C972E9B9-DE61-4BC1-A469-9A4042664906}"/>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Un véhicule ou plusieurs</a:t>
            </a:r>
          </a:p>
        </p:txBody>
      </p:sp>
      <p:graphicFrame>
        <p:nvGraphicFramePr>
          <p:cNvPr id="3" name="">
            <a:extLst xmlns:a="http://schemas.openxmlformats.org/drawingml/2006/main">
              <a:ext uri="{FF2B5EF4-FFF2-40B4-BE49-F238E27FC236}">
                <a16:creationId xmlns:a16="http://schemas.microsoft.com/office/drawing/2014/main" id="{1AB9E5BF-A981-4E61-AA68-87806D8587D7}"/>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Tournée partagée</a:t>
                      </a:r>
                    </a:p>
                  </a:txBody>
                  <a:tcPr marL="91440" marR="91440" marT="45720" marB="45720">
                    <a:solidFill>
                      <a:srgbClr val="FFFFFF"/>
                    </a:solidFill>
                  </a:tcPr>
                </a:tc>
                <a:tc>
                  <a:txBody>
                    <a:bodyPr/>
                    <a:lstStyle/>
                    <a:p>
                      <a:r>
                        <a:rPr sz="1725" b="0">
                          <a:solidFill>
                            <a:srgbClr val="173039"/>
                          </a:solidFill>
                          <a:latin typeface="Arial"/>
                          <a:ea typeface="Arial"/>
                          <a:cs typeface="Arial"/>
                        </a:rPr>
                        <a:t>Regrouper plusieurs livraisons; comparer service, durée et coût sous contraintes.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Affectation séparée</a:t>
                      </a:r>
                    </a:p>
                  </a:txBody>
                  <a:tcPr marL="91440" marR="91440" marT="45720" marB="45720">
                    <a:solidFill>
                      <a:srgbClr val="EAF0F1"/>
                    </a:solidFill>
                  </a:tcPr>
                </a:tc>
                <a:tc>
                  <a:txBody>
                    <a:bodyPr/>
                    <a:lstStyle/>
                    <a:p>
                      <a:r>
                        <a:rPr sz="1725" b="0">
                          <a:solidFill>
                            <a:srgbClr val="173039"/>
                          </a:solidFill>
                          <a:latin typeface="Arial"/>
                          <a:ea typeface="Arial"/>
                          <a:cs typeface="Arial"/>
                        </a:rPr>
                        <a:t>Répartir les livraisons; accepter davantage de véhicules si l’objectif le justifie.</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Solution hybride</a:t>
                      </a:r>
                    </a:p>
                  </a:txBody>
                  <a:tcPr marL="91440" marR="91440" marT="45720" marB="45720">
                    <a:solidFill>
                      <a:srgbClr val="FFFFFF"/>
                    </a:solidFill>
                  </a:tcPr>
                </a:tc>
                <a:tc>
                  <a:txBody>
                    <a:bodyPr/>
                    <a:lstStyle/>
                    <a:p>
                      <a:r>
                        <a:rPr sz="1725" b="0">
                          <a:solidFill>
                            <a:srgbClr val="173039"/>
                          </a:solidFill>
                          <a:latin typeface="Arial"/>
                          <a:ea typeface="Arial"/>
                          <a:cs typeface="Arial"/>
                        </a:rPr>
                        <a:t>Combiner regroupements et véhicules dédiés selon le meilleur candidat faisable.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Décision finale</a:t>
                      </a:r>
                    </a:p>
                  </a:txBody>
                  <a:tcPr marL="91440" marR="91440" marT="45720" marB="45720">
                    <a:solidFill>
                      <a:srgbClr val="EAF0F1"/>
                    </a:solidFill>
                  </a:tcPr>
                </a:tc>
                <a:tc>
                  <a:txBody>
                    <a:bodyPr/>
                    <a:lstStyle/>
                    <a:p>
                      <a:r>
                        <a:rPr sz="1725" b="0">
                          <a:solidFill>
                            <a:srgbClr val="173039"/>
                          </a:solidFill>
                          <a:latin typeface="Arial"/>
                          <a:ea typeface="Arial"/>
                          <a:cs typeface="Arial"/>
                        </a:rPr>
                        <a:t>Comparer les stratégies valides; recontrôler la flotte et les routes à l’admission.</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B701D8DE-6E28-48E0-8D34-AB54B8164B95}"/>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19</a:t>
            </a:r>
          </a:p>
        </p:txBody>
      </p:sp>
    </p:spTree>
    <p:extLst>
      <p:ext uri="{BB962C8B-B14F-4D97-AF65-F5344CB8AC3E}">
        <p14:creationId xmlns:p14="http://schemas.microsoft.com/office/powerpoint/2010/main" val="788106815"/>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89878A-D44B-4AC3-8D6E-7976B4655C0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40570629-0291-45FC-A944-6F77F0B1F7D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Le certificat indépendant</a:t>
            </a:r>
          </a:p>
        </p:txBody>
      </p:sp>
      <p:sp>
        <p:nvSpPr>
          <p:cNvPr id="3" name="">
            <a:extLst xmlns:a="http://schemas.openxmlformats.org/drawingml/2006/main">
              <a:ext uri="{FF2B5EF4-FFF2-40B4-BE49-F238E27FC236}">
                <a16:creationId xmlns:a16="http://schemas.microsoft.com/office/drawing/2014/main" id="{555814DD-698E-4216-A6EA-FA6B76C53D79}"/>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169E38B-1E90-41D8-908C-0064E8FAD987}"/>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Recalculer les contraintes</a:t>
            </a:r>
          </a:p>
        </p:txBody>
      </p:sp>
      <p:sp>
        <p:nvSpPr>
          <p:cNvPr id="5" name="">
            <a:extLst xmlns:a="http://schemas.openxmlformats.org/drawingml/2006/main">
              <a:ext uri="{FF2B5EF4-FFF2-40B4-BE49-F238E27FC236}">
                <a16:creationId xmlns:a16="http://schemas.microsoft.com/office/drawing/2014/main" id="{A1DBAE85-DDFF-4528-8E9A-0FD6BDC08D50}"/>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Contrôler visites, séquence enlèvement/dépôt, capacités et temps.</a:t>
            </a:r>
          </a:p>
        </p:txBody>
      </p:sp>
      <p:sp>
        <p:nvSpPr>
          <p:cNvPr id="6" name="">
            <a:extLst xmlns:a="http://schemas.openxmlformats.org/drawingml/2006/main">
              <a:ext uri="{FF2B5EF4-FFF2-40B4-BE49-F238E27FC236}">
                <a16:creationId xmlns:a16="http://schemas.microsoft.com/office/drawing/2014/main" id="{2EA8CC4E-7E6C-4354-87F8-3A02C2388ADD}"/>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FEC8C82-E044-424E-AD52-ACDD96079808}"/>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Conserver un résultat explicite</a:t>
            </a:r>
          </a:p>
        </p:txBody>
      </p:sp>
      <p:sp>
        <p:nvSpPr>
          <p:cNvPr id="8" name="">
            <a:extLst xmlns:a="http://schemas.openxmlformats.org/drawingml/2006/main">
              <a:ext uri="{FF2B5EF4-FFF2-40B4-BE49-F238E27FC236}">
                <a16:creationId xmlns:a16="http://schemas.microsoft.com/office/drawing/2014/main" id="{5896C054-E011-40F7-8145-0BD7500F0A3A}"/>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Associer validité, violations éventuelles et preuves au plan évalué.</a:t>
            </a:r>
          </a:p>
        </p:txBody>
      </p:sp>
      <p:sp>
        <p:nvSpPr>
          <p:cNvPr id="9" name="">
            <a:extLst xmlns:a="http://schemas.openxmlformats.org/drawingml/2006/main">
              <a:ext uri="{FF2B5EF4-FFF2-40B4-BE49-F238E27FC236}">
                <a16:creationId xmlns:a16="http://schemas.microsoft.com/office/drawing/2014/main" id="{BC466C23-CF48-4B0A-A638-2EC06EF5D89B}"/>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0CECD02-2F01-4FB0-8BDC-F11F12ABC59B}"/>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Respecter le périmètre certifié</a:t>
            </a:r>
          </a:p>
        </p:txBody>
      </p:sp>
      <p:sp>
        <p:nvSpPr>
          <p:cNvPr id="11" name="">
            <a:extLst xmlns:a="http://schemas.openxmlformats.org/drawingml/2006/main">
              <a:ext uri="{FF2B5EF4-FFF2-40B4-BE49-F238E27FC236}">
                <a16:creationId xmlns:a16="http://schemas.microsoft.com/office/drawing/2014/main" id="{76B75D0D-3379-47F2-BB7F-77801C51D8CC}"/>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 suffixe replanifié ne certifie pas rétroactivement toute la journée.</a:t>
            </a:r>
          </a:p>
        </p:txBody>
      </p:sp>
      <p:sp>
        <p:nvSpPr>
          <p:cNvPr id="12" name="">
            <a:extLst xmlns:a="http://schemas.openxmlformats.org/drawingml/2006/main">
              <a:ext uri="{FF2B5EF4-FFF2-40B4-BE49-F238E27FC236}">
                <a16:creationId xmlns:a16="http://schemas.microsoft.com/office/drawing/2014/main" id="{C7A92530-0956-436F-853C-E37296DEF34A}"/>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20</a:t>
            </a:r>
          </a:p>
        </p:txBody>
      </p:sp>
    </p:spTree>
    <p:extLst>
      <p:ext uri="{BB962C8B-B14F-4D97-AF65-F5344CB8AC3E}">
        <p14:creationId xmlns:p14="http://schemas.microsoft.com/office/powerpoint/2010/main" val="2072119361"/>
      </p:ext>
    </p:extLst>
  </p:cSld>
</p:sld>
</file>

<file path=ppt/slides/slide2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2EFC6CC-6897-4CEC-B08E-044A827D1AE9}"/>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3084D7FE-E7AC-4BB1-8F4B-588EAA129130}"/>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Anthropic : des explications bornées</a:t>
            </a:r>
          </a:p>
        </p:txBody>
      </p:sp>
      <p:sp>
        <p:nvSpPr>
          <p:cNvPr id="3" name="">
            <a:extLst xmlns:a="http://schemas.openxmlformats.org/drawingml/2006/main">
              <a:ext uri="{FF2B5EF4-FFF2-40B4-BE49-F238E27FC236}">
                <a16:creationId xmlns:a16="http://schemas.microsoft.com/office/drawing/2014/main" id="{E5273E98-FA40-4EC8-8B59-EA9EB70AA37B}"/>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450AE08-9975-4734-BA3C-4AD0C3863506}"/>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Une seule famille de fournisseur live</a:t>
            </a:r>
          </a:p>
        </p:txBody>
      </p:sp>
      <p:sp>
        <p:nvSpPr>
          <p:cNvPr id="5" name="">
            <a:extLst xmlns:a="http://schemas.openxmlformats.org/drawingml/2006/main">
              <a:ext uri="{FF2B5EF4-FFF2-40B4-BE49-F238E27FC236}">
                <a16:creationId xmlns:a16="http://schemas.microsoft.com/office/drawing/2014/main" id="{A6D844E6-E7EE-4663-8A28-AF620BEACDB4}"/>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runtime utilise Anthropic; aucun fallback OpenAI n’est exécuté.</a:t>
            </a:r>
          </a:p>
        </p:txBody>
      </p:sp>
      <p:sp>
        <p:nvSpPr>
          <p:cNvPr id="6" name="">
            <a:extLst xmlns:a="http://schemas.openxmlformats.org/drawingml/2006/main">
              <a:ext uri="{FF2B5EF4-FFF2-40B4-BE49-F238E27FC236}">
                <a16:creationId xmlns:a16="http://schemas.microsoft.com/office/drawing/2014/main" id="{32BD114F-DD39-4EC8-884F-724B668FB7A4}"/>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F0EC3DD-E551-4C5A-98A1-6A9B668A4867}"/>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Une sortie structurée</a:t>
            </a:r>
          </a:p>
        </p:txBody>
      </p:sp>
      <p:sp>
        <p:nvSpPr>
          <p:cNvPr id="8" name="">
            <a:extLst xmlns:a="http://schemas.openxmlformats.org/drawingml/2006/main">
              <a:ext uri="{FF2B5EF4-FFF2-40B4-BE49-F238E27FC236}">
                <a16:creationId xmlns:a16="http://schemas.microsoft.com/office/drawing/2014/main" id="{719C0CF3-5E62-4129-B3D6-EF38AC428260}"/>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modèle rend summary et evidence_refs; le schéma et les références sont contrôlés.</a:t>
            </a:r>
          </a:p>
        </p:txBody>
      </p:sp>
      <p:sp>
        <p:nvSpPr>
          <p:cNvPr id="9" name="">
            <a:extLst xmlns:a="http://schemas.openxmlformats.org/drawingml/2006/main">
              <a:ext uri="{FF2B5EF4-FFF2-40B4-BE49-F238E27FC236}">
                <a16:creationId xmlns:a16="http://schemas.microsoft.com/office/drawing/2014/main" id="{604EBB00-EDC4-467A-B8AA-B3877F63BA99}"/>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2B267D1-7E0C-42C0-B9C3-0C2BD864B6B8}"/>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Une autorité limitée</a:t>
            </a:r>
          </a:p>
        </p:txBody>
      </p:sp>
      <p:sp>
        <p:nvSpPr>
          <p:cNvPr id="11" name="">
            <a:extLst xmlns:a="http://schemas.openxmlformats.org/drawingml/2006/main">
              <a:ext uri="{FF2B5EF4-FFF2-40B4-BE49-F238E27FC236}">
                <a16:creationId xmlns:a16="http://schemas.microsoft.com/office/drawing/2014/main" id="{EF61F2D1-CADF-4019-8751-B1F291E72EAE}"/>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modèle explique les preuves; il ne modifie pas les contraintes ou les réservations.</a:t>
            </a:r>
          </a:p>
        </p:txBody>
      </p:sp>
      <p:sp>
        <p:nvSpPr>
          <p:cNvPr id="12" name="">
            <a:extLst xmlns:a="http://schemas.openxmlformats.org/drawingml/2006/main">
              <a:ext uri="{FF2B5EF4-FFF2-40B4-BE49-F238E27FC236}">
                <a16:creationId xmlns:a16="http://schemas.microsoft.com/office/drawing/2014/main" id="{272D4F67-64B6-4DB7-9B6C-9377A85702B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21</a:t>
            </a:r>
          </a:p>
        </p:txBody>
      </p:sp>
    </p:spTree>
    <p:extLst>
      <p:ext uri="{BB962C8B-B14F-4D97-AF65-F5344CB8AC3E}">
        <p14:creationId xmlns:p14="http://schemas.microsoft.com/office/powerpoint/2010/main" val="189924796"/>
      </p:ext>
    </p:extLst>
  </p:cSld>
</p:sld>
</file>

<file path=ppt/slides/slide2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A95CCA-47CC-45B3-B71D-7EEB3FD73069}"/>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3743AD6F-B4AD-4CF9-A476-83D54CA9C7AD}"/>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Modèles par complexité de rôle</a:t>
            </a:r>
          </a:p>
        </p:txBody>
      </p:sp>
      <p:graphicFrame>
        <p:nvGraphicFramePr>
          <p:cNvPr id="3" name="">
            <a:extLst xmlns:a="http://schemas.openxmlformats.org/drawingml/2006/main">
              <a:ext uri="{FF2B5EF4-FFF2-40B4-BE49-F238E27FC236}">
                <a16:creationId xmlns:a16="http://schemas.microsoft.com/office/drawing/2014/main" id="{7C6493C9-8EA5-4797-AC13-A87DDC9F36A3}"/>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Planification / optimisation</a:t>
                      </a:r>
                    </a:p>
                  </a:txBody>
                  <a:tcPr marL="91440" marR="91440" marT="45720" marB="45720">
                    <a:solidFill>
                      <a:srgbClr val="FFFFFF"/>
                    </a:solidFill>
                  </a:tcPr>
                </a:tc>
                <a:tc>
                  <a:txBody>
                    <a:bodyPr/>
                    <a:lstStyle/>
                    <a:p>
                      <a:r>
                        <a:rPr sz="1725" b="0">
                          <a:solidFill>
                            <a:srgbClr val="173039"/>
                          </a:solidFill>
                          <a:latin typeface="Arial"/>
                          <a:ea typeface="Arial"/>
                          <a:cs typeface="Arial"/>
                        </a:rPr>
                        <a:t>Famille Sonnet · raisonnement explicatif sur contraintes et stratégies.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Trafic / exception</a:t>
                      </a:r>
                    </a:p>
                  </a:txBody>
                  <a:tcPr marL="91440" marR="91440" marT="45720" marB="45720">
                    <a:solidFill>
                      <a:srgbClr val="EAF0F1"/>
                    </a:solidFill>
                  </a:tcPr>
                </a:tc>
                <a:tc>
                  <a:txBody>
                    <a:bodyPr/>
                    <a:lstStyle/>
                    <a:p>
                      <a:r>
                        <a:rPr sz="1725" b="0">
                          <a:solidFill>
                            <a:srgbClr val="173039"/>
                          </a:solidFill>
                          <a:latin typeface="Arial"/>
                          <a:ea typeface="Arial"/>
                          <a:cs typeface="Arial"/>
                        </a:rPr>
                        <a:t>Famille Haiku · explications bornées des données ou diagnostics.</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Surveillance</a:t>
                      </a:r>
                    </a:p>
                  </a:txBody>
                  <a:tcPr marL="91440" marR="91440" marT="45720" marB="45720">
                    <a:solidFill>
                      <a:srgbClr val="FFFFFF"/>
                    </a:solidFill>
                  </a:tcPr>
                </a:tc>
                <a:tc>
                  <a:txBody>
                    <a:bodyPr/>
                    <a:lstStyle/>
                    <a:p>
                      <a:r>
                        <a:rPr sz="1725" b="0">
                          <a:solidFill>
                            <a:srgbClr val="173039"/>
                          </a:solidFill>
                          <a:latin typeface="Arial"/>
                          <a:ea typeface="Arial"/>
                          <a:cs typeface="Arial"/>
                        </a:rPr>
                        <a:t>Famille Opus · synthèse des preuves et limites du résultat.</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Validation avant appel</a:t>
                      </a:r>
                    </a:p>
                  </a:txBody>
                  <a:tcPr marL="91440" marR="91440" marT="45720" marB="45720">
                    <a:solidFill>
                      <a:srgbClr val="EAF0F1"/>
                    </a:solidFill>
                  </a:tcPr>
                </a:tc>
                <a:tc>
                  <a:txBody>
                    <a:bodyPr/>
                    <a:lstStyle/>
                    <a:p>
                      <a:r>
                        <a:rPr sz="1725" b="0">
                          <a:solidFill>
                            <a:srgbClr val="173039"/>
                          </a:solidFill>
                          <a:latin typeface="Arial"/>
                          <a:ea typeface="Arial"/>
                          <a:cs typeface="Arial"/>
                        </a:rPr>
                        <a:t>Identifiant configuré + clé + tarif valide; pas de substitution silencieuse.</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CC94FEAF-6852-43B8-B63A-9D8C9400C088}"/>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Profils documentés du dépôt; disponibilité et configuration privées non inspectées.</a:t>
            </a:r>
          </a:p>
        </p:txBody>
      </p:sp>
      <p:sp>
        <p:nvSpPr>
          <p:cNvPr id="5" name="">
            <a:extLst xmlns:a="http://schemas.openxmlformats.org/drawingml/2006/main">
              <a:ext uri="{FF2B5EF4-FFF2-40B4-BE49-F238E27FC236}">
                <a16:creationId xmlns:a16="http://schemas.microsoft.com/office/drawing/2014/main" id="{6B2BEB57-206D-4497-9449-F00471E23F6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22</a:t>
            </a:r>
          </a:p>
        </p:txBody>
      </p:sp>
    </p:spTree>
    <p:extLst>
      <p:ext uri="{BB962C8B-B14F-4D97-AF65-F5344CB8AC3E}">
        <p14:creationId xmlns:p14="http://schemas.microsoft.com/office/powerpoint/2010/main" val="725048503"/>
      </p:ext>
    </p:extLst>
  </p:cSld>
</p:sld>
</file>

<file path=ppt/slides/slide2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0790F2-91C7-4356-A695-745A2E6689A0}"/>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BB8EF8FF-F006-4F21-836B-758821706B79}"/>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Cinq rôles ne signifient pas cinq appels</a:t>
            </a:r>
          </a:p>
        </p:txBody>
      </p:sp>
      <p:graphicFrame>
        <p:nvGraphicFramePr>
          <p:cNvPr id="3" name="">
            <a:extLst xmlns:a="http://schemas.openxmlformats.org/drawingml/2006/main">
              <a:ext uri="{FF2B5EF4-FFF2-40B4-BE49-F238E27FC236}">
                <a16:creationId xmlns:a16="http://schemas.microsoft.com/office/drawing/2014/main" id="{CC8E0930-22CA-493E-AF21-29997B6BEC86}"/>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Fixture</a:t>
                      </a:r>
                    </a:p>
                  </a:txBody>
                  <a:tcPr marL="91440" marR="91440" marT="45720" marB="45720">
                    <a:solidFill>
                      <a:srgbClr val="FFFFFF"/>
                    </a:solidFill>
                  </a:tcPr>
                </a:tc>
                <a:tc>
                  <a:txBody>
                    <a:bodyPr/>
                    <a:lstStyle/>
                    <a:p>
                      <a:r>
                        <a:rPr sz="1725" b="0">
                          <a:solidFill>
                            <a:srgbClr val="173039"/>
                          </a:solidFill>
                          <a:latin typeface="Arial"/>
                          <a:ea typeface="Arial"/>
                          <a:cs typeface="Arial"/>
                        </a:rPr>
                        <a:t>Aucun appel au modèle; outils et preuves déterministes.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Live · always</a:t>
                      </a:r>
                    </a:p>
                  </a:txBody>
                  <a:tcPr marL="91440" marR="91440" marT="45720" marB="45720">
                    <a:solidFill>
                      <a:srgbClr val="EAF0F1"/>
                    </a:solidFill>
                  </a:tcPr>
                </a:tc>
                <a:tc>
                  <a:txBody>
                    <a:bodyPr/>
                    <a:lstStyle/>
                    <a:p>
                      <a:r>
                        <a:rPr sz="1725" b="0">
                          <a:solidFill>
                            <a:srgbClr val="173039"/>
                          </a:solidFill>
                          <a:latin typeface="Arial"/>
                          <a:ea typeface="Arial"/>
                          <a:cs typeface="Arial"/>
                        </a:rPr>
                        <a:t>Cinq explications dans une exécution normale complète.</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Live · routine sans réemploi</a:t>
                      </a:r>
                    </a:p>
                  </a:txBody>
                  <a:tcPr marL="91440" marR="91440" marT="45720" marB="45720">
                    <a:solidFill>
                      <a:srgbClr val="FFFFFF"/>
                    </a:solidFill>
                  </a:tcPr>
                </a:tc>
                <a:tc>
                  <a:txBody>
                    <a:bodyPr/>
                    <a:lstStyle/>
                    <a:p>
                      <a:r>
                        <a:rPr sz="1725" b="0">
                          <a:solidFill>
                            <a:srgbClr val="173039"/>
                          </a:solidFill>
                          <a:latin typeface="Arial"/>
                          <a:ea typeface="Arial"/>
                          <a:cs typeface="Arial"/>
                        </a:rPr>
                        <a:t>Planification et trafic sans explication; trois appels restants.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Routine avec réemploi revalidé</a:t>
                      </a:r>
                    </a:p>
                  </a:txBody>
                  <a:tcPr marL="91440" marR="91440" marT="45720" marB="45720">
                    <a:solidFill>
                      <a:srgbClr val="EAF0F1"/>
                    </a:solidFill>
                  </a:tcPr>
                </a:tc>
                <a:tc>
                  <a:txBody>
                    <a:bodyPr/>
                    <a:lstStyle/>
                    <a:p>
                      <a:r>
                        <a:rPr sz="1725" b="0">
                          <a:solidFill>
                            <a:srgbClr val="173039"/>
                          </a:solidFill>
                          <a:latin typeface="Arial"/>
                          <a:ea typeface="Arial"/>
                          <a:cs typeface="Arial"/>
                        </a:rPr>
                        <a:t>Les cinq explications sont omises; les outils continuent de fonctionner.</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7EB36D05-9FFB-4708-A460-50570FEAF63B}"/>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23</a:t>
            </a:r>
          </a:p>
        </p:txBody>
      </p:sp>
    </p:spTree>
    <p:extLst>
      <p:ext uri="{BB962C8B-B14F-4D97-AF65-F5344CB8AC3E}">
        <p14:creationId xmlns:p14="http://schemas.microsoft.com/office/powerpoint/2010/main" val="747843097"/>
      </p:ext>
    </p:extLst>
  </p:cSld>
</p:sld>
</file>

<file path=ppt/slides/slide2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1602D7-067B-4CF7-BC0A-6C1B54670CC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6CC9D212-8F45-402D-A69B-FB5DC91E61CD}"/>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Mémoire des trajets usuels</a:t>
            </a:r>
          </a:p>
        </p:txBody>
      </p:sp>
      <p:sp>
        <p:nvSpPr>
          <p:cNvPr id="3" name="">
            <a:extLst xmlns:a="http://schemas.openxmlformats.org/drawingml/2006/main">
              <a:ext uri="{FF2B5EF4-FFF2-40B4-BE49-F238E27FC236}">
                <a16:creationId xmlns:a16="http://schemas.microsoft.com/office/drawing/2014/main" id="{A25E57B3-14E9-4333-B148-72457354D620}"/>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634E7DD-1FAF-47B9-88CF-BA6173B6F8B1}"/>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Retrouver les missions comparables</a:t>
            </a:r>
          </a:p>
        </p:txBody>
      </p:sp>
      <p:sp>
        <p:nvSpPr>
          <p:cNvPr id="5" name="">
            <a:extLst xmlns:a="http://schemas.openxmlformats.org/drawingml/2006/main">
              <a:ext uri="{FF2B5EF4-FFF2-40B4-BE49-F238E27FC236}">
                <a16:creationId xmlns:a16="http://schemas.microsoft.com/office/drawing/2014/main" id="{92ABE343-6EEA-42C8-BCA9-6CA8320433E5}"/>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Lire l’historique borné de trajets et identifier les missions entièrement terminées.</a:t>
            </a:r>
          </a:p>
        </p:txBody>
      </p:sp>
      <p:sp>
        <p:nvSpPr>
          <p:cNvPr id="6" name="">
            <a:extLst xmlns:a="http://schemas.openxmlformats.org/drawingml/2006/main">
              <a:ext uri="{FF2B5EF4-FFF2-40B4-BE49-F238E27FC236}">
                <a16:creationId xmlns:a16="http://schemas.microsoft.com/office/drawing/2014/main" id="{8B7940F3-8872-4945-A2C2-A4D5270D4B61}"/>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FE14A76-0686-445F-B92D-35789D428F75}"/>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Rejouer les contraintes actuelles</a:t>
            </a:r>
          </a:p>
        </p:txBody>
      </p:sp>
      <p:sp>
        <p:nvSpPr>
          <p:cNvPr id="8" name="">
            <a:extLst xmlns:a="http://schemas.openxmlformats.org/drawingml/2006/main">
              <a:ext uri="{FF2B5EF4-FFF2-40B4-BE49-F238E27FC236}">
                <a16:creationId xmlns:a16="http://schemas.microsoft.com/office/drawing/2014/main" id="{C3F1B67C-AF49-404D-AD29-41E61978DB58}"/>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Reconstruire l’ancien ordre de visites, le certifier et le comparer à la sélection actuelle.</a:t>
            </a:r>
          </a:p>
        </p:txBody>
      </p:sp>
      <p:sp>
        <p:nvSpPr>
          <p:cNvPr id="9" name="">
            <a:extLst xmlns:a="http://schemas.openxmlformats.org/drawingml/2006/main">
              <a:ext uri="{FF2B5EF4-FFF2-40B4-BE49-F238E27FC236}">
                <a16:creationId xmlns:a16="http://schemas.microsoft.com/office/drawing/2014/main" id="{8EEA2756-273B-4E50-B360-D1BFB4E63EBB}"/>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06508A1-B440-4CD6-A471-ED466DF5EAAE}"/>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Économiser des explications</a:t>
            </a:r>
          </a:p>
        </p:txBody>
      </p:sp>
      <p:sp>
        <p:nvSpPr>
          <p:cNvPr id="11" name="">
            <a:extLst xmlns:a="http://schemas.openxmlformats.org/drawingml/2006/main">
              <a:ext uri="{FF2B5EF4-FFF2-40B4-BE49-F238E27FC236}">
                <a16:creationId xmlns:a16="http://schemas.microsoft.com/office/drawing/2014/main" id="{E8B5ACC8-33BD-4F5D-8DBD-3BAAA769FD76}"/>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Omettre les appels seulement si le contexte réutilisé reste compatible et validé.</a:t>
            </a:r>
          </a:p>
        </p:txBody>
      </p:sp>
      <p:sp>
        <p:nvSpPr>
          <p:cNvPr id="12" name="">
            <a:extLst xmlns:a="http://schemas.openxmlformats.org/drawingml/2006/main">
              <a:ext uri="{FF2B5EF4-FFF2-40B4-BE49-F238E27FC236}">
                <a16:creationId xmlns:a16="http://schemas.microsoft.com/office/drawing/2014/main" id="{CA4F8274-88C4-49D7-BE24-79AC84BBD0D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24</a:t>
            </a:r>
          </a:p>
        </p:txBody>
      </p:sp>
    </p:spTree>
    <p:extLst>
      <p:ext uri="{BB962C8B-B14F-4D97-AF65-F5344CB8AC3E}">
        <p14:creationId xmlns:p14="http://schemas.microsoft.com/office/powerpoint/2010/main" val="1052878706"/>
      </p:ext>
    </p:extLst>
  </p:cSld>
</p:sld>
</file>

<file path=ppt/slides/slide2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35F7D8-0E82-423C-949A-50BD9110FBF0}"/>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81664D3-139F-4EAE-B3A1-8746ACF2A5C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Ce que la mémoire mesure vraiment</a:t>
            </a:r>
          </a:p>
        </p:txBody>
      </p:sp>
      <p:graphicFrame>
        <p:nvGraphicFramePr>
          <p:cNvPr id="3" name="">
            <a:extLst xmlns:a="http://schemas.openxmlformats.org/drawingml/2006/main">
              <a:ext uri="{FF2B5EF4-FFF2-40B4-BE49-F238E27FC236}">
                <a16:creationId xmlns:a16="http://schemas.microsoft.com/office/drawing/2014/main" id="{7A504225-39A9-438D-A327-74CB13CB572C}"/>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Distance de mission</a:t>
                      </a:r>
                    </a:p>
                  </a:txBody>
                  <a:tcPr marL="91440" marR="91440" marT="45720" marB="45720">
                    <a:solidFill>
                      <a:srgbClr val="FFFFFF"/>
                    </a:solidFill>
                  </a:tcPr>
                </a:tc>
                <a:tc>
                  <a:txBody>
                    <a:bodyPr/>
                    <a:lstStyle/>
                    <a:p>
                      <a:r>
                        <a:rPr sz="1725" b="0">
                          <a:solidFill>
                            <a:srgbClr val="173039"/>
                          </a:solidFill>
                          <a:latin typeface="Arial"/>
                          <a:ea typeface="Arial"/>
                          <a:cs typeface="Arial"/>
                        </a:rPr>
                        <a:t>Somme de la distance simulée des véhicules de la mission.</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Temps de mission</a:t>
                      </a:r>
                    </a:p>
                  </a:txBody>
                  <a:tcPr marL="91440" marR="91440" marT="45720" marB="45720">
                    <a:solidFill>
                      <a:srgbClr val="EAF0F1"/>
                    </a:solidFill>
                  </a:tcPr>
                </a:tc>
                <a:tc>
                  <a:txBody>
                    <a:bodyPr/>
                    <a:lstStyle/>
                    <a:p>
                      <a:r>
                        <a:rPr sz="1725" b="0">
                          <a:solidFill>
                            <a:srgbClr val="173039"/>
                          </a:solidFill>
                          <a:latin typeface="Arial"/>
                          <a:ea typeface="Arial"/>
                          <a:cs typeface="Arial"/>
                        </a:rPr>
                        <a:t>Durée jusqu’à la fin du dernier véhicule : makespan simulé.</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Cadence</a:t>
                      </a:r>
                    </a:p>
                  </a:txBody>
                  <a:tcPr marL="91440" marR="91440" marT="45720" marB="45720">
                    <a:solidFill>
                      <a:srgbClr val="FFFFFF"/>
                    </a:solidFill>
                  </a:tcPr>
                </a:tc>
                <a:tc>
                  <a:txBody>
                    <a:bodyPr/>
                    <a:lstStyle/>
                    <a:p>
                      <a:r>
                        <a:rPr sz="1725" b="0">
                          <a:solidFill>
                            <a:srgbClr val="173039"/>
                          </a:solidFill>
                          <a:latin typeface="Arial"/>
                          <a:ea typeface="Arial"/>
                          <a:cs typeface="Arial"/>
                        </a:rPr>
                        <a:t>Livraisons terminées par heure de simulation; pas de productivité GPS.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Limite de comparaison</a:t>
                      </a:r>
                    </a:p>
                  </a:txBody>
                  <a:tcPr marL="91440" marR="91440" marT="45720" marB="45720">
                    <a:solidFill>
                      <a:srgbClr val="EAF0F1"/>
                    </a:solidFill>
                  </a:tcPr>
                </a:tc>
                <a:tc>
                  <a:txBody>
                    <a:bodyPr/>
                    <a:lstStyle/>
                    <a:p>
                      <a:r>
                        <a:rPr sz="1725" b="0">
                          <a:solidFill>
                            <a:srgbClr val="173039"/>
                          </a:solidFill>
                          <a:latin typeface="Arial"/>
                          <a:ea typeface="Arial"/>
                          <a:cs typeface="Arial"/>
                        </a:rPr>
                        <a:t>Origines, contraintes et véhicules différents peuvent fausser un classement naïf.</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D0F51DC6-D625-4E64-8F9D-8A6AB31C076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25</a:t>
            </a:r>
          </a:p>
        </p:txBody>
      </p:sp>
    </p:spTree>
    <p:extLst>
      <p:ext uri="{BB962C8B-B14F-4D97-AF65-F5344CB8AC3E}">
        <p14:creationId xmlns:p14="http://schemas.microsoft.com/office/powerpoint/2010/main" val="1854338808"/>
      </p:ext>
    </p:extLst>
  </p:cSld>
</p:sld>
</file>

<file path=ppt/slides/slide2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ED73BD-D7AD-47EC-8BC3-D91626435E26}"/>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17EA6C9A-A464-4D3B-9331-94B0C4B61CC3}"/>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Mesure de chaque appel</a:t>
            </a:r>
          </a:p>
        </p:txBody>
      </p:sp>
      <p:sp>
        <p:nvSpPr>
          <p:cNvPr id="3" name="">
            <a:extLst xmlns:a="http://schemas.openxmlformats.org/drawingml/2006/main">
              <a:ext uri="{FF2B5EF4-FFF2-40B4-BE49-F238E27FC236}">
                <a16:creationId xmlns:a16="http://schemas.microsoft.com/office/drawing/2014/main" id="{BEC617EC-AF3C-468B-A7CB-280915691FCF}"/>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049D8B6-8454-40C0-8885-FA92ABD77BB7}"/>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Tentative fournisseur</a:t>
            </a:r>
          </a:p>
        </p:txBody>
      </p:sp>
      <p:sp>
        <p:nvSpPr>
          <p:cNvPr id="5" name="">
            <a:extLst xmlns:a="http://schemas.openxmlformats.org/drawingml/2006/main">
              <a:ext uri="{FF2B5EF4-FFF2-40B4-BE49-F238E27FC236}">
                <a16:creationId xmlns:a16="http://schemas.microsoft.com/office/drawing/2014/main" id="{3F0E8B21-D069-461E-989C-CC52173F6528}"/>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Associer rôle, modèle, statut, latence et référence de requête.</a:t>
            </a:r>
          </a:p>
        </p:txBody>
      </p:sp>
      <p:sp>
        <p:nvSpPr>
          <p:cNvPr id="6" name="">
            <a:extLst xmlns:a="http://schemas.openxmlformats.org/drawingml/2006/main">
              <a:ext uri="{FF2B5EF4-FFF2-40B4-BE49-F238E27FC236}">
                <a16:creationId xmlns:a16="http://schemas.microsoft.com/office/drawing/2014/main" id="{F04221BC-7F77-4B45-A3C3-D638DBF36178}"/>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6E31E9F-8FC7-488F-9164-5745B221217E}"/>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Usage déclaré</a:t>
            </a:r>
          </a:p>
        </p:txBody>
      </p:sp>
      <p:sp>
        <p:nvSpPr>
          <p:cNvPr id="8" name="">
            <a:extLst xmlns:a="http://schemas.openxmlformats.org/drawingml/2006/main">
              <a:ext uri="{FF2B5EF4-FFF2-40B4-BE49-F238E27FC236}">
                <a16:creationId xmlns:a16="http://schemas.microsoft.com/office/drawing/2014/main" id="{AADE16FD-3A49-43F3-9D7E-3A04F1A26F3E}"/>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Conserver entrée, sortie et catégories de cache facturables lorsqu’elles sont connues.</a:t>
            </a:r>
          </a:p>
        </p:txBody>
      </p:sp>
      <p:sp>
        <p:nvSpPr>
          <p:cNvPr id="9" name="">
            <a:extLst xmlns:a="http://schemas.openxmlformats.org/drawingml/2006/main">
              <a:ext uri="{FF2B5EF4-FFF2-40B4-BE49-F238E27FC236}">
                <a16:creationId xmlns:a16="http://schemas.microsoft.com/office/drawing/2014/main" id="{9BB5D008-E3C2-4562-9B99-69503B09AB8B}"/>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92F297E-EC31-406C-822D-551595A1D8F6}"/>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Agrégats consultables</a:t>
            </a:r>
          </a:p>
        </p:txBody>
      </p:sp>
      <p:sp>
        <p:nvSpPr>
          <p:cNvPr id="11" name="">
            <a:extLst xmlns:a="http://schemas.openxmlformats.org/drawingml/2006/main">
              <a:ext uri="{FF2B5EF4-FFF2-40B4-BE49-F238E27FC236}">
                <a16:creationId xmlns:a16="http://schemas.microsoft.com/office/drawing/2014/main" id="{7643379E-91BA-4B0E-91E3-E609F0128EC9}"/>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Additionner les charges connues tout en signalant les réservations et données absentes.</a:t>
            </a:r>
          </a:p>
        </p:txBody>
      </p:sp>
      <p:sp>
        <p:nvSpPr>
          <p:cNvPr id="12" name="">
            <a:extLst xmlns:a="http://schemas.openxmlformats.org/drawingml/2006/main">
              <a:ext uri="{FF2B5EF4-FFF2-40B4-BE49-F238E27FC236}">
                <a16:creationId xmlns:a16="http://schemas.microsoft.com/office/drawing/2014/main" id="{24F93C73-0351-46E1-AF3F-1449624291E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26</a:t>
            </a:r>
          </a:p>
        </p:txBody>
      </p:sp>
    </p:spTree>
    <p:extLst>
      <p:ext uri="{BB962C8B-B14F-4D97-AF65-F5344CB8AC3E}">
        <p14:creationId xmlns:p14="http://schemas.microsoft.com/office/powerpoint/2010/main" val="1365461761"/>
      </p:ext>
    </p:extLst>
  </p:cSld>
</p:sld>
</file>

<file path=ppt/slides/slide2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D87F03-64B1-4CF5-80C6-DF67B2DF96E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06E7B8A0-A4E9-405E-8F34-9DBFD37645D2}"/>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Plafond partagé de C$100</a:t>
            </a:r>
          </a:p>
        </p:txBody>
      </p:sp>
      <p:sp>
        <p:nvSpPr>
          <p:cNvPr id="3" name="">
            <a:extLst xmlns:a="http://schemas.openxmlformats.org/drawingml/2006/main">
              <a:ext uri="{FF2B5EF4-FFF2-40B4-BE49-F238E27FC236}">
                <a16:creationId xmlns:a16="http://schemas.microsoft.com/office/drawing/2014/main" id="{95FB92C5-5FF6-4FA1-9773-851EE55868C7}"/>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B296CBE-8D82-4D37-91D2-8B4DEDEC0E07}"/>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Réserver avant l’appel</a:t>
            </a:r>
          </a:p>
        </p:txBody>
      </p:sp>
      <p:sp>
        <p:nvSpPr>
          <p:cNvPr id="5" name="">
            <a:extLst xmlns:a="http://schemas.openxmlformats.org/drawingml/2006/main">
              <a:ext uri="{FF2B5EF4-FFF2-40B4-BE49-F238E27FC236}">
                <a16:creationId xmlns:a16="http://schemas.microsoft.com/office/drawing/2014/main" id="{8693011B-BC02-402B-A463-A7CA416B6393}"/>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Borne d’entrée prudente + sortie maximale, sous limites de run et de projet.</a:t>
            </a:r>
          </a:p>
        </p:txBody>
      </p:sp>
      <p:sp>
        <p:nvSpPr>
          <p:cNvPr id="6" name="">
            <a:extLst xmlns:a="http://schemas.openxmlformats.org/drawingml/2006/main">
              <a:ext uri="{FF2B5EF4-FFF2-40B4-BE49-F238E27FC236}">
                <a16:creationId xmlns:a16="http://schemas.microsoft.com/office/drawing/2014/main" id="{6956837F-01AF-4A3D-B8AB-FB7AB4E6195A}"/>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ECEC5C-96FD-4A90-BEBB-3EFE15D14A76}"/>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Régler avec l’usage connu</a:t>
            </a:r>
          </a:p>
        </p:txBody>
      </p:sp>
      <p:sp>
        <p:nvSpPr>
          <p:cNvPr id="8" name="">
            <a:extLst xmlns:a="http://schemas.openxmlformats.org/drawingml/2006/main">
              <a:ext uri="{FF2B5EF4-FFF2-40B4-BE49-F238E27FC236}">
                <a16:creationId xmlns:a16="http://schemas.microsoft.com/office/drawing/2014/main" id="{D649C116-2FDE-4367-8270-209D49D08CFF}"/>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Enregistrer la charge estimée et libérer la partie de réserve qui n’est plus nécessaire.</a:t>
            </a:r>
          </a:p>
        </p:txBody>
      </p:sp>
      <p:sp>
        <p:nvSpPr>
          <p:cNvPr id="9" name="">
            <a:extLst xmlns:a="http://schemas.openxmlformats.org/drawingml/2006/main">
              <a:ext uri="{FF2B5EF4-FFF2-40B4-BE49-F238E27FC236}">
                <a16:creationId xmlns:a16="http://schemas.microsoft.com/office/drawing/2014/main" id="{DE8C776F-5C0A-4053-85E6-3D58526CE820}"/>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0C93EBF-6A1C-419B-8C69-61B20F76D7F9}"/>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Bloquer les nouvelles dépenses</a:t>
            </a:r>
          </a:p>
        </p:txBody>
      </p:sp>
      <p:sp>
        <p:nvSpPr>
          <p:cNvPr id="11" name="">
            <a:extLst xmlns:a="http://schemas.openxmlformats.org/drawingml/2006/main">
              <a:ext uri="{FF2B5EF4-FFF2-40B4-BE49-F238E27FC236}">
                <a16:creationId xmlns:a16="http://schemas.microsoft.com/office/drawing/2014/main" id="{4B84916F-D036-44AD-A99F-D1BEABCB44DD}"/>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connu + le retenu doit rester admissible; un dépassement constaté gèle les appels.</a:t>
            </a:r>
          </a:p>
        </p:txBody>
      </p:sp>
      <p:sp>
        <p:nvSpPr>
          <p:cNvPr id="12" name="">
            <a:extLst xmlns:a="http://schemas.openxmlformats.org/drawingml/2006/main">
              <a:ext uri="{FF2B5EF4-FFF2-40B4-BE49-F238E27FC236}">
                <a16:creationId xmlns:a16="http://schemas.microsoft.com/office/drawing/2014/main" id="{10519864-1390-4542-99F6-1556601B7412}"/>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27</a:t>
            </a:r>
          </a:p>
        </p:txBody>
      </p:sp>
    </p:spTree>
    <p:extLst>
      <p:ext uri="{BB962C8B-B14F-4D97-AF65-F5344CB8AC3E}">
        <p14:creationId xmlns:p14="http://schemas.microsoft.com/office/powerpoint/2010/main" val="788252705"/>
      </p:ext>
    </p:extLst>
  </p:cSld>
</p:sld>
</file>

<file path=ppt/slides/slide2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A02698-3FDC-4ECB-B59D-35D4A322F1BE}"/>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9CE76CEB-D34E-4887-B36D-2F6668C648C3}"/>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Erreurs et facturation incertaine</a:t>
            </a:r>
          </a:p>
        </p:txBody>
      </p:sp>
      <p:graphicFrame>
        <p:nvGraphicFramePr>
          <p:cNvPr id="3" name="">
            <a:extLst xmlns:a="http://schemas.openxmlformats.org/drawingml/2006/main">
              <a:ext uri="{FF2B5EF4-FFF2-40B4-BE49-F238E27FC236}">
                <a16:creationId xmlns:a16="http://schemas.microsoft.com/office/drawing/2014/main" id="{74ABF3C3-73F8-4E48-AEF4-D84B01EBD0E3}"/>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Rate limit explicitement rejeté</a:t>
                      </a:r>
                    </a:p>
                  </a:txBody>
                  <a:tcPr marL="91440" marR="91440" marT="45720" marB="45720">
                    <a:solidFill>
                      <a:srgbClr val="FFFFFF"/>
                    </a:solidFill>
                  </a:tcPr>
                </a:tc>
                <a:tc>
                  <a:txBody>
                    <a:bodyPr/>
                    <a:lstStyle/>
                    <a:p>
                      <a:r>
                        <a:rPr sz="1725" b="0">
                          <a:solidFill>
                            <a:srgbClr val="173039"/>
                          </a:solidFill>
                          <a:latin typeface="Arial"/>
                          <a:ea typeface="Arial"/>
                          <a:cs typeface="Arial"/>
                        </a:rPr>
                        <a:t>Retry borné; jusqu’à trois tentatives selon la politique actuelle.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Usage connu, sortie invalide</a:t>
                      </a:r>
                    </a:p>
                  </a:txBody>
                  <a:tcPr marL="91440" marR="91440" marT="45720" marB="45720">
                    <a:solidFill>
                      <a:srgbClr val="EAF0F1"/>
                    </a:solidFill>
                  </a:tcPr>
                </a:tc>
                <a:tc>
                  <a:txBody>
                    <a:bodyPr/>
                    <a:lstStyle/>
                    <a:p>
                      <a:r>
                        <a:rPr sz="1725" b="0">
                          <a:solidFill>
                            <a:srgbClr val="173039"/>
                          </a:solidFill>
                          <a:latin typeface="Arial"/>
                          <a:ea typeface="Arial"/>
                          <a:cs typeface="Arial"/>
                        </a:rPr>
                        <a:t>Conserver la charge; refuser le résultat métier non conforme.</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Réponse ambiguë ou usage absent</a:t>
                      </a:r>
                    </a:p>
                  </a:txBody>
                  <a:tcPr marL="91440" marR="91440" marT="45720" marB="45720">
                    <a:solidFill>
                      <a:srgbClr val="FFFFFF"/>
                    </a:solidFill>
                  </a:tcPr>
                </a:tc>
                <a:tc>
                  <a:txBody>
                    <a:bodyPr/>
                    <a:lstStyle/>
                    <a:p>
                      <a:r>
                        <a:rPr sz="1725" b="0">
                          <a:solidFill>
                            <a:srgbClr val="173039"/>
                          </a:solidFill>
                          <a:latin typeface="Arial"/>
                          <a:ea typeface="Arial"/>
                          <a:cs typeface="Arial"/>
                        </a:rPr>
                        <a:t>Garder la réserve et interdire la réémission automatique.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Charge au-delà de la réserve</a:t>
                      </a:r>
                    </a:p>
                  </a:txBody>
                  <a:tcPr marL="91440" marR="91440" marT="45720" marB="45720">
                    <a:solidFill>
                      <a:srgbClr val="EAF0F1"/>
                    </a:solidFill>
                  </a:tcPr>
                </a:tc>
                <a:tc>
                  <a:txBody>
                    <a:bodyPr/>
                    <a:lstStyle/>
                    <a:p>
                      <a:r>
                        <a:rPr sz="1725" b="0">
                          <a:solidFill>
                            <a:srgbClr val="173039"/>
                          </a:solidFill>
                          <a:latin typeface="Arial"/>
                          <a:ea typeface="Arial"/>
                          <a:cs typeface="Arial"/>
                        </a:rPr>
                        <a:t>Persister la charge connue et geler les nouveaux appels.</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4E7919EE-7AC7-464F-B4D2-588FF5681AA9}"/>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28</a:t>
            </a:r>
          </a:p>
        </p:txBody>
      </p:sp>
    </p:spTree>
    <p:extLst>
      <p:ext uri="{BB962C8B-B14F-4D97-AF65-F5344CB8AC3E}">
        <p14:creationId xmlns:p14="http://schemas.microsoft.com/office/powerpoint/2010/main" val="1002865800"/>
      </p:ext>
    </p:extLst>
  </p:cSld>
</p:sld>
</file>

<file path=ppt/slides/slide2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68AE47-1169-4BB9-A5E8-0BB3F2D88D15}"/>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63A62449-D613-4414-AEE7-26985B906CF0}"/>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Courriel lorsque le budget bloque</a:t>
            </a:r>
          </a:p>
        </p:txBody>
      </p:sp>
      <p:sp>
        <p:nvSpPr>
          <p:cNvPr id="3" name="">
            <a:extLst xmlns:a="http://schemas.openxmlformats.org/drawingml/2006/main">
              <a:ext uri="{FF2B5EF4-FFF2-40B4-BE49-F238E27FC236}">
                <a16:creationId xmlns:a16="http://schemas.microsoft.com/office/drawing/2014/main" id="{FEE6F620-0F6A-436E-A6CC-4D4C0C640BF1}"/>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6B9DD6A-B689-4162-A7D5-007075D1DDE6}"/>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Déclenchement durable</a:t>
            </a:r>
          </a:p>
        </p:txBody>
      </p:sp>
      <p:sp>
        <p:nvSpPr>
          <p:cNvPr id="5" name="">
            <a:extLst xmlns:a="http://schemas.openxmlformats.org/drawingml/2006/main">
              <a:ext uri="{FF2B5EF4-FFF2-40B4-BE49-F238E27FC236}">
                <a16:creationId xmlns:a16="http://schemas.microsoft.com/office/drawing/2014/main" id="{F7053A4F-2585-40BC-8A56-72F17B8EE089}"/>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Une alerte logique pour épuisement, refus global de réservation ou gel du projet.</a:t>
            </a:r>
          </a:p>
        </p:txBody>
      </p:sp>
      <p:sp>
        <p:nvSpPr>
          <p:cNvPr id="6" name="">
            <a:extLst xmlns:a="http://schemas.openxmlformats.org/drawingml/2006/main">
              <a:ext uri="{FF2B5EF4-FFF2-40B4-BE49-F238E27FC236}">
                <a16:creationId xmlns:a16="http://schemas.microsoft.com/office/drawing/2014/main" id="{F3A7DEFF-BDF0-42EB-BDB7-0008A3A204FE}"/>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C95C1B8-0D34-41D6-A09C-207F0488F4D6}"/>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Envoi séparé</a:t>
            </a:r>
          </a:p>
        </p:txBody>
      </p:sp>
      <p:sp>
        <p:nvSpPr>
          <p:cNvPr id="8" name="">
            <a:extLst xmlns:a="http://schemas.openxmlformats.org/drawingml/2006/main">
              <a:ext uri="{FF2B5EF4-FFF2-40B4-BE49-F238E27FC236}">
                <a16:creationId xmlns:a16="http://schemas.microsoft.com/office/drawing/2014/main" id="{1D80B0F9-DD43-4590-A8E6-0ECD887FEE29}"/>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worker SMTP travaille hors transaction de budget, avec TLS et une revendication durable.</a:t>
            </a:r>
          </a:p>
        </p:txBody>
      </p:sp>
      <p:sp>
        <p:nvSpPr>
          <p:cNvPr id="9" name="">
            <a:extLst xmlns:a="http://schemas.openxmlformats.org/drawingml/2006/main">
              <a:ext uri="{FF2B5EF4-FFF2-40B4-BE49-F238E27FC236}">
                <a16:creationId xmlns:a16="http://schemas.microsoft.com/office/drawing/2014/main" id="{1F7DACE6-3A20-4A95-8D92-BD2AAB31E652}"/>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C162A8F-6A80-4546-BFFB-29898A1268AF}"/>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État honnête</a:t>
            </a:r>
          </a:p>
        </p:txBody>
      </p:sp>
      <p:sp>
        <p:nvSpPr>
          <p:cNvPr id="11" name="">
            <a:extLst xmlns:a="http://schemas.openxmlformats.org/drawingml/2006/main">
              <a:ext uri="{FF2B5EF4-FFF2-40B4-BE49-F238E27FC236}">
                <a16:creationId xmlns:a16="http://schemas.microsoft.com/office/drawing/2014/main" id="{D9E2CE32-8A75-4BD2-A338-E970A5AC36A4}"/>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Accepté par SMTP ne prouve pas la réception; un envoi incertain n’est pas répété.</a:t>
            </a:r>
          </a:p>
        </p:txBody>
      </p:sp>
      <p:sp>
        <p:nvSpPr>
          <p:cNvPr id="12" name="">
            <a:extLst xmlns:a="http://schemas.openxmlformats.org/drawingml/2006/main">
              <a:ext uri="{FF2B5EF4-FFF2-40B4-BE49-F238E27FC236}">
                <a16:creationId xmlns:a16="http://schemas.microsoft.com/office/drawing/2014/main" id="{B4B64B44-2895-454C-BEA1-E97EA733BF7B}"/>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29</a:t>
            </a:r>
          </a:p>
        </p:txBody>
      </p:sp>
    </p:spTree>
    <p:extLst>
      <p:ext uri="{BB962C8B-B14F-4D97-AF65-F5344CB8AC3E}">
        <p14:creationId xmlns:p14="http://schemas.microsoft.com/office/powerpoint/2010/main" val="849504846"/>
      </p:ext>
    </p:extLst>
  </p:cSld>
</p:sld>
</file>

<file path=ppt/slides/slide3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E96C2E-4DC5-4CCE-A804-A70E3D8E1C9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0918B902-C641-4E89-8070-62C9343C8FFF}"/>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Deux horloges et une carte inspectable</a:t>
            </a:r>
          </a:p>
        </p:txBody>
      </p:sp>
      <p:sp>
        <p:nvSpPr>
          <p:cNvPr id="3" name="">
            <a:extLst xmlns:a="http://schemas.openxmlformats.org/drawingml/2006/main">
              <a:ext uri="{FF2B5EF4-FFF2-40B4-BE49-F238E27FC236}">
                <a16:creationId xmlns:a16="http://schemas.microsoft.com/office/drawing/2014/main" id="{5DD6B908-6E4A-4604-AD62-C25FF11D9E17}"/>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DC9D55E-702B-405B-AB63-16734C41866B}"/>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Horloge des agents</a:t>
            </a:r>
          </a:p>
        </p:txBody>
      </p:sp>
      <p:sp>
        <p:nvSpPr>
          <p:cNvPr id="5" name="">
            <a:extLst xmlns:a="http://schemas.openxmlformats.org/drawingml/2006/main">
              <a:ext uri="{FF2B5EF4-FFF2-40B4-BE49-F238E27FC236}">
                <a16:creationId xmlns:a16="http://schemas.microsoft.com/office/drawing/2014/main" id="{9073B9BB-8A8A-44A3-A5F0-CCD5EA4B2234}"/>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Mesurer le temps réel d’exécution et reconstruire la chronologie des preuves.</a:t>
            </a:r>
          </a:p>
        </p:txBody>
      </p:sp>
      <p:sp>
        <p:nvSpPr>
          <p:cNvPr id="6" name="">
            <a:extLst xmlns:a="http://schemas.openxmlformats.org/drawingml/2006/main">
              <a:ext uri="{FF2B5EF4-FFF2-40B4-BE49-F238E27FC236}">
                <a16:creationId xmlns:a16="http://schemas.microsoft.com/office/drawing/2014/main" id="{D842BE52-842A-43A0-A452-B4633964F1DD}"/>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12CDD10-9404-4E86-9A69-EB749829B047}"/>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Horloge de livraison</a:t>
            </a:r>
          </a:p>
        </p:txBody>
      </p:sp>
      <p:sp>
        <p:nvSpPr>
          <p:cNvPr id="8" name="">
            <a:extLst xmlns:a="http://schemas.openxmlformats.org/drawingml/2006/main">
              <a:ext uri="{FF2B5EF4-FFF2-40B4-BE49-F238E27FC236}">
                <a16:creationId xmlns:a16="http://schemas.microsoft.com/office/drawing/2014/main" id="{329DAD2C-C159-4CFD-95FD-FABF5A7DED16}"/>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Rejouer l’avancement simulé des véhicules sur la géométrie routière.</a:t>
            </a:r>
          </a:p>
        </p:txBody>
      </p:sp>
      <p:sp>
        <p:nvSpPr>
          <p:cNvPr id="9" name="">
            <a:extLst xmlns:a="http://schemas.openxmlformats.org/drawingml/2006/main">
              <a:ext uri="{FF2B5EF4-FFF2-40B4-BE49-F238E27FC236}">
                <a16:creationId xmlns:a16="http://schemas.microsoft.com/office/drawing/2014/main" id="{5103DB4A-FA10-4836-AFFC-E931030C1058}"/>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B58D44D-A867-4ADE-846E-18E499A96E56}"/>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Sélection liée</a:t>
            </a:r>
          </a:p>
        </p:txBody>
      </p:sp>
      <p:sp>
        <p:nvSpPr>
          <p:cNvPr id="11" name="">
            <a:extLst xmlns:a="http://schemas.openxmlformats.org/drawingml/2006/main">
              <a:ext uri="{FF2B5EF4-FFF2-40B4-BE49-F238E27FC236}">
                <a16:creationId xmlns:a16="http://schemas.microsoft.com/office/drawing/2014/main" id="{2816DF0E-91D7-4E09-B3A7-6081DD5743C5}"/>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 arrêt relie ligne du planning, marqueur et paire enlèvement/dépôt.</a:t>
            </a:r>
          </a:p>
        </p:txBody>
      </p:sp>
      <p:sp>
        <p:nvSpPr>
          <p:cNvPr id="12" name="">
            <a:extLst xmlns:a="http://schemas.openxmlformats.org/drawingml/2006/main">
              <a:ext uri="{FF2B5EF4-FFF2-40B4-BE49-F238E27FC236}">
                <a16:creationId xmlns:a16="http://schemas.microsoft.com/office/drawing/2014/main" id="{F1EE5C4C-5E10-4899-87C0-E394E3680A83}"/>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30</a:t>
            </a:r>
          </a:p>
        </p:txBody>
      </p:sp>
    </p:spTree>
    <p:extLst>
      <p:ext uri="{BB962C8B-B14F-4D97-AF65-F5344CB8AC3E}">
        <p14:creationId xmlns:p14="http://schemas.microsoft.com/office/powerpoint/2010/main" val="933956989"/>
      </p:ext>
    </p:extLst>
  </p:cSld>
</p:sld>
</file>

<file path=ppt/slides/slide3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A2B0B3-E320-4E8C-B942-806B90B134C6}"/>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CB950EB7-6125-49CC-B145-739A040465E7}"/>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Analytique et export CSV</a:t>
            </a:r>
          </a:p>
        </p:txBody>
      </p:sp>
      <p:sp>
        <p:nvSpPr>
          <p:cNvPr id="3" name="">
            <a:extLst xmlns:a="http://schemas.openxmlformats.org/drawingml/2006/main">
              <a:ext uri="{FF2B5EF4-FFF2-40B4-BE49-F238E27FC236}">
                <a16:creationId xmlns:a16="http://schemas.microsoft.com/office/drawing/2014/main" id="{68DB1EAE-721A-44CC-A4A8-93CC352A0C45}"/>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B4D60C0-092D-430E-9FEB-A61A298D95F4}"/>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Lire les dénominateurs</a:t>
            </a:r>
          </a:p>
        </p:txBody>
      </p:sp>
      <p:sp>
        <p:nvSpPr>
          <p:cNvPr id="5" name="">
            <a:extLst xmlns:a="http://schemas.openxmlformats.org/drawingml/2006/main">
              <a:ext uri="{FF2B5EF4-FFF2-40B4-BE49-F238E27FC236}">
                <a16:creationId xmlns:a16="http://schemas.microsoft.com/office/drawing/2014/main" id="{34D1BB3B-B5D9-46D5-94B8-D094E8CBAB1C}"/>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Distinguer cohorte d’exécutions, appels au modèle et total financier du projet.</a:t>
            </a:r>
          </a:p>
        </p:txBody>
      </p:sp>
      <p:sp>
        <p:nvSpPr>
          <p:cNvPr id="6" name="">
            <a:extLst xmlns:a="http://schemas.openxmlformats.org/drawingml/2006/main">
              <a:ext uri="{FF2B5EF4-FFF2-40B4-BE49-F238E27FC236}">
                <a16:creationId xmlns:a16="http://schemas.microsoft.com/office/drawing/2014/main" id="{ECF65FEF-BF4E-4A70-ACE2-617C2F9DAA99}"/>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128C84D-46AE-4527-8A23-BE1BAA82BF9A}"/>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Montrer la fraîcheur et les absences</a:t>
            </a:r>
          </a:p>
        </p:txBody>
      </p:sp>
      <p:sp>
        <p:nvSpPr>
          <p:cNvPr id="8" name="">
            <a:extLst xmlns:a="http://schemas.openxmlformats.org/drawingml/2006/main">
              <a:ext uri="{FF2B5EF4-FFF2-40B4-BE49-F238E27FC236}">
                <a16:creationId xmlns:a16="http://schemas.microsoft.com/office/drawing/2014/main" id="{C704CFF3-1192-4064-A120-79173DAE0947}"/>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Conserver un ancien résultat identifié comme tel; ne pas remplacer un null par zéro.</a:t>
            </a:r>
          </a:p>
        </p:txBody>
      </p:sp>
      <p:sp>
        <p:nvSpPr>
          <p:cNvPr id="9" name="">
            <a:extLst xmlns:a="http://schemas.openxmlformats.org/drawingml/2006/main">
              <a:ext uri="{FF2B5EF4-FFF2-40B4-BE49-F238E27FC236}">
                <a16:creationId xmlns:a16="http://schemas.microsoft.com/office/drawing/2014/main" id="{ECBDD51C-C030-47D8-8358-BBB21649F44F}"/>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4B3EACB-8797-4643-834A-CE2A61152772}"/>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Exporter le périmètre visible</a:t>
            </a:r>
          </a:p>
        </p:txBody>
      </p:sp>
      <p:sp>
        <p:nvSpPr>
          <p:cNvPr id="11" name="">
            <a:extLst xmlns:a="http://schemas.openxmlformats.org/drawingml/2006/main">
              <a:ext uri="{FF2B5EF4-FFF2-40B4-BE49-F238E27FC236}">
                <a16:creationId xmlns:a16="http://schemas.microsoft.com/office/drawing/2014/main" id="{9A4815DB-7B28-4B16-957D-F4F928225B8B}"/>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CSV local avec filtres, unités, horodatages, couverture et protection contre les formules.</a:t>
            </a:r>
          </a:p>
        </p:txBody>
      </p:sp>
      <p:sp>
        <p:nvSpPr>
          <p:cNvPr id="12" name="">
            <a:extLst xmlns:a="http://schemas.openxmlformats.org/drawingml/2006/main">
              <a:ext uri="{FF2B5EF4-FFF2-40B4-BE49-F238E27FC236}">
                <a16:creationId xmlns:a16="http://schemas.microsoft.com/office/drawing/2014/main" id="{2B9C7573-B4E1-4674-B97F-771BEA76A95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31</a:t>
            </a:r>
          </a:p>
        </p:txBody>
      </p:sp>
    </p:spTree>
    <p:extLst>
      <p:ext uri="{BB962C8B-B14F-4D97-AF65-F5344CB8AC3E}">
        <p14:creationId xmlns:p14="http://schemas.microsoft.com/office/powerpoint/2010/main" val="1217085850"/>
      </p:ext>
    </p:extLst>
  </p:cSld>
</p:sld>
</file>

<file path=ppt/slides/slide3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31AE88-D0BD-4688-945C-19899DB7C77C}"/>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F9D31BD0-9B9A-4BDD-A5D4-8E729FFFC2CE}"/>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Intégrations facultatives et installation seule</a:t>
            </a:r>
          </a:p>
        </p:txBody>
      </p:sp>
      <p:graphicFrame>
        <p:nvGraphicFramePr>
          <p:cNvPr id="3" name="">
            <a:extLst xmlns:a="http://schemas.openxmlformats.org/drawingml/2006/main">
              <a:ext uri="{FF2B5EF4-FFF2-40B4-BE49-F238E27FC236}">
                <a16:creationId xmlns:a16="http://schemas.microsoft.com/office/drawing/2014/main" id="{D5552EFC-6784-4384-9650-0E54CE0A1208}"/>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Langfuse</a:t>
                      </a:r>
                    </a:p>
                  </a:txBody>
                  <a:tcPr marL="91440" marR="91440" marT="45720" marB="45720">
                    <a:solidFill>
                      <a:srgbClr val="FFFFFF"/>
                    </a:solidFill>
                  </a:tcPr>
                </a:tc>
                <a:tc>
                  <a:txBody>
                    <a:bodyPr/>
                    <a:lstStyle/>
                    <a:p>
                      <a:r>
                        <a:rPr sz="1725" b="0">
                          <a:solidFill>
                            <a:srgbClr val="173039"/>
                          </a:solidFill>
                          <a:latin typeface="Arial"/>
                          <a:ea typeface="Arial"/>
                          <a:cs typeface="Arial"/>
                        </a:rPr>
                        <a:t>Export secondaire via outbox lorsque configuré; la base locale reste la référence.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PostgreSQL / Psycopg</a:t>
                      </a:r>
                    </a:p>
                  </a:txBody>
                  <a:tcPr marL="91440" marR="91440" marT="45720" marB="45720">
                    <a:solidFill>
                      <a:srgbClr val="EAF0F1"/>
                    </a:solidFill>
                  </a:tcPr>
                </a:tc>
                <a:tc>
                  <a:txBody>
                    <a:bodyPr/>
                    <a:lstStyle/>
                    <a:p>
                      <a:r>
                        <a:rPr sz="1725" b="0">
                          <a:solidFill>
                            <a:srgbClr val="173039"/>
                          </a:solidFill>
                          <a:latin typeface="Arial"/>
                          <a:ea typeface="Arial"/>
                          <a:cs typeface="Arial"/>
                        </a:rPr>
                        <a:t>Profil configurable et packages installés; exploitation non validée ici.</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Alembic</a:t>
                      </a:r>
                    </a:p>
                  </a:txBody>
                  <a:tcPr marL="91440" marR="91440" marT="45720" marB="45720">
                    <a:solidFill>
                      <a:srgbClr val="FFFFFF"/>
                    </a:solidFill>
                  </a:tcPr>
                </a:tc>
                <a:tc>
                  <a:txBody>
                    <a:bodyPr/>
                    <a:lstStyle/>
                    <a:p>
                      <a:r>
                        <a:rPr sz="1725" b="0">
                          <a:solidFill>
                            <a:srgbClr val="173039"/>
                          </a:solidFill>
                          <a:latin typeface="Arial"/>
                          <a:ea typeface="Arial"/>
                          <a:cs typeface="Arial"/>
                        </a:rPr>
                        <a:t>Installé; aucun environnement de migrations métier actif identifié.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NumPy / Pandas / sqlite-vec</a:t>
                      </a:r>
                    </a:p>
                  </a:txBody>
                  <a:tcPr marL="91440" marR="91440" marT="45720" marB="45720">
                    <a:solidFill>
                      <a:srgbClr val="EAF0F1"/>
                    </a:solidFill>
                  </a:tcPr>
                </a:tc>
                <a:tc>
                  <a:txBody>
                    <a:bodyPr/>
                    <a:lstStyle/>
                    <a:p>
                      <a:r>
                        <a:rPr sz="1725" b="0">
                          <a:solidFill>
                            <a:srgbClr val="173039"/>
                          </a:solidFill>
                          <a:latin typeface="Arial"/>
                          <a:ea typeface="Arial"/>
                          <a:cs typeface="Arial"/>
                        </a:rPr>
                        <a:t>Présents dans les dépendances; aucune fonction métier directe démontrée.</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OpenTelemetry / LangSmith</a:t>
                      </a:r>
                    </a:p>
                  </a:txBody>
                  <a:tcPr marL="91440" marR="91440" marT="45720" marB="45720">
                    <a:solidFill>
                      <a:srgbClr val="FFFFFF"/>
                    </a:solidFill>
                  </a:tcPr>
                </a:tc>
                <a:tc>
                  <a:txBody>
                    <a:bodyPr/>
                    <a:lstStyle/>
                    <a:p>
                      <a:r>
                        <a:rPr sz="1725" b="0">
                          <a:solidFill>
                            <a:srgbClr val="173039"/>
                          </a:solidFill>
                          <a:latin typeface="Arial"/>
                          <a:ea typeface="Arial"/>
                          <a:cs typeface="Arial"/>
                        </a:rPr>
                        <a:t>Packages de l’écosystème; ne prouvent pas une télémétrie produit activée.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4D2FF5-4D32-4D4B-8EFF-4B4A5FED469A}"/>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32</a:t>
            </a:r>
          </a:p>
        </p:txBody>
      </p:sp>
    </p:spTree>
    <p:extLst>
      <p:ext uri="{BB962C8B-B14F-4D97-AF65-F5344CB8AC3E}">
        <p14:creationId xmlns:p14="http://schemas.microsoft.com/office/powerpoint/2010/main" val="1456603475"/>
      </p:ext>
    </p:extLst>
  </p:cSld>
</p:sld>
</file>

<file path=ppt/slides/slide3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07BB06-4A7D-40D1-83B0-F9461B814A75}"/>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56A298A6-B134-42D4-BC3E-ADE1409F1FE4}"/>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Tests et outils de qualité</a:t>
            </a:r>
          </a:p>
        </p:txBody>
      </p:sp>
      <p:graphicFrame>
        <p:nvGraphicFramePr>
          <p:cNvPr id="3" name="">
            <a:extLst xmlns:a="http://schemas.openxmlformats.org/drawingml/2006/main">
              <a:ext uri="{FF2B5EF4-FFF2-40B4-BE49-F238E27FC236}">
                <a16:creationId xmlns:a16="http://schemas.microsoft.com/office/drawing/2014/main" id="{3FE2A752-9F54-4A31-A155-9BA391A9E5D3}"/>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pytest + Ruff</a:t>
                      </a:r>
                    </a:p>
                  </a:txBody>
                  <a:tcPr marL="91440" marR="91440" marT="45720" marB="45720">
                    <a:solidFill>
                      <a:srgbClr val="FFFFFF"/>
                    </a:solidFill>
                  </a:tcPr>
                </a:tc>
                <a:tc>
                  <a:txBody>
                    <a:bodyPr/>
                    <a:lstStyle/>
                    <a:p>
                      <a:r>
                        <a:rPr sz="1725" b="0">
                          <a:solidFill>
                            <a:srgbClr val="173039"/>
                          </a:solidFill>
                          <a:latin typeface="Arial"/>
                          <a:ea typeface="Arial"/>
                          <a:cs typeface="Arial"/>
                        </a:rPr>
                        <a:t>Tests de contraintes, budget, reprise, mémoire et alertes; analyse statique Python.</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Vitest + TypeScript</a:t>
                      </a:r>
                    </a:p>
                  </a:txBody>
                  <a:tcPr marL="91440" marR="91440" marT="45720" marB="45720">
                    <a:solidFill>
                      <a:srgbClr val="EAF0F1"/>
                    </a:solidFill>
                  </a:tcPr>
                </a:tc>
                <a:tc>
                  <a:txBody>
                    <a:bodyPr/>
                    <a:lstStyle/>
                    <a:p>
                      <a:r>
                        <a:rPr sz="1725" b="0">
                          <a:solidFill>
                            <a:srgbClr val="173039"/>
                          </a:solidFill>
                          <a:latin typeface="Arial"/>
                          <a:ea typeface="Arial"/>
                          <a:cs typeface="Arial"/>
                        </a:rPr>
                        <a:t>Tests de logique et de rendu statique; vérification des types frontend.</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Playwright + axe-core</a:t>
                      </a:r>
                    </a:p>
                  </a:txBody>
                  <a:tcPr marL="91440" marR="91440" marT="45720" marB="45720">
                    <a:solidFill>
                      <a:srgbClr val="FFFFFF"/>
                    </a:solidFill>
                  </a:tcPr>
                </a:tc>
                <a:tc>
                  <a:txBody>
                    <a:bodyPr/>
                    <a:lstStyle/>
                    <a:p>
                      <a:r>
                        <a:rPr sz="1725" b="0">
                          <a:solidFill>
                            <a:srgbClr val="173039"/>
                          </a:solidFill>
                          <a:latin typeface="Arial"/>
                          <a:ea typeface="Arial"/>
                          <a:cs typeface="Arial"/>
                        </a:rPr>
                        <a:t>Parcours navigateur et audits automatisés d’accessibilité.</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GitHub Actions</a:t>
                      </a:r>
                    </a:p>
                  </a:txBody>
                  <a:tcPr marL="91440" marR="91440" marT="45720" marB="45720">
                    <a:solidFill>
                      <a:srgbClr val="EAF0F1"/>
                    </a:solidFill>
                  </a:tcPr>
                </a:tc>
                <a:tc>
                  <a:txBody>
                    <a:bodyPr/>
                    <a:lstStyle/>
                    <a:p>
                      <a:r>
                        <a:rPr sz="1725" b="0">
                          <a:solidFill>
                            <a:srgbClr val="173039"/>
                          </a:solidFill>
                          <a:latin typeface="Arial"/>
                          <a:ea typeface="Arial"/>
                          <a:cs typeface="Arial"/>
                        </a:rPr>
                        <a:t>Installation reproductible, tests, lint, build et profil déterministe CI.</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A0D6439E-B44F-4D22-B71B-45DA6FD92A9A}"/>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33</a:t>
            </a:r>
          </a:p>
        </p:txBody>
      </p:sp>
    </p:spTree>
    <p:extLst>
      <p:ext uri="{BB962C8B-B14F-4D97-AF65-F5344CB8AC3E}">
        <p14:creationId xmlns:p14="http://schemas.microsoft.com/office/powerpoint/2010/main" val="1177060784"/>
      </p:ext>
    </p:extLst>
  </p:cSld>
</p:sld>
</file>

<file path=ppt/slides/slide3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C1AA36-E80D-49B9-9239-061D0CEE43E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3968EB1F-6CFB-4956-85E8-DB9BB9715F0E}"/>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Preuves et limites de validation</a:t>
            </a:r>
          </a:p>
        </p:txBody>
      </p:sp>
      <p:sp>
        <p:nvSpPr>
          <p:cNvPr id="3" name="">
            <a:extLst xmlns:a="http://schemas.openxmlformats.org/drawingml/2006/main">
              <a:ext uri="{FF2B5EF4-FFF2-40B4-BE49-F238E27FC236}">
                <a16:creationId xmlns:a16="http://schemas.microsoft.com/office/drawing/2014/main" id="{64E53BF7-96D7-41EB-96FC-4DE795DDB452}"/>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48298DB-E7D5-4749-BD00-5C24BF0238F6}"/>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Benchmark historique</a:t>
            </a:r>
          </a:p>
        </p:txBody>
      </p:sp>
      <p:sp>
        <p:nvSpPr>
          <p:cNvPr id="5" name="">
            <a:extLst xmlns:a="http://schemas.openxmlformats.org/drawingml/2006/main">
              <a:ext uri="{FF2B5EF4-FFF2-40B4-BE49-F238E27FC236}">
                <a16:creationId xmlns:a16="http://schemas.microsoft.com/office/drawing/2014/main" id="{57196C79-656C-4EFA-8340-6450CE0DEA12}"/>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20 exécutions Anthropic acceptées, 100 appels; politiques et graines appariées.</a:t>
            </a:r>
          </a:p>
        </p:txBody>
      </p:sp>
      <p:sp>
        <p:nvSpPr>
          <p:cNvPr id="6" name="">
            <a:extLst xmlns:a="http://schemas.openxmlformats.org/drawingml/2006/main">
              <a:ext uri="{FF2B5EF4-FFF2-40B4-BE49-F238E27FC236}">
                <a16:creationId xmlns:a16="http://schemas.microsoft.com/office/drawing/2014/main" id="{EE294FFA-C433-4F12-914D-1B8667CD8081}"/>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A27A2C9-6EFC-4F02-8269-7A1650C509ED}"/>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Interface U14</a:t>
            </a:r>
          </a:p>
        </p:txBody>
      </p:sp>
      <p:sp>
        <p:nvSpPr>
          <p:cNvPr id="8" name="">
            <a:extLst xmlns:a="http://schemas.openxmlformats.org/drawingml/2006/main">
              <a:ext uri="{FF2B5EF4-FFF2-40B4-BE49-F238E27FC236}">
                <a16:creationId xmlns:a16="http://schemas.microsoft.com/office/drawing/2014/main" id="{BC1236A6-AFB0-4E23-809D-D5C1F8D506B4}"/>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60 tests frontend et build réussis; revue indépendante du code approuvée.</a:t>
            </a:r>
          </a:p>
        </p:txBody>
      </p:sp>
      <p:sp>
        <p:nvSpPr>
          <p:cNvPr id="9" name="">
            <a:extLst xmlns:a="http://schemas.openxmlformats.org/drawingml/2006/main">
              <a:ext uri="{FF2B5EF4-FFF2-40B4-BE49-F238E27FC236}">
                <a16:creationId xmlns:a16="http://schemas.microsoft.com/office/drawing/2014/main" id="{734C15B8-8BD1-4D68-B20E-D1D51E25D140}"/>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F4D839F-7F29-4E8C-BDC7-310FC72B64E7}"/>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Vérification navigateur encore ouverte</a:t>
            </a:r>
          </a:p>
        </p:txBody>
      </p:sp>
      <p:sp>
        <p:nvSpPr>
          <p:cNvPr id="11" name="">
            <a:extLst xmlns:a="http://schemas.openxmlformats.org/drawingml/2006/main">
              <a:ext uri="{FF2B5EF4-FFF2-40B4-BE49-F238E27FC236}">
                <a16:creationId xmlns:a16="http://schemas.microsoft.com/office/drawing/2014/main" id="{6957F0EC-E52D-48AE-91F0-A4AA48481B22}"/>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Serveur web restauré; MCP reste bloqué sur une page d’erreur data: en attente de rechargement.</a:t>
            </a:r>
          </a:p>
        </p:txBody>
      </p:sp>
      <p:sp>
        <p:nvSpPr>
          <p:cNvPr id="12" name="">
            <a:extLst xmlns:a="http://schemas.openxmlformats.org/drawingml/2006/main">
              <a:ext uri="{FF2B5EF4-FFF2-40B4-BE49-F238E27FC236}">
                <a16:creationId xmlns:a16="http://schemas.microsoft.com/office/drawing/2014/main" id="{1C5724A5-3172-4CBC-963B-075463813718}"/>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Résultats historiques et vérifications ciblées; aucune certification de service commercial.</a:t>
            </a:r>
          </a:p>
        </p:txBody>
      </p:sp>
      <p:sp>
        <p:nvSpPr>
          <p:cNvPr id="13" name="">
            <a:extLst xmlns:a="http://schemas.openxmlformats.org/drawingml/2006/main">
              <a:ext uri="{FF2B5EF4-FFF2-40B4-BE49-F238E27FC236}">
                <a16:creationId xmlns:a16="http://schemas.microsoft.com/office/drawing/2014/main" id="{2C612E8D-4430-48D8-86D0-B779D9C9C0D9}"/>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34</a:t>
            </a:r>
          </a:p>
        </p:txBody>
      </p:sp>
    </p:spTree>
    <p:extLst>
      <p:ext uri="{BB962C8B-B14F-4D97-AF65-F5344CB8AC3E}">
        <p14:creationId xmlns:p14="http://schemas.microsoft.com/office/powerpoint/2010/main" val="1313458108"/>
      </p:ext>
    </p:extLst>
  </p:cSld>
</p:sld>
</file>

<file path=ppt/slides/slide3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FD1B76-B893-4177-B89B-DA9DAB7888B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42859E49-4816-43AF-9CB0-354DF014BB0C}"/>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Démonstration du workflow</a:t>
            </a:r>
          </a:p>
        </p:txBody>
      </p:sp>
      <p:sp>
        <p:nvSpPr>
          <p:cNvPr id="3" name="">
            <a:extLst xmlns:a="http://schemas.openxmlformats.org/drawingml/2006/main">
              <a:ext uri="{FF2B5EF4-FFF2-40B4-BE49-F238E27FC236}">
                <a16:creationId xmlns:a16="http://schemas.microsoft.com/office/drawing/2014/main" id="{A053D5AA-DF9B-4374-9A1A-39721B5289FF}"/>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16E1DB4-6A4B-41E8-B6A2-031ECD19440F}"/>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Préparer un scénario sûr</a:t>
            </a:r>
          </a:p>
        </p:txBody>
      </p:sp>
      <p:sp>
        <p:nvSpPr>
          <p:cNvPr id="5" name="">
            <a:extLst xmlns:a="http://schemas.openxmlformats.org/drawingml/2006/main">
              <a:ext uri="{FF2B5EF4-FFF2-40B4-BE49-F238E27FC236}">
                <a16:creationId xmlns:a16="http://schemas.microsoft.com/office/drawing/2014/main" id="{DB39659D-F65D-4EFA-AD12-3429B47E10D4}"/>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Choisir plusieurs adresses, une flotte disponible et la démonstration sans appel IA.</a:t>
            </a:r>
          </a:p>
        </p:txBody>
      </p:sp>
      <p:sp>
        <p:nvSpPr>
          <p:cNvPr id="6" name="">
            <a:extLst xmlns:a="http://schemas.openxmlformats.org/drawingml/2006/main">
              <a:ext uri="{FF2B5EF4-FFF2-40B4-BE49-F238E27FC236}">
                <a16:creationId xmlns:a16="http://schemas.microsoft.com/office/drawing/2014/main" id="{BE1A8FED-E32F-48FF-AEF1-627D23E66EEA}"/>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48DE68E-7D46-48F4-BB0A-443563890608}"/>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Inspecter le plan proposé</a:t>
            </a:r>
          </a:p>
        </p:txBody>
      </p:sp>
      <p:sp>
        <p:nvSpPr>
          <p:cNvPr id="8" name="">
            <a:extLst xmlns:a="http://schemas.openxmlformats.org/drawingml/2006/main">
              <a:ext uri="{FF2B5EF4-FFF2-40B4-BE49-F238E27FC236}">
                <a16:creationId xmlns:a16="http://schemas.microsoft.com/office/drawing/2014/main" id="{364B5189-84DB-4A44-AC5A-A342BEE19779}"/>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Comparer affectations, vérifier certificat et résultat d’admission avant simulation.</a:t>
            </a:r>
          </a:p>
        </p:txBody>
      </p:sp>
      <p:sp>
        <p:nvSpPr>
          <p:cNvPr id="9" name="">
            <a:extLst xmlns:a="http://schemas.openxmlformats.org/drawingml/2006/main">
              <a:ext uri="{FF2B5EF4-FFF2-40B4-BE49-F238E27FC236}">
                <a16:creationId xmlns:a16="http://schemas.microsoft.com/office/drawing/2014/main" id="{E4585AC5-A4C1-401D-9DD8-B349437D1542}"/>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C92C289-DBB4-4834-B43F-0A7B5F95B900}"/>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Expliquer les preuves</a:t>
            </a:r>
          </a:p>
        </p:txBody>
      </p:sp>
      <p:sp>
        <p:nvSpPr>
          <p:cNvPr id="11" name="">
            <a:extLst xmlns:a="http://schemas.openxmlformats.org/drawingml/2006/main">
              <a:ext uri="{FF2B5EF4-FFF2-40B4-BE49-F238E27FC236}">
                <a16:creationId xmlns:a16="http://schemas.microsoft.com/office/drawing/2014/main" id="{C0E8C787-947E-4379-BE34-669D56B2393A}"/>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Ouvrir Agents, puis Analytique pour montrer appels, omissions, coûts et export.</a:t>
            </a:r>
          </a:p>
        </p:txBody>
      </p:sp>
      <p:sp>
        <p:nvSpPr>
          <p:cNvPr id="12" name="">
            <a:extLst xmlns:a="http://schemas.openxmlformats.org/drawingml/2006/main">
              <a:ext uri="{FF2B5EF4-FFF2-40B4-BE49-F238E27FC236}">
                <a16:creationId xmlns:a16="http://schemas.microsoft.com/office/drawing/2014/main" id="{93152C5C-FD58-494B-A30C-76277FD290D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35</a:t>
            </a:r>
          </a:p>
        </p:txBody>
      </p:sp>
    </p:spTree>
    <p:extLst>
      <p:ext uri="{BB962C8B-B14F-4D97-AF65-F5344CB8AC3E}">
        <p14:creationId xmlns:p14="http://schemas.microsoft.com/office/powerpoint/2010/main" val="197096455"/>
      </p:ext>
    </p:extLst>
  </p:cSld>
</p:sld>
</file>

<file path=ppt/slides/slide3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8C52E1-334E-47BF-AA9C-77F7FB2143BD}"/>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A6ED9A5E-4F90-4684-AFF1-B7F316B4545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Conditions avant une utilisation cliente</a:t>
            </a:r>
          </a:p>
        </p:txBody>
      </p:sp>
      <p:graphicFrame>
        <p:nvGraphicFramePr>
          <p:cNvPr id="3" name="">
            <a:extLst xmlns:a="http://schemas.openxmlformats.org/drawingml/2006/main">
              <a:ext uri="{FF2B5EF4-FFF2-40B4-BE49-F238E27FC236}">
                <a16:creationId xmlns:a16="http://schemas.microsoft.com/office/drawing/2014/main" id="{CDD939C0-EAF1-4116-B3CB-E9F202DC00F5}"/>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Identité et isolation</a:t>
                      </a:r>
                    </a:p>
                  </a:txBody>
                  <a:tcPr marL="91440" marR="91440" marT="45720" marB="45720">
                    <a:solidFill>
                      <a:srgbClr val="FFFFFF"/>
                    </a:solidFill>
                  </a:tcPr>
                </a:tc>
                <a:tc>
                  <a:txBody>
                    <a:bodyPr/>
                    <a:lstStyle/>
                    <a:p>
                      <a:r>
                        <a:rPr sz="1725" b="0">
                          <a:solidFill>
                            <a:srgbClr val="173039"/>
                          </a:solidFill>
                          <a:latin typeface="Arial"/>
                          <a:ea typeface="Arial"/>
                          <a:cs typeface="Arial"/>
                        </a:rPr>
                        <a:t>Authentifier utilisateurs et conducteurs; isoler les données de chaque entreprise.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Exécution terrain</a:t>
                      </a:r>
                    </a:p>
                  </a:txBody>
                  <a:tcPr marL="91440" marR="91440" marT="45720" marB="45720">
                    <a:solidFill>
                      <a:srgbClr val="EAF0F1"/>
                    </a:solidFill>
                  </a:tcPr>
                </a:tc>
                <a:tc>
                  <a:txBody>
                    <a:bodyPr/>
                    <a:lstStyle/>
                    <a:p>
                      <a:r>
                        <a:rPr sz="1725" b="0">
                          <a:solidFill>
                            <a:srgbClr val="173039"/>
                          </a:solidFill>
                          <a:latin typeface="Arial"/>
                          <a:ea typeface="Arial"/>
                          <a:cs typeface="Arial"/>
                        </a:rPr>
                        <a:t>GPS, acceptation de mission, preuve de livraison et gestion réelle de la cargaison.</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Données de transport</a:t>
                      </a:r>
                    </a:p>
                  </a:txBody>
                  <a:tcPr marL="91440" marR="91440" marT="45720" marB="45720">
                    <a:solidFill>
                      <a:srgbClr val="FFFFFF"/>
                    </a:solidFill>
                  </a:tcPr>
                </a:tc>
                <a:tc>
                  <a:txBody>
                    <a:bodyPr/>
                    <a:lstStyle/>
                    <a:p>
                      <a:r>
                        <a:rPr sz="1725" b="0">
                          <a:solidFill>
                            <a:srgbClr val="173039"/>
                          </a:solidFill>
                          <a:latin typeface="Arial"/>
                          <a:ea typeface="Arial"/>
                          <a:cs typeface="Arial"/>
                        </a:rPr>
                        <a:t>Fournisseurs contractuels, trafic et restrictions adaptées aux véhicules.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Exploitation</a:t>
                      </a:r>
                    </a:p>
                  </a:txBody>
                  <a:tcPr marL="91440" marR="91440" marT="45720" marB="45720">
                    <a:solidFill>
                      <a:srgbClr val="EAF0F1"/>
                    </a:solidFill>
                  </a:tcPr>
                </a:tc>
                <a:tc>
                  <a:txBody>
                    <a:bodyPr/>
                    <a:lstStyle/>
                    <a:p>
                      <a:r>
                        <a:rPr sz="1725" b="0">
                          <a:solidFill>
                            <a:srgbClr val="173039"/>
                          </a:solidFill>
                          <a:latin typeface="Arial"/>
                          <a:ea typeface="Arial"/>
                          <a:cs typeface="Arial"/>
                        </a:rPr>
                        <a:t>Sauvegarde/restauration, supervision, charge, concurrence et disponibilité mesurées.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Validation métier</a:t>
                      </a:r>
                    </a:p>
                  </a:txBody>
                  <a:tcPr marL="91440" marR="91440" marT="45720" marB="45720">
                    <a:solidFill>
                      <a:srgbClr val="FFFFFF"/>
                    </a:solidFill>
                  </a:tcPr>
                </a:tc>
                <a:tc>
                  <a:txBody>
                    <a:bodyPr/>
                    <a:lstStyle/>
                    <a:p>
                      <a:r>
                        <a:rPr sz="1725" b="0">
                          <a:solidFill>
                            <a:srgbClr val="173039"/>
                          </a:solidFill>
                          <a:latin typeface="Arial"/>
                          <a:ea typeface="Arial"/>
                          <a:cs typeface="Arial"/>
                        </a:rPr>
                        <a:t>Tests avec répartiteurs et données représentatives; bénéfices et erreurs mesurés.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D34C4B-9F8F-4012-89EA-38E8BA878A6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36</a:t>
            </a:r>
          </a:p>
        </p:txBody>
      </p:sp>
    </p:spTree>
    <p:extLst>
      <p:ext uri="{BB962C8B-B14F-4D97-AF65-F5344CB8AC3E}">
        <p14:creationId xmlns:p14="http://schemas.microsoft.com/office/powerpoint/2010/main" val="1179686406"/>
      </p:ext>
    </p:extLst>
  </p:cSld>
</p:sld>
</file>

<file path=ppt/slides/slide3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962E37-8BC1-43BF-A0C5-6C052FD1090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6E10AC68-111B-4B17-AADB-70E10BF169B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Arbitrages d’architecture</a:t>
            </a:r>
          </a:p>
        </p:txBody>
      </p:sp>
      <p:sp>
        <p:nvSpPr>
          <p:cNvPr id="3" name="">
            <a:extLst xmlns:a="http://schemas.openxmlformats.org/drawingml/2006/main">
              <a:ext uri="{FF2B5EF4-FFF2-40B4-BE49-F238E27FC236}">
                <a16:creationId xmlns:a16="http://schemas.microsoft.com/office/drawing/2014/main" id="{3E4A30FC-6C7A-4585-A508-5754CB2009E7}"/>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06D5C6D-A1D5-435B-90A2-01122F61113E}"/>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Ajouter une IA ne remplace pas un solveur</a:t>
            </a:r>
          </a:p>
        </p:txBody>
      </p:sp>
      <p:sp>
        <p:nvSpPr>
          <p:cNvPr id="5" name="">
            <a:extLst xmlns:a="http://schemas.openxmlformats.org/drawingml/2006/main">
              <a:ext uri="{FF2B5EF4-FFF2-40B4-BE49-F238E27FC236}">
                <a16:creationId xmlns:a16="http://schemas.microsoft.com/office/drawing/2014/main" id="{635BBB71-9018-4397-8B73-0367F07A8165}"/>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Conserver les décisions de faisabilité et d’argent dans des règles testables.</a:t>
            </a:r>
          </a:p>
        </p:txBody>
      </p:sp>
      <p:sp>
        <p:nvSpPr>
          <p:cNvPr id="6" name="">
            <a:extLst xmlns:a="http://schemas.openxmlformats.org/drawingml/2006/main">
              <a:ext uri="{FF2B5EF4-FFF2-40B4-BE49-F238E27FC236}">
                <a16:creationId xmlns:a16="http://schemas.microsoft.com/office/drawing/2014/main" id="{626AED9F-63C8-4C9A-A469-750C40B3932E}"/>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4BE5BAC-523F-46D3-9E6C-1748FBEF6D77}"/>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Réduire les appels avant de multiplier les modèles</a:t>
            </a:r>
          </a:p>
        </p:txBody>
      </p:sp>
      <p:sp>
        <p:nvSpPr>
          <p:cNvPr id="8" name="">
            <a:extLst xmlns:a="http://schemas.openxmlformats.org/drawingml/2006/main">
              <a:ext uri="{FF2B5EF4-FFF2-40B4-BE49-F238E27FC236}">
                <a16:creationId xmlns:a16="http://schemas.microsoft.com/office/drawing/2014/main" id="{61C7C5F8-B47E-4F27-B5FC-27F670A4D26C}"/>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Utiliser contexte validé et politiques explicites; mesurer coût et utilité des explications.</a:t>
            </a:r>
          </a:p>
        </p:txBody>
      </p:sp>
      <p:sp>
        <p:nvSpPr>
          <p:cNvPr id="9" name="">
            <a:extLst xmlns:a="http://schemas.openxmlformats.org/drawingml/2006/main">
              <a:ext uri="{FF2B5EF4-FFF2-40B4-BE49-F238E27FC236}">
                <a16:creationId xmlns:a16="http://schemas.microsoft.com/office/drawing/2014/main" id="{6D4FC64A-65C8-4F22-A71C-2EAE402B8C8C}"/>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F3EC002-9D43-45E1-B4BD-E5B6290C3B17}"/>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Industrialiser les opérations avant la promesse SaaS</a:t>
            </a:r>
          </a:p>
        </p:txBody>
      </p:sp>
      <p:sp>
        <p:nvSpPr>
          <p:cNvPr id="11" name="">
            <a:extLst xmlns:a="http://schemas.openxmlformats.org/drawingml/2006/main">
              <a:ext uri="{FF2B5EF4-FFF2-40B4-BE49-F238E27FC236}">
                <a16:creationId xmlns:a16="http://schemas.microsoft.com/office/drawing/2014/main" id="{AF79517F-ECCF-416A-B8DD-332BCEFC4473}"/>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prochain gain de fiabilité vient des données, de l’identité et de la boucle conducteur.</a:t>
            </a:r>
          </a:p>
        </p:txBody>
      </p:sp>
      <p:sp>
        <p:nvSpPr>
          <p:cNvPr id="12" name="">
            <a:extLst xmlns:a="http://schemas.openxmlformats.org/drawingml/2006/main">
              <a:ext uri="{FF2B5EF4-FFF2-40B4-BE49-F238E27FC236}">
                <a16:creationId xmlns:a16="http://schemas.microsoft.com/office/drawing/2014/main" id="{BFF0D0AF-633F-47FA-8E70-4A29475186AC}"/>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37</a:t>
            </a:r>
          </a:p>
        </p:txBody>
      </p:sp>
    </p:spTree>
    <p:extLst>
      <p:ext uri="{BB962C8B-B14F-4D97-AF65-F5344CB8AC3E}">
        <p14:creationId xmlns:p14="http://schemas.microsoft.com/office/powerpoint/2010/main" val="948132586"/>
      </p:ext>
    </p:extLst>
  </p:cSld>
</p:sld>
</file>

<file path=ppt/slides/slide3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A68C44-F573-49E4-A93A-D1E67F1DFAC5}"/>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F37F92F4-2938-4666-BE06-4A258D728904}"/>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Événements en direct et projections</a:t>
            </a:r>
          </a:p>
        </p:txBody>
      </p:sp>
      <p:sp>
        <p:nvSpPr>
          <p:cNvPr id="3" name="">
            <a:extLst xmlns:a="http://schemas.openxmlformats.org/drawingml/2006/main">
              <a:ext uri="{FF2B5EF4-FFF2-40B4-BE49-F238E27FC236}">
                <a16:creationId xmlns:a16="http://schemas.microsoft.com/office/drawing/2014/main" id="{E76B3F7B-8415-4493-AB25-43B61B68C248}"/>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23BF327-01AE-4213-A9D6-AB44E2E14829}"/>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API SSE → EventSource</a:t>
            </a:r>
          </a:p>
        </p:txBody>
      </p:sp>
      <p:sp>
        <p:nvSpPr>
          <p:cNvPr id="5" name="">
            <a:extLst xmlns:a="http://schemas.openxmlformats.org/drawingml/2006/main">
              <a:ext uri="{FF2B5EF4-FFF2-40B4-BE49-F238E27FC236}">
                <a16:creationId xmlns:a16="http://schemas.microsoft.com/office/drawing/2014/main" id="{5CAA227C-BF69-4D16-BB6E-3CC933E18F59}"/>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Un flux unidirectionnel apporte les événements des exécutions en attente ou en cours.</a:t>
            </a:r>
          </a:p>
        </p:txBody>
      </p:sp>
      <p:sp>
        <p:nvSpPr>
          <p:cNvPr id="6" name="">
            <a:extLst xmlns:a="http://schemas.openxmlformats.org/drawingml/2006/main">
              <a:ext uri="{FF2B5EF4-FFF2-40B4-BE49-F238E27FC236}">
                <a16:creationId xmlns:a16="http://schemas.microsoft.com/office/drawing/2014/main" id="{349DF7E2-4516-44BE-95E1-6849D74AAF65}"/>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57BFD1B-2605-41AB-AE6D-30FEAB063F85}"/>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Ordre et déduplication</a:t>
            </a:r>
          </a:p>
        </p:txBody>
      </p:sp>
      <p:sp>
        <p:nvSpPr>
          <p:cNvPr id="8" name="">
            <a:extLst xmlns:a="http://schemas.openxmlformats.org/drawingml/2006/main">
              <a:ext uri="{FF2B5EF4-FFF2-40B4-BE49-F238E27FC236}">
                <a16:creationId xmlns:a16="http://schemas.microsoft.com/office/drawing/2014/main" id="{95C9E361-6670-4929-AD51-A8403B510730}"/>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Les séquences permettent de fusionner historique et nouveaux événements sans doublons.</a:t>
            </a:r>
          </a:p>
        </p:txBody>
      </p:sp>
      <p:sp>
        <p:nvSpPr>
          <p:cNvPr id="9" name="">
            <a:extLst xmlns:a="http://schemas.openxmlformats.org/drawingml/2006/main">
              <a:ext uri="{FF2B5EF4-FFF2-40B4-BE49-F238E27FC236}">
                <a16:creationId xmlns:a16="http://schemas.microsoft.com/office/drawing/2014/main" id="{5364FB4F-A8D7-4844-BBFE-DDA24076612E}"/>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A67D0A7-7FDF-459F-AF3D-06254E1B5E3C}"/>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Rafraîchissement et replay</a:t>
            </a:r>
          </a:p>
        </p:txBody>
      </p:sp>
      <p:sp>
        <p:nvSpPr>
          <p:cNvPr id="11" name="">
            <a:extLst xmlns:a="http://schemas.openxmlformats.org/drawingml/2006/main">
              <a:ext uri="{FF2B5EF4-FFF2-40B4-BE49-F238E27FC236}">
                <a16:creationId xmlns:a16="http://schemas.microsoft.com/office/drawing/2014/main" id="{88D6B526-A433-4A2A-8838-B68ACA1DFFE5}"/>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Les projections sont relues; le replay reconstitue ensuite un état historique distinct.</a:t>
            </a:r>
          </a:p>
        </p:txBody>
      </p:sp>
      <p:sp>
        <p:nvSpPr>
          <p:cNvPr id="12" name="">
            <a:extLst xmlns:a="http://schemas.openxmlformats.org/drawingml/2006/main">
              <a:ext uri="{FF2B5EF4-FFF2-40B4-BE49-F238E27FC236}">
                <a16:creationId xmlns:a16="http://schemas.microsoft.com/office/drawing/2014/main" id="{19985107-8810-4C8F-9EF2-9A43B6A72D2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38</a:t>
            </a:r>
          </a:p>
        </p:txBody>
      </p:sp>
    </p:spTree>
    <p:extLst>
      <p:ext uri="{BB962C8B-B14F-4D97-AF65-F5344CB8AC3E}">
        <p14:creationId xmlns:p14="http://schemas.microsoft.com/office/powerpoint/2010/main" val="2028667659"/>
      </p:ext>
    </p:extLst>
  </p:cSld>
</p:sld>
</file>

<file path=ppt/slides/slide3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F74FD9-B9A3-40A7-8889-9D347C9840B3}"/>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A4DF2160-555E-452A-8315-043D3D10EC02}"/>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Les visualisations et leur question</a:t>
            </a:r>
          </a:p>
        </p:txBody>
      </p:sp>
      <p:graphicFrame>
        <p:nvGraphicFramePr>
          <p:cNvPr id="3" name="">
            <a:extLst xmlns:a="http://schemas.openxmlformats.org/drawingml/2006/main">
              <a:ext uri="{FF2B5EF4-FFF2-40B4-BE49-F238E27FC236}">
                <a16:creationId xmlns:a16="http://schemas.microsoft.com/office/drawing/2014/main" id="{55798954-C942-4686-AF61-A3EB1518AFDA}"/>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VUE</a:t>
                      </a:r>
                    </a:p>
                  </a:txBody>
                  <a:tcPr marL="91440" marR="91440" marT="45720" marB="45720">
                    <a:solidFill>
                      <a:srgbClr val="173039"/>
                    </a:solidFill>
                  </a:tcPr>
                </a:tc>
                <a:tc>
                  <a:txBody>
                    <a:bodyPr/>
                    <a:lstStyle/>
                    <a:p>
                      <a:r>
                        <a:rPr sz="1725" b="1">
                          <a:solidFill>
                            <a:srgbClr val="FFFFFF"/>
                          </a:solidFill>
                          <a:latin typeface="Arial"/>
                          <a:ea typeface="Arial"/>
                          <a:cs typeface="Arial"/>
                        </a:rPr>
                        <a:t>QUESTION À LAQUELLE ELLE RÉPOND</a:t>
                      </a:r>
                    </a:p>
                  </a:txBody>
                  <a:tcPr marL="91440" marR="91440" marT="45720" marB="45720">
                    <a:solidFill>
                      <a:srgbClr val="173039"/>
                    </a:solidFill>
                  </a:tcPr>
                </a:tc>
              </a:tr>
              <a:tr h="566738">
                <a:tc>
                  <a:txBody>
                    <a:bodyPr/>
                    <a:lstStyle/>
                    <a:p>
                      <a:r>
                        <a:rPr sz="1725" b="1">
                          <a:solidFill>
                            <a:srgbClr val="173039"/>
                          </a:solidFill>
                          <a:latin typeface="Arial"/>
                          <a:ea typeface="Arial"/>
                          <a:cs typeface="Arial"/>
                        </a:rPr>
                        <a:t>Graphe</a:t>
                      </a:r>
                    </a:p>
                  </a:txBody>
                  <a:tcPr marL="91440" marR="91440" marT="45720" marB="45720">
                    <a:solidFill>
                      <a:srgbClr val="FFFFFF"/>
                    </a:solidFill>
                  </a:tcPr>
                </a:tc>
                <a:tc>
                  <a:txBody>
                    <a:bodyPr/>
                    <a:lstStyle/>
                    <a:p>
                      <a:r>
                        <a:rPr sz="1725" b="0">
                          <a:solidFill>
                            <a:srgbClr val="173039"/>
                          </a:solidFill>
                          <a:latin typeface="Arial"/>
                          <a:ea typeface="Arial"/>
                          <a:cs typeface="Arial"/>
                        </a:rPr>
                        <a:t>Quel rôle a transmis quelle preuve à quel autre rôle ?</a:t>
                      </a:r>
                    </a:p>
                  </a:txBody>
                  <a:tcPr marL="91440" marR="91440" marT="45720" marB="45720">
                    <a:solidFill>
                      <a:srgbClr val="FFFFFF"/>
                    </a:solidFill>
                  </a:tcPr>
                </a:tc>
              </a:tr>
              <a:tr h="566738">
                <a:tc>
                  <a:txBody>
                    <a:bodyPr/>
                    <a:lstStyle/>
                    <a:p>
                      <a:r>
                        <a:rPr sz="1725" b="1">
                          <a:solidFill>
                            <a:srgbClr val="173039"/>
                          </a:solidFill>
                          <a:latin typeface="Arial"/>
                          <a:ea typeface="Arial"/>
                          <a:cs typeface="Arial"/>
                        </a:rPr>
                        <a:t>Chronologie</a:t>
                      </a:r>
                    </a:p>
                  </a:txBody>
                  <a:tcPr marL="91440" marR="91440" marT="45720" marB="45720">
                    <a:solidFill>
                      <a:srgbClr val="EAF0F1"/>
                    </a:solidFill>
                  </a:tcPr>
                </a:tc>
                <a:tc>
                  <a:txBody>
                    <a:bodyPr/>
                    <a:lstStyle/>
                    <a:p>
                      <a:r>
                        <a:rPr sz="1725" b="0">
                          <a:solidFill>
                            <a:srgbClr val="173039"/>
                          </a:solidFill>
                          <a:latin typeface="Arial"/>
                          <a:ea typeface="Arial"/>
                          <a:cs typeface="Arial"/>
                        </a:rPr>
                        <a:t>Quand chaque invocation a-t-elle commencé et combien de temps a-t-elle pris ?</a:t>
                      </a:r>
                    </a:p>
                  </a:txBody>
                  <a:tcPr marL="91440" marR="91440" marT="45720" marB="45720">
                    <a:solidFill>
                      <a:srgbClr val="EAF0F1"/>
                    </a:solidFill>
                  </a:tcPr>
                </a:tc>
              </a:tr>
              <a:tr h="566738">
                <a:tc>
                  <a:txBody>
                    <a:bodyPr/>
                    <a:lstStyle/>
                    <a:p>
                      <a:r>
                        <a:rPr sz="1725" b="1">
                          <a:solidFill>
                            <a:srgbClr val="173039"/>
                          </a:solidFill>
                          <a:latin typeface="Arial"/>
                          <a:ea typeface="Arial"/>
                          <a:cs typeface="Arial"/>
                        </a:rPr>
                        <a:t>Sankey</a:t>
                      </a:r>
                    </a:p>
                  </a:txBody>
                  <a:tcPr marL="91440" marR="91440" marT="45720" marB="45720">
                    <a:solidFill>
                      <a:srgbClr val="FFFFFF"/>
                    </a:solidFill>
                  </a:tcPr>
                </a:tc>
                <a:tc>
                  <a:txBody>
                    <a:bodyPr/>
                    <a:lstStyle/>
                    <a:p>
                      <a:r>
                        <a:rPr sz="1725" b="0">
                          <a:solidFill>
                            <a:srgbClr val="173039"/>
                          </a:solidFill>
                          <a:latin typeface="Arial"/>
                          <a:ea typeface="Arial"/>
                          <a:cs typeface="Arial"/>
                        </a:rPr>
                        <a:t>Combien de transmissions observées vont de chaque émetteur à chaque destinataire ?</a:t>
                      </a:r>
                    </a:p>
                  </a:txBody>
                  <a:tcPr marL="91440" marR="91440" marT="45720" marB="45720">
                    <a:solidFill>
                      <a:srgbClr val="FFFFFF"/>
                    </a:solidFill>
                  </a:tcPr>
                </a:tc>
              </a:tr>
              <a:tr h="566738">
                <a:tc>
                  <a:txBody>
                    <a:bodyPr/>
                    <a:lstStyle/>
                    <a:p>
                      <a:r>
                        <a:rPr sz="1725" b="1">
                          <a:solidFill>
                            <a:srgbClr val="173039"/>
                          </a:solidFill>
                          <a:latin typeface="Arial"/>
                          <a:ea typeface="Arial"/>
                          <a:cs typeface="Arial"/>
                        </a:rPr>
                        <a:t>Comparaison</a:t>
                      </a:r>
                    </a:p>
                  </a:txBody>
                  <a:tcPr marL="91440" marR="91440" marT="45720" marB="45720">
                    <a:solidFill>
                      <a:srgbClr val="EAF0F1"/>
                    </a:solidFill>
                  </a:tcPr>
                </a:tc>
                <a:tc>
                  <a:txBody>
                    <a:bodyPr/>
                    <a:lstStyle/>
                    <a:p>
                      <a:r>
                        <a:rPr sz="1725" b="0">
                          <a:solidFill>
                            <a:srgbClr val="173039"/>
                          </a:solidFill>
                          <a:latin typeface="Arial"/>
                          <a:ea typeface="Arial"/>
                          <a:cs typeface="Arial"/>
                        </a:rPr>
                        <a:t>Quelle différence entre deux exécutions compatibles ?</a:t>
                      </a:r>
                    </a:p>
                  </a:txBody>
                  <a:tcPr marL="91440" marR="91440" marT="45720" marB="45720">
                    <a:solidFill>
                      <a:srgbClr val="EAF0F1"/>
                    </a:solidFill>
                  </a:tcPr>
                </a:tc>
              </a:tr>
              <a:tr h="566738">
                <a:tc>
                  <a:txBody>
                    <a:bodyPr/>
                    <a:lstStyle/>
                    <a:p>
                      <a:r>
                        <a:rPr sz="1725" b="1">
                          <a:solidFill>
                            <a:srgbClr val="173039"/>
                          </a:solidFill>
                          <a:latin typeface="Arial"/>
                          <a:ea typeface="Arial"/>
                          <a:cs typeface="Arial"/>
                        </a:rPr>
                        <a:t>Heatmap</a:t>
                      </a:r>
                    </a:p>
                  </a:txBody>
                  <a:tcPr marL="91440" marR="91440" marT="45720" marB="45720">
                    <a:solidFill>
                      <a:srgbClr val="FFFFFF"/>
                    </a:solidFill>
                  </a:tcPr>
                </a:tc>
                <a:tc>
                  <a:txBody>
                    <a:bodyPr/>
                    <a:lstStyle/>
                    <a:p>
                      <a:r>
                        <a:rPr sz="1725" b="0">
                          <a:solidFill>
                            <a:srgbClr val="173039"/>
                          </a:solidFill>
                          <a:latin typeface="Arial"/>
                          <a:ea typeface="Arial"/>
                          <a:cs typeface="Arial"/>
                        </a:rPr>
                        <a:t>Quel scénario et quel agent concentrent la latence moyenne ?</a:t>
                      </a:r>
                    </a:p>
                  </a:txBody>
                  <a:tcPr marL="91440" marR="91440" marT="45720" marB="45720">
                    <a:solidFill>
                      <a:srgbClr val="FFFFFF"/>
                    </a:solidFill>
                  </a:tcPr>
                </a:tc>
              </a:tr>
              <a:tr h="566738">
                <a:tc>
                  <a:txBody>
                    <a:bodyPr/>
                    <a:lstStyle/>
                    <a:p>
                      <a:r>
                        <a:rPr sz="1725" b="1">
                          <a:solidFill>
                            <a:srgbClr val="173039"/>
                          </a:solidFill>
                          <a:latin typeface="Arial"/>
                          <a:ea typeface="Arial"/>
                          <a:cs typeface="Arial"/>
                        </a:rPr>
                        <a:t>KPI et répartitions</a:t>
                      </a:r>
                    </a:p>
                  </a:txBody>
                  <a:tcPr marL="91440" marR="91440" marT="45720" marB="45720">
                    <a:solidFill>
                      <a:srgbClr val="EAF0F1"/>
                    </a:solidFill>
                  </a:tcPr>
                </a:tc>
                <a:tc>
                  <a:txBody>
                    <a:bodyPr/>
                    <a:lstStyle/>
                    <a:p>
                      <a:r>
                        <a:rPr sz="1725" b="0">
                          <a:solidFill>
                            <a:srgbClr val="173039"/>
                          </a:solidFill>
                          <a:latin typeface="Arial"/>
                          <a:ea typeface="Arial"/>
                          <a:cs typeface="Arial"/>
                        </a:rPr>
                        <a:t>Quels volumes, taux, coûts et tokens dans le périmètre choisi ?</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07AD13DC-8079-41B2-BC3A-64B23EC8862D}"/>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39</a:t>
            </a:r>
          </a:p>
        </p:txBody>
      </p:sp>
    </p:spTree>
    <p:extLst>
      <p:ext uri="{BB962C8B-B14F-4D97-AF65-F5344CB8AC3E}">
        <p14:creationId xmlns:p14="http://schemas.microsoft.com/office/powerpoint/2010/main" val="1175847948"/>
      </p:ext>
    </p:extLst>
  </p:cSld>
</p:sld>
</file>

<file path=ppt/slides/slide4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5F6CE7-D9E2-4CBA-903E-9F2CFA5BC9C9}"/>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BB01995E-27B7-40F5-ACCC-BF97D094DC36}"/>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Benchmark et courtage : deux workflows</a:t>
            </a:r>
          </a:p>
        </p:txBody>
      </p:sp>
      <p:graphicFrame>
        <p:nvGraphicFramePr>
          <p:cNvPr id="3" name="">
            <a:extLst xmlns:a="http://schemas.openxmlformats.org/drawingml/2006/main">
              <a:ext uri="{FF2B5EF4-FFF2-40B4-BE49-F238E27FC236}">
                <a16:creationId xmlns:a16="http://schemas.microsoft.com/office/drawing/2014/main" id="{1D8877C7-7990-4BC7-962E-DE8FFF2BDC2E}"/>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143250"/>
                <a:gridCol w="7829550"/>
              </a:tblGrid>
              <a:tr h="457200">
                <a:tc>
                  <a:txBody>
                    <a:bodyPr/>
                    <a:lstStyle/>
                    <a:p>
                      <a:r>
                        <a:rPr sz="1725" b="1">
                          <a:solidFill>
                            <a:srgbClr val="FFFFFF"/>
                          </a:solidFill>
                          <a:latin typeface="Arial"/>
                          <a:ea typeface="Arial"/>
                          <a:cs typeface="Arial"/>
                        </a:rPr>
                        <a:t>ÉLÉMENT</a:t>
                      </a:r>
                    </a:p>
                  </a:txBody>
                  <a:tcPr marL="91440" marR="91440" marT="45720" marB="45720">
                    <a:solidFill>
                      <a:srgbClr val="173039"/>
                    </a:solidFill>
                  </a:tcPr>
                </a:tc>
                <a:tc>
                  <a:txBody>
                    <a:bodyPr/>
                    <a:lstStyle/>
                    <a:p>
                      <a:r>
                        <a:rPr sz="1725" b="1">
                          <a:solidFill>
                            <a:srgbClr val="FFFFFF"/>
                          </a:solidFill>
                          <a:latin typeface="Arial"/>
                          <a:ea typeface="Arial"/>
                          <a:cs typeface="Arial"/>
                        </a:rPr>
                        <a:t>RÔLE / PORTÉE</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Benchmark synthétique A11</a:t>
                      </a:r>
                    </a:p>
                  </a:txBody>
                  <a:tcPr marL="91440" marR="91440" marT="45720" marB="45720">
                    <a:solidFill>
                      <a:srgbClr val="FFFFFF"/>
                    </a:solidFill>
                  </a:tcPr>
                </a:tc>
                <a:tc>
                  <a:txBody>
                    <a:bodyPr/>
                    <a:lstStyle/>
                    <a:p>
                      <a:r>
                        <a:rPr sz="1725" b="0">
                          <a:solidFill>
                            <a:srgbClr val="173039"/>
                          </a:solidFill>
                          <a:latin typeface="Arial"/>
                          <a:ea typeface="Arial"/>
                          <a:cs typeface="Arial"/>
                        </a:rPr>
                        <a:t>Scénarios S01–S05, données générées et politiques logistiques comparables.</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Référence vs solveur</a:t>
                      </a:r>
                    </a:p>
                  </a:txBody>
                  <a:tcPr marL="91440" marR="91440" marT="45720" marB="45720">
                    <a:solidFill>
                      <a:srgbClr val="EAF0F1"/>
                    </a:solidFill>
                  </a:tcPr>
                </a:tc>
                <a:tc>
                  <a:txBody>
                    <a:bodyPr/>
                    <a:lstStyle/>
                    <a:p>
                      <a:r>
                        <a:rPr sz="1725" b="0">
                          <a:solidFill>
                            <a:srgbClr val="173039"/>
                          </a:solidFill>
                          <a:latin typeface="Arial"/>
                          <a:ea typeface="Arial"/>
                          <a:cs typeface="Arial"/>
                        </a:rPr>
                        <a:t>baseline_only face à solver_with_one_replan; même scénario et même graine.</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Replanification bornée</a:t>
                      </a:r>
                    </a:p>
                  </a:txBody>
                  <a:tcPr marL="91440" marR="91440" marT="45720" marB="45720">
                    <a:solidFill>
                      <a:srgbClr val="FFFFFF"/>
                    </a:solidFill>
                  </a:tcPr>
                </a:tc>
                <a:tc>
                  <a:txBody>
                    <a:bodyPr/>
                    <a:lstStyle/>
                    <a:p>
                      <a:r>
                        <a:rPr sz="1725" b="0">
                          <a:solidFill>
                            <a:srgbClr val="173039"/>
                          </a:solidFill>
                          <a:latin typeface="Arial"/>
                          <a:ea typeface="Arial"/>
                          <a:cs typeface="Arial"/>
                        </a:rPr>
                        <a:t>Un suffixe de journée simulée; aucune réaffectation générale de cargaison réelle.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Courtage opérateur</a:t>
                      </a:r>
                    </a:p>
                  </a:txBody>
                  <a:tcPr marL="91440" marR="91440" marT="45720" marB="45720">
                    <a:solidFill>
                      <a:srgbClr val="EAF0F1"/>
                    </a:solidFill>
                  </a:tcPr>
                </a:tc>
                <a:tc>
                  <a:txBody>
                    <a:bodyPr/>
                    <a:lstStyle/>
                    <a:p>
                      <a:r>
                        <a:rPr sz="1725" b="0">
                          <a:solidFill>
                            <a:srgbClr val="173039"/>
                          </a:solidFill>
                          <a:latin typeface="Arial"/>
                          <a:ea typeface="Arial"/>
                          <a:cs typeface="Arial"/>
                        </a:rPr>
                        <a:t>Adresses et pickups/drop-offs, matrice routière, flotte courante et admission de trajets.</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1936F795-19FC-48C1-9AF4-FC89C44A7D1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40</a:t>
            </a:r>
          </a:p>
        </p:txBody>
      </p:sp>
    </p:spTree>
    <p:extLst>
      <p:ext uri="{BB962C8B-B14F-4D97-AF65-F5344CB8AC3E}">
        <p14:creationId xmlns:p14="http://schemas.microsoft.com/office/powerpoint/2010/main" val="441642569"/>
      </p:ext>
    </p:extLst>
  </p:cSld>
</p:sld>
</file>

<file path=ppt/slides/slide4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174D15B-39F0-4E0A-A908-3C9ABBF9FE2B}"/>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0138584A-F18E-4BC3-828A-F45F6EEA5C3F}"/>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Configuration, secrets et dépendances</a:t>
            </a:r>
          </a:p>
        </p:txBody>
      </p:sp>
      <p:sp>
        <p:nvSpPr>
          <p:cNvPr id="3" name="">
            <a:extLst xmlns:a="http://schemas.openxmlformats.org/drawingml/2006/main">
              <a:ext uri="{FF2B5EF4-FFF2-40B4-BE49-F238E27FC236}">
                <a16:creationId xmlns:a16="http://schemas.microsoft.com/office/drawing/2014/main" id="{59EFD0B1-85E6-4F81-9F99-E43B92C46E23}"/>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897E859-25BD-46A5-B578-16C9A86B159B}"/>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python-dotenv et variables locales</a:t>
            </a:r>
          </a:p>
        </p:txBody>
      </p:sp>
      <p:sp>
        <p:nvSpPr>
          <p:cNvPr id="5" name="">
            <a:extLst xmlns:a="http://schemas.openxmlformats.org/drawingml/2006/main">
              <a:ext uri="{FF2B5EF4-FFF2-40B4-BE49-F238E27FC236}">
                <a16:creationId xmlns:a16="http://schemas.microsoft.com/office/drawing/2014/main" id="{4708F18E-4157-4D16-B079-4A1AFF9517A9}"/>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Charger les clés et paramètres côté serveur; conserver les secrets hors du dépôt.</a:t>
            </a:r>
          </a:p>
        </p:txBody>
      </p:sp>
      <p:sp>
        <p:nvSpPr>
          <p:cNvPr id="6" name="">
            <a:extLst xmlns:a="http://schemas.openxmlformats.org/drawingml/2006/main">
              <a:ext uri="{FF2B5EF4-FFF2-40B4-BE49-F238E27FC236}">
                <a16:creationId xmlns:a16="http://schemas.microsoft.com/office/drawing/2014/main" id="{8652A04B-891D-4083-9EB0-F9207A9BD9D0}"/>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2F98B94-DC66-4666-8948-1CF03F560056}"/>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Manifestes versionnés</a:t>
            </a:r>
          </a:p>
        </p:txBody>
      </p:sp>
      <p:sp>
        <p:nvSpPr>
          <p:cNvPr id="8" name="">
            <a:extLst xmlns:a="http://schemas.openxmlformats.org/drawingml/2006/main">
              <a:ext uri="{FF2B5EF4-FFF2-40B4-BE49-F238E27FC236}">
                <a16:creationId xmlns:a16="http://schemas.microsoft.com/office/drawing/2014/main" id="{8C66FD74-89FE-4451-ACD8-107FA3F7F6EB}"/>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Épingler l’environnement Python et verrouiller les résolutions npm pour reproduire le profil.</a:t>
            </a:r>
          </a:p>
        </p:txBody>
      </p:sp>
      <p:sp>
        <p:nvSpPr>
          <p:cNvPr id="9" name="">
            <a:extLst xmlns:a="http://schemas.openxmlformats.org/drawingml/2006/main">
              <a:ext uri="{FF2B5EF4-FFF2-40B4-BE49-F238E27FC236}">
                <a16:creationId xmlns:a16="http://schemas.microsoft.com/office/drawing/2014/main" id="{AF467833-2811-4074-B6A5-744D59D42AC0}"/>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FB8D579-2713-4372-9407-195991683E9A}"/>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Contrôles d’exploitation</a:t>
            </a:r>
          </a:p>
        </p:txBody>
      </p:sp>
      <p:sp>
        <p:nvSpPr>
          <p:cNvPr id="11" name="">
            <a:extLst xmlns:a="http://schemas.openxmlformats.org/drawingml/2006/main">
              <a:ext uri="{FF2B5EF4-FFF2-40B4-BE49-F238E27FC236}">
                <a16:creationId xmlns:a16="http://schemas.microsoft.com/office/drawing/2014/main" id="{6BC584C5-D906-470D-B1FA-78203BDE0771}"/>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Vérifier tarifs, modèles, fournisseurs et configuration avant un appel ou un déploiement.</a:t>
            </a:r>
          </a:p>
        </p:txBody>
      </p:sp>
      <p:sp>
        <p:nvSpPr>
          <p:cNvPr id="12" name="">
            <a:extLst xmlns:a="http://schemas.openxmlformats.org/drawingml/2006/main">
              <a:ext uri="{FF2B5EF4-FFF2-40B4-BE49-F238E27FC236}">
                <a16:creationId xmlns:a16="http://schemas.microsoft.com/office/drawing/2014/main" id="{16977CB5-9F24-4534-9538-028760CE1B3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41</a:t>
            </a:r>
          </a:p>
        </p:txBody>
      </p:sp>
    </p:spTree>
    <p:extLst>
      <p:ext uri="{BB962C8B-B14F-4D97-AF65-F5344CB8AC3E}">
        <p14:creationId xmlns:p14="http://schemas.microsoft.com/office/powerpoint/2010/main" val="1368181274"/>
      </p:ext>
    </p:extLst>
  </p:cSld>
</p:sld>
</file>

<file path=ppt/slides/slide4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B443BF-6E60-41F9-B71E-9E2D4DDD37D5}"/>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CCF111F8-FBD9-457C-8689-A18FCD8BA8E7}"/>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Références et lecture de l’annexe</a:t>
            </a:r>
          </a:p>
        </p:txBody>
      </p:sp>
      <p:sp>
        <p:nvSpPr>
          <p:cNvPr id="3" name="">
            <a:extLst xmlns:a="http://schemas.openxmlformats.org/drawingml/2006/main">
              <a:ext uri="{FF2B5EF4-FFF2-40B4-BE49-F238E27FC236}">
                <a16:creationId xmlns:a16="http://schemas.microsoft.com/office/drawing/2014/main" id="{8618239C-33A9-41ED-B48F-BDA071D8B3C1}"/>
              </a:ext>
            </a:extLst>
          </p:cNvPr>
          <p:cNvSpPr>
            <a:spLocks xmlns:a="http://schemas.openxmlformats.org/drawingml/2006/main" noGrp="1"/>
          </p:cNvSpPr>
          <p:nvPr/>
        </p:nvSpPr>
        <p:spPr>
          <a:xfrm xmlns:a="http://schemas.openxmlformats.org/drawingml/2006/main">
            <a:off x="609600" y="204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F8AEE75-9EFB-4969-BF20-39437B5500CF}"/>
              </a:ext>
            </a:extLst>
          </p:cNvPr>
          <p:cNvSpPr>
            <a:spLocks xmlns:a="http://schemas.openxmlformats.org/drawingml/2006/main" noGrp="1"/>
          </p:cNvSpPr>
          <p:nvPr/>
        </p:nvSpPr>
        <p:spPr>
          <a:xfrm xmlns:a="http://schemas.openxmlformats.org/drawingml/2006/main">
            <a:off x="1485900" y="201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Sources de vérité</a:t>
            </a:r>
          </a:p>
        </p:txBody>
      </p:sp>
      <p:sp>
        <p:nvSpPr>
          <p:cNvPr id="5" name="">
            <a:extLst xmlns:a="http://schemas.openxmlformats.org/drawingml/2006/main">
              <a:ext uri="{FF2B5EF4-FFF2-40B4-BE49-F238E27FC236}">
                <a16:creationId xmlns:a16="http://schemas.microsoft.com/office/drawing/2014/main" id="{A82B5CC8-89D6-4717-BD87-799E9680A9DE}"/>
              </a:ext>
            </a:extLst>
          </p:cNvPr>
          <p:cNvSpPr>
            <a:spLocks xmlns:a="http://schemas.openxmlformats.org/drawingml/2006/main" noGrp="1"/>
          </p:cNvSpPr>
          <p:nvPr/>
        </p:nvSpPr>
        <p:spPr>
          <a:xfrm xmlns:a="http://schemas.openxmlformats.org/drawingml/2006/main">
            <a:off x="1485900" y="245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 code décrit le comportement; les contrats expliquent les invariants et leurs limites.</a:t>
            </a:r>
          </a:p>
        </p:txBody>
      </p:sp>
      <p:sp>
        <p:nvSpPr>
          <p:cNvPr id="6" name="">
            <a:extLst xmlns:a="http://schemas.openxmlformats.org/drawingml/2006/main">
              <a:ext uri="{FF2B5EF4-FFF2-40B4-BE49-F238E27FC236}">
                <a16:creationId xmlns:a16="http://schemas.microsoft.com/office/drawing/2014/main" id="{6A01C75A-33B6-4B0B-8E26-C9FE479312D2}"/>
              </a:ext>
            </a:extLst>
          </p:cNvPr>
          <p:cNvSpPr>
            <a:spLocks xmlns:a="http://schemas.openxmlformats.org/drawingml/2006/main" noGrp="1"/>
          </p:cNvSpPr>
          <p:nvPr/>
        </p:nvSpPr>
        <p:spPr>
          <a:xfrm xmlns:a="http://schemas.openxmlformats.org/drawingml/2006/main">
            <a:off x="609600" y="331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B3D4ECB-C36E-404C-8FBF-E050DCA3BD71}"/>
              </a:ext>
            </a:extLst>
          </p:cNvPr>
          <p:cNvSpPr>
            <a:spLocks xmlns:a="http://schemas.openxmlformats.org/drawingml/2006/main" noGrp="1"/>
          </p:cNvSpPr>
          <p:nvPr/>
        </p:nvSpPr>
        <p:spPr>
          <a:xfrm xmlns:a="http://schemas.openxmlformats.org/drawingml/2006/main">
            <a:off x="1485900" y="328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Versions</a:t>
            </a:r>
          </a:p>
        </p:txBody>
      </p:sp>
      <p:sp>
        <p:nvSpPr>
          <p:cNvPr id="8" name="">
            <a:extLst xmlns:a="http://schemas.openxmlformats.org/drawingml/2006/main">
              <a:ext uri="{FF2B5EF4-FFF2-40B4-BE49-F238E27FC236}">
                <a16:creationId xmlns:a16="http://schemas.microsoft.com/office/drawing/2014/main" id="{C8438ED6-BFBD-451B-9A05-E5776A67A80C}"/>
              </a:ext>
            </a:extLst>
          </p:cNvPr>
          <p:cNvSpPr>
            <a:spLocks xmlns:a="http://schemas.openxmlformats.org/drawingml/2006/main" noGrp="1"/>
          </p:cNvSpPr>
          <p:nvPr/>
        </p:nvSpPr>
        <p:spPr>
          <a:xfrm xmlns:a="http://schemas.openxmlformats.org/drawingml/2006/main">
            <a:off x="1485900" y="372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Les tableaux suivants reprennent les versions du dépôt, pas les dernières publications.</a:t>
            </a:r>
          </a:p>
        </p:txBody>
      </p:sp>
      <p:sp>
        <p:nvSpPr>
          <p:cNvPr id="9" name="">
            <a:extLst xmlns:a="http://schemas.openxmlformats.org/drawingml/2006/main">
              <a:ext uri="{FF2B5EF4-FFF2-40B4-BE49-F238E27FC236}">
                <a16:creationId xmlns:a16="http://schemas.microsoft.com/office/drawing/2014/main" id="{9631A511-1D17-4707-8CAD-AA07A7E8099A}"/>
              </a:ext>
            </a:extLst>
          </p:cNvPr>
          <p:cNvSpPr>
            <a:spLocks xmlns:a="http://schemas.openxmlformats.org/drawingml/2006/main" noGrp="1"/>
          </p:cNvSpPr>
          <p:nvPr/>
        </p:nvSpPr>
        <p:spPr>
          <a:xfrm xmlns:a="http://schemas.openxmlformats.org/drawingml/2006/main">
            <a:off x="609600" y="45878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6C78"/>
                </a:solidFill>
                <a:latin typeface="Arial"/>
                <a:ea typeface="Arial"/>
                <a:cs typeface="Arial"/>
              </a:defRPr>
            </a:defPPr>
          </a:lstStyle>
          <a:p xmlns:a="http://schemas.openxmlformats.org/drawingml/2006/main">
            <a:pPr>
              <a:defRPr sz="2700" b="1">
                <a:solidFill>
                  <a:srgbClr val="146C78"/>
                </a:solidFill>
                <a:latin typeface="Arial"/>
                <a:ea typeface="Arial"/>
                <a:cs typeface="Arial"/>
              </a:defRPr>
            </a:pPr>
            <a:r>
              <a:rPr sz="2700" b="1">
                <a:solidFill>
                  <a:srgbClr val="146C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B195960-BB49-497C-AF3E-8FAA831216C2}"/>
              </a:ext>
            </a:extLst>
          </p:cNvPr>
          <p:cNvSpPr>
            <a:spLocks xmlns:a="http://schemas.openxmlformats.org/drawingml/2006/main" noGrp="1"/>
          </p:cNvSpPr>
          <p:nvPr/>
        </p:nvSpPr>
        <p:spPr>
          <a:xfrm xmlns:a="http://schemas.openxmlformats.org/drawingml/2006/main">
            <a:off x="1485900" y="45593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Périmètre de l’inventaire</a:t>
            </a:r>
          </a:p>
        </p:txBody>
      </p:sp>
      <p:sp>
        <p:nvSpPr>
          <p:cNvPr id="11" name="">
            <a:extLst xmlns:a="http://schemas.openxmlformats.org/drawingml/2006/main">
              <a:ext uri="{FF2B5EF4-FFF2-40B4-BE49-F238E27FC236}">
                <a16:creationId xmlns:a16="http://schemas.microsoft.com/office/drawing/2014/main" id="{55023AC1-A4B9-4073-91A5-1751839B984F}"/>
              </a:ext>
            </a:extLst>
          </p:cNvPr>
          <p:cNvSpPr>
            <a:spLocks xmlns:a="http://schemas.openxmlformats.org/drawingml/2006/main" noGrp="1"/>
          </p:cNvSpPr>
          <p:nvPr/>
        </p:nvSpPr>
        <p:spPr>
          <a:xfrm xmlns:a="http://schemas.openxmlformats.org/drawingml/2006/main">
            <a:off x="1485900" y="4997450"/>
            <a:ext cx="981075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87 paquets Python et 17 dépendances web/QA directes; l’arbre npm transitif est dans les lockfiles.</a:t>
            </a:r>
          </a:p>
        </p:txBody>
      </p:sp>
      <p:sp>
        <p:nvSpPr>
          <p:cNvPr id="12" name="">
            <a:extLst xmlns:a="http://schemas.openxmlformats.org/drawingml/2006/main">
              <a:ext uri="{FF2B5EF4-FFF2-40B4-BE49-F238E27FC236}">
                <a16:creationId xmlns:a16="http://schemas.microsoft.com/office/drawing/2014/main" id="{48E348FF-56A3-4DA7-8552-FE9403D0B82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42</a:t>
            </a:r>
          </a:p>
        </p:txBody>
      </p:sp>
    </p:spTree>
    <p:extLst>
      <p:ext uri="{BB962C8B-B14F-4D97-AF65-F5344CB8AC3E}">
        <p14:creationId xmlns:p14="http://schemas.microsoft.com/office/powerpoint/2010/main" val="624732893"/>
      </p:ext>
    </p:extLst>
  </p:cSld>
</p:sld>
</file>

<file path=ppt/slides/slide4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8707CF-FFF0-4907-BE83-E60B9AC9B66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FF746F05-E6B2-4025-82D3-B030F7602CF2}"/>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1–5</a:t>
            </a:r>
          </a:p>
        </p:txBody>
      </p:sp>
      <p:graphicFrame>
        <p:nvGraphicFramePr>
          <p:cNvPr id="3" name="">
            <a:extLst xmlns:a="http://schemas.openxmlformats.org/drawingml/2006/main">
              <a:ext uri="{FF2B5EF4-FFF2-40B4-BE49-F238E27FC236}">
                <a16:creationId xmlns:a16="http://schemas.microsoft.com/office/drawing/2014/main" id="{DF493814-6F7D-499C-8CA2-9B507DBCF17B}"/>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absl-py</a:t>
                      </a:r>
                    </a:p>
                  </a:txBody>
                  <a:tcPr marL="91440" marR="91440" marT="45720" marB="45720">
                    <a:solidFill>
                      <a:srgbClr val="FFFFFF"/>
                    </a:solidFill>
                  </a:tcPr>
                </a:tc>
                <a:tc>
                  <a:txBody>
                    <a:bodyPr/>
                    <a:lstStyle/>
                    <a:p>
                      <a:r>
                        <a:rPr sz="1725" b="0">
                          <a:solidFill>
                            <a:srgbClr val="173039"/>
                          </a:solidFill>
                          <a:latin typeface="Arial"/>
                          <a:ea typeface="Arial"/>
                          <a:cs typeface="Arial"/>
                        </a:rPr>
                        <a:t>2.5.1</a:t>
                      </a:r>
                    </a:p>
                  </a:txBody>
                  <a:tcPr marL="91440" marR="91440" marT="45720" marB="45720">
                    <a:solidFill>
                      <a:srgbClr val="FFFFFF"/>
                    </a:solidFill>
                  </a:tcPr>
                </a:tc>
                <a:tc>
                  <a:txBody>
                    <a:bodyPr/>
                    <a:lstStyle/>
                    <a:p>
                      <a:r>
                        <a:rPr sz="1725" b="0">
                          <a:solidFill>
                            <a:srgbClr val="173039"/>
                          </a:solidFill>
                          <a:latin typeface="Arial"/>
                          <a:ea typeface="Arial"/>
                          <a:cs typeface="Arial"/>
                        </a:rPr>
                        <a:t>Support transitif d’OR-Tools (utilitaires Abseil)</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aiosqlite</a:t>
                      </a:r>
                    </a:p>
                  </a:txBody>
                  <a:tcPr marL="91440" marR="91440" marT="45720" marB="45720">
                    <a:solidFill>
                      <a:srgbClr val="EAF0F1"/>
                    </a:solidFill>
                  </a:tcPr>
                </a:tc>
                <a:tc>
                  <a:txBody>
                    <a:bodyPr/>
                    <a:lstStyle/>
                    <a:p>
                      <a:r>
                        <a:rPr sz="1725" b="0">
                          <a:solidFill>
                            <a:srgbClr val="173039"/>
                          </a:solidFill>
                          <a:latin typeface="Arial"/>
                          <a:ea typeface="Arial"/>
                          <a:cs typeface="Arial"/>
                        </a:rPr>
                        <a:t>0.22.1</a:t>
                      </a:r>
                    </a:p>
                  </a:txBody>
                  <a:tcPr marL="91440" marR="91440" marT="45720" marB="45720">
                    <a:solidFill>
                      <a:srgbClr val="EAF0F1"/>
                    </a:solidFill>
                  </a:tcPr>
                </a:tc>
                <a:tc>
                  <a:txBody>
                    <a:bodyPr/>
                    <a:lstStyle/>
                    <a:p>
                      <a:r>
                        <a:rPr sz="1725" b="0">
                          <a:solidFill>
                            <a:srgbClr val="173039"/>
                          </a:solidFill>
                          <a:latin typeface="Arial"/>
                          <a:ea typeface="Arial"/>
                          <a:cs typeface="Arial"/>
                        </a:rPr>
                        <a:t>Adaptateur SQLite asynchrone; aucun appel applicatif observé</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alembic</a:t>
                      </a:r>
                    </a:p>
                  </a:txBody>
                  <a:tcPr marL="91440" marR="91440" marT="45720" marB="45720">
                    <a:solidFill>
                      <a:srgbClr val="FFFFFF"/>
                    </a:solidFill>
                  </a:tcPr>
                </a:tc>
                <a:tc>
                  <a:txBody>
                    <a:bodyPr/>
                    <a:lstStyle/>
                    <a:p>
                      <a:r>
                        <a:rPr sz="1725" b="0">
                          <a:solidFill>
                            <a:srgbClr val="173039"/>
                          </a:solidFill>
                          <a:latin typeface="Arial"/>
                          <a:ea typeface="Arial"/>
                          <a:cs typeface="Arial"/>
                        </a:rPr>
                        <a:t>1.20.0</a:t>
                      </a:r>
                    </a:p>
                  </a:txBody>
                  <a:tcPr marL="91440" marR="91440" marT="45720" marB="45720">
                    <a:solidFill>
                      <a:srgbClr val="FFFFFF"/>
                    </a:solidFill>
                  </a:tcPr>
                </a:tc>
                <a:tc>
                  <a:txBody>
                    <a:bodyPr/>
                    <a:lstStyle/>
                    <a:p>
                      <a:r>
                        <a:rPr sz="1725" b="0">
                          <a:solidFill>
                            <a:srgbClr val="173039"/>
                          </a:solidFill>
                          <a:latin typeface="Arial"/>
                          <a:ea typeface="Arial"/>
                          <a:cs typeface="Arial"/>
                        </a:rPr>
                        <a:t>Outil de migrations SQL; aucune migration active trouvée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annotated-doc</a:t>
                      </a:r>
                    </a:p>
                  </a:txBody>
                  <a:tcPr marL="91440" marR="91440" marT="45720" marB="45720">
                    <a:solidFill>
                      <a:srgbClr val="EAF0F1"/>
                    </a:solidFill>
                  </a:tcPr>
                </a:tc>
                <a:tc>
                  <a:txBody>
                    <a:bodyPr/>
                    <a:lstStyle/>
                    <a:p>
                      <a:r>
                        <a:rPr sz="1725" b="0">
                          <a:solidFill>
                            <a:srgbClr val="173039"/>
                          </a:solidFill>
                          <a:latin typeface="Arial"/>
                          <a:ea typeface="Arial"/>
                          <a:cs typeface="Arial"/>
                        </a:rPr>
                        <a:t>0.0.5</a:t>
                      </a:r>
                    </a:p>
                  </a:txBody>
                  <a:tcPr marL="91440" marR="91440" marT="45720" marB="45720">
                    <a:solidFill>
                      <a:srgbClr val="EAF0F1"/>
                    </a:solidFill>
                  </a:tcPr>
                </a:tc>
                <a:tc>
                  <a:txBody>
                    <a:bodyPr/>
                    <a:lstStyle/>
                    <a:p>
                      <a:r>
                        <a:rPr sz="1725" b="0">
                          <a:solidFill>
                            <a:srgbClr val="173039"/>
                          </a:solidFill>
                          <a:latin typeface="Arial"/>
                          <a:ea typeface="Arial"/>
                          <a:cs typeface="Arial"/>
                        </a:rPr>
                        <a:t>Métadonnées de documentation pour schémas annotés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annotated-types</a:t>
                      </a:r>
                    </a:p>
                  </a:txBody>
                  <a:tcPr marL="91440" marR="91440" marT="45720" marB="45720">
                    <a:solidFill>
                      <a:srgbClr val="FFFFFF"/>
                    </a:solidFill>
                  </a:tcPr>
                </a:tc>
                <a:tc>
                  <a:txBody>
                    <a:bodyPr/>
                    <a:lstStyle/>
                    <a:p>
                      <a:r>
                        <a:rPr sz="1725" b="0">
                          <a:solidFill>
                            <a:srgbClr val="173039"/>
                          </a:solidFill>
                          <a:latin typeface="Arial"/>
                          <a:ea typeface="Arial"/>
                          <a:cs typeface="Arial"/>
                        </a:rPr>
                        <a:t>0.8.0</a:t>
                      </a:r>
                    </a:p>
                  </a:txBody>
                  <a:tcPr marL="91440" marR="91440" marT="45720" marB="45720">
                    <a:solidFill>
                      <a:srgbClr val="FFFFFF"/>
                    </a:solidFill>
                  </a:tcPr>
                </a:tc>
                <a:tc>
                  <a:txBody>
                    <a:bodyPr/>
                    <a:lstStyle/>
                    <a:p>
                      <a:r>
                        <a:rPr sz="1725" b="0">
                          <a:solidFill>
                            <a:srgbClr val="173039"/>
                          </a:solidFill>
                          <a:latin typeface="Arial"/>
                          <a:ea typeface="Arial"/>
                          <a:cs typeface="Arial"/>
                        </a:rPr>
                        <a:t>Métadonnées de contraintes utilisées par Pydantic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680ED6-139A-4F09-92AE-C79CC2FAA072}"/>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94C38089-AE97-4974-9923-7BEFDE4958A8}"/>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43</a:t>
            </a:r>
          </a:p>
        </p:txBody>
      </p:sp>
    </p:spTree>
    <p:extLst>
      <p:ext uri="{BB962C8B-B14F-4D97-AF65-F5344CB8AC3E}">
        <p14:creationId xmlns:p14="http://schemas.microsoft.com/office/powerpoint/2010/main" val="1933872911"/>
      </p:ext>
    </p:extLst>
  </p:cSld>
</p:sld>
</file>

<file path=ppt/slides/slide4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447617-EBD7-4B63-B934-1FE46E1F2144}"/>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01967705-0BA0-47FC-8378-365D5050101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6–10</a:t>
            </a:r>
          </a:p>
        </p:txBody>
      </p:sp>
      <p:graphicFrame>
        <p:nvGraphicFramePr>
          <p:cNvPr id="3" name="">
            <a:extLst xmlns:a="http://schemas.openxmlformats.org/drawingml/2006/main">
              <a:ext uri="{FF2B5EF4-FFF2-40B4-BE49-F238E27FC236}">
                <a16:creationId xmlns:a16="http://schemas.microsoft.com/office/drawing/2014/main" id="{9B768CAC-C0AD-4699-A329-67488A202B30}"/>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anthropic</a:t>
                      </a:r>
                    </a:p>
                  </a:txBody>
                  <a:tcPr marL="91440" marR="91440" marT="45720" marB="45720">
                    <a:solidFill>
                      <a:srgbClr val="FFFFFF"/>
                    </a:solidFill>
                  </a:tcPr>
                </a:tc>
                <a:tc>
                  <a:txBody>
                    <a:bodyPr/>
                    <a:lstStyle/>
                    <a:p>
                      <a:r>
                        <a:rPr sz="1725" b="0">
                          <a:solidFill>
                            <a:srgbClr val="173039"/>
                          </a:solidFill>
                          <a:latin typeface="Arial"/>
                          <a:ea typeface="Arial"/>
                          <a:cs typeface="Arial"/>
                        </a:rPr>
                        <a:t>1.13.0</a:t>
                      </a:r>
                    </a:p>
                  </a:txBody>
                  <a:tcPr marL="91440" marR="91440" marT="45720" marB="45720">
                    <a:solidFill>
                      <a:srgbClr val="FFFFFF"/>
                    </a:solidFill>
                  </a:tcPr>
                </a:tc>
                <a:tc>
                  <a:txBody>
                    <a:bodyPr/>
                    <a:lstStyle/>
                    <a:p>
                      <a:r>
                        <a:rPr sz="1725" b="0">
                          <a:solidFill>
                            <a:srgbClr val="173039"/>
                          </a:solidFill>
                          <a:latin typeface="Arial"/>
                          <a:ea typeface="Arial"/>
                          <a:cs typeface="Arial"/>
                        </a:rPr>
                        <a:t>SDK des appels IA directs; seul fournisseur live actif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anyio</a:t>
                      </a:r>
                    </a:p>
                  </a:txBody>
                  <a:tcPr marL="91440" marR="91440" marT="45720" marB="45720">
                    <a:solidFill>
                      <a:srgbClr val="EAF0F1"/>
                    </a:solidFill>
                  </a:tcPr>
                </a:tc>
                <a:tc>
                  <a:txBody>
                    <a:bodyPr/>
                    <a:lstStyle/>
                    <a:p>
                      <a:r>
                        <a:rPr sz="1725" b="0">
                          <a:solidFill>
                            <a:srgbClr val="173039"/>
                          </a:solidFill>
                          <a:latin typeface="Arial"/>
                          <a:ea typeface="Arial"/>
                          <a:cs typeface="Arial"/>
                        </a:rPr>
                        <a:t>4.15.1</a:t>
                      </a:r>
                    </a:p>
                  </a:txBody>
                  <a:tcPr marL="91440" marR="91440" marT="45720" marB="45720">
                    <a:solidFill>
                      <a:srgbClr val="EAF0F1"/>
                    </a:solidFill>
                  </a:tcPr>
                </a:tc>
                <a:tc>
                  <a:txBody>
                    <a:bodyPr/>
                    <a:lstStyle/>
                    <a:p>
                      <a:r>
                        <a:rPr sz="1725" b="0">
                          <a:solidFill>
                            <a:srgbClr val="173039"/>
                          </a:solidFill>
                          <a:latin typeface="Arial"/>
                          <a:ea typeface="Arial"/>
                          <a:cs typeface="Arial"/>
                        </a:rPr>
                        <a:t>Concurrence async utilisée sous FastAPI et ses clients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backoff</a:t>
                      </a:r>
                    </a:p>
                  </a:txBody>
                  <a:tcPr marL="91440" marR="91440" marT="45720" marB="45720">
                    <a:solidFill>
                      <a:srgbClr val="FFFFFF"/>
                    </a:solidFill>
                  </a:tcPr>
                </a:tc>
                <a:tc>
                  <a:txBody>
                    <a:bodyPr/>
                    <a:lstStyle/>
                    <a:p>
                      <a:r>
                        <a:rPr sz="1725" b="0">
                          <a:solidFill>
                            <a:srgbClr val="173039"/>
                          </a:solidFill>
                          <a:latin typeface="Arial"/>
                          <a:ea typeface="Arial"/>
                          <a:cs typeface="Arial"/>
                        </a:rPr>
                        <a:t>2.2.1</a:t>
                      </a:r>
                    </a:p>
                  </a:txBody>
                  <a:tcPr marL="91440" marR="91440" marT="45720" marB="45720">
                    <a:solidFill>
                      <a:srgbClr val="FFFFFF"/>
                    </a:solidFill>
                  </a:tcPr>
                </a:tc>
                <a:tc>
                  <a:txBody>
                    <a:bodyPr/>
                    <a:lstStyle/>
                    <a:p>
                      <a:r>
                        <a:rPr sz="1725" b="0">
                          <a:solidFill>
                            <a:srgbClr val="173039"/>
                          </a:solidFill>
                          <a:latin typeface="Arial"/>
                          <a:ea typeface="Arial"/>
                          <a:cs typeface="Arial"/>
                        </a:rPr>
                        <a:t>Reprises du SDK Langfuse facultatif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certifi</a:t>
                      </a:r>
                    </a:p>
                  </a:txBody>
                  <a:tcPr marL="91440" marR="91440" marT="45720" marB="45720">
                    <a:solidFill>
                      <a:srgbClr val="EAF0F1"/>
                    </a:solidFill>
                  </a:tcPr>
                </a:tc>
                <a:tc>
                  <a:txBody>
                    <a:bodyPr/>
                    <a:lstStyle/>
                    <a:p>
                      <a:r>
                        <a:rPr sz="1725" b="0">
                          <a:solidFill>
                            <a:srgbClr val="173039"/>
                          </a:solidFill>
                          <a:latin typeface="Arial"/>
                          <a:ea typeface="Arial"/>
                          <a:cs typeface="Arial"/>
                        </a:rPr>
                        <a:t>2026.7.22</a:t>
                      </a:r>
                    </a:p>
                  </a:txBody>
                  <a:tcPr marL="91440" marR="91440" marT="45720" marB="45720">
                    <a:solidFill>
                      <a:srgbClr val="EAF0F1"/>
                    </a:solidFill>
                  </a:tcPr>
                </a:tc>
                <a:tc>
                  <a:txBody>
                    <a:bodyPr/>
                    <a:lstStyle/>
                    <a:p>
                      <a:r>
                        <a:rPr sz="1725" b="0">
                          <a:solidFill>
                            <a:srgbClr val="173039"/>
                          </a:solidFill>
                          <a:latin typeface="Arial"/>
                          <a:ea typeface="Arial"/>
                          <a:cs typeface="Arial"/>
                        </a:rPr>
                        <a:t>Certificats CA pour connexions TLS des clients HTTP</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charset-normalizer</a:t>
                      </a:r>
                    </a:p>
                  </a:txBody>
                  <a:tcPr marL="91440" marR="91440" marT="45720" marB="45720">
                    <a:solidFill>
                      <a:srgbClr val="FFFFFF"/>
                    </a:solidFill>
                  </a:tcPr>
                </a:tc>
                <a:tc>
                  <a:txBody>
                    <a:bodyPr/>
                    <a:lstStyle/>
                    <a:p>
                      <a:r>
                        <a:rPr sz="1725" b="0">
                          <a:solidFill>
                            <a:srgbClr val="173039"/>
                          </a:solidFill>
                          <a:latin typeface="Arial"/>
                          <a:ea typeface="Arial"/>
                          <a:cs typeface="Arial"/>
                        </a:rPr>
                        <a:t>3.5.2</a:t>
                      </a:r>
                    </a:p>
                  </a:txBody>
                  <a:tcPr marL="91440" marR="91440" marT="45720" marB="45720">
                    <a:solidFill>
                      <a:srgbClr val="FFFFFF"/>
                    </a:solidFill>
                  </a:tcPr>
                </a:tc>
                <a:tc>
                  <a:txBody>
                    <a:bodyPr/>
                    <a:lstStyle/>
                    <a:p>
                      <a:r>
                        <a:rPr sz="1725" b="0">
                          <a:solidFill>
                            <a:srgbClr val="173039"/>
                          </a:solidFill>
                          <a:latin typeface="Arial"/>
                          <a:ea typeface="Arial"/>
                          <a:cs typeface="Arial"/>
                        </a:rPr>
                        <a:t>Détection d’encodage pour le client Requests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3DD267-FB14-46DC-92E7-8C28B5608144}"/>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271BCED0-6097-42CC-BCC7-0BEF5B6E962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44</a:t>
            </a:r>
          </a:p>
        </p:txBody>
      </p:sp>
    </p:spTree>
    <p:extLst>
      <p:ext uri="{BB962C8B-B14F-4D97-AF65-F5344CB8AC3E}">
        <p14:creationId xmlns:p14="http://schemas.microsoft.com/office/powerpoint/2010/main" val="1995758912"/>
      </p:ext>
    </p:extLst>
  </p:cSld>
</p:sld>
</file>

<file path=ppt/slides/slide4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0A0F91-81B8-48DF-A81A-D2E4620A0AFE}"/>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CBE45862-98A7-4046-9BCC-D81339362828}"/>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11–15</a:t>
            </a:r>
          </a:p>
        </p:txBody>
      </p:sp>
      <p:graphicFrame>
        <p:nvGraphicFramePr>
          <p:cNvPr id="3" name="">
            <a:extLst xmlns:a="http://schemas.openxmlformats.org/drawingml/2006/main">
              <a:ext uri="{FF2B5EF4-FFF2-40B4-BE49-F238E27FC236}">
                <a16:creationId xmlns:a16="http://schemas.microsoft.com/office/drawing/2014/main" id="{DE239510-FA0D-463D-9000-118C2577D1E7}"/>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click</a:t>
                      </a:r>
                    </a:p>
                  </a:txBody>
                  <a:tcPr marL="91440" marR="91440" marT="45720" marB="45720">
                    <a:solidFill>
                      <a:srgbClr val="FFFFFF"/>
                    </a:solidFill>
                  </a:tcPr>
                </a:tc>
                <a:tc>
                  <a:txBody>
                    <a:bodyPr/>
                    <a:lstStyle/>
                    <a:p>
                      <a:r>
                        <a:rPr sz="1725" b="0">
                          <a:solidFill>
                            <a:srgbClr val="173039"/>
                          </a:solidFill>
                          <a:latin typeface="Arial"/>
                          <a:ea typeface="Arial"/>
                          <a:cs typeface="Arial"/>
                        </a:rPr>
                        <a:t>8.5.0</a:t>
                      </a:r>
                    </a:p>
                  </a:txBody>
                  <a:tcPr marL="91440" marR="91440" marT="45720" marB="45720">
                    <a:solidFill>
                      <a:srgbClr val="FFFFFF"/>
                    </a:solidFill>
                  </a:tcPr>
                </a:tc>
                <a:tc>
                  <a:txBody>
                    <a:bodyPr/>
                    <a:lstStyle/>
                    <a:p>
                      <a:r>
                        <a:rPr sz="1725" b="0">
                          <a:solidFill>
                            <a:srgbClr val="173039"/>
                          </a:solidFill>
                          <a:latin typeface="Arial"/>
                          <a:ea typeface="Arial"/>
                          <a:cs typeface="Arial"/>
                        </a:rPr>
                        <a:t>Support CLI d’Uvicorn et des outils installés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colorama</a:t>
                      </a:r>
                    </a:p>
                  </a:txBody>
                  <a:tcPr marL="91440" marR="91440" marT="45720" marB="45720">
                    <a:solidFill>
                      <a:srgbClr val="EAF0F1"/>
                    </a:solidFill>
                  </a:tcPr>
                </a:tc>
                <a:tc>
                  <a:txBody>
                    <a:bodyPr/>
                    <a:lstStyle/>
                    <a:p>
                      <a:r>
                        <a:rPr sz="1725" b="0">
                          <a:solidFill>
                            <a:srgbClr val="173039"/>
                          </a:solidFill>
                          <a:latin typeface="Arial"/>
                          <a:ea typeface="Arial"/>
                          <a:cs typeface="Arial"/>
                        </a:rPr>
                        <a:t>0.4.6</a:t>
                      </a:r>
                    </a:p>
                  </a:txBody>
                  <a:tcPr marL="91440" marR="91440" marT="45720" marB="45720">
                    <a:solidFill>
                      <a:srgbClr val="EAF0F1"/>
                    </a:solidFill>
                  </a:tcPr>
                </a:tc>
                <a:tc>
                  <a:txBody>
                    <a:bodyPr/>
                    <a:lstStyle/>
                    <a:p>
                      <a:r>
                        <a:rPr sz="1725" b="0">
                          <a:solidFill>
                            <a:srgbClr val="173039"/>
                          </a:solidFill>
                          <a:latin typeface="Arial"/>
                          <a:ea typeface="Arial"/>
                          <a:cs typeface="Arial"/>
                        </a:rPr>
                        <a:t>Couleurs terminal pour outils Python sous Windows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distro</a:t>
                      </a:r>
                    </a:p>
                  </a:txBody>
                  <a:tcPr marL="91440" marR="91440" marT="45720" marB="45720">
                    <a:solidFill>
                      <a:srgbClr val="FFFFFF"/>
                    </a:solidFill>
                  </a:tcPr>
                </a:tc>
                <a:tc>
                  <a:txBody>
                    <a:bodyPr/>
                    <a:lstStyle/>
                    <a:p>
                      <a:r>
                        <a:rPr sz="1725" b="0">
                          <a:solidFill>
                            <a:srgbClr val="173039"/>
                          </a:solidFill>
                          <a:latin typeface="Arial"/>
                          <a:ea typeface="Arial"/>
                          <a:cs typeface="Arial"/>
                        </a:rPr>
                        <a:t>1.9.0</a:t>
                      </a:r>
                    </a:p>
                  </a:txBody>
                  <a:tcPr marL="91440" marR="91440" marT="45720" marB="45720">
                    <a:solidFill>
                      <a:srgbClr val="FFFFFF"/>
                    </a:solidFill>
                  </a:tcPr>
                </a:tc>
                <a:tc>
                  <a:txBody>
                    <a:bodyPr/>
                    <a:lstStyle/>
                    <a:p>
                      <a:r>
                        <a:rPr sz="1725" b="0">
                          <a:solidFill>
                            <a:srgbClr val="173039"/>
                          </a:solidFill>
                          <a:latin typeface="Arial"/>
                          <a:ea typeface="Arial"/>
                          <a:cs typeface="Arial"/>
                        </a:rPr>
                        <a:t>Détection de distribution système pour SDK dépendants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docstring_parser</a:t>
                      </a:r>
                    </a:p>
                  </a:txBody>
                  <a:tcPr marL="91440" marR="91440" marT="45720" marB="45720">
                    <a:solidFill>
                      <a:srgbClr val="EAF0F1"/>
                    </a:solidFill>
                  </a:tcPr>
                </a:tc>
                <a:tc>
                  <a:txBody>
                    <a:bodyPr/>
                    <a:lstStyle/>
                    <a:p>
                      <a:r>
                        <a:rPr sz="1725" b="0">
                          <a:solidFill>
                            <a:srgbClr val="173039"/>
                          </a:solidFill>
                          <a:latin typeface="Arial"/>
                          <a:ea typeface="Arial"/>
                          <a:cs typeface="Arial"/>
                        </a:rPr>
                        <a:t>0.18.0</a:t>
                      </a:r>
                    </a:p>
                  </a:txBody>
                  <a:tcPr marL="91440" marR="91440" marT="45720" marB="45720">
                    <a:solidFill>
                      <a:srgbClr val="EAF0F1"/>
                    </a:solidFill>
                  </a:tcPr>
                </a:tc>
                <a:tc>
                  <a:txBody>
                    <a:bodyPr/>
                    <a:lstStyle/>
                    <a:p>
                      <a:r>
                        <a:rPr sz="1725" b="0">
                          <a:solidFill>
                            <a:srgbClr val="173039"/>
                          </a:solidFill>
                          <a:latin typeface="Arial"/>
                          <a:ea typeface="Arial"/>
                          <a:cs typeface="Arial"/>
                        </a:rPr>
                        <a:t>Analyse de docstrings par bibliothèques de schémas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fastapi</a:t>
                      </a:r>
                    </a:p>
                  </a:txBody>
                  <a:tcPr marL="91440" marR="91440" marT="45720" marB="45720">
                    <a:solidFill>
                      <a:srgbClr val="FFFFFF"/>
                    </a:solidFill>
                  </a:tcPr>
                </a:tc>
                <a:tc>
                  <a:txBody>
                    <a:bodyPr/>
                    <a:lstStyle/>
                    <a:p>
                      <a:r>
                        <a:rPr sz="1725" b="0">
                          <a:solidFill>
                            <a:srgbClr val="173039"/>
                          </a:solidFill>
                          <a:latin typeface="Arial"/>
                          <a:ea typeface="Arial"/>
                          <a:cs typeface="Arial"/>
                        </a:rPr>
                        <a:t>0.143.0</a:t>
                      </a:r>
                    </a:p>
                  </a:txBody>
                  <a:tcPr marL="91440" marR="91440" marT="45720" marB="45720">
                    <a:solidFill>
                      <a:srgbClr val="FFFFFF"/>
                    </a:solidFill>
                  </a:tcPr>
                </a:tc>
                <a:tc>
                  <a:txBody>
                    <a:bodyPr/>
                    <a:lstStyle/>
                    <a:p>
                      <a:r>
                        <a:rPr sz="1725" b="0">
                          <a:solidFill>
                            <a:srgbClr val="173039"/>
                          </a:solidFill>
                          <a:latin typeface="Arial"/>
                          <a:ea typeface="Arial"/>
                          <a:cs typeface="Arial"/>
                        </a:rPr>
                        <a:t>API REST, validation HTTP et flux d’événements locaux</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60C0889-D779-4E1C-B4FD-0358DFBA1FD9}"/>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1DB70B3F-7808-4112-9D74-19E2049C6E76}"/>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45</a:t>
            </a:r>
          </a:p>
        </p:txBody>
      </p:sp>
    </p:spTree>
    <p:extLst>
      <p:ext uri="{BB962C8B-B14F-4D97-AF65-F5344CB8AC3E}">
        <p14:creationId xmlns:p14="http://schemas.microsoft.com/office/powerpoint/2010/main" val="1830973392"/>
      </p:ext>
    </p:extLst>
  </p:cSld>
</p:sld>
</file>

<file path=ppt/slides/slide4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684511-544A-4B8F-BE8C-D900DF5A3CFE}"/>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7D5AF845-D1C7-4421-9B2C-A7320A59B3FD}"/>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16–20</a:t>
            </a:r>
          </a:p>
        </p:txBody>
      </p:sp>
      <p:graphicFrame>
        <p:nvGraphicFramePr>
          <p:cNvPr id="3" name="">
            <a:extLst xmlns:a="http://schemas.openxmlformats.org/drawingml/2006/main">
              <a:ext uri="{FF2B5EF4-FFF2-40B4-BE49-F238E27FC236}">
                <a16:creationId xmlns:a16="http://schemas.microsoft.com/office/drawing/2014/main" id="{6D62A390-A86D-405F-8D06-94E724C0EB73}"/>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googleapis-common-protos</a:t>
                      </a:r>
                    </a:p>
                  </a:txBody>
                  <a:tcPr marL="91440" marR="91440" marT="45720" marB="45720">
                    <a:solidFill>
                      <a:srgbClr val="FFFFFF"/>
                    </a:solidFill>
                  </a:tcPr>
                </a:tc>
                <a:tc>
                  <a:txBody>
                    <a:bodyPr/>
                    <a:lstStyle/>
                    <a:p>
                      <a:r>
                        <a:rPr sz="1725" b="0">
                          <a:solidFill>
                            <a:srgbClr val="173039"/>
                          </a:solidFill>
                          <a:latin typeface="Arial"/>
                          <a:ea typeface="Arial"/>
                          <a:cs typeface="Arial"/>
                        </a:rPr>
                        <a:t>1.75.5</a:t>
                      </a:r>
                    </a:p>
                  </a:txBody>
                  <a:tcPr marL="91440" marR="91440" marT="45720" marB="45720">
                    <a:solidFill>
                      <a:srgbClr val="FFFFFF"/>
                    </a:solidFill>
                  </a:tcPr>
                </a:tc>
                <a:tc>
                  <a:txBody>
                    <a:bodyPr/>
                    <a:lstStyle/>
                    <a:p>
                      <a:r>
                        <a:rPr sz="1725" b="0">
                          <a:solidFill>
                            <a:srgbClr val="173039"/>
                          </a:solidFill>
                          <a:latin typeface="Arial"/>
                          <a:ea typeface="Arial"/>
                          <a:cs typeface="Arial"/>
                        </a:rPr>
                        <a:t>Protos partagés requis par la chaîne OpenTelemetry</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h11</a:t>
                      </a:r>
                    </a:p>
                  </a:txBody>
                  <a:tcPr marL="91440" marR="91440" marT="45720" marB="45720">
                    <a:solidFill>
                      <a:srgbClr val="EAF0F1"/>
                    </a:solidFill>
                  </a:tcPr>
                </a:tc>
                <a:tc>
                  <a:txBody>
                    <a:bodyPr/>
                    <a:lstStyle/>
                    <a:p>
                      <a:r>
                        <a:rPr sz="1725" b="0">
                          <a:solidFill>
                            <a:srgbClr val="173039"/>
                          </a:solidFill>
                          <a:latin typeface="Arial"/>
                          <a:ea typeface="Arial"/>
                          <a:cs typeface="Arial"/>
                        </a:rPr>
                        <a:t>0.16.0</a:t>
                      </a:r>
                    </a:p>
                  </a:txBody>
                  <a:tcPr marL="91440" marR="91440" marT="45720" marB="45720">
                    <a:solidFill>
                      <a:srgbClr val="EAF0F1"/>
                    </a:solidFill>
                  </a:tcPr>
                </a:tc>
                <a:tc>
                  <a:txBody>
                    <a:bodyPr/>
                    <a:lstStyle/>
                    <a:p>
                      <a:r>
                        <a:rPr sz="1725" b="0">
                          <a:solidFill>
                            <a:srgbClr val="173039"/>
                          </a:solidFill>
                          <a:latin typeface="Arial"/>
                          <a:ea typeface="Arial"/>
                          <a:cs typeface="Arial"/>
                        </a:rPr>
                        <a:t>Protocole HTTP/1.1 bas niveau pour serveur et clients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httpcore</a:t>
                      </a:r>
                    </a:p>
                  </a:txBody>
                  <a:tcPr marL="91440" marR="91440" marT="45720" marB="45720">
                    <a:solidFill>
                      <a:srgbClr val="FFFFFF"/>
                    </a:solidFill>
                  </a:tcPr>
                </a:tc>
                <a:tc>
                  <a:txBody>
                    <a:bodyPr/>
                    <a:lstStyle/>
                    <a:p>
                      <a:r>
                        <a:rPr sz="1725" b="0">
                          <a:solidFill>
                            <a:srgbClr val="173039"/>
                          </a:solidFill>
                          <a:latin typeface="Arial"/>
                          <a:ea typeface="Arial"/>
                          <a:cs typeface="Arial"/>
                        </a:rPr>
                        <a:t>1.0.9</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HTTP bas niveau utilisé par HTTPX</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httpcore2</a:t>
                      </a:r>
                    </a:p>
                  </a:txBody>
                  <a:tcPr marL="91440" marR="91440" marT="45720" marB="45720">
                    <a:solidFill>
                      <a:srgbClr val="EAF0F1"/>
                    </a:solidFill>
                  </a:tcPr>
                </a:tc>
                <a:tc>
                  <a:txBody>
                    <a:bodyPr/>
                    <a:lstStyle/>
                    <a:p>
                      <a:r>
                        <a:rPr sz="1725" b="0">
                          <a:solidFill>
                            <a:srgbClr val="173039"/>
                          </a:solidFill>
                          <a:latin typeface="Arial"/>
                          <a:ea typeface="Arial"/>
                          <a:cs typeface="Arial"/>
                        </a:rPr>
                        <a:t>2.13.1</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bas niveau de httpx2 pour le SDK Anthropic</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httpx</a:t>
                      </a:r>
                    </a:p>
                  </a:txBody>
                  <a:tcPr marL="91440" marR="91440" marT="45720" marB="45720">
                    <a:solidFill>
                      <a:srgbClr val="FFFFFF"/>
                    </a:solidFill>
                  </a:tcPr>
                </a:tc>
                <a:tc>
                  <a:txBody>
                    <a:bodyPr/>
                    <a:lstStyle/>
                    <a:p>
                      <a:r>
                        <a:rPr sz="1725" b="0">
                          <a:solidFill>
                            <a:srgbClr val="173039"/>
                          </a:solidFill>
                          <a:latin typeface="Arial"/>
                          <a:ea typeface="Arial"/>
                          <a:cs typeface="Arial"/>
                        </a:rPr>
                        <a:t>0.28.1</a:t>
                      </a:r>
                    </a:p>
                  </a:txBody>
                  <a:tcPr marL="91440" marR="91440" marT="45720" marB="45720">
                    <a:solidFill>
                      <a:srgbClr val="FFFFFF"/>
                    </a:solidFill>
                  </a:tcPr>
                </a:tc>
                <a:tc>
                  <a:txBody>
                    <a:bodyPr/>
                    <a:lstStyle/>
                    <a:p>
                      <a:r>
                        <a:rPr sz="1725" b="0">
                          <a:solidFill>
                            <a:srgbClr val="173039"/>
                          </a:solidFill>
                          <a:latin typeface="Arial"/>
                          <a:ea typeface="Arial"/>
                          <a:cs typeface="Arial"/>
                        </a:rPr>
                        <a:t>Requêtes bornées vers géocodage, routes et permis urbains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F614FC2-B0D3-4DD8-81B1-A2330551713B}"/>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1A4DD1C3-F0B7-4D19-8987-04A97C79F092}"/>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46</a:t>
            </a:r>
          </a:p>
        </p:txBody>
      </p:sp>
    </p:spTree>
    <p:extLst>
      <p:ext uri="{BB962C8B-B14F-4D97-AF65-F5344CB8AC3E}">
        <p14:creationId xmlns:p14="http://schemas.microsoft.com/office/powerpoint/2010/main" val="660522616"/>
      </p:ext>
    </p:extLst>
  </p:cSld>
</p:sld>
</file>

<file path=ppt/slides/slide4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3E942C-1BC6-49B0-A5FF-2BC45547E7A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AB612C30-6086-4C29-BC4E-9A9859BD530D}"/>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21–25</a:t>
            </a:r>
          </a:p>
        </p:txBody>
      </p:sp>
      <p:graphicFrame>
        <p:nvGraphicFramePr>
          <p:cNvPr id="3" name="">
            <a:extLst xmlns:a="http://schemas.openxmlformats.org/drawingml/2006/main">
              <a:ext uri="{FF2B5EF4-FFF2-40B4-BE49-F238E27FC236}">
                <a16:creationId xmlns:a16="http://schemas.microsoft.com/office/drawing/2014/main" id="{807D686D-9480-403E-BCE8-F1C9D94F5DFF}"/>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httpx2</a:t>
                      </a:r>
                    </a:p>
                  </a:txBody>
                  <a:tcPr marL="91440" marR="91440" marT="45720" marB="45720">
                    <a:solidFill>
                      <a:srgbClr val="FFFFFF"/>
                    </a:solidFill>
                  </a:tcPr>
                </a:tc>
                <a:tc>
                  <a:txBody>
                    <a:bodyPr/>
                    <a:lstStyle/>
                    <a:p>
                      <a:r>
                        <a:rPr sz="1725" b="0">
                          <a:solidFill>
                            <a:srgbClr val="173039"/>
                          </a:solidFill>
                          <a:latin typeface="Arial"/>
                          <a:ea typeface="Arial"/>
                          <a:cs typeface="Arial"/>
                        </a:rPr>
                        <a:t>2.13.1</a:t>
                      </a:r>
                    </a:p>
                  </a:txBody>
                  <a:tcPr marL="91440" marR="91440" marT="45720" marB="45720">
                    <a:solidFill>
                      <a:srgbClr val="FFFFFF"/>
                    </a:solidFill>
                  </a:tcPr>
                </a:tc>
                <a:tc>
                  <a:txBody>
                    <a:bodyPr/>
                    <a:lstStyle/>
                    <a:p>
                      <a:r>
                        <a:rPr sz="1725" b="0">
                          <a:solidFill>
                            <a:srgbClr val="173039"/>
                          </a:solidFill>
                          <a:latin typeface="Arial"/>
                          <a:ea typeface="Arial"/>
                          <a:cs typeface="Arial"/>
                        </a:rPr>
                        <a:t>Client HTTP indirect du SDK Anthropic installé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idna</a:t>
                      </a:r>
                    </a:p>
                  </a:txBody>
                  <a:tcPr marL="91440" marR="91440" marT="45720" marB="45720">
                    <a:solidFill>
                      <a:srgbClr val="EAF0F1"/>
                    </a:solidFill>
                  </a:tcPr>
                </a:tc>
                <a:tc>
                  <a:txBody>
                    <a:bodyPr/>
                    <a:lstStyle/>
                    <a:p>
                      <a:r>
                        <a:rPr sz="1725" b="0">
                          <a:solidFill>
                            <a:srgbClr val="173039"/>
                          </a:solidFill>
                          <a:latin typeface="Arial"/>
                          <a:ea typeface="Arial"/>
                          <a:cs typeface="Arial"/>
                        </a:rPr>
                        <a:t>3.20</a:t>
                      </a:r>
                    </a:p>
                  </a:txBody>
                  <a:tcPr marL="91440" marR="91440" marT="45720" marB="45720">
                    <a:solidFill>
                      <a:srgbClr val="EAF0F1"/>
                    </a:solidFill>
                  </a:tcPr>
                </a:tc>
                <a:tc>
                  <a:txBody>
                    <a:bodyPr/>
                    <a:lstStyle/>
                    <a:p>
                      <a:r>
                        <a:rPr sz="1725" b="0">
                          <a:solidFill>
                            <a:srgbClr val="173039"/>
                          </a:solidFill>
                          <a:latin typeface="Arial"/>
                          <a:ea typeface="Arial"/>
                          <a:cs typeface="Arial"/>
                        </a:rPr>
                        <a:t>Encodage des noms de domaine pour clients HTTP</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immutabledict</a:t>
                      </a:r>
                    </a:p>
                  </a:txBody>
                  <a:tcPr marL="91440" marR="91440" marT="45720" marB="45720">
                    <a:solidFill>
                      <a:srgbClr val="FFFFFF"/>
                    </a:solidFill>
                  </a:tcPr>
                </a:tc>
                <a:tc>
                  <a:txBody>
                    <a:bodyPr/>
                    <a:lstStyle/>
                    <a:p>
                      <a:r>
                        <a:rPr sz="1725" b="0">
                          <a:solidFill>
                            <a:srgbClr val="173039"/>
                          </a:solidFill>
                          <a:latin typeface="Arial"/>
                          <a:ea typeface="Arial"/>
                          <a:cs typeface="Arial"/>
                        </a:rPr>
                        <a:t>4.3.1</a:t>
                      </a:r>
                    </a:p>
                  </a:txBody>
                  <a:tcPr marL="91440" marR="91440" marT="45720" marB="45720">
                    <a:solidFill>
                      <a:srgbClr val="FFFFFF"/>
                    </a:solidFill>
                  </a:tcPr>
                </a:tc>
                <a:tc>
                  <a:txBody>
                    <a:bodyPr/>
                    <a:lstStyle/>
                    <a:p>
                      <a:r>
                        <a:rPr sz="1725" b="0">
                          <a:solidFill>
                            <a:srgbClr val="173039"/>
                          </a:solidFill>
                          <a:latin typeface="Arial"/>
                          <a:ea typeface="Arial"/>
                          <a:cs typeface="Arial"/>
                        </a:rPr>
                        <a:t>Structures immuables de support pour OR-Tools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iniconfig</a:t>
                      </a:r>
                    </a:p>
                  </a:txBody>
                  <a:tcPr marL="91440" marR="91440" marT="45720" marB="45720">
                    <a:solidFill>
                      <a:srgbClr val="EAF0F1"/>
                    </a:solidFill>
                  </a:tcPr>
                </a:tc>
                <a:tc>
                  <a:txBody>
                    <a:bodyPr/>
                    <a:lstStyle/>
                    <a:p>
                      <a:r>
                        <a:rPr sz="1725" b="0">
                          <a:solidFill>
                            <a:srgbClr val="173039"/>
                          </a:solidFill>
                          <a:latin typeface="Arial"/>
                          <a:ea typeface="Arial"/>
                          <a:cs typeface="Arial"/>
                        </a:rPr>
                        <a:t>2.3.1</a:t>
                      </a:r>
                    </a:p>
                  </a:txBody>
                  <a:tcPr marL="91440" marR="91440" marT="45720" marB="45720">
                    <a:solidFill>
                      <a:srgbClr val="EAF0F1"/>
                    </a:solidFill>
                  </a:tcPr>
                </a:tc>
                <a:tc>
                  <a:txBody>
                    <a:bodyPr/>
                    <a:lstStyle/>
                    <a:p>
                      <a:r>
                        <a:rPr sz="1725" b="0">
                          <a:solidFill>
                            <a:srgbClr val="173039"/>
                          </a:solidFill>
                          <a:latin typeface="Arial"/>
                          <a:ea typeface="Arial"/>
                          <a:cs typeface="Arial"/>
                        </a:rPr>
                        <a:t>Lecture de configuration utilisée par pytest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jiter</a:t>
                      </a:r>
                    </a:p>
                  </a:txBody>
                  <a:tcPr marL="91440" marR="91440" marT="45720" marB="45720">
                    <a:solidFill>
                      <a:srgbClr val="FFFFFF"/>
                    </a:solidFill>
                  </a:tcPr>
                </a:tc>
                <a:tc>
                  <a:txBody>
                    <a:bodyPr/>
                    <a:lstStyle/>
                    <a:p>
                      <a:r>
                        <a:rPr sz="1725" b="0">
                          <a:solidFill>
                            <a:srgbClr val="173039"/>
                          </a:solidFill>
                          <a:latin typeface="Arial"/>
                          <a:ea typeface="Arial"/>
                          <a:cs typeface="Arial"/>
                        </a:rPr>
                        <a:t>0.17.0</a:t>
                      </a:r>
                    </a:p>
                  </a:txBody>
                  <a:tcPr marL="91440" marR="91440" marT="45720" marB="45720">
                    <a:solidFill>
                      <a:srgbClr val="FFFFFF"/>
                    </a:solidFill>
                  </a:tcPr>
                </a:tc>
                <a:tc>
                  <a:txBody>
                    <a:bodyPr/>
                    <a:lstStyle/>
                    <a:p>
                      <a:r>
                        <a:rPr sz="1725" b="0">
                          <a:solidFill>
                            <a:srgbClr val="173039"/>
                          </a:solidFill>
                          <a:latin typeface="Arial"/>
                          <a:ea typeface="Arial"/>
                          <a:cs typeface="Arial"/>
                        </a:rPr>
                        <a:t>Analyse JSON rapide utilisée par le SDK Anthropic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822D04D-CC44-4CCE-AD01-E7BCE83514B0}"/>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38873D6D-3555-4738-BFAA-3ED282CED74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47</a:t>
            </a:r>
          </a:p>
        </p:txBody>
      </p:sp>
    </p:spTree>
    <p:extLst>
      <p:ext uri="{BB962C8B-B14F-4D97-AF65-F5344CB8AC3E}">
        <p14:creationId xmlns:p14="http://schemas.microsoft.com/office/powerpoint/2010/main" val="925693434"/>
      </p:ext>
    </p:extLst>
  </p:cSld>
</p:sld>
</file>

<file path=ppt/slides/slide4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64FF88-D98E-4C16-8A83-484408D13EDD}"/>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F0451CF9-FFE8-494F-90F0-67398A90FC22}"/>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26–30</a:t>
            </a:r>
          </a:p>
        </p:txBody>
      </p:sp>
      <p:graphicFrame>
        <p:nvGraphicFramePr>
          <p:cNvPr id="3" name="">
            <a:extLst xmlns:a="http://schemas.openxmlformats.org/drawingml/2006/main">
              <a:ext uri="{FF2B5EF4-FFF2-40B4-BE49-F238E27FC236}">
                <a16:creationId xmlns:a16="http://schemas.microsoft.com/office/drawing/2014/main" id="{16F0D90E-5773-4D7D-8399-BC32AE0F6A46}"/>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jsonpatch</a:t>
                      </a:r>
                    </a:p>
                  </a:txBody>
                  <a:tcPr marL="91440" marR="91440" marT="45720" marB="45720">
                    <a:solidFill>
                      <a:srgbClr val="FFFFFF"/>
                    </a:solidFill>
                  </a:tcPr>
                </a:tc>
                <a:tc>
                  <a:txBody>
                    <a:bodyPr/>
                    <a:lstStyle/>
                    <a:p>
                      <a:r>
                        <a:rPr sz="1725" b="0">
                          <a:solidFill>
                            <a:srgbClr val="173039"/>
                          </a:solidFill>
                          <a:latin typeface="Arial"/>
                          <a:ea typeface="Arial"/>
                          <a:cs typeface="Arial"/>
                        </a:rPr>
                        <a:t>1.34</a:t>
                      </a:r>
                    </a:p>
                  </a:txBody>
                  <a:tcPr marL="91440" marR="91440" marT="45720" marB="45720">
                    <a:solidFill>
                      <a:srgbClr val="FFFFFF"/>
                    </a:solidFill>
                  </a:tcPr>
                </a:tc>
                <a:tc>
                  <a:txBody>
                    <a:bodyPr/>
                    <a:lstStyle/>
                    <a:p>
                      <a:r>
                        <a:rPr sz="1725" b="0">
                          <a:solidFill>
                            <a:srgbClr val="173039"/>
                          </a:solidFill>
                          <a:latin typeface="Arial"/>
                          <a:ea typeface="Arial"/>
                          <a:cs typeface="Arial"/>
                        </a:rPr>
                        <a:t>Diff d’état utilisé dans l’écosystème LangGraph</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jsonpointer</a:t>
                      </a:r>
                    </a:p>
                  </a:txBody>
                  <a:tcPr marL="91440" marR="91440" marT="45720" marB="45720">
                    <a:solidFill>
                      <a:srgbClr val="EAF0F1"/>
                    </a:solidFill>
                  </a:tcPr>
                </a:tc>
                <a:tc>
                  <a:txBody>
                    <a:bodyPr/>
                    <a:lstStyle/>
                    <a:p>
                      <a:r>
                        <a:rPr sz="1725" b="0">
                          <a:solidFill>
                            <a:srgbClr val="173039"/>
                          </a:solidFill>
                          <a:latin typeface="Arial"/>
                          <a:ea typeface="Arial"/>
                          <a:cs typeface="Arial"/>
                        </a:rPr>
                        <a:t>3.2.0</a:t>
                      </a:r>
                    </a:p>
                  </a:txBody>
                  <a:tcPr marL="91440" marR="91440" marT="45720" marB="45720">
                    <a:solidFill>
                      <a:srgbClr val="EAF0F1"/>
                    </a:solidFill>
                  </a:tcPr>
                </a:tc>
                <a:tc>
                  <a:txBody>
                    <a:bodyPr/>
                    <a:lstStyle/>
                    <a:p>
                      <a:r>
                        <a:rPr sz="1725" b="0">
                          <a:solidFill>
                            <a:srgbClr val="173039"/>
                          </a:solidFill>
                          <a:latin typeface="Arial"/>
                          <a:ea typeface="Arial"/>
                          <a:cs typeface="Arial"/>
                        </a:rPr>
                        <a:t>Résolution de chemins JSON pour jsonpatch</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langchain-core</a:t>
                      </a:r>
                    </a:p>
                  </a:txBody>
                  <a:tcPr marL="91440" marR="91440" marT="45720" marB="45720">
                    <a:solidFill>
                      <a:srgbClr val="FFFFFF"/>
                    </a:solidFill>
                  </a:tcPr>
                </a:tc>
                <a:tc>
                  <a:txBody>
                    <a:bodyPr/>
                    <a:lstStyle/>
                    <a:p>
                      <a:r>
                        <a:rPr sz="1725" b="0">
                          <a:solidFill>
                            <a:srgbClr val="173039"/>
                          </a:solidFill>
                          <a:latin typeface="Arial"/>
                          <a:ea typeface="Arial"/>
                          <a:cs typeface="Arial"/>
                        </a:rPr>
                        <a:t>1.6.9</a:t>
                      </a:r>
                    </a:p>
                  </a:txBody>
                  <a:tcPr marL="91440" marR="91440" marT="45720" marB="45720">
                    <a:solidFill>
                      <a:srgbClr val="FFFFFF"/>
                    </a:solidFill>
                  </a:tcPr>
                </a:tc>
                <a:tc>
                  <a:txBody>
                    <a:bodyPr/>
                    <a:lstStyle/>
                    <a:p>
                      <a:r>
                        <a:rPr sz="1725" b="0">
                          <a:solidFill>
                            <a:srgbClr val="173039"/>
                          </a:solidFill>
                          <a:latin typeface="Arial"/>
                          <a:ea typeface="Arial"/>
                          <a:cs typeface="Arial"/>
                        </a:rPr>
                        <a:t>Types de messages et primitives sous LangGraph</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langchain-protocol</a:t>
                      </a:r>
                    </a:p>
                  </a:txBody>
                  <a:tcPr marL="91440" marR="91440" marT="45720" marB="45720">
                    <a:solidFill>
                      <a:srgbClr val="EAF0F1"/>
                    </a:solidFill>
                  </a:tcPr>
                </a:tc>
                <a:tc>
                  <a:txBody>
                    <a:bodyPr/>
                    <a:lstStyle/>
                    <a:p>
                      <a:r>
                        <a:rPr sz="1725" b="0">
                          <a:solidFill>
                            <a:srgbClr val="173039"/>
                          </a:solidFill>
                          <a:latin typeface="Arial"/>
                          <a:ea typeface="Arial"/>
                          <a:cs typeface="Arial"/>
                        </a:rPr>
                        <a:t>0.0.19</a:t>
                      </a:r>
                    </a:p>
                  </a:txBody>
                  <a:tcPr marL="91440" marR="91440" marT="45720" marB="45720">
                    <a:solidFill>
                      <a:srgbClr val="EAF0F1"/>
                    </a:solidFill>
                  </a:tcPr>
                </a:tc>
                <a:tc>
                  <a:txBody>
                    <a:bodyPr/>
                    <a:lstStyle/>
                    <a:p>
                      <a:r>
                        <a:rPr sz="1725" b="0">
                          <a:solidFill>
                            <a:srgbClr val="173039"/>
                          </a:solidFill>
                          <a:latin typeface="Arial"/>
                          <a:ea typeface="Arial"/>
                          <a:cs typeface="Arial"/>
                        </a:rPr>
                        <a:t>Protocole de compatibilité de l’écosystème LangChain</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langfuse</a:t>
                      </a:r>
                    </a:p>
                  </a:txBody>
                  <a:tcPr marL="91440" marR="91440" marT="45720" marB="45720">
                    <a:solidFill>
                      <a:srgbClr val="FFFFFF"/>
                    </a:solidFill>
                  </a:tcPr>
                </a:tc>
                <a:tc>
                  <a:txBody>
                    <a:bodyPr/>
                    <a:lstStyle/>
                    <a:p>
                      <a:r>
                        <a:rPr sz="1725" b="0">
                          <a:solidFill>
                            <a:srgbClr val="173039"/>
                          </a:solidFill>
                          <a:latin typeface="Arial"/>
                          <a:ea typeface="Arial"/>
                          <a:cs typeface="Arial"/>
                        </a:rPr>
                        <a:t>4.17.0</a:t>
                      </a:r>
                    </a:p>
                  </a:txBody>
                  <a:tcPr marL="91440" marR="91440" marT="45720" marB="45720">
                    <a:solidFill>
                      <a:srgbClr val="FFFFFF"/>
                    </a:solidFill>
                  </a:tcPr>
                </a:tc>
                <a:tc>
                  <a:txBody>
                    <a:bodyPr/>
                    <a:lstStyle/>
                    <a:p>
                      <a:r>
                        <a:rPr sz="1725" b="0">
                          <a:solidFill>
                            <a:srgbClr val="173039"/>
                          </a:solidFill>
                          <a:latin typeface="Arial"/>
                          <a:ea typeface="Arial"/>
                          <a:cs typeface="Arial"/>
                        </a:rPr>
                        <a:t>Export facultatif des événements vers Langfuse externe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88146F6-3D35-4DA7-930A-52FAF145665E}"/>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057B5A95-CD48-4413-AAC6-A9108A562ABE}"/>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48</a:t>
            </a:r>
          </a:p>
        </p:txBody>
      </p:sp>
    </p:spTree>
    <p:extLst>
      <p:ext uri="{BB962C8B-B14F-4D97-AF65-F5344CB8AC3E}">
        <p14:creationId xmlns:p14="http://schemas.microsoft.com/office/powerpoint/2010/main" val="1185433773"/>
      </p:ext>
    </p:extLst>
  </p:cSld>
</p:sld>
</file>

<file path=ppt/slides/slide4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CACFDF-C876-4973-9BC3-F9EC04861022}"/>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E05C5B63-5500-43EE-8406-90ECEA60919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31–35</a:t>
            </a:r>
          </a:p>
        </p:txBody>
      </p:sp>
      <p:graphicFrame>
        <p:nvGraphicFramePr>
          <p:cNvPr id="3" name="">
            <a:extLst xmlns:a="http://schemas.openxmlformats.org/drawingml/2006/main">
              <a:ext uri="{FF2B5EF4-FFF2-40B4-BE49-F238E27FC236}">
                <a16:creationId xmlns:a16="http://schemas.microsoft.com/office/drawing/2014/main" id="{C780D0F6-0E61-4621-BD8D-D742437F480C}"/>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langgraph</a:t>
                      </a:r>
                    </a:p>
                  </a:txBody>
                  <a:tcPr marL="91440" marR="91440" marT="45720" marB="45720">
                    <a:solidFill>
                      <a:srgbClr val="FFFFFF"/>
                    </a:solidFill>
                  </a:tcPr>
                </a:tc>
                <a:tc>
                  <a:txBody>
                    <a:bodyPr/>
                    <a:lstStyle/>
                    <a:p>
                      <a:r>
                        <a:rPr sz="1725" b="0">
                          <a:solidFill>
                            <a:srgbClr val="173039"/>
                          </a:solidFill>
                          <a:latin typeface="Arial"/>
                          <a:ea typeface="Arial"/>
                          <a:cs typeface="Arial"/>
                        </a:rPr>
                        <a:t>1.2.14</a:t>
                      </a:r>
                    </a:p>
                  </a:txBody>
                  <a:tcPr marL="91440" marR="91440" marT="45720" marB="45720">
                    <a:solidFill>
                      <a:srgbClr val="FFFFFF"/>
                    </a:solidFill>
                  </a:tcPr>
                </a:tc>
                <a:tc>
                  <a:txBody>
                    <a:bodyPr/>
                    <a:lstStyle/>
                    <a:p>
                      <a:r>
                        <a:rPr sz="1725" b="0">
                          <a:solidFill>
                            <a:srgbClr val="173039"/>
                          </a:solidFill>
                          <a:latin typeface="Arial"/>
                          <a:ea typeface="Arial"/>
                          <a:cs typeface="Arial"/>
                        </a:rPr>
                        <a:t>Orchestration du workflow agent séquentiel avec reprise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langgraph-checkpoint</a:t>
                      </a:r>
                    </a:p>
                  </a:txBody>
                  <a:tcPr marL="91440" marR="91440" marT="45720" marB="45720">
                    <a:solidFill>
                      <a:srgbClr val="EAF0F1"/>
                    </a:solidFill>
                  </a:tcPr>
                </a:tc>
                <a:tc>
                  <a:txBody>
                    <a:bodyPr/>
                    <a:lstStyle/>
                    <a:p>
                      <a:r>
                        <a:rPr sz="1725" b="0">
                          <a:solidFill>
                            <a:srgbClr val="173039"/>
                          </a:solidFill>
                          <a:latin typeface="Arial"/>
                          <a:ea typeface="Arial"/>
                          <a:cs typeface="Arial"/>
                        </a:rPr>
                        <a:t>4.2.0</a:t>
                      </a:r>
                    </a:p>
                  </a:txBody>
                  <a:tcPr marL="91440" marR="91440" marT="45720" marB="45720">
                    <a:solidFill>
                      <a:srgbClr val="EAF0F1"/>
                    </a:solidFill>
                  </a:tcPr>
                </a:tc>
                <a:tc>
                  <a:txBody>
                    <a:bodyPr/>
                    <a:lstStyle/>
                    <a:p>
                      <a:r>
                        <a:rPr sz="1725" b="0">
                          <a:solidFill>
                            <a:srgbClr val="173039"/>
                          </a:solidFill>
                          <a:latin typeface="Arial"/>
                          <a:ea typeface="Arial"/>
                          <a:cs typeface="Arial"/>
                        </a:rPr>
                        <a:t>Contrats de checkpoints utilisés par LangGraph</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langgraph-checkpoint-postgres</a:t>
                      </a:r>
                    </a:p>
                  </a:txBody>
                  <a:tcPr marL="91440" marR="91440" marT="45720" marB="45720">
                    <a:solidFill>
                      <a:srgbClr val="FFFFFF"/>
                    </a:solidFill>
                  </a:tcPr>
                </a:tc>
                <a:tc>
                  <a:txBody>
                    <a:bodyPr/>
                    <a:lstStyle/>
                    <a:p>
                      <a:r>
                        <a:rPr sz="1725" b="0">
                          <a:solidFill>
                            <a:srgbClr val="173039"/>
                          </a:solidFill>
                          <a:latin typeface="Arial"/>
                          <a:ea typeface="Arial"/>
                          <a:cs typeface="Arial"/>
                        </a:rPr>
                        <a:t>3.1.2</a:t>
                      </a:r>
                    </a:p>
                  </a:txBody>
                  <a:tcPr marL="91440" marR="91440" marT="45720" marB="45720">
                    <a:solidFill>
                      <a:srgbClr val="FFFFFF"/>
                    </a:solidFill>
                  </a:tcPr>
                </a:tc>
                <a:tc>
                  <a:txBody>
                    <a:bodyPr/>
                    <a:lstStyle/>
                    <a:p>
                      <a:r>
                        <a:rPr sz="1725" b="0">
                          <a:solidFill>
                            <a:srgbClr val="173039"/>
                          </a:solidFill>
                          <a:latin typeface="Arial"/>
                          <a:ea typeface="Arial"/>
                          <a:cs typeface="Arial"/>
                        </a:rPr>
                        <a:t>Saver PostgreSQL installé; non utilisé par le graphe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langgraph-checkpoint-sqlite</a:t>
                      </a:r>
                    </a:p>
                  </a:txBody>
                  <a:tcPr marL="91440" marR="91440" marT="45720" marB="45720">
                    <a:solidFill>
                      <a:srgbClr val="EAF0F1"/>
                    </a:solidFill>
                  </a:tcPr>
                </a:tc>
                <a:tc>
                  <a:txBody>
                    <a:bodyPr/>
                    <a:lstStyle/>
                    <a:p>
                      <a:r>
                        <a:rPr sz="1725" b="0">
                          <a:solidFill>
                            <a:srgbClr val="173039"/>
                          </a:solidFill>
                          <a:latin typeface="Arial"/>
                          <a:ea typeface="Arial"/>
                          <a:cs typeface="Arial"/>
                        </a:rPr>
                        <a:t>3.1.1</a:t>
                      </a:r>
                    </a:p>
                  </a:txBody>
                  <a:tcPr marL="91440" marR="91440" marT="45720" marB="45720">
                    <a:solidFill>
                      <a:srgbClr val="EAF0F1"/>
                    </a:solidFill>
                  </a:tcPr>
                </a:tc>
                <a:tc>
                  <a:txBody>
                    <a:bodyPr/>
                    <a:lstStyle/>
                    <a:p>
                      <a:r>
                        <a:rPr sz="1725" b="0">
                          <a:solidFill>
                            <a:srgbClr val="173039"/>
                          </a:solidFill>
                          <a:latin typeface="Arial"/>
                          <a:ea typeface="Arial"/>
                          <a:cs typeface="Arial"/>
                        </a:rPr>
                        <a:t>Checkpoints SQLite persistants du workflow local</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langgraph-prebuilt</a:t>
                      </a:r>
                    </a:p>
                  </a:txBody>
                  <a:tcPr marL="91440" marR="91440" marT="45720" marB="45720">
                    <a:solidFill>
                      <a:srgbClr val="FFFFFF"/>
                    </a:solidFill>
                  </a:tcPr>
                </a:tc>
                <a:tc>
                  <a:txBody>
                    <a:bodyPr/>
                    <a:lstStyle/>
                    <a:p>
                      <a:r>
                        <a:rPr sz="1725" b="0">
                          <a:solidFill>
                            <a:srgbClr val="173039"/>
                          </a:solidFill>
                          <a:latin typeface="Arial"/>
                          <a:ea typeface="Arial"/>
                          <a:cs typeface="Arial"/>
                        </a:rPr>
                        <a:t>1.1.0</a:t>
                      </a:r>
                    </a:p>
                  </a:txBody>
                  <a:tcPr marL="91440" marR="91440" marT="45720" marB="45720">
                    <a:solidFill>
                      <a:srgbClr val="FFFFFF"/>
                    </a:solidFill>
                  </a:tcPr>
                </a:tc>
                <a:tc>
                  <a:txBody>
                    <a:bodyPr/>
                    <a:lstStyle/>
                    <a:p>
                      <a:r>
                        <a:rPr sz="1725" b="0">
                          <a:solidFill>
                            <a:srgbClr val="173039"/>
                          </a:solidFill>
                          <a:latin typeface="Arial"/>
                          <a:ea typeface="Arial"/>
                          <a:cs typeface="Arial"/>
                        </a:rPr>
                        <a:t>Composants préfabriqués de l’écosystème LangGraph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279164-5035-44FE-A81B-63201545DD7D}"/>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682F73E9-E47A-4A19-AC3C-78CD70DB1286}"/>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49</a:t>
            </a:r>
          </a:p>
        </p:txBody>
      </p:sp>
    </p:spTree>
    <p:extLst>
      <p:ext uri="{BB962C8B-B14F-4D97-AF65-F5344CB8AC3E}">
        <p14:creationId xmlns:p14="http://schemas.microsoft.com/office/powerpoint/2010/main" val="424863697"/>
      </p:ext>
    </p:extLst>
  </p:cSld>
</p:sld>
</file>

<file path=ppt/slides/slide5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E1F39F-D6B0-43A6-A87B-F6B7712DDD3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1EE471C6-E348-4109-9E75-2447DD9D3B3A}"/>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36–40</a:t>
            </a:r>
          </a:p>
        </p:txBody>
      </p:sp>
      <p:graphicFrame>
        <p:nvGraphicFramePr>
          <p:cNvPr id="3" name="">
            <a:extLst xmlns:a="http://schemas.openxmlformats.org/drawingml/2006/main">
              <a:ext uri="{FF2B5EF4-FFF2-40B4-BE49-F238E27FC236}">
                <a16:creationId xmlns:a16="http://schemas.microsoft.com/office/drawing/2014/main" id="{D547B64B-145D-47CD-9396-326519A3D2C7}"/>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langgraph-sdk</a:t>
                      </a:r>
                    </a:p>
                  </a:txBody>
                  <a:tcPr marL="91440" marR="91440" marT="45720" marB="45720">
                    <a:solidFill>
                      <a:srgbClr val="FFFFFF"/>
                    </a:solidFill>
                  </a:tcPr>
                </a:tc>
                <a:tc>
                  <a:txBody>
                    <a:bodyPr/>
                    <a:lstStyle/>
                    <a:p>
                      <a:r>
                        <a:rPr sz="1725" b="0">
                          <a:solidFill>
                            <a:srgbClr val="173039"/>
                          </a:solidFill>
                          <a:latin typeface="Arial"/>
                          <a:ea typeface="Arial"/>
                          <a:cs typeface="Arial"/>
                        </a:rPr>
                        <a:t>0.4.6</a:t>
                      </a:r>
                    </a:p>
                  </a:txBody>
                  <a:tcPr marL="91440" marR="91440" marT="45720" marB="45720">
                    <a:solidFill>
                      <a:srgbClr val="FFFFFF"/>
                    </a:solidFill>
                  </a:tcPr>
                </a:tc>
                <a:tc>
                  <a:txBody>
                    <a:bodyPr/>
                    <a:lstStyle/>
                    <a:p>
                      <a:r>
                        <a:rPr sz="1725" b="0">
                          <a:solidFill>
                            <a:srgbClr val="173039"/>
                          </a:solidFill>
                          <a:latin typeface="Arial"/>
                          <a:ea typeface="Arial"/>
                          <a:cs typeface="Arial"/>
                        </a:rPr>
                        <a:t>Client SDK de support pour intégrations LangGraph</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langsmith</a:t>
                      </a:r>
                    </a:p>
                  </a:txBody>
                  <a:tcPr marL="91440" marR="91440" marT="45720" marB="45720">
                    <a:solidFill>
                      <a:srgbClr val="EAF0F1"/>
                    </a:solidFill>
                  </a:tcPr>
                </a:tc>
                <a:tc>
                  <a:txBody>
                    <a:bodyPr/>
                    <a:lstStyle/>
                    <a:p>
                      <a:r>
                        <a:rPr sz="1725" b="0">
                          <a:solidFill>
                            <a:srgbClr val="173039"/>
                          </a:solidFill>
                          <a:latin typeface="Arial"/>
                          <a:ea typeface="Arial"/>
                          <a:cs typeface="Arial"/>
                        </a:rPr>
                        <a:t>0.14.7</a:t>
                      </a:r>
                    </a:p>
                  </a:txBody>
                  <a:tcPr marL="91440" marR="91440" marT="45720" marB="45720">
                    <a:solidFill>
                      <a:srgbClr val="EAF0F1"/>
                    </a:solidFill>
                  </a:tcPr>
                </a:tc>
                <a:tc>
                  <a:txBody>
                    <a:bodyPr/>
                    <a:lstStyle/>
                    <a:p>
                      <a:r>
                        <a:rPr sz="1725" b="0">
                          <a:solidFill>
                            <a:srgbClr val="173039"/>
                          </a:solidFill>
                          <a:latin typeface="Arial"/>
                          <a:ea typeface="Arial"/>
                          <a:cs typeface="Arial"/>
                        </a:rPr>
                        <a:t>Support LangChain; aucun appel explicite dans Genesis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Mako</a:t>
                      </a:r>
                    </a:p>
                  </a:txBody>
                  <a:tcPr marL="91440" marR="91440" marT="45720" marB="45720">
                    <a:solidFill>
                      <a:srgbClr val="FFFFFF"/>
                    </a:solidFill>
                  </a:tcPr>
                </a:tc>
                <a:tc>
                  <a:txBody>
                    <a:bodyPr/>
                    <a:lstStyle/>
                    <a:p>
                      <a:r>
                        <a:rPr sz="1725" b="0">
                          <a:solidFill>
                            <a:srgbClr val="173039"/>
                          </a:solidFill>
                          <a:latin typeface="Arial"/>
                          <a:ea typeface="Arial"/>
                          <a:cs typeface="Arial"/>
                        </a:rPr>
                        <a:t>1.4.3</a:t>
                      </a:r>
                    </a:p>
                  </a:txBody>
                  <a:tcPr marL="91440" marR="91440" marT="45720" marB="45720">
                    <a:solidFill>
                      <a:srgbClr val="FFFFFF"/>
                    </a:solidFill>
                  </a:tcPr>
                </a:tc>
                <a:tc>
                  <a:txBody>
                    <a:bodyPr/>
                    <a:lstStyle/>
                    <a:p>
                      <a:r>
                        <a:rPr sz="1725" b="0">
                          <a:solidFill>
                            <a:srgbClr val="173039"/>
                          </a:solidFill>
                          <a:latin typeface="Arial"/>
                          <a:ea typeface="Arial"/>
                          <a:cs typeface="Arial"/>
                        </a:rPr>
                        <a:t>Moteur de gabarits utilisé par Alembic installé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MarkupSafe</a:t>
                      </a:r>
                    </a:p>
                  </a:txBody>
                  <a:tcPr marL="91440" marR="91440" marT="45720" marB="45720">
                    <a:solidFill>
                      <a:srgbClr val="EAF0F1"/>
                    </a:solidFill>
                  </a:tcPr>
                </a:tc>
                <a:tc>
                  <a:txBody>
                    <a:bodyPr/>
                    <a:lstStyle/>
                    <a:p>
                      <a:r>
                        <a:rPr sz="1725" b="0">
                          <a:solidFill>
                            <a:srgbClr val="173039"/>
                          </a:solidFill>
                          <a:latin typeface="Arial"/>
                          <a:ea typeface="Arial"/>
                          <a:cs typeface="Arial"/>
                        </a:rPr>
                        <a:t>3.0.4</a:t>
                      </a:r>
                    </a:p>
                  </a:txBody>
                  <a:tcPr marL="91440" marR="91440" marT="45720" marB="45720">
                    <a:solidFill>
                      <a:srgbClr val="EAF0F1"/>
                    </a:solidFill>
                  </a:tcPr>
                </a:tc>
                <a:tc>
                  <a:txBody>
                    <a:bodyPr/>
                    <a:lstStyle/>
                    <a:p>
                      <a:r>
                        <a:rPr sz="1725" b="0">
                          <a:solidFill>
                            <a:srgbClr val="173039"/>
                          </a:solidFill>
                          <a:latin typeface="Arial"/>
                          <a:ea typeface="Arial"/>
                          <a:cs typeface="Arial"/>
                        </a:rPr>
                        <a:t>Échappement des chaînes pour gabarits Mako</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numpy</a:t>
                      </a:r>
                    </a:p>
                  </a:txBody>
                  <a:tcPr marL="91440" marR="91440" marT="45720" marB="45720">
                    <a:solidFill>
                      <a:srgbClr val="FFFFFF"/>
                    </a:solidFill>
                  </a:tcPr>
                </a:tc>
                <a:tc>
                  <a:txBody>
                    <a:bodyPr/>
                    <a:lstStyle/>
                    <a:p>
                      <a:r>
                        <a:rPr sz="1725" b="0">
                          <a:solidFill>
                            <a:srgbClr val="173039"/>
                          </a:solidFill>
                          <a:latin typeface="Arial"/>
                          <a:ea typeface="Arial"/>
                          <a:cs typeface="Arial"/>
                        </a:rPr>
                        <a:t>2.5.3</a:t>
                      </a:r>
                    </a:p>
                  </a:txBody>
                  <a:tcPr marL="91440" marR="91440" marT="45720" marB="45720">
                    <a:solidFill>
                      <a:srgbClr val="FFFFFF"/>
                    </a:solidFill>
                  </a:tcPr>
                </a:tc>
                <a:tc>
                  <a:txBody>
                    <a:bodyPr/>
                    <a:lstStyle/>
                    <a:p>
                      <a:r>
                        <a:rPr sz="1725" b="0">
                          <a:solidFill>
                            <a:srgbClr val="173039"/>
                          </a:solidFill>
                          <a:latin typeface="Arial"/>
                          <a:ea typeface="Arial"/>
                          <a:cs typeface="Arial"/>
                        </a:rPr>
                        <a:t>Calcul numérique installé; aucun import applicatif trouvé</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53B9073-A876-4652-BD2C-8E4954A29482}"/>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2E241B4A-234D-4E27-B9B3-C6BF801770B8}"/>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50</a:t>
            </a:r>
          </a:p>
        </p:txBody>
      </p:sp>
    </p:spTree>
    <p:extLst>
      <p:ext uri="{BB962C8B-B14F-4D97-AF65-F5344CB8AC3E}">
        <p14:creationId xmlns:p14="http://schemas.microsoft.com/office/powerpoint/2010/main" val="658255089"/>
      </p:ext>
    </p:extLst>
  </p:cSld>
</p:sld>
</file>

<file path=ppt/slides/slide5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685D46-38D4-4950-BA7D-1D17671302B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8BD542EC-7D2B-4B86-A347-73684B01F9D4}"/>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41–45</a:t>
            </a:r>
          </a:p>
        </p:txBody>
      </p:sp>
      <p:graphicFrame>
        <p:nvGraphicFramePr>
          <p:cNvPr id="3" name="">
            <a:extLst xmlns:a="http://schemas.openxmlformats.org/drawingml/2006/main">
              <a:ext uri="{FF2B5EF4-FFF2-40B4-BE49-F238E27FC236}">
                <a16:creationId xmlns:a16="http://schemas.microsoft.com/office/drawing/2014/main" id="{74EBD70B-93C9-4A12-AEA5-48BEDF5ED111}"/>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opentelemetry-api</a:t>
                      </a:r>
                    </a:p>
                  </a:txBody>
                  <a:tcPr marL="91440" marR="91440" marT="45720" marB="45720">
                    <a:solidFill>
                      <a:srgbClr val="FFFFFF"/>
                    </a:solidFill>
                  </a:tcPr>
                </a:tc>
                <a:tc>
                  <a:txBody>
                    <a:bodyPr/>
                    <a:lstStyle/>
                    <a:p>
                      <a:r>
                        <a:rPr sz="1725" b="0">
                          <a:solidFill>
                            <a:srgbClr val="173039"/>
                          </a:solidFill>
                          <a:latin typeface="Arial"/>
                          <a:ea typeface="Arial"/>
                          <a:cs typeface="Arial"/>
                        </a:rPr>
                        <a:t>1.45.1</a:t>
                      </a:r>
                    </a:p>
                  </a:txBody>
                  <a:tcPr marL="91440" marR="91440" marT="45720" marB="45720">
                    <a:solidFill>
                      <a:srgbClr val="FFFFFF"/>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opentelemetry-exporter-http-transport</a:t>
                      </a:r>
                    </a:p>
                  </a:txBody>
                  <a:tcPr marL="91440" marR="91440" marT="45720" marB="45720">
                    <a:solidFill>
                      <a:srgbClr val="EAF0F1"/>
                    </a:solidFill>
                  </a:tcPr>
                </a:tc>
                <a:tc>
                  <a:txBody>
                    <a:bodyPr/>
                    <a:lstStyle/>
                    <a:p>
                      <a:r>
                        <a:rPr sz="1725" b="0">
                          <a:solidFill>
                            <a:srgbClr val="173039"/>
                          </a:solidFill>
                          <a:latin typeface="Arial"/>
                          <a:ea typeface="Arial"/>
                          <a:cs typeface="Arial"/>
                        </a:rPr>
                        <a:t>0.66b1</a:t>
                      </a:r>
                    </a:p>
                  </a:txBody>
                  <a:tcPr marL="91440" marR="91440" marT="45720" marB="45720">
                    <a:solidFill>
                      <a:srgbClr val="EAF0F1"/>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opentelemetry-exporter-otlp-common</a:t>
                      </a:r>
                    </a:p>
                  </a:txBody>
                  <a:tcPr marL="91440" marR="91440" marT="45720" marB="45720">
                    <a:solidFill>
                      <a:srgbClr val="FFFFFF"/>
                    </a:solidFill>
                  </a:tcPr>
                </a:tc>
                <a:tc>
                  <a:txBody>
                    <a:bodyPr/>
                    <a:lstStyle/>
                    <a:p>
                      <a:r>
                        <a:rPr sz="1725" b="0">
                          <a:solidFill>
                            <a:srgbClr val="173039"/>
                          </a:solidFill>
                          <a:latin typeface="Arial"/>
                          <a:ea typeface="Arial"/>
                          <a:cs typeface="Arial"/>
                        </a:rPr>
                        <a:t>0.66b1</a:t>
                      </a:r>
                    </a:p>
                  </a:txBody>
                  <a:tcPr marL="91440" marR="91440" marT="45720" marB="45720">
                    <a:solidFill>
                      <a:srgbClr val="FFFFFF"/>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opentelemetry-exporter-otlp-proto-common</a:t>
                      </a:r>
                    </a:p>
                  </a:txBody>
                  <a:tcPr marL="91440" marR="91440" marT="45720" marB="45720">
                    <a:solidFill>
                      <a:srgbClr val="EAF0F1"/>
                    </a:solidFill>
                  </a:tcPr>
                </a:tc>
                <a:tc>
                  <a:txBody>
                    <a:bodyPr/>
                    <a:lstStyle/>
                    <a:p>
                      <a:r>
                        <a:rPr sz="1725" b="0">
                          <a:solidFill>
                            <a:srgbClr val="173039"/>
                          </a:solidFill>
                          <a:latin typeface="Arial"/>
                          <a:ea typeface="Arial"/>
                          <a:cs typeface="Arial"/>
                        </a:rPr>
                        <a:t>1.45.1</a:t>
                      </a:r>
                    </a:p>
                  </a:txBody>
                  <a:tcPr marL="91440" marR="91440" marT="45720" marB="45720">
                    <a:solidFill>
                      <a:srgbClr val="EAF0F1"/>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opentelemetry-exporter-otlp-proto-http</a:t>
                      </a:r>
                    </a:p>
                  </a:txBody>
                  <a:tcPr marL="91440" marR="91440" marT="45720" marB="45720">
                    <a:solidFill>
                      <a:srgbClr val="FFFFFF"/>
                    </a:solidFill>
                  </a:tcPr>
                </a:tc>
                <a:tc>
                  <a:txBody>
                    <a:bodyPr/>
                    <a:lstStyle/>
                    <a:p>
                      <a:r>
                        <a:rPr sz="1725" b="0">
                          <a:solidFill>
                            <a:srgbClr val="173039"/>
                          </a:solidFill>
                          <a:latin typeface="Arial"/>
                          <a:ea typeface="Arial"/>
                          <a:cs typeface="Arial"/>
                        </a:rPr>
                        <a:t>1.45.1</a:t>
                      </a:r>
                    </a:p>
                  </a:txBody>
                  <a:tcPr marL="91440" marR="91440" marT="45720" marB="45720">
                    <a:solidFill>
                      <a:srgbClr val="FFFFFF"/>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D7A943-C8FF-4528-BCE7-75D8740C294E}"/>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A314B59E-CADD-49B4-85D3-A40E665C395A}"/>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51</a:t>
            </a:r>
          </a:p>
        </p:txBody>
      </p:sp>
    </p:spTree>
    <p:extLst>
      <p:ext uri="{BB962C8B-B14F-4D97-AF65-F5344CB8AC3E}">
        <p14:creationId xmlns:p14="http://schemas.microsoft.com/office/powerpoint/2010/main" val="1062180865"/>
      </p:ext>
    </p:extLst>
  </p:cSld>
</p:sld>
</file>

<file path=ppt/slides/slide5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1D9269-56C8-49E6-9D4C-BBDD310AADCB}"/>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F568C394-8007-40DF-8AFB-CEC528DA3BAC}"/>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46–50</a:t>
            </a:r>
          </a:p>
        </p:txBody>
      </p:sp>
      <p:graphicFrame>
        <p:nvGraphicFramePr>
          <p:cNvPr id="3" name="">
            <a:extLst xmlns:a="http://schemas.openxmlformats.org/drawingml/2006/main">
              <a:ext uri="{FF2B5EF4-FFF2-40B4-BE49-F238E27FC236}">
                <a16:creationId xmlns:a16="http://schemas.microsoft.com/office/drawing/2014/main" id="{1CEC45A3-488B-4E75-93FD-EE44645E25A6}"/>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opentelemetry-proto</a:t>
                      </a:r>
                    </a:p>
                  </a:txBody>
                  <a:tcPr marL="91440" marR="91440" marT="45720" marB="45720">
                    <a:solidFill>
                      <a:srgbClr val="FFFFFF"/>
                    </a:solidFill>
                  </a:tcPr>
                </a:tc>
                <a:tc>
                  <a:txBody>
                    <a:bodyPr/>
                    <a:lstStyle/>
                    <a:p>
                      <a:r>
                        <a:rPr sz="1725" b="0">
                          <a:solidFill>
                            <a:srgbClr val="173039"/>
                          </a:solidFill>
                          <a:latin typeface="Arial"/>
                          <a:ea typeface="Arial"/>
                          <a:cs typeface="Arial"/>
                        </a:rPr>
                        <a:t>1.45.1</a:t>
                      </a:r>
                    </a:p>
                  </a:txBody>
                  <a:tcPr marL="91440" marR="91440" marT="45720" marB="45720">
                    <a:solidFill>
                      <a:srgbClr val="FFFFFF"/>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opentelemetry-sdk</a:t>
                      </a:r>
                    </a:p>
                  </a:txBody>
                  <a:tcPr marL="91440" marR="91440" marT="45720" marB="45720">
                    <a:solidFill>
                      <a:srgbClr val="EAF0F1"/>
                    </a:solidFill>
                  </a:tcPr>
                </a:tc>
                <a:tc>
                  <a:txBody>
                    <a:bodyPr/>
                    <a:lstStyle/>
                    <a:p>
                      <a:r>
                        <a:rPr sz="1725" b="0">
                          <a:solidFill>
                            <a:srgbClr val="173039"/>
                          </a:solidFill>
                          <a:latin typeface="Arial"/>
                          <a:ea typeface="Arial"/>
                          <a:cs typeface="Arial"/>
                        </a:rPr>
                        <a:t>1.45.1</a:t>
                      </a:r>
                    </a:p>
                  </a:txBody>
                  <a:tcPr marL="91440" marR="91440" marT="45720" marB="45720">
                    <a:solidFill>
                      <a:srgbClr val="EAF0F1"/>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opentelemetry-semantic-conventions</a:t>
                      </a:r>
                    </a:p>
                  </a:txBody>
                  <a:tcPr marL="91440" marR="91440" marT="45720" marB="45720">
                    <a:solidFill>
                      <a:srgbClr val="FFFFFF"/>
                    </a:solidFill>
                  </a:tcPr>
                </a:tc>
                <a:tc>
                  <a:txBody>
                    <a:bodyPr/>
                    <a:lstStyle/>
                    <a:p>
                      <a:r>
                        <a:rPr sz="1725" b="0">
                          <a:solidFill>
                            <a:srgbClr val="173039"/>
                          </a:solidFill>
                          <a:latin typeface="Arial"/>
                          <a:ea typeface="Arial"/>
                          <a:cs typeface="Arial"/>
                        </a:rPr>
                        <a:t>0.66b1</a:t>
                      </a:r>
                    </a:p>
                  </a:txBody>
                  <a:tcPr marL="91440" marR="91440" marT="45720" marB="45720">
                    <a:solidFill>
                      <a:srgbClr val="FFFFFF"/>
                    </a:solidFill>
                  </a:tcPr>
                </a:tc>
                <a:tc>
                  <a:txBody>
                    <a:bodyPr/>
                    <a:lstStyle/>
                    <a:p>
                      <a:r>
                        <a:rPr sz="1725" b="0">
                          <a:solidFill>
                            <a:srgbClr val="173039"/>
                          </a:solidFill>
                          <a:latin typeface="Arial"/>
                          <a:ea typeface="Arial"/>
                          <a:cs typeface="Arial"/>
                        </a:rPr>
                        <a:t>Support indirect de l’export Langfuse facultatif</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orjson</a:t>
                      </a:r>
                    </a:p>
                  </a:txBody>
                  <a:tcPr marL="91440" marR="91440" marT="45720" marB="45720">
                    <a:solidFill>
                      <a:srgbClr val="EAF0F1"/>
                    </a:solidFill>
                  </a:tcPr>
                </a:tc>
                <a:tc>
                  <a:txBody>
                    <a:bodyPr/>
                    <a:lstStyle/>
                    <a:p>
                      <a:r>
                        <a:rPr sz="1725" b="0">
                          <a:solidFill>
                            <a:srgbClr val="173039"/>
                          </a:solidFill>
                          <a:latin typeface="Arial"/>
                          <a:ea typeface="Arial"/>
                          <a:cs typeface="Arial"/>
                        </a:rPr>
                        <a:t>3.13.0</a:t>
                      </a:r>
                    </a:p>
                  </a:txBody>
                  <a:tcPr marL="91440" marR="91440" marT="45720" marB="45720">
                    <a:solidFill>
                      <a:srgbClr val="EAF0F1"/>
                    </a:solidFill>
                  </a:tcPr>
                </a:tc>
                <a:tc>
                  <a:txBody>
                    <a:bodyPr/>
                    <a:lstStyle/>
                    <a:p>
                      <a:r>
                        <a:rPr sz="1725" b="0">
                          <a:solidFill>
                            <a:srgbClr val="173039"/>
                          </a:solidFill>
                          <a:latin typeface="Arial"/>
                          <a:ea typeface="Arial"/>
                          <a:cs typeface="Arial"/>
                        </a:rPr>
                        <a:t>Sérialiseur rapide sous-jacent aux intégrations installées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ormsgpack</a:t>
                      </a:r>
                    </a:p>
                  </a:txBody>
                  <a:tcPr marL="91440" marR="91440" marT="45720" marB="45720">
                    <a:solidFill>
                      <a:srgbClr val="FFFFFF"/>
                    </a:solidFill>
                  </a:tcPr>
                </a:tc>
                <a:tc>
                  <a:txBody>
                    <a:bodyPr/>
                    <a:lstStyle/>
                    <a:p>
                      <a:r>
                        <a:rPr sz="1725" b="0">
                          <a:solidFill>
                            <a:srgbClr val="173039"/>
                          </a:solidFill>
                          <a:latin typeface="Arial"/>
                          <a:ea typeface="Arial"/>
                          <a:cs typeface="Arial"/>
                        </a:rPr>
                        <a:t>1.12.2</a:t>
                      </a:r>
                    </a:p>
                  </a:txBody>
                  <a:tcPr marL="91440" marR="91440" marT="45720" marB="45720">
                    <a:solidFill>
                      <a:srgbClr val="FFFFFF"/>
                    </a:solidFill>
                  </a:tcPr>
                </a:tc>
                <a:tc>
                  <a:txBody>
                    <a:bodyPr/>
                    <a:lstStyle/>
                    <a:p>
                      <a:r>
                        <a:rPr sz="1725" b="0">
                          <a:solidFill>
                            <a:srgbClr val="173039"/>
                          </a:solidFill>
                          <a:latin typeface="Arial"/>
                          <a:ea typeface="Arial"/>
                          <a:cs typeface="Arial"/>
                        </a:rPr>
                        <a:t>Sérialisation compacte utilisée par les checkpoints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7C6983B-D0B0-4F0B-9C46-AF519E7888F9}"/>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BAB60552-66BD-410B-8037-5E0BA13EA416}"/>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52</a:t>
            </a:r>
          </a:p>
        </p:txBody>
      </p:sp>
    </p:spTree>
    <p:extLst>
      <p:ext uri="{BB962C8B-B14F-4D97-AF65-F5344CB8AC3E}">
        <p14:creationId xmlns:p14="http://schemas.microsoft.com/office/powerpoint/2010/main" val="2006776542"/>
      </p:ext>
    </p:extLst>
  </p:cSld>
</p:sld>
</file>

<file path=ppt/slides/slide5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4ABF98-D4CE-41B1-B807-D39984717C1B}"/>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51143832-EF60-4818-B0C1-1FA720CCF146}"/>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51–55</a:t>
            </a:r>
          </a:p>
        </p:txBody>
      </p:sp>
      <p:graphicFrame>
        <p:nvGraphicFramePr>
          <p:cNvPr id="3" name="">
            <a:extLst xmlns:a="http://schemas.openxmlformats.org/drawingml/2006/main">
              <a:ext uri="{FF2B5EF4-FFF2-40B4-BE49-F238E27FC236}">
                <a16:creationId xmlns:a16="http://schemas.microsoft.com/office/drawing/2014/main" id="{BE1C5DF4-CAD9-460A-B945-A4B969AF6331}"/>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ortools</a:t>
                      </a:r>
                    </a:p>
                  </a:txBody>
                  <a:tcPr marL="91440" marR="91440" marT="45720" marB="45720">
                    <a:solidFill>
                      <a:srgbClr val="FFFFFF"/>
                    </a:solidFill>
                  </a:tcPr>
                </a:tc>
                <a:tc>
                  <a:txBody>
                    <a:bodyPr/>
                    <a:lstStyle/>
                    <a:p>
                      <a:r>
                        <a:rPr sz="1725" b="0">
                          <a:solidFill>
                            <a:srgbClr val="173039"/>
                          </a:solidFill>
                          <a:latin typeface="Arial"/>
                          <a:ea typeface="Arial"/>
                          <a:cs typeface="Arial"/>
                        </a:rPr>
                        <a:t>9.15.6755</a:t>
                      </a:r>
                    </a:p>
                  </a:txBody>
                  <a:tcPr marL="91440" marR="91440" marT="45720" marB="45720">
                    <a:solidFill>
                      <a:srgbClr val="FFFFFF"/>
                    </a:solidFill>
                  </a:tcPr>
                </a:tc>
                <a:tc>
                  <a:txBody>
                    <a:bodyPr/>
                    <a:lstStyle/>
                    <a:p>
                      <a:r>
                        <a:rPr sz="1725" b="0">
                          <a:solidFill>
                            <a:srgbClr val="173039"/>
                          </a:solidFill>
                          <a:latin typeface="Arial"/>
                          <a:ea typeface="Arial"/>
                          <a:cs typeface="Arial"/>
                        </a:rPr>
                        <a:t>Solveur borné des tournées, fenêtres horaires et capacités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packaging</a:t>
                      </a:r>
                    </a:p>
                  </a:txBody>
                  <a:tcPr marL="91440" marR="91440" marT="45720" marB="45720">
                    <a:solidFill>
                      <a:srgbClr val="EAF0F1"/>
                    </a:solidFill>
                  </a:tcPr>
                </a:tc>
                <a:tc>
                  <a:txBody>
                    <a:bodyPr/>
                    <a:lstStyle/>
                    <a:p>
                      <a:r>
                        <a:rPr sz="1725" b="0">
                          <a:solidFill>
                            <a:srgbClr val="173039"/>
                          </a:solidFill>
                          <a:latin typeface="Arial"/>
                          <a:ea typeface="Arial"/>
                          <a:cs typeface="Arial"/>
                        </a:rPr>
                        <a:t>26.3</a:t>
                      </a:r>
                    </a:p>
                  </a:txBody>
                  <a:tcPr marL="91440" marR="91440" marT="45720" marB="45720">
                    <a:solidFill>
                      <a:srgbClr val="EAF0F1"/>
                    </a:solidFill>
                  </a:tcPr>
                </a:tc>
                <a:tc>
                  <a:txBody>
                    <a:bodyPr/>
                    <a:lstStyle/>
                    <a:p>
                      <a:r>
                        <a:rPr sz="1725" b="0">
                          <a:solidFill>
                            <a:srgbClr val="173039"/>
                          </a:solidFill>
                          <a:latin typeface="Arial"/>
                          <a:ea typeface="Arial"/>
                          <a:cs typeface="Arial"/>
                        </a:rPr>
                        <a:t>Comparaison de versions pour les outils Python</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pandas</a:t>
                      </a:r>
                    </a:p>
                  </a:txBody>
                  <a:tcPr marL="91440" marR="91440" marT="45720" marB="45720">
                    <a:solidFill>
                      <a:srgbClr val="FFFFFF"/>
                    </a:solidFill>
                  </a:tcPr>
                </a:tc>
                <a:tc>
                  <a:txBody>
                    <a:bodyPr/>
                    <a:lstStyle/>
                    <a:p>
                      <a:r>
                        <a:rPr sz="1725" b="0">
                          <a:solidFill>
                            <a:srgbClr val="173039"/>
                          </a:solidFill>
                          <a:latin typeface="Arial"/>
                          <a:ea typeface="Arial"/>
                          <a:cs typeface="Arial"/>
                        </a:rPr>
                        <a:t>3.0.6</a:t>
                      </a:r>
                    </a:p>
                  </a:txBody>
                  <a:tcPr marL="91440" marR="91440" marT="45720" marB="45720">
                    <a:solidFill>
                      <a:srgbClr val="FFFFFF"/>
                    </a:solidFill>
                  </a:tcPr>
                </a:tc>
                <a:tc>
                  <a:txBody>
                    <a:bodyPr/>
                    <a:lstStyle/>
                    <a:p>
                      <a:r>
                        <a:rPr sz="1725" b="0">
                          <a:solidFill>
                            <a:srgbClr val="173039"/>
                          </a:solidFill>
                          <a:latin typeface="Arial"/>
                          <a:ea typeface="Arial"/>
                          <a:cs typeface="Arial"/>
                        </a:rPr>
                        <a:t>Analyse tabulaire installée; aucun import applicatif trouvé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pluggy</a:t>
                      </a:r>
                    </a:p>
                  </a:txBody>
                  <a:tcPr marL="91440" marR="91440" marT="45720" marB="45720">
                    <a:solidFill>
                      <a:srgbClr val="EAF0F1"/>
                    </a:solidFill>
                  </a:tcPr>
                </a:tc>
                <a:tc>
                  <a:txBody>
                    <a:bodyPr/>
                    <a:lstStyle/>
                    <a:p>
                      <a:r>
                        <a:rPr sz="1725" b="0">
                          <a:solidFill>
                            <a:srgbClr val="173039"/>
                          </a:solidFill>
                          <a:latin typeface="Arial"/>
                          <a:ea typeface="Arial"/>
                          <a:cs typeface="Arial"/>
                        </a:rPr>
                        <a:t>1.6.0</a:t>
                      </a:r>
                    </a:p>
                  </a:txBody>
                  <a:tcPr marL="91440" marR="91440" marT="45720" marB="45720">
                    <a:solidFill>
                      <a:srgbClr val="EAF0F1"/>
                    </a:solidFill>
                  </a:tcPr>
                </a:tc>
                <a:tc>
                  <a:txBody>
                    <a:bodyPr/>
                    <a:lstStyle/>
                    <a:p>
                      <a:r>
                        <a:rPr sz="1725" b="0">
                          <a:solidFill>
                            <a:srgbClr val="173039"/>
                          </a:solidFill>
                          <a:latin typeface="Arial"/>
                          <a:ea typeface="Arial"/>
                          <a:cs typeface="Arial"/>
                        </a:rPr>
                        <a:t>Système de plugins utilisé par pytest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protobuf</a:t>
                      </a:r>
                    </a:p>
                  </a:txBody>
                  <a:tcPr marL="91440" marR="91440" marT="45720" marB="45720">
                    <a:solidFill>
                      <a:srgbClr val="FFFFFF"/>
                    </a:solidFill>
                  </a:tcPr>
                </a:tc>
                <a:tc>
                  <a:txBody>
                    <a:bodyPr/>
                    <a:lstStyle/>
                    <a:p>
                      <a:r>
                        <a:rPr sz="1725" b="0">
                          <a:solidFill>
                            <a:srgbClr val="173039"/>
                          </a:solidFill>
                          <a:latin typeface="Arial"/>
                          <a:ea typeface="Arial"/>
                          <a:cs typeface="Arial"/>
                        </a:rPr>
                        <a:t>6.33.6</a:t>
                      </a:r>
                    </a:p>
                  </a:txBody>
                  <a:tcPr marL="91440" marR="91440" marT="45720" marB="45720">
                    <a:solidFill>
                      <a:srgbClr val="FFFFFF"/>
                    </a:solidFill>
                  </a:tcPr>
                </a:tc>
                <a:tc>
                  <a:txBody>
                    <a:bodyPr/>
                    <a:lstStyle/>
                    <a:p>
                      <a:r>
                        <a:rPr sz="1725" b="0">
                          <a:solidFill>
                            <a:srgbClr val="173039"/>
                          </a:solidFill>
                          <a:latin typeface="Arial"/>
                          <a:ea typeface="Arial"/>
                          <a:cs typeface="Arial"/>
                        </a:rPr>
                        <a:t>Messages binaires requis par OR-Tools et protos installés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DADF3A0-89F0-4056-89ED-65CC704C60B1}"/>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A744BBCF-3447-4D4E-808A-D196CA134B5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53</a:t>
            </a:r>
          </a:p>
        </p:txBody>
      </p:sp>
    </p:spTree>
    <p:extLst>
      <p:ext uri="{BB962C8B-B14F-4D97-AF65-F5344CB8AC3E}">
        <p14:creationId xmlns:p14="http://schemas.microsoft.com/office/powerpoint/2010/main" val="161496450"/>
      </p:ext>
    </p:extLst>
  </p:cSld>
</p:sld>
</file>

<file path=ppt/slides/slide5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932778-7428-4187-A3C7-C9C4CCE0BE1C}"/>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840F9EA6-7361-4D57-8FFA-1067D3CE2ABE}"/>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56–60</a:t>
            </a:r>
          </a:p>
        </p:txBody>
      </p:sp>
      <p:graphicFrame>
        <p:nvGraphicFramePr>
          <p:cNvPr id="3" name="">
            <a:extLst xmlns:a="http://schemas.openxmlformats.org/drawingml/2006/main">
              <a:ext uri="{FF2B5EF4-FFF2-40B4-BE49-F238E27FC236}">
                <a16:creationId xmlns:a16="http://schemas.microsoft.com/office/drawing/2014/main" id="{6AAFCBF9-655C-47E2-9B95-7F8CA85F9FC8}"/>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psycopg</a:t>
                      </a:r>
                    </a:p>
                  </a:txBody>
                  <a:tcPr marL="91440" marR="91440" marT="45720" marB="45720">
                    <a:solidFill>
                      <a:srgbClr val="FFFFFF"/>
                    </a:solidFill>
                  </a:tcPr>
                </a:tc>
                <a:tc>
                  <a:txBody>
                    <a:bodyPr/>
                    <a:lstStyle/>
                    <a:p>
                      <a:r>
                        <a:rPr sz="1725" b="0">
                          <a:solidFill>
                            <a:srgbClr val="173039"/>
                          </a:solidFill>
                          <a:latin typeface="Arial"/>
                          <a:ea typeface="Arial"/>
                          <a:cs typeface="Arial"/>
                        </a:rPr>
                        <a:t>3.3.6</a:t>
                      </a:r>
                    </a:p>
                  </a:txBody>
                  <a:tcPr marL="91440" marR="91440" marT="45720" marB="45720">
                    <a:solidFill>
                      <a:srgbClr val="FFFFFF"/>
                    </a:solidFill>
                  </a:tcPr>
                </a:tc>
                <a:tc>
                  <a:txBody>
                    <a:bodyPr/>
                    <a:lstStyle/>
                    <a:p>
                      <a:r>
                        <a:rPr sz="1725" b="0">
                          <a:solidFill>
                            <a:srgbClr val="173039"/>
                          </a:solidFill>
                          <a:latin typeface="Arial"/>
                          <a:ea typeface="Arial"/>
                          <a:cs typeface="Arial"/>
                        </a:rPr>
                        <a:t>Pilote PostgreSQL pour profil alternatif non vérifié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psycopg-binary</a:t>
                      </a:r>
                    </a:p>
                  </a:txBody>
                  <a:tcPr marL="91440" marR="91440" marT="45720" marB="45720">
                    <a:solidFill>
                      <a:srgbClr val="EAF0F1"/>
                    </a:solidFill>
                  </a:tcPr>
                </a:tc>
                <a:tc>
                  <a:txBody>
                    <a:bodyPr/>
                    <a:lstStyle/>
                    <a:p>
                      <a:r>
                        <a:rPr sz="1725" b="0">
                          <a:solidFill>
                            <a:srgbClr val="173039"/>
                          </a:solidFill>
                          <a:latin typeface="Arial"/>
                          <a:ea typeface="Arial"/>
                          <a:cs typeface="Arial"/>
                        </a:rPr>
                        <a:t>3.3.6</a:t>
                      </a:r>
                    </a:p>
                  </a:txBody>
                  <a:tcPr marL="91440" marR="91440" marT="45720" marB="45720">
                    <a:solidFill>
                      <a:srgbClr val="EAF0F1"/>
                    </a:solidFill>
                  </a:tcPr>
                </a:tc>
                <a:tc>
                  <a:txBody>
                    <a:bodyPr/>
                    <a:lstStyle/>
                    <a:p>
                      <a:r>
                        <a:rPr sz="1725" b="0">
                          <a:solidFill>
                            <a:srgbClr val="173039"/>
                          </a:solidFill>
                          <a:latin typeface="Arial"/>
                          <a:ea typeface="Arial"/>
                          <a:cs typeface="Arial"/>
                        </a:rPr>
                        <a:t>Binaire du pilote PostgreSQL du profil optionnel</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psycopg-pool</a:t>
                      </a:r>
                    </a:p>
                  </a:txBody>
                  <a:tcPr marL="91440" marR="91440" marT="45720" marB="45720">
                    <a:solidFill>
                      <a:srgbClr val="FFFFFF"/>
                    </a:solidFill>
                  </a:tcPr>
                </a:tc>
                <a:tc>
                  <a:txBody>
                    <a:bodyPr/>
                    <a:lstStyle/>
                    <a:p>
                      <a:r>
                        <a:rPr sz="1725" b="0">
                          <a:solidFill>
                            <a:srgbClr val="173039"/>
                          </a:solidFill>
                          <a:latin typeface="Arial"/>
                          <a:ea typeface="Arial"/>
                          <a:cs typeface="Arial"/>
                        </a:rPr>
                        <a:t>3.3.3</a:t>
                      </a:r>
                    </a:p>
                  </a:txBody>
                  <a:tcPr marL="91440" marR="91440" marT="45720" marB="45720">
                    <a:solidFill>
                      <a:srgbClr val="FFFFFF"/>
                    </a:solidFill>
                  </a:tcPr>
                </a:tc>
                <a:tc>
                  <a:txBody>
                    <a:bodyPr/>
                    <a:lstStyle/>
                    <a:p>
                      <a:r>
                        <a:rPr sz="1725" b="0">
                          <a:solidFill>
                            <a:srgbClr val="173039"/>
                          </a:solidFill>
                          <a:latin typeface="Arial"/>
                          <a:ea typeface="Arial"/>
                          <a:cs typeface="Arial"/>
                        </a:rPr>
                        <a:t>Pool du pilote PostgreSQL; profil alternatif optionnel</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pydantic</a:t>
                      </a:r>
                    </a:p>
                  </a:txBody>
                  <a:tcPr marL="91440" marR="91440" marT="45720" marB="45720">
                    <a:solidFill>
                      <a:srgbClr val="EAF0F1"/>
                    </a:solidFill>
                  </a:tcPr>
                </a:tc>
                <a:tc>
                  <a:txBody>
                    <a:bodyPr/>
                    <a:lstStyle/>
                    <a:p>
                      <a:r>
                        <a:rPr sz="1725" b="0">
                          <a:solidFill>
                            <a:srgbClr val="173039"/>
                          </a:solidFill>
                          <a:latin typeface="Arial"/>
                          <a:ea typeface="Arial"/>
                          <a:cs typeface="Arial"/>
                        </a:rPr>
                        <a:t>2.14.0</a:t>
                      </a:r>
                    </a:p>
                  </a:txBody>
                  <a:tcPr marL="91440" marR="91440" marT="45720" marB="45720">
                    <a:solidFill>
                      <a:srgbClr val="EAF0F1"/>
                    </a:solidFill>
                  </a:tcPr>
                </a:tc>
                <a:tc>
                  <a:txBody>
                    <a:bodyPr/>
                    <a:lstStyle/>
                    <a:p>
                      <a:r>
                        <a:rPr sz="1725" b="0">
                          <a:solidFill>
                            <a:srgbClr val="173039"/>
                          </a:solidFill>
                          <a:latin typeface="Arial"/>
                          <a:ea typeface="Arial"/>
                          <a:cs typeface="Arial"/>
                        </a:rPr>
                        <a:t>Contrats de données et validation des entrées/sorties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pydantic_core</a:t>
                      </a:r>
                    </a:p>
                  </a:txBody>
                  <a:tcPr marL="91440" marR="91440" marT="45720" marB="45720">
                    <a:solidFill>
                      <a:srgbClr val="FFFFFF"/>
                    </a:solidFill>
                  </a:tcPr>
                </a:tc>
                <a:tc>
                  <a:txBody>
                    <a:bodyPr/>
                    <a:lstStyle/>
                    <a:p>
                      <a:r>
                        <a:rPr sz="1725" b="0">
                          <a:solidFill>
                            <a:srgbClr val="173039"/>
                          </a:solidFill>
                          <a:latin typeface="Arial"/>
                          <a:ea typeface="Arial"/>
                          <a:cs typeface="Arial"/>
                        </a:rPr>
                        <a:t>2.50.0</a:t>
                      </a:r>
                    </a:p>
                  </a:txBody>
                  <a:tcPr marL="91440" marR="91440" marT="45720" marB="45720">
                    <a:solidFill>
                      <a:srgbClr val="FFFFFF"/>
                    </a:solidFill>
                  </a:tcPr>
                </a:tc>
                <a:tc>
                  <a:txBody>
                    <a:bodyPr/>
                    <a:lstStyle/>
                    <a:p>
                      <a:r>
                        <a:rPr sz="1725" b="0">
                          <a:solidFill>
                            <a:srgbClr val="173039"/>
                          </a:solidFill>
                          <a:latin typeface="Arial"/>
                          <a:ea typeface="Arial"/>
                          <a:cs typeface="Arial"/>
                        </a:rPr>
                        <a:t>Moteur Rust sous-jacent à Pydantic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BAF65B5-ED78-4AEB-9A43-834A8F5DE7CB}"/>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F12327BF-2702-494E-9D94-37FCBD42DABD}"/>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54</a:t>
            </a:r>
          </a:p>
        </p:txBody>
      </p:sp>
    </p:spTree>
    <p:extLst>
      <p:ext uri="{BB962C8B-B14F-4D97-AF65-F5344CB8AC3E}">
        <p14:creationId xmlns:p14="http://schemas.microsoft.com/office/powerpoint/2010/main" val="1000289930"/>
      </p:ext>
    </p:extLst>
  </p:cSld>
</p:sld>
</file>

<file path=ppt/slides/slide5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EA0B0A-F058-498E-ACC4-F01480CFE52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AAF53142-B7A8-4863-BE80-1974F0FCD0E8}"/>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61–65</a:t>
            </a:r>
          </a:p>
        </p:txBody>
      </p:sp>
      <p:graphicFrame>
        <p:nvGraphicFramePr>
          <p:cNvPr id="3" name="">
            <a:extLst xmlns:a="http://schemas.openxmlformats.org/drawingml/2006/main">
              <a:ext uri="{FF2B5EF4-FFF2-40B4-BE49-F238E27FC236}">
                <a16:creationId xmlns:a16="http://schemas.microsoft.com/office/drawing/2014/main" id="{8A47BD66-6BCE-4F86-A50C-EFEBECF4818D}"/>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Pygments</a:t>
                      </a:r>
                    </a:p>
                  </a:txBody>
                  <a:tcPr marL="91440" marR="91440" marT="45720" marB="45720">
                    <a:solidFill>
                      <a:srgbClr val="FFFFFF"/>
                    </a:solidFill>
                  </a:tcPr>
                </a:tc>
                <a:tc>
                  <a:txBody>
                    <a:bodyPr/>
                    <a:lstStyle/>
                    <a:p>
                      <a:r>
                        <a:rPr sz="1725" b="0">
                          <a:solidFill>
                            <a:srgbClr val="173039"/>
                          </a:solidFill>
                          <a:latin typeface="Arial"/>
                          <a:ea typeface="Arial"/>
                          <a:cs typeface="Arial"/>
                        </a:rPr>
                        <a:t>2.21.0</a:t>
                      </a:r>
                    </a:p>
                  </a:txBody>
                  <a:tcPr marL="91440" marR="91440" marT="45720" marB="45720">
                    <a:solidFill>
                      <a:srgbClr val="FFFFFF"/>
                    </a:solidFill>
                  </a:tcPr>
                </a:tc>
                <a:tc>
                  <a:txBody>
                    <a:bodyPr/>
                    <a:lstStyle/>
                    <a:p>
                      <a:r>
                        <a:rPr sz="1725" b="0">
                          <a:solidFill>
                            <a:srgbClr val="173039"/>
                          </a:solidFill>
                          <a:latin typeface="Arial"/>
                          <a:ea typeface="Arial"/>
                          <a:cs typeface="Arial"/>
                        </a:rPr>
                        <a:t>Coloration syntaxique optionnelle des outils de documentation</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pytest</a:t>
                      </a:r>
                    </a:p>
                  </a:txBody>
                  <a:tcPr marL="91440" marR="91440" marT="45720" marB="45720">
                    <a:solidFill>
                      <a:srgbClr val="EAF0F1"/>
                    </a:solidFill>
                  </a:tcPr>
                </a:tc>
                <a:tc>
                  <a:txBody>
                    <a:bodyPr/>
                    <a:lstStyle/>
                    <a:p>
                      <a:r>
                        <a:rPr sz="1725" b="0">
                          <a:solidFill>
                            <a:srgbClr val="173039"/>
                          </a:solidFill>
                          <a:latin typeface="Arial"/>
                          <a:ea typeface="Arial"/>
                          <a:cs typeface="Arial"/>
                        </a:rPr>
                        <a:t>9.1.1</a:t>
                      </a:r>
                    </a:p>
                  </a:txBody>
                  <a:tcPr marL="91440" marR="91440" marT="45720" marB="45720">
                    <a:solidFill>
                      <a:srgbClr val="EAF0F1"/>
                    </a:solidFill>
                  </a:tcPr>
                </a:tc>
                <a:tc>
                  <a:txBody>
                    <a:bodyPr/>
                    <a:lstStyle/>
                    <a:p>
                      <a:r>
                        <a:rPr sz="1725" b="0">
                          <a:solidFill>
                            <a:srgbClr val="173039"/>
                          </a:solidFill>
                          <a:latin typeface="Arial"/>
                          <a:ea typeface="Arial"/>
                          <a:cs typeface="Arial"/>
                        </a:rPr>
                        <a:t>Exécution des tests backend dans tests/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python-dateutil</a:t>
                      </a:r>
                    </a:p>
                  </a:txBody>
                  <a:tcPr marL="91440" marR="91440" marT="45720" marB="45720">
                    <a:solidFill>
                      <a:srgbClr val="FFFFFF"/>
                    </a:solidFill>
                  </a:tcPr>
                </a:tc>
                <a:tc>
                  <a:txBody>
                    <a:bodyPr/>
                    <a:lstStyle/>
                    <a:p>
                      <a:r>
                        <a:rPr sz="1725" b="0">
                          <a:solidFill>
                            <a:srgbClr val="173039"/>
                          </a:solidFill>
                          <a:latin typeface="Arial"/>
                          <a:ea typeface="Arial"/>
                          <a:cs typeface="Arial"/>
                        </a:rPr>
                        <a:t>2.9.0.post0</a:t>
                      </a:r>
                    </a:p>
                  </a:txBody>
                  <a:tcPr marL="91440" marR="91440" marT="45720" marB="45720">
                    <a:solidFill>
                      <a:srgbClr val="FFFFFF"/>
                    </a:solidFill>
                  </a:tcPr>
                </a:tc>
                <a:tc>
                  <a:txBody>
                    <a:bodyPr/>
                    <a:lstStyle/>
                    <a:p>
                      <a:r>
                        <a:rPr sz="1725" b="0">
                          <a:solidFill>
                            <a:srgbClr val="173039"/>
                          </a:solidFill>
                          <a:latin typeface="Arial"/>
                          <a:ea typeface="Arial"/>
                          <a:cs typeface="Arial"/>
                        </a:rPr>
                        <a:t>Utilitaires dates installés pour bibliothèques dépendantes</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python-dotenv</a:t>
                      </a:r>
                    </a:p>
                  </a:txBody>
                  <a:tcPr marL="91440" marR="91440" marT="45720" marB="45720">
                    <a:solidFill>
                      <a:srgbClr val="EAF0F1"/>
                    </a:solidFill>
                  </a:tcPr>
                </a:tc>
                <a:tc>
                  <a:txBody>
                    <a:bodyPr/>
                    <a:lstStyle/>
                    <a:p>
                      <a:r>
                        <a:rPr sz="1725" b="0">
                          <a:solidFill>
                            <a:srgbClr val="173039"/>
                          </a:solidFill>
                          <a:latin typeface="Arial"/>
                          <a:ea typeface="Arial"/>
                          <a:cs typeface="Arial"/>
                        </a:rPr>
                        <a:t>1.2.4</a:t>
                      </a:r>
                    </a:p>
                  </a:txBody>
                  <a:tcPr marL="91440" marR="91440" marT="45720" marB="45720">
                    <a:solidFill>
                      <a:srgbClr val="EAF0F1"/>
                    </a:solidFill>
                  </a:tcPr>
                </a:tc>
                <a:tc>
                  <a:txBody>
                    <a:bodyPr/>
                    <a:lstStyle/>
                    <a:p>
                      <a:r>
                        <a:rPr sz="1725" b="0">
                          <a:solidFill>
                            <a:srgbClr val="173039"/>
                          </a:solidFill>
                          <a:latin typeface="Arial"/>
                          <a:ea typeface="Arial"/>
                          <a:cs typeface="Arial"/>
                        </a:rPr>
                        <a:t>Chargement de configuration locale depuis l’environnement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PyYAML</a:t>
                      </a:r>
                    </a:p>
                  </a:txBody>
                  <a:tcPr marL="91440" marR="91440" marT="45720" marB="45720">
                    <a:solidFill>
                      <a:srgbClr val="FFFFFF"/>
                    </a:solidFill>
                  </a:tcPr>
                </a:tc>
                <a:tc>
                  <a:txBody>
                    <a:bodyPr/>
                    <a:lstStyle/>
                    <a:p>
                      <a:r>
                        <a:rPr sz="1725" b="0">
                          <a:solidFill>
                            <a:srgbClr val="173039"/>
                          </a:solidFill>
                          <a:latin typeface="Arial"/>
                          <a:ea typeface="Arial"/>
                          <a:cs typeface="Arial"/>
                        </a:rPr>
                        <a:t>6.0.3</a:t>
                      </a:r>
                    </a:p>
                  </a:txBody>
                  <a:tcPr marL="91440" marR="91440" marT="45720" marB="45720">
                    <a:solidFill>
                      <a:srgbClr val="FFFFFF"/>
                    </a:solidFill>
                  </a:tcPr>
                </a:tc>
                <a:tc>
                  <a:txBody>
                    <a:bodyPr/>
                    <a:lstStyle/>
                    <a:p>
                      <a:r>
                        <a:rPr sz="1725" b="0">
                          <a:solidFill>
                            <a:srgbClr val="173039"/>
                          </a:solidFill>
                          <a:latin typeface="Arial"/>
                          <a:ea typeface="Arial"/>
                          <a:cs typeface="Arial"/>
                        </a:rPr>
                        <a:t>Lecture YAML de support par dépendances installées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E9001E-9B91-48C1-8C33-0186841FF962}"/>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E904BC37-25C4-4E89-B896-2345DE4050F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55</a:t>
            </a:r>
          </a:p>
        </p:txBody>
      </p:sp>
    </p:spTree>
    <p:extLst>
      <p:ext uri="{BB962C8B-B14F-4D97-AF65-F5344CB8AC3E}">
        <p14:creationId xmlns:p14="http://schemas.microsoft.com/office/powerpoint/2010/main" val="1068713754"/>
      </p:ext>
    </p:extLst>
  </p:cSld>
</p:sld>
</file>

<file path=ppt/slides/slide5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568BB4-A181-4C6F-AE50-C35C9579F606}"/>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8E2BFCC2-6DB5-4123-995C-2A00467E043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66–70</a:t>
            </a:r>
          </a:p>
        </p:txBody>
      </p:sp>
      <p:graphicFrame>
        <p:nvGraphicFramePr>
          <p:cNvPr id="3" name="">
            <a:extLst xmlns:a="http://schemas.openxmlformats.org/drawingml/2006/main">
              <a:ext uri="{FF2B5EF4-FFF2-40B4-BE49-F238E27FC236}">
                <a16:creationId xmlns:a16="http://schemas.microsoft.com/office/drawing/2014/main" id="{782DA79B-39F5-4005-A101-EA842E767963}"/>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regex</a:t>
                      </a:r>
                    </a:p>
                  </a:txBody>
                  <a:tcPr marL="91440" marR="91440" marT="45720" marB="45720">
                    <a:solidFill>
                      <a:srgbClr val="FFFFFF"/>
                    </a:solidFill>
                  </a:tcPr>
                </a:tc>
                <a:tc>
                  <a:txBody>
                    <a:bodyPr/>
                    <a:lstStyle/>
                    <a:p>
                      <a:r>
                        <a:rPr sz="1725" b="0">
                          <a:solidFill>
                            <a:srgbClr val="173039"/>
                          </a:solidFill>
                          <a:latin typeface="Arial"/>
                          <a:ea typeface="Arial"/>
                          <a:cs typeface="Arial"/>
                        </a:rPr>
                        <a:t>2026.9.29</a:t>
                      </a:r>
                    </a:p>
                  </a:txBody>
                  <a:tcPr marL="91440" marR="91440" marT="45720" marB="45720">
                    <a:solidFill>
                      <a:srgbClr val="FFFFFF"/>
                    </a:solidFill>
                  </a:tcPr>
                </a:tc>
                <a:tc>
                  <a:txBody>
                    <a:bodyPr/>
                    <a:lstStyle/>
                    <a:p>
                      <a:r>
                        <a:rPr sz="1725" b="0">
                          <a:solidFill>
                            <a:srgbClr val="173039"/>
                          </a:solidFill>
                          <a:latin typeface="Arial"/>
                          <a:ea typeface="Arial"/>
                          <a:cs typeface="Arial"/>
                        </a:rPr>
                        <a:t>Expressions régulières Unicode pour dépendances LangChain</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requests</a:t>
                      </a:r>
                    </a:p>
                  </a:txBody>
                  <a:tcPr marL="91440" marR="91440" marT="45720" marB="45720">
                    <a:solidFill>
                      <a:srgbClr val="EAF0F1"/>
                    </a:solidFill>
                  </a:tcPr>
                </a:tc>
                <a:tc>
                  <a:txBody>
                    <a:bodyPr/>
                    <a:lstStyle/>
                    <a:p>
                      <a:r>
                        <a:rPr sz="1725" b="0">
                          <a:solidFill>
                            <a:srgbClr val="173039"/>
                          </a:solidFill>
                          <a:latin typeface="Arial"/>
                          <a:ea typeface="Arial"/>
                          <a:cs typeface="Arial"/>
                        </a:rPr>
                        <a:t>2.34.2</a:t>
                      </a:r>
                    </a:p>
                  </a:txBody>
                  <a:tcPr marL="91440" marR="91440" marT="45720" marB="45720">
                    <a:solidFill>
                      <a:srgbClr val="EAF0F1"/>
                    </a:solidFill>
                  </a:tcPr>
                </a:tc>
                <a:tc>
                  <a:txBody>
                    <a:bodyPr/>
                    <a:lstStyle/>
                    <a:p>
                      <a:r>
                        <a:rPr sz="1725" b="0">
                          <a:solidFill>
                            <a:srgbClr val="173039"/>
                          </a:solidFill>
                          <a:latin typeface="Arial"/>
                          <a:ea typeface="Arial"/>
                          <a:cs typeface="Arial"/>
                        </a:rPr>
                        <a:t>Client HTTP de dépendance; l’application utilise HTTPX</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requests-toolbelt</a:t>
                      </a:r>
                    </a:p>
                  </a:txBody>
                  <a:tcPr marL="91440" marR="91440" marT="45720" marB="45720">
                    <a:solidFill>
                      <a:srgbClr val="FFFFFF"/>
                    </a:solidFill>
                  </a:tcPr>
                </a:tc>
                <a:tc>
                  <a:txBody>
                    <a:bodyPr/>
                    <a:lstStyle/>
                    <a:p>
                      <a:r>
                        <a:rPr sz="1725" b="0">
                          <a:solidFill>
                            <a:srgbClr val="173039"/>
                          </a:solidFill>
                          <a:latin typeface="Arial"/>
                          <a:ea typeface="Arial"/>
                          <a:cs typeface="Arial"/>
                        </a:rPr>
                        <a:t>1.0.0</a:t>
                      </a:r>
                    </a:p>
                  </a:txBody>
                  <a:tcPr marL="91440" marR="91440" marT="45720" marB="45720">
                    <a:solidFill>
                      <a:srgbClr val="FFFFFF"/>
                    </a:solidFill>
                  </a:tcPr>
                </a:tc>
                <a:tc>
                  <a:txBody>
                    <a:bodyPr/>
                    <a:lstStyle/>
                    <a:p>
                      <a:r>
                        <a:rPr sz="1725" b="0">
                          <a:solidFill>
                            <a:srgbClr val="173039"/>
                          </a:solidFill>
                          <a:latin typeface="Arial"/>
                          <a:ea typeface="Arial"/>
                          <a:cs typeface="Arial"/>
                        </a:rPr>
                        <a:t>Utilitaires de transport pour Requests installé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ruff</a:t>
                      </a:r>
                    </a:p>
                  </a:txBody>
                  <a:tcPr marL="91440" marR="91440" marT="45720" marB="45720">
                    <a:solidFill>
                      <a:srgbClr val="EAF0F1"/>
                    </a:solidFill>
                  </a:tcPr>
                </a:tc>
                <a:tc>
                  <a:txBody>
                    <a:bodyPr/>
                    <a:lstStyle/>
                    <a:p>
                      <a:r>
                        <a:rPr sz="1725" b="0">
                          <a:solidFill>
                            <a:srgbClr val="173039"/>
                          </a:solidFill>
                          <a:latin typeface="Arial"/>
                          <a:ea typeface="Arial"/>
                          <a:cs typeface="Arial"/>
                        </a:rPr>
                        <a:t>0.17.0</a:t>
                      </a:r>
                    </a:p>
                  </a:txBody>
                  <a:tcPr marL="91440" marR="91440" marT="45720" marB="45720">
                    <a:solidFill>
                      <a:srgbClr val="EAF0F1"/>
                    </a:solidFill>
                  </a:tcPr>
                </a:tc>
                <a:tc>
                  <a:txBody>
                    <a:bodyPr/>
                    <a:lstStyle/>
                    <a:p>
                      <a:r>
                        <a:rPr sz="1725" b="0">
                          <a:solidFill>
                            <a:srgbClr val="173039"/>
                          </a:solidFill>
                          <a:latin typeface="Arial"/>
                          <a:ea typeface="Arial"/>
                          <a:cs typeface="Arial"/>
                        </a:rPr>
                        <a:t>Lint Python selon les règles locales du pyproject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six</a:t>
                      </a:r>
                    </a:p>
                  </a:txBody>
                  <a:tcPr marL="91440" marR="91440" marT="45720" marB="45720">
                    <a:solidFill>
                      <a:srgbClr val="FFFFFF"/>
                    </a:solidFill>
                  </a:tcPr>
                </a:tc>
                <a:tc>
                  <a:txBody>
                    <a:bodyPr/>
                    <a:lstStyle/>
                    <a:p>
                      <a:r>
                        <a:rPr sz="1725" b="0">
                          <a:solidFill>
                            <a:srgbClr val="173039"/>
                          </a:solidFill>
                          <a:latin typeface="Arial"/>
                          <a:ea typeface="Arial"/>
                          <a:cs typeface="Arial"/>
                        </a:rPr>
                        <a:t>1.17.0</a:t>
                      </a:r>
                    </a:p>
                  </a:txBody>
                  <a:tcPr marL="91440" marR="91440" marT="45720" marB="45720">
                    <a:solidFill>
                      <a:srgbClr val="FFFFFF"/>
                    </a:solidFill>
                  </a:tcPr>
                </a:tc>
                <a:tc>
                  <a:txBody>
                    <a:bodyPr/>
                    <a:lstStyle/>
                    <a:p>
                      <a:r>
                        <a:rPr sz="1725" b="0">
                          <a:solidFill>
                            <a:srgbClr val="173039"/>
                          </a:solidFill>
                          <a:latin typeface="Arial"/>
                          <a:ea typeface="Arial"/>
                          <a:cs typeface="Arial"/>
                        </a:rPr>
                        <a:t>Compatibilité Python 2/3 de bibliothèques dépendantes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2B9F9F-187E-47EC-94BE-A0114895C8FA}"/>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227AF66D-3EA2-4AAC-B7B8-44801FC39744}"/>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56</a:t>
            </a:r>
          </a:p>
        </p:txBody>
      </p:sp>
    </p:spTree>
    <p:extLst>
      <p:ext uri="{BB962C8B-B14F-4D97-AF65-F5344CB8AC3E}">
        <p14:creationId xmlns:p14="http://schemas.microsoft.com/office/powerpoint/2010/main" val="1690485441"/>
      </p:ext>
    </p:extLst>
  </p:cSld>
</p:sld>
</file>

<file path=ppt/slides/slide5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C663E3-0E52-4EA9-8079-E68C241F98AC}"/>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8BAC0E6E-235B-472C-A3EE-EB4F8D4CD23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71–75</a:t>
            </a:r>
          </a:p>
        </p:txBody>
      </p:sp>
      <p:graphicFrame>
        <p:nvGraphicFramePr>
          <p:cNvPr id="3" name="">
            <a:extLst xmlns:a="http://schemas.openxmlformats.org/drawingml/2006/main">
              <a:ext uri="{FF2B5EF4-FFF2-40B4-BE49-F238E27FC236}">
                <a16:creationId xmlns:a16="http://schemas.microsoft.com/office/drawing/2014/main" id="{FF2D33DE-069C-40C0-BA13-7F8C8766E0CB}"/>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sniffio</a:t>
                      </a:r>
                    </a:p>
                  </a:txBody>
                  <a:tcPr marL="91440" marR="91440" marT="45720" marB="45720">
                    <a:solidFill>
                      <a:srgbClr val="FFFFFF"/>
                    </a:solidFill>
                  </a:tcPr>
                </a:tc>
                <a:tc>
                  <a:txBody>
                    <a:bodyPr/>
                    <a:lstStyle/>
                    <a:p>
                      <a:r>
                        <a:rPr sz="1725" b="0">
                          <a:solidFill>
                            <a:srgbClr val="173039"/>
                          </a:solidFill>
                          <a:latin typeface="Arial"/>
                          <a:ea typeface="Arial"/>
                          <a:cs typeface="Arial"/>
                        </a:rPr>
                        <a:t>1.3.1</a:t>
                      </a:r>
                    </a:p>
                  </a:txBody>
                  <a:tcPr marL="91440" marR="91440" marT="45720" marB="45720">
                    <a:solidFill>
                      <a:srgbClr val="FFFFFF"/>
                    </a:solidFill>
                  </a:tcPr>
                </a:tc>
                <a:tc>
                  <a:txBody>
                    <a:bodyPr/>
                    <a:lstStyle/>
                    <a:p>
                      <a:r>
                        <a:rPr sz="1725" b="0">
                          <a:solidFill>
                            <a:srgbClr val="173039"/>
                          </a:solidFill>
                          <a:latin typeface="Arial"/>
                          <a:ea typeface="Arial"/>
                          <a:cs typeface="Arial"/>
                        </a:rPr>
                        <a:t>Détection du runtime async pour AnyIO/HTTPX</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SQLAlchemy</a:t>
                      </a:r>
                    </a:p>
                  </a:txBody>
                  <a:tcPr marL="91440" marR="91440" marT="45720" marB="45720">
                    <a:solidFill>
                      <a:srgbClr val="EAF0F1"/>
                    </a:solidFill>
                  </a:tcPr>
                </a:tc>
                <a:tc>
                  <a:txBody>
                    <a:bodyPr/>
                    <a:lstStyle/>
                    <a:p>
                      <a:r>
                        <a:rPr sz="1725" b="0">
                          <a:solidFill>
                            <a:srgbClr val="173039"/>
                          </a:solidFill>
                          <a:latin typeface="Arial"/>
                          <a:ea typeface="Arial"/>
                          <a:cs typeface="Arial"/>
                        </a:rPr>
                        <a:t>2.1.4</a:t>
                      </a:r>
                    </a:p>
                  </a:txBody>
                  <a:tcPr marL="91440" marR="91440" marT="45720" marB="45720">
                    <a:solidFill>
                      <a:srgbClr val="EAF0F1"/>
                    </a:solidFill>
                  </a:tcPr>
                </a:tc>
                <a:tc>
                  <a:txBody>
                    <a:bodyPr/>
                    <a:lstStyle/>
                    <a:p>
                      <a:r>
                        <a:rPr sz="1725" b="0">
                          <a:solidFill>
                            <a:srgbClr val="173039"/>
                          </a:solidFill>
                          <a:latin typeface="Arial"/>
                          <a:ea typeface="Arial"/>
                          <a:cs typeface="Arial"/>
                        </a:rPr>
                        <a:t>Transactions et stockage SQLite des missions et événements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sqlite-vec</a:t>
                      </a:r>
                    </a:p>
                  </a:txBody>
                  <a:tcPr marL="91440" marR="91440" marT="45720" marB="45720">
                    <a:solidFill>
                      <a:srgbClr val="FFFFFF"/>
                    </a:solidFill>
                  </a:tcPr>
                </a:tc>
                <a:tc>
                  <a:txBody>
                    <a:bodyPr/>
                    <a:lstStyle/>
                    <a:p>
                      <a:r>
                        <a:rPr sz="1725" b="0">
                          <a:solidFill>
                            <a:srgbClr val="173039"/>
                          </a:solidFill>
                          <a:latin typeface="Arial"/>
                          <a:ea typeface="Arial"/>
                          <a:cs typeface="Arial"/>
                        </a:rPr>
                        <a:t>0.1.9</a:t>
                      </a:r>
                    </a:p>
                  </a:txBody>
                  <a:tcPr marL="91440" marR="91440" marT="45720" marB="45720">
                    <a:solidFill>
                      <a:srgbClr val="FFFFFF"/>
                    </a:solidFill>
                  </a:tcPr>
                </a:tc>
                <a:tc>
                  <a:txBody>
                    <a:bodyPr/>
                    <a:lstStyle/>
                    <a:p>
                      <a:r>
                        <a:rPr sz="1725" b="0">
                          <a:solidFill>
                            <a:srgbClr val="173039"/>
                          </a:solidFill>
                          <a:latin typeface="Arial"/>
                          <a:ea typeface="Arial"/>
                          <a:cs typeface="Arial"/>
                        </a:rPr>
                        <a:t>Extension SQLite vectorielle installée; non appelée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starlette</a:t>
                      </a:r>
                    </a:p>
                  </a:txBody>
                  <a:tcPr marL="91440" marR="91440" marT="45720" marB="45720">
                    <a:solidFill>
                      <a:srgbClr val="EAF0F1"/>
                    </a:solidFill>
                  </a:tcPr>
                </a:tc>
                <a:tc>
                  <a:txBody>
                    <a:bodyPr/>
                    <a:lstStyle/>
                    <a:p>
                      <a:r>
                        <a:rPr sz="1725" b="0">
                          <a:solidFill>
                            <a:srgbClr val="173039"/>
                          </a:solidFill>
                          <a:latin typeface="Arial"/>
                          <a:ea typeface="Arial"/>
                          <a:cs typeface="Arial"/>
                        </a:rPr>
                        <a:t>1.7.0</a:t>
                      </a:r>
                    </a:p>
                  </a:txBody>
                  <a:tcPr marL="91440" marR="91440" marT="45720" marB="45720">
                    <a:solidFill>
                      <a:srgbClr val="EAF0F1"/>
                    </a:solidFill>
                  </a:tcPr>
                </a:tc>
                <a:tc>
                  <a:txBody>
                    <a:bodyPr/>
                    <a:lstStyle/>
                    <a:p>
                      <a:r>
                        <a:rPr sz="1725" b="0">
                          <a:solidFill>
                            <a:srgbClr val="173039"/>
                          </a:solidFill>
                          <a:latin typeface="Arial"/>
                          <a:ea typeface="Arial"/>
                          <a:cs typeface="Arial"/>
                        </a:rPr>
                        <a:t>Couche ASGI sous FastAPI pour requêtes et réponses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tenacity</a:t>
                      </a:r>
                    </a:p>
                  </a:txBody>
                  <a:tcPr marL="91440" marR="91440" marT="45720" marB="45720">
                    <a:solidFill>
                      <a:srgbClr val="FFFFFF"/>
                    </a:solidFill>
                  </a:tcPr>
                </a:tc>
                <a:tc>
                  <a:txBody>
                    <a:bodyPr/>
                    <a:lstStyle/>
                    <a:p>
                      <a:r>
                        <a:rPr sz="1725" b="0">
                          <a:solidFill>
                            <a:srgbClr val="173039"/>
                          </a:solidFill>
                          <a:latin typeface="Arial"/>
                          <a:ea typeface="Arial"/>
                          <a:cs typeface="Arial"/>
                        </a:rPr>
                        <a:t>9.2.1</a:t>
                      </a:r>
                    </a:p>
                  </a:txBody>
                  <a:tcPr marL="91440" marR="91440" marT="45720" marB="45720">
                    <a:solidFill>
                      <a:srgbClr val="FFFFFF"/>
                    </a:solidFill>
                  </a:tcPr>
                </a:tc>
                <a:tc>
                  <a:txBody>
                    <a:bodyPr/>
                    <a:lstStyle/>
                    <a:p>
                      <a:r>
                        <a:rPr sz="1725" b="0">
                          <a:solidFill>
                            <a:srgbClr val="173039"/>
                          </a:solidFill>
                          <a:latin typeface="Arial"/>
                          <a:ea typeface="Arial"/>
                          <a:cs typeface="Arial"/>
                        </a:rPr>
                        <a:t>Utilitaire de reprises bornées pour intégrations Python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D1C830-2CEC-4750-AB79-64FEDC179C0F}"/>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3EE61A18-44AD-4630-BC4A-E73215459EE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57</a:t>
            </a:r>
          </a:p>
        </p:txBody>
      </p:sp>
    </p:spTree>
    <p:extLst>
      <p:ext uri="{BB962C8B-B14F-4D97-AF65-F5344CB8AC3E}">
        <p14:creationId xmlns:p14="http://schemas.microsoft.com/office/powerpoint/2010/main" val="185879200"/>
      </p:ext>
    </p:extLst>
  </p:cSld>
</p:sld>
</file>

<file path=ppt/slides/slide5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707D51-8709-4363-8441-F633838213B8}"/>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548E54FD-5DA4-450F-9816-806AC6670FE0}"/>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76–80</a:t>
            </a:r>
          </a:p>
        </p:txBody>
      </p:sp>
      <p:graphicFrame>
        <p:nvGraphicFramePr>
          <p:cNvPr id="3" name="">
            <a:extLst xmlns:a="http://schemas.openxmlformats.org/drawingml/2006/main">
              <a:ext uri="{FF2B5EF4-FFF2-40B4-BE49-F238E27FC236}">
                <a16:creationId xmlns:a16="http://schemas.microsoft.com/office/drawing/2014/main" id="{062356ED-B26F-46DF-B6C2-0C9E120DAB34}"/>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tiktoken</a:t>
                      </a:r>
                    </a:p>
                  </a:txBody>
                  <a:tcPr marL="91440" marR="91440" marT="45720" marB="45720">
                    <a:solidFill>
                      <a:srgbClr val="FFFFFF"/>
                    </a:solidFill>
                  </a:tcPr>
                </a:tc>
                <a:tc>
                  <a:txBody>
                    <a:bodyPr/>
                    <a:lstStyle/>
                    <a:p>
                      <a:r>
                        <a:rPr sz="1725" b="0">
                          <a:solidFill>
                            <a:srgbClr val="173039"/>
                          </a:solidFill>
                          <a:latin typeface="Arial"/>
                          <a:ea typeface="Arial"/>
                          <a:cs typeface="Arial"/>
                        </a:rPr>
                        <a:t>0.14.0</a:t>
                      </a:r>
                    </a:p>
                  </a:txBody>
                  <a:tcPr marL="91440" marR="91440" marT="45720" marB="45720">
                    <a:solidFill>
                      <a:srgbClr val="FFFFFF"/>
                    </a:solidFill>
                  </a:tcPr>
                </a:tc>
                <a:tc>
                  <a:txBody>
                    <a:bodyPr/>
                    <a:lstStyle/>
                    <a:p>
                      <a:r>
                        <a:rPr sz="1725" b="0">
                          <a:solidFill>
                            <a:srgbClr val="173039"/>
                          </a:solidFill>
                          <a:latin typeface="Arial"/>
                          <a:ea typeface="Arial"/>
                          <a:cs typeface="Arial"/>
                        </a:rPr>
                        <a:t>Tokeniseur installé; aucun comptage applicatif par ce module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truststore</a:t>
                      </a:r>
                    </a:p>
                  </a:txBody>
                  <a:tcPr marL="91440" marR="91440" marT="45720" marB="45720">
                    <a:solidFill>
                      <a:srgbClr val="EAF0F1"/>
                    </a:solidFill>
                  </a:tcPr>
                </a:tc>
                <a:tc>
                  <a:txBody>
                    <a:bodyPr/>
                    <a:lstStyle/>
                    <a:p>
                      <a:r>
                        <a:rPr sz="1725" b="0">
                          <a:solidFill>
                            <a:srgbClr val="173039"/>
                          </a:solidFill>
                          <a:latin typeface="Arial"/>
                          <a:ea typeface="Arial"/>
                          <a:cs typeface="Arial"/>
                        </a:rPr>
                        <a:t>0.10.4</a:t>
                      </a:r>
                    </a:p>
                  </a:txBody>
                  <a:tcPr marL="91440" marR="91440" marT="45720" marB="45720">
                    <a:solidFill>
                      <a:srgbClr val="EAF0F1"/>
                    </a:solidFill>
                  </a:tcPr>
                </a:tc>
                <a:tc>
                  <a:txBody>
                    <a:bodyPr/>
                    <a:lstStyle/>
                    <a:p>
                      <a:r>
                        <a:rPr sz="1725" b="0">
                          <a:solidFill>
                            <a:srgbClr val="173039"/>
                          </a:solidFill>
                          <a:latin typeface="Arial"/>
                          <a:ea typeface="Arial"/>
                          <a:cs typeface="Arial"/>
                        </a:rPr>
                        <a:t>Accès au magasin de certificats système pour clients HTTP</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typing-inspection</a:t>
                      </a:r>
                    </a:p>
                  </a:txBody>
                  <a:tcPr marL="91440" marR="91440" marT="45720" marB="45720">
                    <a:solidFill>
                      <a:srgbClr val="FFFFFF"/>
                    </a:solidFill>
                  </a:tcPr>
                </a:tc>
                <a:tc>
                  <a:txBody>
                    <a:bodyPr/>
                    <a:lstStyle/>
                    <a:p>
                      <a:r>
                        <a:rPr sz="1725" b="0">
                          <a:solidFill>
                            <a:srgbClr val="173039"/>
                          </a:solidFill>
                          <a:latin typeface="Arial"/>
                          <a:ea typeface="Arial"/>
                          <a:cs typeface="Arial"/>
                        </a:rPr>
                        <a:t>0.4.4</a:t>
                      </a:r>
                    </a:p>
                  </a:txBody>
                  <a:tcPr marL="91440" marR="91440" marT="45720" marB="45720">
                    <a:solidFill>
                      <a:srgbClr val="FFFFFF"/>
                    </a:solidFill>
                  </a:tcPr>
                </a:tc>
                <a:tc>
                  <a:txBody>
                    <a:bodyPr/>
                    <a:lstStyle/>
                    <a:p>
                      <a:r>
                        <a:rPr sz="1725" b="0">
                          <a:solidFill>
                            <a:srgbClr val="173039"/>
                          </a:solidFill>
                          <a:latin typeface="Arial"/>
                          <a:ea typeface="Arial"/>
                          <a:cs typeface="Arial"/>
                        </a:rPr>
                        <a:t>Inspection des annotations utilisée par Pydantic</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typing_extensions</a:t>
                      </a:r>
                    </a:p>
                  </a:txBody>
                  <a:tcPr marL="91440" marR="91440" marT="45720" marB="45720">
                    <a:solidFill>
                      <a:srgbClr val="EAF0F1"/>
                    </a:solidFill>
                  </a:tcPr>
                </a:tc>
                <a:tc>
                  <a:txBody>
                    <a:bodyPr/>
                    <a:lstStyle/>
                    <a:p>
                      <a:r>
                        <a:rPr sz="1725" b="0">
                          <a:solidFill>
                            <a:srgbClr val="173039"/>
                          </a:solidFill>
                          <a:latin typeface="Arial"/>
                          <a:ea typeface="Arial"/>
                          <a:cs typeface="Arial"/>
                        </a:rPr>
                        <a:t>4.16.0</a:t>
                      </a:r>
                    </a:p>
                  </a:txBody>
                  <a:tcPr marL="91440" marR="91440" marT="45720" marB="45720">
                    <a:solidFill>
                      <a:srgbClr val="EAF0F1"/>
                    </a:solidFill>
                  </a:tcPr>
                </a:tc>
                <a:tc>
                  <a:txBody>
                    <a:bodyPr/>
                    <a:lstStyle/>
                    <a:p>
                      <a:r>
                        <a:rPr sz="1725" b="0">
                          <a:solidFill>
                            <a:srgbClr val="173039"/>
                          </a:solidFill>
                          <a:latin typeface="Arial"/>
                          <a:ea typeface="Arial"/>
                          <a:cs typeface="Arial"/>
                        </a:rPr>
                        <a:t>Compatibilité des types Python pour dépendances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tzdata</a:t>
                      </a:r>
                    </a:p>
                  </a:txBody>
                  <a:tcPr marL="91440" marR="91440" marT="45720" marB="45720">
                    <a:solidFill>
                      <a:srgbClr val="FFFFFF"/>
                    </a:solidFill>
                  </a:tcPr>
                </a:tc>
                <a:tc>
                  <a:txBody>
                    <a:bodyPr/>
                    <a:lstStyle/>
                    <a:p>
                      <a:r>
                        <a:rPr sz="1725" b="0">
                          <a:solidFill>
                            <a:srgbClr val="173039"/>
                          </a:solidFill>
                          <a:latin typeface="Arial"/>
                          <a:ea typeface="Arial"/>
                          <a:cs typeface="Arial"/>
                        </a:rPr>
                        <a:t>2026.5</a:t>
                      </a:r>
                    </a:p>
                  </a:txBody>
                  <a:tcPr marL="91440" marR="91440" marT="45720" marB="45720">
                    <a:solidFill>
                      <a:srgbClr val="FFFFFF"/>
                    </a:solidFill>
                  </a:tcPr>
                </a:tc>
                <a:tc>
                  <a:txBody>
                    <a:bodyPr/>
                    <a:lstStyle/>
                    <a:p>
                      <a:r>
                        <a:rPr sz="1725" b="0">
                          <a:solidFill>
                            <a:srgbClr val="173039"/>
                          </a:solidFill>
                          <a:latin typeface="Arial"/>
                          <a:ea typeface="Arial"/>
                          <a:cs typeface="Arial"/>
                        </a:rPr>
                        <a:t>Base de fuseaux horaires pour environnements sans tzdata système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91806E-D605-44D8-A501-DAF486C19241}"/>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3A3E77CF-24F2-4B24-AA05-27A0F26FF8F7}"/>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58</a:t>
            </a:r>
          </a:p>
        </p:txBody>
      </p:sp>
    </p:spTree>
    <p:extLst>
      <p:ext uri="{BB962C8B-B14F-4D97-AF65-F5344CB8AC3E}">
        <p14:creationId xmlns:p14="http://schemas.microsoft.com/office/powerpoint/2010/main" val="1506600811"/>
      </p:ext>
    </p:extLst>
  </p:cSld>
</p:sld>
</file>

<file path=ppt/slides/slide5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00D126-4F76-4183-9F89-4F9317B7CDE6}"/>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BEB8D2AD-657A-4BBE-9860-5566D47B9374}"/>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81–85</a:t>
            </a:r>
          </a:p>
        </p:txBody>
      </p:sp>
      <p:graphicFrame>
        <p:nvGraphicFramePr>
          <p:cNvPr id="3" name="">
            <a:extLst xmlns:a="http://schemas.openxmlformats.org/drawingml/2006/main">
              <a:ext uri="{FF2B5EF4-FFF2-40B4-BE49-F238E27FC236}">
                <a16:creationId xmlns:a16="http://schemas.microsoft.com/office/drawing/2014/main" id="{02B3F183-1923-4AF9-B816-FC91E6C59BFB}"/>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urllib3</a:t>
                      </a:r>
                    </a:p>
                  </a:txBody>
                  <a:tcPr marL="91440" marR="91440" marT="45720" marB="45720">
                    <a:solidFill>
                      <a:srgbClr val="FFFFFF"/>
                    </a:solidFill>
                  </a:tcPr>
                </a:tc>
                <a:tc>
                  <a:txBody>
                    <a:bodyPr/>
                    <a:lstStyle/>
                    <a:p>
                      <a:r>
                        <a:rPr sz="1725" b="0">
                          <a:solidFill>
                            <a:srgbClr val="173039"/>
                          </a:solidFill>
                          <a:latin typeface="Arial"/>
                          <a:ea typeface="Arial"/>
                          <a:cs typeface="Arial"/>
                        </a:rPr>
                        <a:t>2.8.0</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HTTP bas niveau de Requests installé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uuid_utils</a:t>
                      </a:r>
                    </a:p>
                  </a:txBody>
                  <a:tcPr marL="91440" marR="91440" marT="45720" marB="45720">
                    <a:solidFill>
                      <a:srgbClr val="EAF0F1"/>
                    </a:solidFill>
                  </a:tcPr>
                </a:tc>
                <a:tc>
                  <a:txBody>
                    <a:bodyPr/>
                    <a:lstStyle/>
                    <a:p>
                      <a:r>
                        <a:rPr sz="1725" b="0">
                          <a:solidFill>
                            <a:srgbClr val="173039"/>
                          </a:solidFill>
                          <a:latin typeface="Arial"/>
                          <a:ea typeface="Arial"/>
                          <a:cs typeface="Arial"/>
                        </a:rPr>
                        <a:t>0.17.1</a:t>
                      </a:r>
                    </a:p>
                  </a:txBody>
                  <a:tcPr marL="91440" marR="91440" marT="45720" marB="45720">
                    <a:solidFill>
                      <a:srgbClr val="EAF0F1"/>
                    </a:solidFill>
                  </a:tcPr>
                </a:tc>
                <a:tc>
                  <a:txBody>
                    <a:bodyPr/>
                    <a:lstStyle/>
                    <a:p>
                      <a:r>
                        <a:rPr sz="1725" b="0">
                          <a:solidFill>
                            <a:srgbClr val="173039"/>
                          </a:solidFill>
                          <a:latin typeface="Arial"/>
                          <a:ea typeface="Arial"/>
                          <a:cs typeface="Arial"/>
                        </a:rPr>
                        <a:t>Génération d’identifiants accélérée par dépendances</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uvicorn</a:t>
                      </a:r>
                    </a:p>
                  </a:txBody>
                  <a:tcPr marL="91440" marR="91440" marT="45720" marB="45720">
                    <a:solidFill>
                      <a:srgbClr val="FFFFFF"/>
                    </a:solidFill>
                  </a:tcPr>
                </a:tc>
                <a:tc>
                  <a:txBody>
                    <a:bodyPr/>
                    <a:lstStyle/>
                    <a:p>
                      <a:r>
                        <a:rPr sz="1725" b="0">
                          <a:solidFill>
                            <a:srgbClr val="173039"/>
                          </a:solidFill>
                          <a:latin typeface="Arial"/>
                          <a:ea typeface="Arial"/>
                          <a:cs typeface="Arial"/>
                        </a:rPr>
                        <a:t>0.54.0</a:t>
                      </a:r>
                    </a:p>
                  </a:txBody>
                  <a:tcPr marL="91440" marR="91440" marT="45720" marB="45720">
                    <a:solidFill>
                      <a:srgbClr val="FFFFFF"/>
                    </a:solidFill>
                  </a:tcPr>
                </a:tc>
                <a:tc>
                  <a:txBody>
                    <a:bodyPr/>
                    <a:lstStyle/>
                    <a:p>
                      <a:r>
                        <a:rPr sz="1725" b="0">
                          <a:solidFill>
                            <a:srgbClr val="173039"/>
                          </a:solidFill>
                          <a:latin typeface="Arial"/>
                          <a:ea typeface="Arial"/>
                          <a:cs typeface="Arial"/>
                        </a:rPr>
                        <a:t>Serveur ASGI qui expose l’API locale FastAPI</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websockets</a:t>
                      </a:r>
                    </a:p>
                  </a:txBody>
                  <a:tcPr marL="91440" marR="91440" marT="45720" marB="45720">
                    <a:solidFill>
                      <a:srgbClr val="EAF0F1"/>
                    </a:solidFill>
                  </a:tcPr>
                </a:tc>
                <a:tc>
                  <a:txBody>
                    <a:bodyPr/>
                    <a:lstStyle/>
                    <a:p>
                      <a:r>
                        <a:rPr sz="1725" b="0">
                          <a:solidFill>
                            <a:srgbClr val="173039"/>
                          </a:solidFill>
                          <a:latin typeface="Arial"/>
                          <a:ea typeface="Arial"/>
                          <a:cs typeface="Arial"/>
                        </a:rPr>
                        <a:t>16.1.1</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WebSocket optionnel sous serveur ASGI</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wrapt</a:t>
                      </a:r>
                    </a:p>
                  </a:txBody>
                  <a:tcPr marL="91440" marR="91440" marT="45720" marB="45720">
                    <a:solidFill>
                      <a:srgbClr val="FFFFFF"/>
                    </a:solidFill>
                  </a:tcPr>
                </a:tc>
                <a:tc>
                  <a:txBody>
                    <a:bodyPr/>
                    <a:lstStyle/>
                    <a:p>
                      <a:r>
                        <a:rPr sz="1725" b="0">
                          <a:solidFill>
                            <a:srgbClr val="173039"/>
                          </a:solidFill>
                          <a:latin typeface="Arial"/>
                          <a:ea typeface="Arial"/>
                          <a:cs typeface="Arial"/>
                        </a:rPr>
                        <a:t>2.5.0</a:t>
                      </a:r>
                    </a:p>
                  </a:txBody>
                  <a:tcPr marL="91440" marR="91440" marT="45720" marB="45720">
                    <a:solidFill>
                      <a:srgbClr val="FFFFFF"/>
                    </a:solidFill>
                  </a:tcPr>
                </a:tc>
                <a:tc>
                  <a:txBody>
                    <a:bodyPr/>
                    <a:lstStyle/>
                    <a:p>
                      <a:r>
                        <a:rPr sz="1725" b="0">
                          <a:solidFill>
                            <a:srgbClr val="173039"/>
                          </a:solidFill>
                          <a:latin typeface="Arial"/>
                          <a:ea typeface="Arial"/>
                          <a:cs typeface="Arial"/>
                        </a:rPr>
                        <a:t>Décorateurs/proxies employés par bibliothèques de télémétrie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335F557-0165-400E-8880-7C50D7C4E645}"/>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62EA2EAC-ECD2-4182-8225-033E0E704D2B}"/>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59</a:t>
            </a:r>
          </a:p>
        </p:txBody>
      </p:sp>
    </p:spTree>
    <p:extLst>
      <p:ext uri="{BB962C8B-B14F-4D97-AF65-F5344CB8AC3E}">
        <p14:creationId xmlns:p14="http://schemas.microsoft.com/office/powerpoint/2010/main" val="957820887"/>
      </p:ext>
    </p:extLst>
  </p:cSld>
</p:sld>
</file>

<file path=ppt/slides/slide6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E867CB-9E30-43A2-8983-7F64024009D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ENVIRONNEMENT ÉPINGLÉ</a:t>
            </a:r>
          </a:p>
        </p:txBody>
      </p:sp>
      <p:sp>
        <p:nvSpPr>
          <p:cNvPr id="2" name="">
            <a:extLst xmlns:a="http://schemas.openxmlformats.org/drawingml/2006/main">
              <a:ext uri="{FF2B5EF4-FFF2-40B4-BE49-F238E27FC236}">
                <a16:creationId xmlns:a16="http://schemas.microsoft.com/office/drawing/2014/main" id="{2B4EA415-A209-46D0-A266-8D358B491E4B}"/>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Inventaire Python · 86–87</a:t>
            </a:r>
          </a:p>
        </p:txBody>
      </p:sp>
      <p:graphicFrame>
        <p:nvGraphicFramePr>
          <p:cNvPr id="3" name="">
            <a:extLst xmlns:a="http://schemas.openxmlformats.org/drawingml/2006/main">
              <a:ext uri="{FF2B5EF4-FFF2-40B4-BE49-F238E27FC236}">
                <a16:creationId xmlns:a16="http://schemas.microsoft.com/office/drawing/2014/main" id="{FAD79D91-19F7-4D86-9BAE-1CA89EEC882D}"/>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619500"/>
                <a:gridCol w="1666875"/>
                <a:gridCol w="568642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RÔLE TECHNIQUE</a:t>
                      </a:r>
                    </a:p>
                  </a:txBody>
                  <a:tcPr marL="91440" marR="91440" marT="45720" marB="45720">
                    <a:solidFill>
                      <a:srgbClr val="173039"/>
                    </a:solidFill>
                  </a:tcPr>
                </a:tc>
              </a:tr>
              <a:tr h="1700213">
                <a:tc>
                  <a:txBody>
                    <a:bodyPr/>
                    <a:lstStyle/>
                    <a:p>
                      <a:r>
                        <a:rPr sz="1725" b="1">
                          <a:solidFill>
                            <a:srgbClr val="173039"/>
                          </a:solidFill>
                          <a:latin typeface="Arial"/>
                          <a:ea typeface="Arial"/>
                          <a:cs typeface="Arial"/>
                        </a:rPr>
                        <a:t>xxhash</a:t>
                      </a:r>
                    </a:p>
                  </a:txBody>
                  <a:tcPr marL="91440" marR="91440" marT="45720" marB="45720">
                    <a:solidFill>
                      <a:srgbClr val="FFFFFF"/>
                    </a:solidFill>
                  </a:tcPr>
                </a:tc>
                <a:tc>
                  <a:txBody>
                    <a:bodyPr/>
                    <a:lstStyle/>
                    <a:p>
                      <a:r>
                        <a:rPr sz="1725" b="0">
                          <a:solidFill>
                            <a:srgbClr val="173039"/>
                          </a:solidFill>
                          <a:latin typeface="Arial"/>
                          <a:ea typeface="Arial"/>
                          <a:cs typeface="Arial"/>
                        </a:rPr>
                        <a:t>4.0.1</a:t>
                      </a:r>
                    </a:p>
                  </a:txBody>
                  <a:tcPr marL="91440" marR="91440" marT="45720" marB="45720">
                    <a:solidFill>
                      <a:srgbClr val="FFFFFF"/>
                    </a:solidFill>
                  </a:tcPr>
                </a:tc>
                <a:tc>
                  <a:txBody>
                    <a:bodyPr/>
                    <a:lstStyle/>
                    <a:p>
                      <a:r>
                        <a:rPr sz="1725" b="0">
                          <a:solidFill>
                            <a:srgbClr val="173039"/>
                          </a:solidFill>
                          <a:latin typeface="Arial"/>
                          <a:ea typeface="Arial"/>
                          <a:cs typeface="Arial"/>
                        </a:rPr>
                        <a:t>Hachage rapide de support pour dépendances installées</a:t>
                      </a:r>
                    </a:p>
                  </a:txBody>
                  <a:tcPr marL="91440" marR="91440" marT="45720" marB="45720">
                    <a:solidFill>
                      <a:srgbClr val="FFFFFF"/>
                    </a:solidFill>
                  </a:tcPr>
                </a:tc>
              </a:tr>
              <a:tr h="1700213">
                <a:tc>
                  <a:txBody>
                    <a:bodyPr/>
                    <a:lstStyle/>
                    <a:p>
                      <a:r>
                        <a:rPr sz="1725" b="1">
                          <a:solidFill>
                            <a:srgbClr val="173039"/>
                          </a:solidFill>
                          <a:latin typeface="Arial"/>
                          <a:ea typeface="Arial"/>
                          <a:cs typeface="Arial"/>
                        </a:rPr>
                        <a:t>zstandard</a:t>
                      </a:r>
                    </a:p>
                  </a:txBody>
                  <a:tcPr marL="91440" marR="91440" marT="45720" marB="45720">
                    <a:solidFill>
                      <a:srgbClr val="EAF0F1"/>
                    </a:solidFill>
                  </a:tcPr>
                </a:tc>
                <a:tc>
                  <a:txBody>
                    <a:bodyPr/>
                    <a:lstStyle/>
                    <a:p>
                      <a:r>
                        <a:rPr sz="1725" b="0">
                          <a:solidFill>
                            <a:srgbClr val="173039"/>
                          </a:solidFill>
                          <a:latin typeface="Arial"/>
                          <a:ea typeface="Arial"/>
                          <a:cs typeface="Arial"/>
                        </a:rPr>
                        <a:t>0.25.0</a:t>
                      </a:r>
                    </a:p>
                  </a:txBody>
                  <a:tcPr marL="91440" marR="91440" marT="45720" marB="45720">
                    <a:solidFill>
                      <a:srgbClr val="EAF0F1"/>
                    </a:solidFill>
                  </a:tcPr>
                </a:tc>
                <a:tc>
                  <a:txBody>
                    <a:bodyPr/>
                    <a:lstStyle/>
                    <a:p>
                      <a:r>
                        <a:rPr sz="1725" b="0">
                          <a:solidFill>
                            <a:srgbClr val="173039"/>
                          </a:solidFill>
                          <a:latin typeface="Arial"/>
                          <a:ea typeface="Arial"/>
                          <a:cs typeface="Arial"/>
                        </a:rPr>
                        <a:t>Compression Zstandard pour formats de dépendances</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82DC96CD-8AE6-4D10-B48B-297198D08D0C}"/>
              </a:ext>
            </a:extLst>
          </p:cNvPr>
          <p:cNvSpPr>
            <a:spLocks xmlns:a="http://schemas.openxmlformats.org/drawingml/2006/main" noGrp="1"/>
          </p:cNvSpPr>
          <p:nvPr/>
        </p:nvSpPr>
        <p:spPr>
          <a:xfrm xmlns:a="http://schemas.openxmlformats.org/drawingml/2006/main">
            <a:off x="609600" y="6000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Usage direct, support, option ou installation seule : classification détaillée dans les notes.</a:t>
            </a:r>
          </a:p>
        </p:txBody>
      </p:sp>
      <p:sp>
        <p:nvSpPr>
          <p:cNvPr id="5" name="">
            <a:extLst xmlns:a="http://schemas.openxmlformats.org/drawingml/2006/main">
              <a:ext uri="{FF2B5EF4-FFF2-40B4-BE49-F238E27FC236}">
                <a16:creationId xmlns:a16="http://schemas.microsoft.com/office/drawing/2014/main" id="{9D74FA40-4BA2-468B-94FE-BF077318828F}"/>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60</a:t>
            </a:r>
          </a:p>
        </p:txBody>
      </p:sp>
    </p:spTree>
    <p:extLst>
      <p:ext uri="{BB962C8B-B14F-4D97-AF65-F5344CB8AC3E}">
        <p14:creationId xmlns:p14="http://schemas.microsoft.com/office/powerpoint/2010/main" val="823654563"/>
      </p:ext>
    </p:extLst>
  </p:cSld>
</p:sld>
</file>

<file path=ppt/slides/slide6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7C86A5-2377-4835-9B62-A84FB883E6EF}"/>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DÉPENDANCES DIRECTES JAVASCRIPT</a:t>
            </a:r>
          </a:p>
        </p:txBody>
      </p:sp>
      <p:sp>
        <p:nvSpPr>
          <p:cNvPr id="2" name="">
            <a:extLst xmlns:a="http://schemas.openxmlformats.org/drawingml/2006/main">
              <a:ext uri="{FF2B5EF4-FFF2-40B4-BE49-F238E27FC236}">
                <a16:creationId xmlns:a16="http://schemas.microsoft.com/office/drawing/2014/main" id="{FC96F2A9-B284-48CE-AEB3-AEB1E5ECA108}"/>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Interface et build · dépendances 1–5</a:t>
            </a:r>
          </a:p>
        </p:txBody>
      </p:sp>
      <p:graphicFrame>
        <p:nvGraphicFramePr>
          <p:cNvPr id="3" name="">
            <a:extLst xmlns:a="http://schemas.openxmlformats.org/drawingml/2006/main">
              <a:ext uri="{FF2B5EF4-FFF2-40B4-BE49-F238E27FC236}">
                <a16:creationId xmlns:a16="http://schemas.microsoft.com/office/drawing/2014/main" id="{E886699F-B64B-4C7F-ADAF-247F9D6E03D7}"/>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429000"/>
                <a:gridCol w="1571625"/>
                <a:gridCol w="597217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POURQUOI / COMMENT</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@fontsource-variable/inter</a:t>
                      </a:r>
                    </a:p>
                  </a:txBody>
                  <a:tcPr marL="91440" marR="91440" marT="45720" marB="45720">
                    <a:solidFill>
                      <a:srgbClr val="FFFFFF"/>
                    </a:solidFill>
                  </a:tcPr>
                </a:tc>
                <a:tc>
                  <a:txBody>
                    <a:bodyPr/>
                    <a:lstStyle/>
                    <a:p>
                      <a:r>
                        <a:rPr sz="1725" b="0">
                          <a:solidFill>
                            <a:srgbClr val="173039"/>
                          </a:solidFill>
                          <a:latin typeface="Arial"/>
                          <a:ea typeface="Arial"/>
                          <a:cs typeface="Arial"/>
                        </a:rPr>
                        <a:t>5.2.8</a:t>
                      </a:r>
                    </a:p>
                  </a:txBody>
                  <a:tcPr marL="91440" marR="91440" marT="45720" marB="45720">
                    <a:solidFill>
                      <a:srgbClr val="FFFFFF"/>
                    </a:solidFill>
                  </a:tcPr>
                </a:tc>
                <a:tc>
                  <a:txBody>
                    <a:bodyPr/>
                    <a:lstStyle/>
                    <a:p>
                      <a:r>
                        <a:rPr sz="1725" b="0">
                          <a:solidFill>
                            <a:srgbClr val="173039"/>
                          </a:solidFill>
                          <a:latin typeface="Arial"/>
                          <a:ea typeface="Arial"/>
                          <a:cs typeface="Arial"/>
                        </a:rPr>
                        <a:t>Police Inter Variable servie localement par l’interface</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@xyflow/react</a:t>
                      </a:r>
                    </a:p>
                  </a:txBody>
                  <a:tcPr marL="91440" marR="91440" marT="45720" marB="45720">
                    <a:solidFill>
                      <a:srgbClr val="EAF0F1"/>
                    </a:solidFill>
                  </a:tcPr>
                </a:tc>
                <a:tc>
                  <a:txBody>
                    <a:bodyPr/>
                    <a:lstStyle/>
                    <a:p>
                      <a:r>
                        <a:rPr sz="1725" b="0">
                          <a:solidFill>
                            <a:srgbClr val="173039"/>
                          </a:solidFill>
                          <a:latin typeface="Arial"/>
                          <a:ea typeface="Arial"/>
                          <a:cs typeface="Arial"/>
                        </a:rPr>
                        <a:t>12.10.0</a:t>
                      </a:r>
                    </a:p>
                  </a:txBody>
                  <a:tcPr marL="91440" marR="91440" marT="45720" marB="45720">
                    <a:solidFill>
                      <a:srgbClr val="EAF0F1"/>
                    </a:solidFill>
                  </a:tcPr>
                </a:tc>
                <a:tc>
                  <a:txBody>
                    <a:bodyPr/>
                    <a:lstStyle/>
                    <a:p>
                      <a:r>
                        <a:rPr sz="1725" b="0">
                          <a:solidFill>
                            <a:srgbClr val="173039"/>
                          </a:solidFill>
                          <a:latin typeface="Arial"/>
                          <a:ea typeface="Arial"/>
                          <a:cs typeface="Arial"/>
                        </a:rPr>
                        <a:t>Graphe interactif des rôles et transmissions agent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echarts</a:t>
                      </a:r>
                    </a:p>
                  </a:txBody>
                  <a:tcPr marL="91440" marR="91440" marT="45720" marB="45720">
                    <a:solidFill>
                      <a:srgbClr val="FFFFFF"/>
                    </a:solidFill>
                  </a:tcPr>
                </a:tc>
                <a:tc>
                  <a:txBody>
                    <a:bodyPr/>
                    <a:lstStyle/>
                    <a:p>
                      <a:r>
                        <a:rPr sz="1725" b="0">
                          <a:solidFill>
                            <a:srgbClr val="173039"/>
                          </a:solidFill>
                          <a:latin typeface="Arial"/>
                          <a:ea typeface="Arial"/>
                          <a:cs typeface="Arial"/>
                        </a:rPr>
                        <a:t>6.1.0</a:t>
                      </a:r>
                    </a:p>
                  </a:txBody>
                  <a:tcPr marL="91440" marR="91440" marT="45720" marB="45720">
                    <a:solidFill>
                      <a:srgbClr val="FFFFFF"/>
                    </a:solidFill>
                  </a:tcPr>
                </a:tc>
                <a:tc>
                  <a:txBody>
                    <a:bodyPr/>
                    <a:lstStyle/>
                    <a:p>
                      <a:r>
                        <a:rPr sz="1725" b="0">
                          <a:solidFill>
                            <a:srgbClr val="173039"/>
                          </a:solidFill>
                          <a:latin typeface="Arial"/>
                          <a:ea typeface="Arial"/>
                          <a:cs typeface="Arial"/>
                        </a:rPr>
                        <a:t>Graphiques SVG d’analytique et d’observabilité</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lucide-react</a:t>
                      </a:r>
                    </a:p>
                  </a:txBody>
                  <a:tcPr marL="91440" marR="91440" marT="45720" marB="45720">
                    <a:solidFill>
                      <a:srgbClr val="EAF0F1"/>
                    </a:solidFill>
                  </a:tcPr>
                </a:tc>
                <a:tc>
                  <a:txBody>
                    <a:bodyPr/>
                    <a:lstStyle/>
                    <a:p>
                      <a:r>
                        <a:rPr sz="1725" b="0">
                          <a:solidFill>
                            <a:srgbClr val="173039"/>
                          </a:solidFill>
                          <a:latin typeface="Arial"/>
                          <a:ea typeface="Arial"/>
                          <a:cs typeface="Arial"/>
                        </a:rPr>
                        <a:t>0.577.0</a:t>
                      </a:r>
                    </a:p>
                  </a:txBody>
                  <a:tcPr marL="91440" marR="91440" marT="45720" marB="45720">
                    <a:solidFill>
                      <a:srgbClr val="EAF0F1"/>
                    </a:solidFill>
                  </a:tcPr>
                </a:tc>
                <a:tc>
                  <a:txBody>
                    <a:bodyPr/>
                    <a:lstStyle/>
                    <a:p>
                      <a:r>
                        <a:rPr sz="1725" b="0">
                          <a:solidFill>
                            <a:srgbClr val="173039"/>
                          </a:solidFill>
                          <a:latin typeface="Arial"/>
                          <a:ea typeface="Arial"/>
                          <a:cs typeface="Arial"/>
                        </a:rPr>
                        <a:t>Icônes utilisées dans les commandes et états UI</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maplibre-gl</a:t>
                      </a:r>
                    </a:p>
                  </a:txBody>
                  <a:tcPr marL="91440" marR="91440" marT="45720" marB="45720">
                    <a:solidFill>
                      <a:srgbClr val="FFFFFF"/>
                    </a:solidFill>
                  </a:tcPr>
                </a:tc>
                <a:tc>
                  <a:txBody>
                    <a:bodyPr/>
                    <a:lstStyle/>
                    <a:p>
                      <a:r>
                        <a:rPr sz="1725" b="0">
                          <a:solidFill>
                            <a:srgbClr val="173039"/>
                          </a:solidFill>
                          <a:latin typeface="Arial"/>
                          <a:ea typeface="Arial"/>
                          <a:cs typeface="Arial"/>
                        </a:rPr>
                        <a:t>6.13.0</a:t>
                      </a:r>
                    </a:p>
                  </a:txBody>
                  <a:tcPr marL="91440" marR="91440" marT="45720" marB="45720">
                    <a:solidFill>
                      <a:srgbClr val="FFFFFF"/>
                    </a:solidFill>
                  </a:tcPr>
                </a:tc>
                <a:tc>
                  <a:txBody>
                    <a:bodyPr/>
                    <a:lstStyle/>
                    <a:p>
                      <a:r>
                        <a:rPr sz="1725" b="0">
                          <a:solidFill>
                            <a:srgbClr val="173039"/>
                          </a:solidFill>
                          <a:latin typeface="Arial"/>
                          <a:ea typeface="Arial"/>
                          <a:cs typeface="Arial"/>
                        </a:rPr>
                        <a:t>Cartes, géométries, arrêts et véhicules simulés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E5F53A4-EB87-4815-AC74-29744A7C2365}"/>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61</a:t>
            </a:r>
          </a:p>
        </p:txBody>
      </p:sp>
    </p:spTree>
    <p:extLst>
      <p:ext uri="{BB962C8B-B14F-4D97-AF65-F5344CB8AC3E}">
        <p14:creationId xmlns:p14="http://schemas.microsoft.com/office/powerpoint/2010/main" val="908319099"/>
      </p:ext>
    </p:extLst>
  </p:cSld>
</p:sld>
</file>

<file path=ppt/slides/slide6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8CAF6A-8C85-41B7-A320-59AC28279761}"/>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DÉPENDANCES DIRECTES JAVASCRIPT</a:t>
            </a:r>
          </a:p>
        </p:txBody>
      </p:sp>
      <p:sp>
        <p:nvSpPr>
          <p:cNvPr id="2" name="">
            <a:extLst xmlns:a="http://schemas.openxmlformats.org/drawingml/2006/main">
              <a:ext uri="{FF2B5EF4-FFF2-40B4-BE49-F238E27FC236}">
                <a16:creationId xmlns:a16="http://schemas.microsoft.com/office/drawing/2014/main" id="{350A943D-9820-4BA7-BD9F-A75589559C8F}"/>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Interface et build · dépendances 6–10</a:t>
            </a:r>
          </a:p>
        </p:txBody>
      </p:sp>
      <p:graphicFrame>
        <p:nvGraphicFramePr>
          <p:cNvPr id="3" name="">
            <a:extLst xmlns:a="http://schemas.openxmlformats.org/drawingml/2006/main">
              <a:ext uri="{FF2B5EF4-FFF2-40B4-BE49-F238E27FC236}">
                <a16:creationId xmlns:a16="http://schemas.microsoft.com/office/drawing/2014/main" id="{CF07D3E2-EAA4-48E1-B5F5-5CF1F0D4C916}"/>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429000"/>
                <a:gridCol w="1571625"/>
                <a:gridCol w="597217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POURQUOI / COMMENT</a:t>
                      </a:r>
                    </a:p>
                  </a:txBody>
                  <a:tcPr marL="91440" marR="91440" marT="45720" marB="45720">
                    <a:solidFill>
                      <a:srgbClr val="173039"/>
                    </a:solidFill>
                  </a:tcPr>
                </a:tc>
              </a:tr>
              <a:tr h="680085">
                <a:tc>
                  <a:txBody>
                    <a:bodyPr/>
                    <a:lstStyle/>
                    <a:p>
                      <a:r>
                        <a:rPr sz="1725" b="1">
                          <a:solidFill>
                            <a:srgbClr val="173039"/>
                          </a:solidFill>
                          <a:latin typeface="Arial"/>
                          <a:ea typeface="Arial"/>
                          <a:cs typeface="Arial"/>
                        </a:rPr>
                        <a:t>react</a:t>
                      </a:r>
                    </a:p>
                  </a:txBody>
                  <a:tcPr marL="91440" marR="91440" marT="45720" marB="45720">
                    <a:solidFill>
                      <a:srgbClr val="FFFFFF"/>
                    </a:solidFill>
                  </a:tcPr>
                </a:tc>
                <a:tc>
                  <a:txBody>
                    <a:bodyPr/>
                    <a:lstStyle/>
                    <a:p>
                      <a:r>
                        <a:rPr sz="1725" b="0">
                          <a:solidFill>
                            <a:srgbClr val="173039"/>
                          </a:solidFill>
                          <a:latin typeface="Arial"/>
                          <a:ea typeface="Arial"/>
                          <a:cs typeface="Arial"/>
                        </a:rPr>
                        <a:t>19.2.0</a:t>
                      </a:r>
                    </a:p>
                  </a:txBody>
                  <a:tcPr marL="91440" marR="91440" marT="45720" marB="45720">
                    <a:solidFill>
                      <a:srgbClr val="FFFFFF"/>
                    </a:solidFill>
                  </a:tcPr>
                </a:tc>
                <a:tc>
                  <a:txBody>
                    <a:bodyPr/>
                    <a:lstStyle/>
                    <a:p>
                      <a:r>
                        <a:rPr sz="1725" b="0">
                          <a:solidFill>
                            <a:srgbClr val="173039"/>
                          </a:solidFill>
                          <a:latin typeface="Arial"/>
                          <a:ea typeface="Arial"/>
                          <a:cs typeface="Arial"/>
                        </a:rPr>
                        <a:t>Composants et état de l’application web</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react-dom</a:t>
                      </a:r>
                    </a:p>
                  </a:txBody>
                  <a:tcPr marL="91440" marR="91440" marT="45720" marB="45720">
                    <a:solidFill>
                      <a:srgbClr val="EAF0F1"/>
                    </a:solidFill>
                  </a:tcPr>
                </a:tc>
                <a:tc>
                  <a:txBody>
                    <a:bodyPr/>
                    <a:lstStyle/>
                    <a:p>
                      <a:r>
                        <a:rPr sz="1725" b="0">
                          <a:solidFill>
                            <a:srgbClr val="173039"/>
                          </a:solidFill>
                          <a:latin typeface="Arial"/>
                          <a:ea typeface="Arial"/>
                          <a:cs typeface="Arial"/>
                        </a:rPr>
                        <a:t>19.2.0</a:t>
                      </a:r>
                    </a:p>
                  </a:txBody>
                  <a:tcPr marL="91440" marR="91440" marT="45720" marB="45720">
                    <a:solidFill>
                      <a:srgbClr val="EAF0F1"/>
                    </a:solidFill>
                  </a:tcPr>
                </a:tc>
                <a:tc>
                  <a:txBody>
                    <a:bodyPr/>
                    <a:lstStyle/>
                    <a:p>
                      <a:r>
                        <a:rPr sz="1725" b="0">
                          <a:solidFill>
                            <a:srgbClr val="173039"/>
                          </a:solidFill>
                          <a:latin typeface="Arial"/>
                          <a:ea typeface="Arial"/>
                          <a:cs typeface="Arial"/>
                        </a:rPr>
                        <a:t>Montage React dans le document HTML</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@types/react</a:t>
                      </a:r>
                    </a:p>
                  </a:txBody>
                  <a:tcPr marL="91440" marR="91440" marT="45720" marB="45720">
                    <a:solidFill>
                      <a:srgbClr val="FFFFFF"/>
                    </a:solidFill>
                  </a:tcPr>
                </a:tc>
                <a:tc>
                  <a:txBody>
                    <a:bodyPr/>
                    <a:lstStyle/>
                    <a:p>
                      <a:r>
                        <a:rPr sz="1725" b="0">
                          <a:solidFill>
                            <a:srgbClr val="173039"/>
                          </a:solidFill>
                          <a:latin typeface="Arial"/>
                          <a:ea typeface="Arial"/>
                          <a:cs typeface="Arial"/>
                        </a:rPr>
                        <a:t>19.2.14</a:t>
                      </a:r>
                    </a:p>
                  </a:txBody>
                  <a:tcPr marL="91440" marR="91440" marT="45720" marB="45720">
                    <a:solidFill>
                      <a:srgbClr val="FFFFFF"/>
                    </a:solidFill>
                  </a:tcPr>
                </a:tc>
                <a:tc>
                  <a:txBody>
                    <a:bodyPr/>
                    <a:lstStyle/>
                    <a:p>
                      <a:r>
                        <a:rPr sz="1725" b="0">
                          <a:solidFill>
                            <a:srgbClr val="173039"/>
                          </a:solidFill>
                          <a:latin typeface="Arial"/>
                          <a:ea typeface="Arial"/>
                          <a:cs typeface="Arial"/>
                        </a:rPr>
                        <a:t>Types TypeScript pour React en compilation</a:t>
                      </a:r>
                    </a:p>
                  </a:txBody>
                  <a:tcPr marL="91440" marR="91440" marT="45720" marB="45720">
                    <a:solidFill>
                      <a:srgbClr val="FFFFFF"/>
                    </a:solidFill>
                  </a:tcPr>
                </a:tc>
              </a:tr>
              <a:tr h="680085">
                <a:tc>
                  <a:txBody>
                    <a:bodyPr/>
                    <a:lstStyle/>
                    <a:p>
                      <a:r>
                        <a:rPr sz="1725" b="1">
                          <a:solidFill>
                            <a:srgbClr val="173039"/>
                          </a:solidFill>
                          <a:latin typeface="Arial"/>
                          <a:ea typeface="Arial"/>
                          <a:cs typeface="Arial"/>
                        </a:rPr>
                        <a:t>@types/react-dom</a:t>
                      </a:r>
                    </a:p>
                  </a:txBody>
                  <a:tcPr marL="91440" marR="91440" marT="45720" marB="45720">
                    <a:solidFill>
                      <a:srgbClr val="EAF0F1"/>
                    </a:solidFill>
                  </a:tcPr>
                </a:tc>
                <a:tc>
                  <a:txBody>
                    <a:bodyPr/>
                    <a:lstStyle/>
                    <a:p>
                      <a:r>
                        <a:rPr sz="1725" b="0">
                          <a:solidFill>
                            <a:srgbClr val="173039"/>
                          </a:solidFill>
                          <a:latin typeface="Arial"/>
                          <a:ea typeface="Arial"/>
                          <a:cs typeface="Arial"/>
                        </a:rPr>
                        <a:t>19.2.3</a:t>
                      </a:r>
                    </a:p>
                  </a:txBody>
                  <a:tcPr marL="91440" marR="91440" marT="45720" marB="45720">
                    <a:solidFill>
                      <a:srgbClr val="EAF0F1"/>
                    </a:solidFill>
                  </a:tcPr>
                </a:tc>
                <a:tc>
                  <a:txBody>
                    <a:bodyPr/>
                    <a:lstStyle/>
                    <a:p>
                      <a:r>
                        <a:rPr sz="1725" b="0">
                          <a:solidFill>
                            <a:srgbClr val="173039"/>
                          </a:solidFill>
                          <a:latin typeface="Arial"/>
                          <a:ea typeface="Arial"/>
                          <a:cs typeface="Arial"/>
                        </a:rPr>
                        <a:t>Types TypeScript du rendu DOM React</a:t>
                      </a:r>
                    </a:p>
                  </a:txBody>
                  <a:tcPr marL="91440" marR="91440" marT="45720" marB="45720">
                    <a:solidFill>
                      <a:srgbClr val="EAF0F1"/>
                    </a:solidFill>
                  </a:tcPr>
                </a:tc>
              </a:tr>
              <a:tr h="680085">
                <a:tc>
                  <a:txBody>
                    <a:bodyPr/>
                    <a:lstStyle/>
                    <a:p>
                      <a:r>
                        <a:rPr sz="1725" b="1">
                          <a:solidFill>
                            <a:srgbClr val="173039"/>
                          </a:solidFill>
                          <a:latin typeface="Arial"/>
                          <a:ea typeface="Arial"/>
                          <a:cs typeface="Arial"/>
                        </a:rPr>
                        <a:t>@vitejs/plugin-react</a:t>
                      </a:r>
                    </a:p>
                  </a:txBody>
                  <a:tcPr marL="91440" marR="91440" marT="45720" marB="45720">
                    <a:solidFill>
                      <a:srgbClr val="FFFFFF"/>
                    </a:solidFill>
                  </a:tcPr>
                </a:tc>
                <a:tc>
                  <a:txBody>
                    <a:bodyPr/>
                    <a:lstStyle/>
                    <a:p>
                      <a:r>
                        <a:rPr sz="1725" b="0">
                          <a:solidFill>
                            <a:srgbClr val="173039"/>
                          </a:solidFill>
                          <a:latin typeface="Arial"/>
                          <a:ea typeface="Arial"/>
                          <a:cs typeface="Arial"/>
                        </a:rPr>
                        <a:t>5.1.4</a:t>
                      </a:r>
                    </a:p>
                  </a:txBody>
                  <a:tcPr marL="91440" marR="91440" marT="45720" marB="45720">
                    <a:solidFill>
                      <a:srgbClr val="FFFFFF"/>
                    </a:solidFill>
                  </a:tcPr>
                </a:tc>
                <a:tc>
                  <a:txBody>
                    <a:bodyPr/>
                    <a:lstStyle/>
                    <a:p>
                      <a:r>
                        <a:rPr sz="1725" b="0">
                          <a:solidFill>
                            <a:srgbClr val="173039"/>
                          </a:solidFill>
                          <a:latin typeface="Arial"/>
                          <a:ea typeface="Arial"/>
                          <a:cs typeface="Arial"/>
                        </a:rPr>
                        <a:t>Transformation JSX et intégration React à Vite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9A83CFF-658B-413D-A602-085C74595E00}"/>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62</a:t>
            </a:r>
          </a:p>
        </p:txBody>
      </p:sp>
    </p:spTree>
    <p:extLst>
      <p:ext uri="{BB962C8B-B14F-4D97-AF65-F5344CB8AC3E}">
        <p14:creationId xmlns:p14="http://schemas.microsoft.com/office/powerpoint/2010/main" val="64536841"/>
      </p:ext>
    </p:extLst>
  </p:cSld>
</p:sld>
</file>

<file path=ppt/slides/slide6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AA221E-EEB7-47A8-8258-CB31EA65CED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DÉPENDANCES DIRECTES JAVASCRIPT</a:t>
            </a:r>
          </a:p>
        </p:txBody>
      </p:sp>
      <p:sp>
        <p:nvSpPr>
          <p:cNvPr id="2" name="">
            <a:extLst xmlns:a="http://schemas.openxmlformats.org/drawingml/2006/main">
              <a:ext uri="{FF2B5EF4-FFF2-40B4-BE49-F238E27FC236}">
                <a16:creationId xmlns:a16="http://schemas.microsoft.com/office/drawing/2014/main" id="{1DFCBB99-D018-47DA-BB48-7F8914163943}"/>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Interface et build · dépendances 11–14</a:t>
            </a:r>
          </a:p>
        </p:txBody>
      </p:sp>
      <p:graphicFrame>
        <p:nvGraphicFramePr>
          <p:cNvPr id="3" name="">
            <a:extLst xmlns:a="http://schemas.openxmlformats.org/drawingml/2006/main">
              <a:ext uri="{FF2B5EF4-FFF2-40B4-BE49-F238E27FC236}">
                <a16:creationId xmlns:a16="http://schemas.microsoft.com/office/drawing/2014/main" id="{1975A142-9BD6-4540-B3F1-0B1929325568}"/>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429000"/>
                <a:gridCol w="1571625"/>
                <a:gridCol w="597217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POURQUOI / COMMENT</a:t>
                      </a:r>
                    </a:p>
                  </a:txBody>
                  <a:tcPr marL="91440" marR="91440" marT="45720" marB="45720">
                    <a:solidFill>
                      <a:srgbClr val="173039"/>
                    </a:solidFill>
                  </a:tcPr>
                </a:tc>
              </a:tr>
              <a:tr h="850106">
                <a:tc>
                  <a:txBody>
                    <a:bodyPr/>
                    <a:lstStyle/>
                    <a:p>
                      <a:r>
                        <a:rPr sz="1725" b="1">
                          <a:solidFill>
                            <a:srgbClr val="173039"/>
                          </a:solidFill>
                          <a:latin typeface="Arial"/>
                          <a:ea typeface="Arial"/>
                          <a:cs typeface="Arial"/>
                        </a:rPr>
                        <a:t>prettier</a:t>
                      </a:r>
                    </a:p>
                  </a:txBody>
                  <a:tcPr marL="91440" marR="91440" marT="45720" marB="45720">
                    <a:solidFill>
                      <a:srgbClr val="FFFFFF"/>
                    </a:solidFill>
                  </a:tcPr>
                </a:tc>
                <a:tc>
                  <a:txBody>
                    <a:bodyPr/>
                    <a:lstStyle/>
                    <a:p>
                      <a:r>
                        <a:rPr sz="1725" b="0">
                          <a:solidFill>
                            <a:srgbClr val="173039"/>
                          </a:solidFill>
                          <a:latin typeface="Arial"/>
                          <a:ea typeface="Arial"/>
                          <a:cs typeface="Arial"/>
                        </a:rPr>
                        <a:t>3.9.10</a:t>
                      </a:r>
                    </a:p>
                  </a:txBody>
                  <a:tcPr marL="91440" marR="91440" marT="45720" marB="45720">
                    <a:solidFill>
                      <a:srgbClr val="FFFFFF"/>
                    </a:solidFill>
                  </a:tcPr>
                </a:tc>
                <a:tc>
                  <a:txBody>
                    <a:bodyPr/>
                    <a:lstStyle/>
                    <a:p>
                      <a:r>
                        <a:rPr sz="1725" b="0">
                          <a:solidFill>
                            <a:srgbClr val="173039"/>
                          </a:solidFill>
                          <a:latin typeface="Arial"/>
                          <a:ea typeface="Arial"/>
                          <a:cs typeface="Arial"/>
                        </a:rPr>
                        <a:t>Formateur déclaré; aucun script de formatage configuré</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typescript</a:t>
                      </a:r>
                    </a:p>
                  </a:txBody>
                  <a:tcPr marL="91440" marR="91440" marT="45720" marB="45720">
                    <a:solidFill>
                      <a:srgbClr val="EAF0F1"/>
                    </a:solidFill>
                  </a:tcPr>
                </a:tc>
                <a:tc>
                  <a:txBody>
                    <a:bodyPr/>
                    <a:lstStyle/>
                    <a:p>
                      <a:r>
                        <a:rPr sz="1725" b="0">
                          <a:solidFill>
                            <a:srgbClr val="173039"/>
                          </a:solidFill>
                          <a:latin typeface="Arial"/>
                          <a:ea typeface="Arial"/>
                          <a:cs typeface="Arial"/>
                        </a:rPr>
                        <a:t>5.9.3</a:t>
                      </a:r>
                    </a:p>
                  </a:txBody>
                  <a:tcPr marL="91440" marR="91440" marT="45720" marB="45720">
                    <a:solidFill>
                      <a:srgbClr val="EAF0F1"/>
                    </a:solidFill>
                  </a:tcPr>
                </a:tc>
                <a:tc>
                  <a:txBody>
                    <a:bodyPr/>
                    <a:lstStyle/>
                    <a:p>
                      <a:r>
                        <a:rPr sz="1725" b="0">
                          <a:solidFill>
                            <a:srgbClr val="173039"/>
                          </a:solidFill>
                          <a:latin typeface="Arial"/>
                          <a:ea typeface="Arial"/>
                          <a:cs typeface="Arial"/>
                        </a:rPr>
                        <a:t>Compilation et vérification statique TypeScript</a:t>
                      </a:r>
                    </a:p>
                  </a:txBody>
                  <a:tcPr marL="91440" marR="91440" marT="45720" marB="45720">
                    <a:solidFill>
                      <a:srgbClr val="EAF0F1"/>
                    </a:solidFill>
                  </a:tcPr>
                </a:tc>
              </a:tr>
              <a:tr h="850106">
                <a:tc>
                  <a:txBody>
                    <a:bodyPr/>
                    <a:lstStyle/>
                    <a:p>
                      <a:r>
                        <a:rPr sz="1725" b="1">
                          <a:solidFill>
                            <a:srgbClr val="173039"/>
                          </a:solidFill>
                          <a:latin typeface="Arial"/>
                          <a:ea typeface="Arial"/>
                          <a:cs typeface="Arial"/>
                        </a:rPr>
                        <a:t>vite</a:t>
                      </a:r>
                    </a:p>
                  </a:txBody>
                  <a:tcPr marL="91440" marR="91440" marT="45720" marB="45720">
                    <a:solidFill>
                      <a:srgbClr val="FFFFFF"/>
                    </a:solidFill>
                  </a:tcPr>
                </a:tc>
                <a:tc>
                  <a:txBody>
                    <a:bodyPr/>
                    <a:lstStyle/>
                    <a:p>
                      <a:r>
                        <a:rPr sz="1725" b="0">
                          <a:solidFill>
                            <a:srgbClr val="173039"/>
                          </a:solidFill>
                          <a:latin typeface="Arial"/>
                          <a:ea typeface="Arial"/>
                          <a:cs typeface="Arial"/>
                        </a:rPr>
                        <a:t>7.3.7</a:t>
                      </a:r>
                    </a:p>
                  </a:txBody>
                  <a:tcPr marL="91440" marR="91440" marT="45720" marB="45720">
                    <a:solidFill>
                      <a:srgbClr val="FFFFFF"/>
                    </a:solidFill>
                  </a:tcPr>
                </a:tc>
                <a:tc>
                  <a:txBody>
                    <a:bodyPr/>
                    <a:lstStyle/>
                    <a:p>
                      <a:r>
                        <a:rPr sz="1725" b="0">
                          <a:solidFill>
                            <a:srgbClr val="173039"/>
                          </a:solidFill>
                          <a:latin typeface="Arial"/>
                          <a:ea typeface="Arial"/>
                          <a:cs typeface="Arial"/>
                        </a:rPr>
                        <a:t>Serveur local et bundler de production de l’interface</a:t>
                      </a:r>
                    </a:p>
                  </a:txBody>
                  <a:tcPr marL="91440" marR="91440" marT="45720" marB="45720">
                    <a:solidFill>
                      <a:srgbClr val="FFFFFF"/>
                    </a:solidFill>
                  </a:tcPr>
                </a:tc>
              </a:tr>
              <a:tr h="850106">
                <a:tc>
                  <a:txBody>
                    <a:bodyPr/>
                    <a:lstStyle/>
                    <a:p>
                      <a:r>
                        <a:rPr sz="1725" b="1">
                          <a:solidFill>
                            <a:srgbClr val="173039"/>
                          </a:solidFill>
                          <a:latin typeface="Arial"/>
                          <a:ea typeface="Arial"/>
                          <a:cs typeface="Arial"/>
                        </a:rPr>
                        <a:t>vitest</a:t>
                      </a:r>
                    </a:p>
                  </a:txBody>
                  <a:tcPr marL="91440" marR="91440" marT="45720" marB="45720">
                    <a:solidFill>
                      <a:srgbClr val="EAF0F1"/>
                    </a:solidFill>
                  </a:tcPr>
                </a:tc>
                <a:tc>
                  <a:txBody>
                    <a:bodyPr/>
                    <a:lstStyle/>
                    <a:p>
                      <a:r>
                        <a:rPr sz="1725" b="0">
                          <a:solidFill>
                            <a:srgbClr val="173039"/>
                          </a:solidFill>
                          <a:latin typeface="Arial"/>
                          <a:ea typeface="Arial"/>
                          <a:cs typeface="Arial"/>
                        </a:rPr>
                        <a:t>4.1.11</a:t>
                      </a:r>
                    </a:p>
                  </a:txBody>
                  <a:tcPr marL="91440" marR="91440" marT="45720" marB="45720">
                    <a:solidFill>
                      <a:srgbClr val="EAF0F1"/>
                    </a:solidFill>
                  </a:tcPr>
                </a:tc>
                <a:tc>
                  <a:txBody>
                    <a:bodyPr/>
                    <a:lstStyle/>
                    <a:p>
                      <a:r>
                        <a:rPr sz="1725" b="0">
                          <a:solidFill>
                            <a:srgbClr val="173039"/>
                          </a:solidFill>
                          <a:latin typeface="Arial"/>
                          <a:ea typeface="Arial"/>
                          <a:cs typeface="Arial"/>
                        </a:rPr>
                        <a:t>Tests unitaires et composants de l’interface</a:t>
                      </a:r>
                    </a:p>
                  </a:txBody>
                  <a:tcPr marL="91440" marR="91440" marT="45720" marB="45720">
                    <a:solidFill>
                      <a:srgbClr val="EAF0F1"/>
                    </a:solidFill>
                  </a:tcPr>
                </a:tc>
              </a:tr>
            </a:tbl>
          </a:graphicData>
        </a:graphic>
      </p:graphicFrame>
      <p:sp>
        <p:nvSpPr>
          <p:cNvPr id="4" name="">
            <a:extLst xmlns:a="http://schemas.openxmlformats.org/drawingml/2006/main">
              <a:ext uri="{FF2B5EF4-FFF2-40B4-BE49-F238E27FC236}">
                <a16:creationId xmlns:a16="http://schemas.microsoft.com/office/drawing/2014/main" id="{883CAEE1-2671-440A-8B53-82D790C0872A}"/>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63</a:t>
            </a:r>
          </a:p>
        </p:txBody>
      </p:sp>
    </p:spTree>
    <p:extLst>
      <p:ext uri="{BB962C8B-B14F-4D97-AF65-F5344CB8AC3E}">
        <p14:creationId xmlns:p14="http://schemas.microsoft.com/office/powerpoint/2010/main" val="1593807317"/>
      </p:ext>
    </p:extLst>
  </p:cSld>
</p:sld>
</file>

<file path=ppt/slides/slide6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3A9ED0-6A39-46FB-9565-ABE58B3B61F7}"/>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6C78"/>
                </a:solidFill>
                <a:latin typeface="Arial"/>
                <a:ea typeface="Arial"/>
                <a:cs typeface="Arial"/>
              </a:defRPr>
            </a:defPPr>
          </a:lstStyle>
          <a:p xmlns:a="http://schemas.openxmlformats.org/drawingml/2006/main">
            <a:pPr>
              <a:defRPr sz="1200" b="1">
                <a:solidFill>
                  <a:srgbClr val="146C78"/>
                </a:solidFill>
                <a:latin typeface="Arial"/>
                <a:ea typeface="Arial"/>
                <a:cs typeface="Arial"/>
              </a:defRPr>
            </a:pPr>
            <a:r>
              <a:rPr sz="1200" b="1">
                <a:solidFill>
                  <a:srgbClr val="146C78"/>
                </a:solidFill>
                <a:latin typeface="Arial"/>
                <a:ea typeface="Arial"/>
                <a:cs typeface="Arial"/>
              </a:rPr>
              <a:t>ANNEXE / DÉPENDANCES DIRECTES JAVASCRIPT</a:t>
            </a:r>
          </a:p>
        </p:txBody>
      </p:sp>
      <p:sp>
        <p:nvSpPr>
          <p:cNvPr id="2" name="">
            <a:extLst xmlns:a="http://schemas.openxmlformats.org/drawingml/2006/main">
              <a:ext uri="{FF2B5EF4-FFF2-40B4-BE49-F238E27FC236}">
                <a16:creationId xmlns:a16="http://schemas.microsoft.com/office/drawing/2014/main" id="{946232FB-1F8E-4685-839A-2BDBE6E6A1B5}"/>
              </a:ext>
            </a:extLst>
          </p:cNvPr>
          <p:cNvSpPr>
            <a:spLocks xmlns:a="http://schemas.openxmlformats.org/drawingml/2006/main" noGrp="1"/>
          </p:cNvSpPr>
          <p:nvPr/>
        </p:nvSpPr>
        <p:spPr>
          <a:xfrm xmlns:a="http://schemas.openxmlformats.org/drawingml/2006/main">
            <a:off x="609600" y="819150"/>
            <a:ext cx="1093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039"/>
                </a:solidFill>
                <a:latin typeface="Arial"/>
                <a:ea typeface="Arial"/>
                <a:cs typeface="Arial"/>
              </a:defRPr>
            </a:defPPr>
          </a:lstStyle>
          <a:p xmlns:a="http://schemas.openxmlformats.org/drawingml/2006/main">
            <a:pPr>
              <a:defRPr sz="3300" b="1">
                <a:solidFill>
                  <a:srgbClr val="173039"/>
                </a:solidFill>
                <a:latin typeface="Arial"/>
                <a:ea typeface="Arial"/>
                <a:cs typeface="Arial"/>
              </a:defRPr>
            </a:pPr>
            <a:r>
              <a:rPr sz="3300" b="1">
                <a:solidFill>
                  <a:srgbClr val="173039"/>
                </a:solidFill>
                <a:latin typeface="Arial"/>
                <a:ea typeface="Arial"/>
                <a:cs typeface="Arial"/>
              </a:rPr>
              <a:t>Outils QA · dépendances 1–3</a:t>
            </a:r>
          </a:p>
        </p:txBody>
      </p:sp>
      <p:graphicFrame>
        <p:nvGraphicFramePr>
          <p:cNvPr id="3" name="">
            <a:extLst xmlns:a="http://schemas.openxmlformats.org/drawingml/2006/main">
              <a:ext uri="{FF2B5EF4-FFF2-40B4-BE49-F238E27FC236}">
                <a16:creationId xmlns:a16="http://schemas.microsoft.com/office/drawing/2014/main" id="{02BD5F03-5B35-4CCD-938F-8BBF3FD2E73C}"/>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firstRow="0" bandRow="0"/>
              <a:tblGrid>
                <a:gridCol w="3429000"/>
                <a:gridCol w="1571625"/>
                <a:gridCol w="5972175"/>
              </a:tblGrid>
              <a:tr h="457200">
                <a:tc>
                  <a:txBody>
                    <a:bodyPr/>
                    <a:lstStyle/>
                    <a:p>
                      <a:r>
                        <a:rPr sz="1725" b="1">
                          <a:solidFill>
                            <a:srgbClr val="FFFFFF"/>
                          </a:solidFill>
                          <a:latin typeface="Arial"/>
                          <a:ea typeface="Arial"/>
                          <a:cs typeface="Arial"/>
                        </a:rPr>
                        <a:t>PAQUET</a:t>
                      </a:r>
                    </a:p>
                  </a:txBody>
                  <a:tcPr marL="91440" marR="91440" marT="45720" marB="45720">
                    <a:solidFill>
                      <a:srgbClr val="173039"/>
                    </a:solidFill>
                  </a:tcPr>
                </a:tc>
                <a:tc>
                  <a:txBody>
                    <a:bodyPr/>
                    <a:lstStyle/>
                    <a:p>
                      <a:r>
                        <a:rPr sz="1725" b="1">
                          <a:solidFill>
                            <a:srgbClr val="FFFFFF"/>
                          </a:solidFill>
                          <a:latin typeface="Arial"/>
                          <a:ea typeface="Arial"/>
                          <a:cs typeface="Arial"/>
                        </a:rPr>
                        <a:t>VERSION</a:t>
                      </a:r>
                    </a:p>
                  </a:txBody>
                  <a:tcPr marL="91440" marR="91440" marT="45720" marB="45720">
                    <a:solidFill>
                      <a:srgbClr val="173039"/>
                    </a:solidFill>
                  </a:tcPr>
                </a:tc>
                <a:tc>
                  <a:txBody>
                    <a:bodyPr/>
                    <a:lstStyle/>
                    <a:p>
                      <a:r>
                        <a:rPr sz="1725" b="1">
                          <a:solidFill>
                            <a:srgbClr val="FFFFFF"/>
                          </a:solidFill>
                          <a:latin typeface="Arial"/>
                          <a:ea typeface="Arial"/>
                          <a:cs typeface="Arial"/>
                        </a:rPr>
                        <a:t>POURQUOI / COMMENT</a:t>
                      </a:r>
                    </a:p>
                  </a:txBody>
                  <a:tcPr marL="91440" marR="91440" marT="45720" marB="45720">
                    <a:solidFill>
                      <a:srgbClr val="173039"/>
                    </a:solidFill>
                  </a:tcPr>
                </a:tc>
              </a:tr>
              <a:tr h="1133475">
                <a:tc>
                  <a:txBody>
                    <a:bodyPr/>
                    <a:lstStyle/>
                    <a:p>
                      <a:r>
                        <a:rPr sz="1725" b="1">
                          <a:solidFill>
                            <a:srgbClr val="173039"/>
                          </a:solidFill>
                          <a:latin typeface="Arial"/>
                          <a:ea typeface="Arial"/>
                          <a:cs typeface="Arial"/>
                        </a:rPr>
                        <a:t>@axe-core/playwright</a:t>
                      </a:r>
                    </a:p>
                  </a:txBody>
                  <a:tcPr marL="91440" marR="91440" marT="45720" marB="45720">
                    <a:solidFill>
                      <a:srgbClr val="FFFFFF"/>
                    </a:solidFill>
                  </a:tcPr>
                </a:tc>
                <a:tc>
                  <a:txBody>
                    <a:bodyPr/>
                    <a:lstStyle/>
                    <a:p>
                      <a:r>
                        <a:rPr sz="1725" b="0">
                          <a:solidFill>
                            <a:srgbClr val="173039"/>
                          </a:solidFill>
                          <a:latin typeface="Arial"/>
                          <a:ea typeface="Arial"/>
                          <a:cs typeface="Arial"/>
                        </a:rPr>
                        <a:t>4.11.1</a:t>
                      </a:r>
                    </a:p>
                  </a:txBody>
                  <a:tcPr marL="91440" marR="91440" marT="45720" marB="45720">
                    <a:solidFill>
                      <a:srgbClr val="FFFFFF"/>
                    </a:solidFill>
                  </a:tcPr>
                </a:tc>
                <a:tc>
                  <a:txBody>
                    <a:bodyPr/>
                    <a:lstStyle/>
                    <a:p>
                      <a:r>
                        <a:rPr sz="1725" b="0">
                          <a:solidFill>
                            <a:srgbClr val="173039"/>
                          </a:solidFill>
                          <a:latin typeface="Arial"/>
                          <a:ea typeface="Arial"/>
                          <a:cs typeface="Arial"/>
                        </a:rPr>
                        <a:t>Audits automatisés d’accessibilité dans les parcours</a:t>
                      </a:r>
                    </a:p>
                  </a:txBody>
                  <a:tcPr marL="91440" marR="91440" marT="45720" marB="45720">
                    <a:solidFill>
                      <a:srgbClr val="FFFFFF"/>
                    </a:solidFill>
                  </a:tcPr>
                </a:tc>
              </a:tr>
              <a:tr h="1133475">
                <a:tc>
                  <a:txBody>
                    <a:bodyPr/>
                    <a:lstStyle/>
                    <a:p>
                      <a:r>
                        <a:rPr sz="1725" b="1">
                          <a:solidFill>
                            <a:srgbClr val="173039"/>
                          </a:solidFill>
                          <a:latin typeface="Arial"/>
                          <a:ea typeface="Arial"/>
                          <a:cs typeface="Arial"/>
                        </a:rPr>
                        <a:t>@playwright/test</a:t>
                      </a:r>
                    </a:p>
                  </a:txBody>
                  <a:tcPr marL="91440" marR="91440" marT="45720" marB="45720">
                    <a:solidFill>
                      <a:srgbClr val="EAF0F1"/>
                    </a:solidFill>
                  </a:tcPr>
                </a:tc>
                <a:tc>
                  <a:txBody>
                    <a:bodyPr/>
                    <a:lstStyle/>
                    <a:p>
                      <a:r>
                        <a:rPr sz="1725" b="0">
                          <a:solidFill>
                            <a:srgbClr val="173039"/>
                          </a:solidFill>
                          <a:latin typeface="Arial"/>
                          <a:ea typeface="Arial"/>
                          <a:cs typeface="Arial"/>
                        </a:rPr>
                        <a:t>1.59.1</a:t>
                      </a:r>
                    </a:p>
                  </a:txBody>
                  <a:tcPr marL="91440" marR="91440" marT="45720" marB="45720">
                    <a:solidFill>
                      <a:srgbClr val="EAF0F1"/>
                    </a:solidFill>
                  </a:tcPr>
                </a:tc>
                <a:tc>
                  <a:txBody>
                    <a:bodyPr/>
                    <a:lstStyle/>
                    <a:p>
                      <a:r>
                        <a:rPr sz="1725" b="0">
                          <a:solidFill>
                            <a:srgbClr val="173039"/>
                          </a:solidFill>
                          <a:latin typeface="Arial"/>
                          <a:ea typeface="Arial"/>
                          <a:cs typeface="Arial"/>
                        </a:rPr>
                        <a:t>Parcours navigateur reproductibles de QA</a:t>
                      </a:r>
                    </a:p>
                  </a:txBody>
                  <a:tcPr marL="91440" marR="91440" marT="45720" marB="45720">
                    <a:solidFill>
                      <a:srgbClr val="EAF0F1"/>
                    </a:solidFill>
                  </a:tcPr>
                </a:tc>
              </a:tr>
              <a:tr h="1133475">
                <a:tc>
                  <a:txBody>
                    <a:bodyPr/>
                    <a:lstStyle/>
                    <a:p>
                      <a:r>
                        <a:rPr sz="1725" b="1">
                          <a:solidFill>
                            <a:srgbClr val="173039"/>
                          </a:solidFill>
                          <a:latin typeface="Arial"/>
                          <a:ea typeface="Arial"/>
                          <a:cs typeface="Arial"/>
                        </a:rPr>
                        <a:t>json-schema-to-typescript</a:t>
                      </a:r>
                    </a:p>
                  </a:txBody>
                  <a:tcPr marL="91440" marR="91440" marT="45720" marB="45720">
                    <a:solidFill>
                      <a:srgbClr val="FFFFFF"/>
                    </a:solidFill>
                  </a:tcPr>
                </a:tc>
                <a:tc>
                  <a:txBody>
                    <a:bodyPr/>
                    <a:lstStyle/>
                    <a:p>
                      <a:r>
                        <a:rPr sz="1725" b="0">
                          <a:solidFill>
                            <a:srgbClr val="173039"/>
                          </a:solidFill>
                          <a:latin typeface="Arial"/>
                          <a:ea typeface="Arial"/>
                          <a:cs typeface="Arial"/>
                        </a:rPr>
                        <a:t>^15.0.4</a:t>
                      </a:r>
                    </a:p>
                  </a:txBody>
                  <a:tcPr marL="91440" marR="91440" marT="45720" marB="45720">
                    <a:solidFill>
                      <a:srgbClr val="FFFFFF"/>
                    </a:solidFill>
                  </a:tcPr>
                </a:tc>
                <a:tc>
                  <a:txBody>
                    <a:bodyPr/>
                    <a:lstStyle/>
                    <a:p>
                      <a:r>
                        <a:rPr sz="1725" b="0">
                          <a:solidFill>
                            <a:srgbClr val="173039"/>
                          </a:solidFill>
                          <a:latin typeface="Arial"/>
                          <a:ea typeface="Arial"/>
                          <a:cs typeface="Arial"/>
                        </a:rPr>
                        <a:t>Générateur déclaré; aucun usage ou script trouvé</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DC13376-DADB-49E0-86A2-2C1B1D8B1933}"/>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64</a:t>
            </a:r>
          </a:p>
        </p:txBody>
      </p:sp>
    </p:spTree>
    <p:extLst>
      <p:ext uri="{BB962C8B-B14F-4D97-AF65-F5344CB8AC3E}">
        <p14:creationId xmlns:p14="http://schemas.microsoft.com/office/powerpoint/2010/main" val="404032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2026-10-11T14:56:30.5430000Z</dcterms:created>
  <dcterms:modified xsi:type="dcterms:W3CDTF">2026-10-11T14:56:30.5430000Z</dcterms:modified>
</coreProperties>
</file>