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0ffdcc7de244eb" /><Relationship Type="http://schemas.openxmlformats.org/officeDocument/2006/relationships/extended-properties" Target="/docProps/app.xml" Id="R7286f658b3ea4d51" /><Relationship Type="http://schemas.openxmlformats.org/officeDocument/2006/relationships/officeDocument" Target="/ppt/presentation.xml" Id="Rba388d5c26274706" /></Relationships>
</file>

<file path=ppt/presentation.xml><?xml version="1.0" encoding="utf-8"?>
<p:presentation xmlns:p="http://schemas.openxmlformats.org/presentationml/2006/main">
  <p:sldMasterIdLst>
    <p:sldMasterId xmlns:r="http://schemas.openxmlformats.org/officeDocument/2006/relationships" id="2147483648" r:id="Rd5c9277645924037"/>
  </p:sldMasterIdLst>
  <p:notesMasterIdLst>
    <p:notesMasterId xmlns:r="http://schemas.openxmlformats.org/officeDocument/2006/relationships" r:id="Rce178128ef4f4eae"/>
  </p:notesMasterIdLst>
  <p:sldIdLst>
    <p:sldId xmlns:r="http://schemas.openxmlformats.org/officeDocument/2006/relationships" id="256" r:id="Ra80d042429cc4a5b"/>
    <p:sldId xmlns:r="http://schemas.openxmlformats.org/officeDocument/2006/relationships" id="257" r:id="R01170e6c987146da"/>
    <p:sldId xmlns:r="http://schemas.openxmlformats.org/officeDocument/2006/relationships" id="258" r:id="R3926889537b847a9"/>
    <p:sldId xmlns:r="http://schemas.openxmlformats.org/officeDocument/2006/relationships" id="259" r:id="R196b561979984974"/>
    <p:sldId xmlns:r="http://schemas.openxmlformats.org/officeDocument/2006/relationships" id="260" r:id="Rb77b146684b94181"/>
    <p:sldId xmlns:r="http://schemas.openxmlformats.org/officeDocument/2006/relationships" id="261" r:id="Rc6cb5c8a5e9140ad"/>
    <p:sldId xmlns:r="http://schemas.openxmlformats.org/officeDocument/2006/relationships" id="262" r:id="Re42c985a4b0d46b1"/>
    <p:sldId xmlns:r="http://schemas.openxmlformats.org/officeDocument/2006/relationships" id="263" r:id="R02b9e202fce94dfd"/>
    <p:sldId xmlns:r="http://schemas.openxmlformats.org/officeDocument/2006/relationships" id="264" r:id="Rf6feb7cb87f149fd"/>
    <p:sldId xmlns:r="http://schemas.openxmlformats.org/officeDocument/2006/relationships" id="265" r:id="R643655f49ffe45d1"/>
    <p:sldId xmlns:r="http://schemas.openxmlformats.org/officeDocument/2006/relationships" id="266" r:id="Ra3b2c03967e34203"/>
    <p:sldId xmlns:r="http://schemas.openxmlformats.org/officeDocument/2006/relationships" id="267" r:id="R7b62125e044b43fa"/>
    <p:sldId xmlns:r="http://schemas.openxmlformats.org/officeDocument/2006/relationships" id="268" r:id="R64e80170405a401c"/>
    <p:sldId xmlns:r="http://schemas.openxmlformats.org/officeDocument/2006/relationships" id="269" r:id="R065b612a2c404443"/>
    <p:sldId xmlns:r="http://schemas.openxmlformats.org/officeDocument/2006/relationships" id="270" r:id="R2a993f1123324d59"/>
    <p:sldId xmlns:r="http://schemas.openxmlformats.org/officeDocument/2006/relationships" id="271" r:id="Rb3cd020c40c24e68"/>
    <p:sldId xmlns:r="http://schemas.openxmlformats.org/officeDocument/2006/relationships" id="272" r:id="R5e01c13cb4424df2"/>
    <p:sldId xmlns:r="http://schemas.openxmlformats.org/officeDocument/2006/relationships" id="273" r:id="Rb91070bccf9f4375"/>
    <p:sldId xmlns:r="http://schemas.openxmlformats.org/officeDocument/2006/relationships" id="274" r:id="R82dc817979264eee"/>
    <p:sldId xmlns:r="http://schemas.openxmlformats.org/officeDocument/2006/relationships" id="275" r:id="R6caddafaca504da1"/>
    <p:sldId xmlns:r="http://schemas.openxmlformats.org/officeDocument/2006/relationships" id="276" r:id="R1bedb2ad98ab4fce"/>
    <p:sldId xmlns:r="http://schemas.openxmlformats.org/officeDocument/2006/relationships" id="277" r:id="R29d827136e0849e7"/>
    <p:sldId xmlns:r="http://schemas.openxmlformats.org/officeDocument/2006/relationships" id="278" r:id="R9a9c4d3ccf0b4adf"/>
    <p:sldId xmlns:r="http://schemas.openxmlformats.org/officeDocument/2006/relationships" id="279" r:id="R14470da61fb54347"/>
    <p:sldId xmlns:r="http://schemas.openxmlformats.org/officeDocument/2006/relationships" id="280" r:id="R3ef2a9b38e2b4bec"/>
    <p:sldId xmlns:r="http://schemas.openxmlformats.org/officeDocument/2006/relationships" id="281" r:id="Raacc2fb0db3a4502"/>
    <p:sldId xmlns:r="http://schemas.openxmlformats.org/officeDocument/2006/relationships" id="282" r:id="R82d19041952a43bf"/>
    <p:sldId xmlns:r="http://schemas.openxmlformats.org/officeDocument/2006/relationships" id="283" r:id="Rc40ad81967a74389"/>
    <p:sldId xmlns:r="http://schemas.openxmlformats.org/officeDocument/2006/relationships" id="284" r:id="Rf2dfaba2840f4400"/>
    <p:sldId xmlns:r="http://schemas.openxmlformats.org/officeDocument/2006/relationships" id="285" r:id="R6651a0bf467841f4"/>
    <p:sldId xmlns:r="http://schemas.openxmlformats.org/officeDocument/2006/relationships" id="286" r:id="Rd3755fe08ba7480e"/>
    <p:sldId xmlns:r="http://schemas.openxmlformats.org/officeDocument/2006/relationships" id="287" r:id="Re63ad318211f4de9"/>
    <p:sldId xmlns:r="http://schemas.openxmlformats.org/officeDocument/2006/relationships" id="288" r:id="R836c8e80607f4945"/>
    <p:sldId xmlns:r="http://schemas.openxmlformats.org/officeDocument/2006/relationships" id="289" r:id="R876766adc63c4c85"/>
    <p:sldId xmlns:r="http://schemas.openxmlformats.org/officeDocument/2006/relationships" id="290" r:id="R3239cfa6d58847ad"/>
    <p:sldId xmlns:r="http://schemas.openxmlformats.org/officeDocument/2006/relationships" id="291" r:id="R8e707167d54842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cd1a0835ab48eb" /><Relationship Type="http://schemas.openxmlformats.org/officeDocument/2006/relationships/slideMaster" Target="/ppt/slideMasters/slideMaster1.xml" Id="Rd5c9277645924037" /><Relationship Type="http://schemas.openxmlformats.org/officeDocument/2006/relationships/notesMaster" Target="/ppt/notesMasters/notesMaster1.xml" Id="Rce178128ef4f4eae" /><Relationship Type="http://schemas.openxmlformats.org/officeDocument/2006/relationships/presProps" Target="/ppt/presProps.xml" Id="R4622af4356d04981" /><Relationship Type="http://schemas.openxmlformats.org/officeDocument/2006/relationships/tableStyles" Target="/ppt/tableStyles.xml" Id="Rac73dfaac2444eee" /><Relationship Type="http://schemas.openxmlformats.org/officeDocument/2006/relationships/slide" Target="/ppt/slides/slide1.xml" Id="Ra80d042429cc4a5b" /><Relationship Type="http://schemas.openxmlformats.org/officeDocument/2006/relationships/slide" Target="/ppt/slides/slide2.xml" Id="R01170e6c987146da" /><Relationship Type="http://schemas.openxmlformats.org/officeDocument/2006/relationships/slide" Target="/ppt/slides/slide3.xml" Id="R3926889537b847a9" /><Relationship Type="http://schemas.openxmlformats.org/officeDocument/2006/relationships/slide" Target="/ppt/slides/slide4.xml" Id="R196b561979984974" /><Relationship Type="http://schemas.openxmlformats.org/officeDocument/2006/relationships/slide" Target="/ppt/slides/slide5.xml" Id="Rb77b146684b94181" /><Relationship Type="http://schemas.openxmlformats.org/officeDocument/2006/relationships/slide" Target="/ppt/slides/slide6.xml" Id="Rc6cb5c8a5e9140ad" /><Relationship Type="http://schemas.openxmlformats.org/officeDocument/2006/relationships/slide" Target="/ppt/slides/slide7.xml" Id="Re42c985a4b0d46b1" /><Relationship Type="http://schemas.openxmlformats.org/officeDocument/2006/relationships/slide" Target="/ppt/slides/slide8.xml" Id="R02b9e202fce94dfd" /><Relationship Type="http://schemas.openxmlformats.org/officeDocument/2006/relationships/slide" Target="/ppt/slides/slide9.xml" Id="Rf6feb7cb87f149fd" /><Relationship Type="http://schemas.openxmlformats.org/officeDocument/2006/relationships/slide" Target="/ppt/slides/slide10.xml" Id="R643655f49ffe45d1" /><Relationship Type="http://schemas.openxmlformats.org/officeDocument/2006/relationships/slide" Target="/ppt/slides/slide11.xml" Id="Ra3b2c03967e34203" /><Relationship Type="http://schemas.openxmlformats.org/officeDocument/2006/relationships/slide" Target="/ppt/slides/slide12.xml" Id="R7b62125e044b43fa" /><Relationship Type="http://schemas.openxmlformats.org/officeDocument/2006/relationships/slide" Target="/ppt/slides/slide13.xml" Id="R64e80170405a401c" /><Relationship Type="http://schemas.openxmlformats.org/officeDocument/2006/relationships/slide" Target="/ppt/slides/slide14.xml" Id="R065b612a2c404443" /><Relationship Type="http://schemas.openxmlformats.org/officeDocument/2006/relationships/slide" Target="/ppt/slides/slide15.xml" Id="R2a993f1123324d59" /><Relationship Type="http://schemas.openxmlformats.org/officeDocument/2006/relationships/slide" Target="/ppt/slides/slide16.xml" Id="Rb3cd020c40c24e68" /><Relationship Type="http://schemas.openxmlformats.org/officeDocument/2006/relationships/slide" Target="/ppt/slides/slide17.xml" Id="R5e01c13cb4424df2" /><Relationship Type="http://schemas.openxmlformats.org/officeDocument/2006/relationships/slide" Target="/ppt/slides/slide18.xml" Id="Rb91070bccf9f4375" /><Relationship Type="http://schemas.openxmlformats.org/officeDocument/2006/relationships/slide" Target="/ppt/slides/slide19.xml" Id="R82dc817979264eee" /><Relationship Type="http://schemas.openxmlformats.org/officeDocument/2006/relationships/slide" Target="/ppt/slides/slide20.xml" Id="R6caddafaca504da1" /><Relationship Type="http://schemas.openxmlformats.org/officeDocument/2006/relationships/slide" Target="/ppt/slides/slide21.xml" Id="R1bedb2ad98ab4fce" /><Relationship Type="http://schemas.openxmlformats.org/officeDocument/2006/relationships/slide" Target="/ppt/slides/slide22.xml" Id="R29d827136e0849e7" /><Relationship Type="http://schemas.openxmlformats.org/officeDocument/2006/relationships/slide" Target="/ppt/slides/slide23.xml" Id="R9a9c4d3ccf0b4adf" /><Relationship Type="http://schemas.openxmlformats.org/officeDocument/2006/relationships/slide" Target="/ppt/slides/slide24.xml" Id="R14470da61fb54347" /><Relationship Type="http://schemas.openxmlformats.org/officeDocument/2006/relationships/slide" Target="/ppt/slides/slide25.xml" Id="R3ef2a9b38e2b4bec" /><Relationship Type="http://schemas.openxmlformats.org/officeDocument/2006/relationships/slide" Target="/ppt/slides/slide26.xml" Id="Raacc2fb0db3a4502" /><Relationship Type="http://schemas.openxmlformats.org/officeDocument/2006/relationships/slide" Target="/ppt/slides/slide27.xml" Id="R82d19041952a43bf" /><Relationship Type="http://schemas.openxmlformats.org/officeDocument/2006/relationships/slide" Target="/ppt/slides/slide28.xml" Id="Rc40ad81967a74389" /><Relationship Type="http://schemas.openxmlformats.org/officeDocument/2006/relationships/slide" Target="/ppt/slides/slide29.xml" Id="Rf2dfaba2840f4400" /><Relationship Type="http://schemas.openxmlformats.org/officeDocument/2006/relationships/slide" Target="/ppt/slides/slide30.xml" Id="R6651a0bf467841f4" /><Relationship Type="http://schemas.openxmlformats.org/officeDocument/2006/relationships/slide" Target="/ppt/slides/slide31.xml" Id="Rd3755fe08ba7480e" /><Relationship Type="http://schemas.openxmlformats.org/officeDocument/2006/relationships/slide" Target="/ppt/slides/slide32.xml" Id="Re63ad318211f4de9" /><Relationship Type="http://schemas.openxmlformats.org/officeDocument/2006/relationships/slide" Target="/ppt/slides/slide33.xml" Id="R836c8e80607f4945" /><Relationship Type="http://schemas.openxmlformats.org/officeDocument/2006/relationships/slide" Target="/ppt/slides/slide34.xml" Id="R876766adc63c4c85" /><Relationship Type="http://schemas.openxmlformats.org/officeDocument/2006/relationships/slide" Target="/ppt/slides/slide35.xml" Id="R3239cfa6d58847ad" /><Relationship Type="http://schemas.openxmlformats.org/officeDocument/2006/relationships/slide" Target="/ppt/slides/slide36.xml" Id="R8e707167d54842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526e5735e343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02b769d2b64ed2" /><Relationship Type="http://schemas.openxmlformats.org/officeDocument/2006/relationships/notesMaster" Target="/ppt/notesMasters/notesMaster1.xml" Id="R6cfa02e65a86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258ebbead44632" /><Relationship Type="http://schemas.openxmlformats.org/officeDocument/2006/relationships/notesMaster" Target="/ppt/notesMasters/notesMaster1.xml" Id="R4cc2d5ab972d47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068ab66ae14373" /><Relationship Type="http://schemas.openxmlformats.org/officeDocument/2006/relationships/notesMaster" Target="/ppt/notesMasters/notesMaster1.xml" Id="R84474c65c2c846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1ad1705bc8417d" /><Relationship Type="http://schemas.openxmlformats.org/officeDocument/2006/relationships/notesMaster" Target="/ppt/notesMasters/notesMaster1.xml" Id="Re9e54df5160c43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cdecf0c37c4a3a" /><Relationship Type="http://schemas.openxmlformats.org/officeDocument/2006/relationships/notesMaster" Target="/ppt/notesMasters/notesMaster1.xml" Id="R96f86e0bb1f747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0d04eaf9b24cae" /><Relationship Type="http://schemas.openxmlformats.org/officeDocument/2006/relationships/notesMaster" Target="/ppt/notesMasters/notesMaster1.xml" Id="R5f5a25dbe0ca4b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460812e1ec43c0" /><Relationship Type="http://schemas.openxmlformats.org/officeDocument/2006/relationships/notesMaster" Target="/ppt/notesMasters/notesMaster1.xml" Id="R959a583e808b43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66ae3e64224eb7" /><Relationship Type="http://schemas.openxmlformats.org/officeDocument/2006/relationships/notesMaster" Target="/ppt/notesMasters/notesMaster1.xml" Id="R01c6a815a39f4b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d3ae880c4842af" /><Relationship Type="http://schemas.openxmlformats.org/officeDocument/2006/relationships/notesMaster" Target="/ppt/notesMasters/notesMaster1.xml" Id="R9bec03970a7346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38cab13d024976" /><Relationship Type="http://schemas.openxmlformats.org/officeDocument/2006/relationships/notesMaster" Target="/ppt/notesMasters/notesMaster1.xml" Id="R6208359af9c648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3b31f7acd440dc" /><Relationship Type="http://schemas.openxmlformats.org/officeDocument/2006/relationships/notesMaster" Target="/ppt/notesMasters/notesMaster1.xml" Id="R92c70956fe114b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c7e97432de47cc" /><Relationship Type="http://schemas.openxmlformats.org/officeDocument/2006/relationships/notesMaster" Target="/ppt/notesMasters/notesMaster1.xml" Id="Re5f6840baf5240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588940a8de405a" /><Relationship Type="http://schemas.openxmlformats.org/officeDocument/2006/relationships/notesMaster" Target="/ppt/notesMasters/notesMaster1.xml" Id="R6f8b89566f1349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d73072a44e44df" /><Relationship Type="http://schemas.openxmlformats.org/officeDocument/2006/relationships/notesMaster" Target="/ppt/notesMasters/notesMaster1.xml" Id="Rf3428ac23f2945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36d07b67c64d27" /><Relationship Type="http://schemas.openxmlformats.org/officeDocument/2006/relationships/notesMaster" Target="/ppt/notesMasters/notesMaster1.xml" Id="R43c0bf087ea54c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be553d58db4050" /><Relationship Type="http://schemas.openxmlformats.org/officeDocument/2006/relationships/notesMaster" Target="/ppt/notesMasters/notesMaster1.xml" Id="Rd007e89470d248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b3323e88314ea0" /><Relationship Type="http://schemas.openxmlformats.org/officeDocument/2006/relationships/notesMaster" Target="/ppt/notesMasters/notesMaster1.xml" Id="R811b77c7359448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b88f502058476b" /><Relationship Type="http://schemas.openxmlformats.org/officeDocument/2006/relationships/notesMaster" Target="/ppt/notesMasters/notesMaster1.xml" Id="Ra147cab230fb42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ac66d60a51436b" /><Relationship Type="http://schemas.openxmlformats.org/officeDocument/2006/relationships/notesMaster" Target="/ppt/notesMasters/notesMaster1.xml" Id="R3af9af27fac24b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117c7674f14a9f" /><Relationship Type="http://schemas.openxmlformats.org/officeDocument/2006/relationships/notesMaster" Target="/ppt/notesMasters/notesMaster1.xml" Id="R316c23f5b75b43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936d25f9fbc4eca" /><Relationship Type="http://schemas.openxmlformats.org/officeDocument/2006/relationships/notesMaster" Target="/ppt/notesMasters/notesMaster1.xml" Id="R84c70b0d55524e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7e7648fa0b44d6" /><Relationship Type="http://schemas.openxmlformats.org/officeDocument/2006/relationships/notesMaster" Target="/ppt/notesMasters/notesMaster1.xml" Id="Rff22ca99fc964c7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aac1d27a8e49e2" /><Relationship Type="http://schemas.openxmlformats.org/officeDocument/2006/relationships/notesMaster" Target="/ppt/notesMasters/notesMaster1.xml" Id="Rc2eac0dcf0e545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202f0f69b374da7" /><Relationship Type="http://schemas.openxmlformats.org/officeDocument/2006/relationships/notesMaster" Target="/ppt/notesMasters/notesMaster1.xml" Id="R306f7205555843e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50438e9d8834e61" /><Relationship Type="http://schemas.openxmlformats.org/officeDocument/2006/relationships/notesMaster" Target="/ppt/notesMasters/notesMaster1.xml" Id="R2f58edbd7ce94e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18145689e5c490f" /><Relationship Type="http://schemas.openxmlformats.org/officeDocument/2006/relationships/notesMaster" Target="/ppt/notesMasters/notesMaster1.xml" Id="R8d637bfdf58c4f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d652ccf6424433" /><Relationship Type="http://schemas.openxmlformats.org/officeDocument/2006/relationships/notesMaster" Target="/ppt/notesMasters/notesMaster1.xml" Id="R8c9b0a3c05b545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8510c505d884c50" /><Relationship Type="http://schemas.openxmlformats.org/officeDocument/2006/relationships/notesMaster" Target="/ppt/notesMasters/notesMaster1.xml" Id="Rab2abd780c104d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fcc73b014a40be" /><Relationship Type="http://schemas.openxmlformats.org/officeDocument/2006/relationships/notesMaster" Target="/ppt/notesMasters/notesMaster1.xml" Id="Raecb1f3928bd4ba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7861999aadb4b4a" /><Relationship Type="http://schemas.openxmlformats.org/officeDocument/2006/relationships/notesMaster" Target="/ppt/notesMasters/notesMaster1.xml" Id="Rdcf4734a7a49457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1440835d163454b" /><Relationship Type="http://schemas.openxmlformats.org/officeDocument/2006/relationships/notesMaster" Target="/ppt/notesMasters/notesMaster1.xml" Id="R3be9bb44b71548b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b1cc8e903c4ab2" /><Relationship Type="http://schemas.openxmlformats.org/officeDocument/2006/relationships/notesMaster" Target="/ppt/notesMasters/notesMaster1.xml" Id="Rb763ec15d47d4ca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ffa4544c7f94ee0" /><Relationship Type="http://schemas.openxmlformats.org/officeDocument/2006/relationships/notesMaster" Target="/ppt/notesMasters/notesMaster1.xml" Id="Re8a497819a8346a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cb7b3a17e194ac9" /><Relationship Type="http://schemas.openxmlformats.org/officeDocument/2006/relationships/notesMaster" Target="/ppt/notesMasters/notesMaster1.xml" Id="Rf2a842787e0e4a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f70a5385107472e" /><Relationship Type="http://schemas.openxmlformats.org/officeDocument/2006/relationships/notesMaster" Target="/ppt/notesMasters/notesMaster1.xml" Id="Rb2c994ff71dc43e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fe2d134a854616" /><Relationship Type="http://schemas.openxmlformats.org/officeDocument/2006/relationships/notesMaster" Target="/ppt/notesMasters/notesMaster1.xml" Id="Rb384eb448bd84e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Genesis est un observatoire multiagents appliqué à la logistique montréalaise. Cette version présente le code livré jusqu’aux extensions U17, U18 et U19. Elle distingue les calculs de transport, les explications facultatives des modèles et les preuves conservées. Le profil actuel reste un prototype local de décision. La validation en entreprise, le suivi GPS et la reprise opérationnelle complète restent ouverts.</a:t>
            </a:r>
          </a:p>
          <a:p xmlns:a="http://schemas.openxmlformats.org/drawingml/2006/main">
            <a:r>
              <a:t/>
            </a:r>
          </a:p>
          <a:p xmlns:a="http://schemas.openxmlformats.org/drawingml/2006/main">
            <a:r>
              <a:t>Sources du dépôt, état au 11 octobre 2026 (U17–U19) :</a:t>
            </a:r>
          </a:p>
          <a:p xmlns:a="http://schemas.openxmlformats.org/drawingml/2006/main">
            <a:r>
              <a:t>README.md</a:t>
            </a:r>
          </a:p>
          <a:p xmlns:a="http://schemas.openxmlformats.org/drawingml/2006/main">
            <a:r>
              <a:t>docs/IMPLEMENTATION-STATUS.md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répond au cas A11 du document initial. Une demande contient un ramassage, un dépôt, un nombre de colis et une échéance relative au départ. Le répartiteur peut comparer un véhicule partagé, une affectation séparée et une solution hybride. Les coûts présentés dépendent d’hypothèses configurées. Aucun gain commercial, taux de ponctualité réel ou optimum global ne découle de la seule exécution du solveur. Les clients visés restent une hypothèse à valider avec des entreprises de transport.</a:t>
            </a:r>
          </a:p>
          <a:p xmlns:a="http://schemas.openxmlformats.org/drawingml/2006/main">
            <a:r>
              <a:t/>
            </a:r>
          </a:p>
          <a:p xmlns:a="http://schemas.openxmlformats.org/drawingml/2006/main">
            <a:r>
              <a:t>Sources du dépôt, état au 11 octobre 2026 (U17–U19) :</a:t>
            </a:r>
          </a:p>
          <a:p xmlns:a="http://schemas.openxmlformats.org/drawingml/2006/main">
            <a:r>
              <a:t>docs/LOGISTICS-SPEC.md</a:t>
            </a:r>
          </a:p>
          <a:p xmlns:a="http://schemas.openxmlformats.org/drawingml/2006/main">
            <a:r>
              <a:t>docs/DISPATCH.md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services cartographiques apportent géocodage, matrice et géométrie routière. Ils ne fournissent pas le GPS conducteur ni le trafic en temps réel. Les permis de chantiers sont un contexte municipal, sans garantie de fermeture ou vitesse instantanée. U19 configure des capacités en colis et ne qualifie pas un poids lourd. Le profil loopback ne dispose pas de l’authentification et de l’isolation multi-tenant nécessaires à un service client. Le worker opérateur existant attend encore son redémarrage vers le code U19, bloqué lors de la dernière tentative autorisée. Les tests isolés ont exécuté ce nouveau code.</a:t>
            </a:r>
          </a:p>
          <a:p xmlns:a="http://schemas.openxmlformats.org/drawingml/2006/main">
            <a:r>
              <a:t/>
            </a:r>
          </a:p>
          <a:p xmlns:a="http://schemas.openxmlformats.org/drawingml/2006/main">
            <a:r>
              <a:t>Sources du dépôt, état au 11 octobre 2026 (U17–U19) :</a:t>
            </a:r>
          </a:p>
          <a:p xmlns:a="http://schemas.openxmlformats.org/drawingml/2006/main">
            <a:r>
              <a:t>docs/TRANSPORT-CHECKLIST.md</a:t>
            </a:r>
          </a:p>
          <a:p xmlns:a="http://schemas.openxmlformats.org/drawingml/2006/main">
            <a:r>
              <a:t>docs/FLEET-CONFIGURATION.md</a:t>
            </a:r>
          </a:p>
          <a:p xmlns:a="http://schemas.openxmlformats.org/drawingml/2006/main">
            <a:r>
              <a:t>docs/work/U19-configurable-fleet.md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App.tsx conserve les sélections d’exécution et les filtres dans l’URL. Les anciennes vues demeurent accessibles depuis le sélecteur contextuel Agents, ce qui évite de multiplier les onglets principaux. Les coûts globaux sont dans Analytique. Les coûts d’une demande et les tentatives individuelles restent dans Agents. La navigation compacte conserve des libellés. L’export reprend le périmètre visible, avec ses limites et sa fraîcheur. Les données de transport et les métriques logicielles ont des responsabilités distinctes même lorsqu’elles apparaissent sur le même écran.</a:t>
            </a:r>
          </a:p>
          <a:p xmlns:a="http://schemas.openxmlformats.org/drawingml/2006/main">
            <a:r>
              <a:t/>
            </a:r>
          </a:p>
          <a:p xmlns:a="http://schemas.openxmlformats.org/drawingml/2006/main">
            <a:r>
              <a:t>Sources du dépôt, état au 11 octobre 2026 (U17–U19) :</a:t>
            </a:r>
          </a:p>
          <a:p xmlns:a="http://schemas.openxmlformats.org/drawingml/2006/main">
            <a:r>
              <a:t>apps/web/src/App.tsx</a:t>
            </a:r>
          </a:p>
          <a:p xmlns:a="http://schemas.openxmlformats.org/drawingml/2006/main">
            <a:r>
              <a:t>apps/web/src/state.ts</a:t>
            </a:r>
          </a:p>
          <a:p xmlns:a="http://schemas.openxmlformats.org/drawingml/2006/main">
            <a:r>
              <a:t>apps/web/src/Analytics.tsx</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U17 enregistre référence, client, date organisationnelle et contenu de livraison dans un carnet durable. Le CSV est borné et prévisualisé avant validation atomique du lot. La même référence avec le même contenu est idempotente. Un contenu différent est refusé. Les commandes choisies restent liées au plan par une revendication transactionnelle, afin d’éviter deux affectations concurrentes. Un plan admis crée des trajets prêts. La simulation commence par une action explicite. Le rejet avant départ rouvre les commandes selon le contrat. La date de service n’impose pas encore des fenêtres calendaires opérationnelles.</a:t>
            </a:r>
          </a:p>
          <a:p xmlns:a="http://schemas.openxmlformats.org/drawingml/2006/main">
            <a:r>
              <a:t/>
            </a:r>
          </a:p>
          <a:p xmlns:a="http://schemas.openxmlformats.org/drawingml/2006/main">
            <a:r>
              <a:t>Sources du dépôt, état au 11 octobre 2026 (U17–U19) :</a:t>
            </a:r>
          </a:p>
          <a:p xmlns:a="http://schemas.openxmlformats.org/drawingml/2006/main">
            <a:r>
              <a:t>docs/BROKER-ORDERS.md</a:t>
            </a:r>
          </a:p>
          <a:p xmlns:a="http://schemas.openxmlformats.org/drawingml/2006/main">
            <a:r>
              <a:t>services/genesis/orders.py</a:t>
            </a:r>
          </a:p>
          <a:p xmlns:a="http://schemas.openxmlformats.org/drawingml/2006/main">
            <a:r>
              <a:t>services/genesis/broker_api.py</a:t>
            </a:r>
          </a:p>
          <a:p xmlns:a="http://schemas.openxmlformats.org/drawingml/2006/main">
            <a:r>
              <a:t>apps/web/src/OrderBoard.tsx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navigateur appelle l’API sur loopback. L’API persiste les demandes avant que le worker ne les réclame. Le worker exécute le graphe, utilise les outils et écrit événements et artefacts. EventSource reçoit les événements SSE des missions en cours. Le client fusionne les séquences, relit les projections et complète par rafraîchissement périodique. La base application demeure la source de vérité. Langfuse reçoit éventuellement une copie expurgée via une outbox. Les cartes, explications IA et notifications sont des frontières réseau distinctes. Une panne d’export de traces ne doit pas rendre le tableau de bord inutilisable.</a:t>
            </a:r>
          </a:p>
          <a:p xmlns:a="http://schemas.openxmlformats.org/drawingml/2006/main">
            <a:r>
              <a:t/>
            </a:r>
          </a:p>
          <a:p xmlns:a="http://schemas.openxmlformats.org/drawingml/2006/main">
            <a:r>
              <a:t>Sources du dépôt, état au 11 octobre 2026 (U17–U19) :</a:t>
            </a:r>
          </a:p>
          <a:p xmlns:a="http://schemas.openxmlformats.org/drawingml/2006/main">
            <a:r>
              <a:t>services/genesis/api.py</a:t>
            </a:r>
          </a:p>
          <a:p xmlns:a="http://schemas.openxmlformats.org/drawingml/2006/main">
            <a:r>
              <a:t>services/genesis/worker.py</a:t>
            </a:r>
          </a:p>
          <a:p xmlns:a="http://schemas.openxmlformats.org/drawingml/2006/main">
            <a:r>
              <a:t>services/genesis/workflow.py</a:t>
            </a:r>
          </a:p>
          <a:p xmlns:a="http://schemas.openxmlformats.org/drawingml/2006/main">
            <a:r>
              <a:t>services/genesis/db.py</a:t>
            </a:r>
          </a:p>
          <a:p xmlns:a="http://schemas.openxmlformats.org/drawingml/2006/main">
            <a:r>
              <a:t>apps/web/src/App.tsx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bibliothèque est du code réutilisable. Une dépendance décrit une relation entre paquets. Le même paquet peut être une bibliothèque utilisée directement et une dépendance d’une autre bibliothèque. Un framework comme FastAPI donne aussi une structure à l’application. Un SDK comme Anthropic expose des fonctions client pour un service distant. Les services Photon, OSRM et les tuiles cartographiques ne sont pas des bibliothèques Python installées dans Genesis. Les 87 distributions Python sont toutes épinglées dans requirements.txt, y compris leurs dépendances de support. Les manifestes web et QA déclarent 17 dépendances directes. Leurs lockfiles décrivent les paquets transitifs. Une relation de dépendance ne décrit pas nécessairement l’ordre des opérations métier.</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apps/web/package.json</a:t>
            </a:r>
          </a:p>
          <a:p xmlns:a="http://schemas.openxmlformats.org/drawingml/2006/main">
            <a:r>
              <a:t>qa/package.json</a:t>
            </a:r>
          </a:p>
          <a:p xmlns:a="http://schemas.openxmlformats.org/drawingml/2006/main">
            <a:r>
              <a:t>presentations/package-details.json</a:t>
            </a:r>
          </a:p>
          <a:p xmlns:a="http://schemas.openxmlformats.org/drawingml/2006/main">
            <a:r>
              <a:t>services/genesis/dispatch.py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compose les écrans et leurs interactions. TypeScript détecte des incohérences de types, sans remplacer la validation serveur. ECharts dessine les graphiques en SVG. React Flow visualise les transmissions, mais ne pilote pas LangGraph. MapLibre affiche les données géographiques et les positions simulées, sans calculer les routes. Vite fournit le développement et le build. Le plugin React adapte la transformation JSX. Les types React soutiennent la compilation. Inter est servi localement. Prettier est déclaré pour la mise en forme. Les gros bundles de cartes et de graphiques demeurent un sujet de profilage, pas une preuve de charge optimisée.</a:t>
            </a:r>
          </a:p>
          <a:p xmlns:a="http://schemas.openxmlformats.org/drawingml/2006/main">
            <a:r>
              <a:t/>
            </a:r>
          </a:p>
          <a:p xmlns:a="http://schemas.openxmlformats.org/drawingml/2006/main">
            <a:r>
              <a:t>React décrit les composants et leur état. React DOM applique leurs changements aux éléments du navigateur. App.tsx relie le choix de mission aux vues. TypeScript aide le développeur avant l’exécution, mais ne filtre pas à lui seul une requête réseau. ECharts reçoit les agrégats calculés par le produit et les transforme en visuels. React Flow affiche des transmissions déjà enregistrées. Il ne décide ni de l’ordre des agents ni de l’affectation des véhicules. Les séries et tableaux conservent les mêmes unités et valeurs manquantes.</a:t>
            </a:r>
          </a:p>
          <a:p xmlns:a="http://schemas.openxmlformats.org/drawingml/2006/main">
            <a:r>
              <a:t/>
            </a:r>
          </a:p>
          <a:p xmlns:a="http://schemas.openxmlformats.org/drawingml/2006/main">
            <a:r>
              <a:t>Sources du dépôt, état au 11 octobre 2026 (U17–U19) :</a:t>
            </a:r>
          </a:p>
          <a:p xmlns:a="http://schemas.openxmlformats.org/drawingml/2006/main">
            <a:r>
              <a:t>apps/web/package.json</a:t>
            </a:r>
          </a:p>
          <a:p xmlns:a="http://schemas.openxmlformats.org/drawingml/2006/main">
            <a:r>
              <a:t>apps/web/vite.config.ts</a:t>
            </a:r>
          </a:p>
          <a:p xmlns:a="http://schemas.openxmlformats.org/drawingml/2006/main">
            <a:r>
              <a:t>apps/web/src/Chart.tsx</a:t>
            </a:r>
          </a:p>
          <a:p xmlns:a="http://schemas.openxmlformats.org/drawingml/2006/main">
            <a:r>
              <a:t>apps/web/src/Observability.tsx</a:t>
            </a:r>
          </a:p>
          <a:p xmlns:a="http://schemas.openxmlformats.org/drawingml/2006/main">
            <a:r>
              <a:t>apps/web/src/DispatchMap.tsx</a:t>
            </a:r>
          </a:p>
          <a:p xmlns:a="http://schemas.openxmlformats.org/drawingml/2006/main">
            <a:r>
              <a:t>apps/web/src/main.tsx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définit les routes et leur schéma OpenAPI. Pydantic rejette les propriétés supplémentaires, les identifiants invalides et les volumes hors périmètre. Le correctif U16 projette un résultat de géocodage vers ses seuls label et coordonnées, car son identifiant fournisseur ne fait pas partie du contrat Place. HTTPX borne les réponses externes. Le serveur vérifie également l’origine locale exacte et les tailles de corps. La génération OpenAPI reflète le code exécutable, mais tous les types TypeScript ne proviennent pas automatiquement du schéma. L’absence d’authentification limite l’exposition de ce profil au contexte local.</a:t>
            </a:r>
          </a:p>
          <a:p xmlns:a="http://schemas.openxmlformats.org/drawingml/2006/main">
            <a:r>
              <a:t/>
            </a:r>
          </a:p>
          <a:p xmlns:a="http://schemas.openxmlformats.org/drawingml/2006/main">
            <a:r>
              <a:t>ASGI est le contrat qui relie un serveur Python asynchrone à l’application. Uvicorn reçoit la connexion. FastAPI sélectionne la route et utilise Pydantic pour interpréter les données. Les handlers appliquent ensuite les règles métier et appellent le Store. HTTPX agit comme client vers les services cartographiques, dans le sens sortant. Cette séparation permet de tester les routes sans appeler un fournisseur réel et de substituer les réponses routières dans le profil QA.</a:t>
            </a:r>
          </a:p>
          <a:p xmlns:a="http://schemas.openxmlformats.org/drawingml/2006/main">
            <a:r>
              <a:t/>
            </a:r>
          </a:p>
          <a:p xmlns:a="http://schemas.openxmlformats.org/drawingml/2006/main">
            <a:r>
              <a:t>Sources du dépôt, état au 11 octobre 2026 (U17–U19) :</a:t>
            </a:r>
          </a:p>
          <a:p xmlns:a="http://schemas.openxmlformats.org/drawingml/2006/main">
            <a:r>
              <a:t>services/genesis/api.py</a:t>
            </a:r>
          </a:p>
          <a:p xmlns:a="http://schemas.openxmlformats.org/drawingml/2006/main">
            <a:r>
              <a:t>services/genesis/dispatch.py</a:t>
            </a:r>
          </a:p>
          <a:p xmlns:a="http://schemas.openxmlformats.org/drawingml/2006/main">
            <a:r>
              <a:t>services/genesis/models.py</a:t>
            </a:r>
          </a:p>
          <a:p xmlns:a="http://schemas.openxmlformats.org/drawingml/2006/main">
            <a:r>
              <a:t>packages/contracts/openapi.json</a:t>
            </a:r>
          </a:p>
          <a:p xmlns:a="http://schemas.openxmlformats.org/drawingml/2006/main">
            <a:r>
              <a:t>docs/work/U16-route-submission.md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transaction protège les écritures qui doivent rester cohérentes. Le Store coordonne états, revendications, réservations et événements. Les baux du worker ont un propriétaire et une génération pour empêcher un processus ancien de publier comme propriétaire actuel. LangGraph utilise SqliteSaver et une base de checkpoints distincte. Ces mécanismes ne garantissent pas exactement une fois pour un fournisseur externe. Une réponse perdue après facturation peut conserver une réserve et empêcher une nouvelle émission. Le profil PostgreSQL et Psycopg existent, mais aucune preuve locale de leurs transactions, baux ou restauration n’a été établie.</a:t>
            </a:r>
          </a:p>
          <a:p xmlns:a="http://schemas.openxmlformats.org/drawingml/2006/main">
            <a:r>
              <a:t/>
            </a:r>
          </a:p>
          <a:p xmlns:a="http://schemas.openxmlformats.org/drawingml/2006/main">
            <a:r>
              <a:t>SQLAlchemy ne remplace pas le moteur de base. Il construit les opérations et délimite les transactions. SQLite les stocke dans le profil démontré. Le paquet langgraph-checkpoint-sqlite fournit SqliteSaver, appelé par workflow.py pour une autre responsabilité : l’état de la machine de workflow. La cohérence entre ces deux bases et les effets externes demande un protocole applicatif. Psycopg est un pilote PostgreSQL et psycopg-pool gère la réutilisation de connexions lorsqu’un chemin le sélectionne. Leur installation seule ne prouve pas le fonctionnement du profil PostgreSQL.</a:t>
            </a:r>
          </a:p>
          <a:p xmlns:a="http://schemas.openxmlformats.org/drawingml/2006/main">
            <a:r>
              <a:t/>
            </a:r>
          </a:p>
          <a:p xmlns:a="http://schemas.openxmlformats.org/drawingml/2006/main">
            <a:r>
              <a:t>Sources du dépôt, état au 11 octobre 2026 (U17–U19) :</a:t>
            </a:r>
          </a:p>
          <a:p xmlns:a="http://schemas.openxmlformats.org/drawingml/2006/main">
            <a:r>
              <a:t>services/genesis/db.py</a:t>
            </a:r>
          </a:p>
          <a:p xmlns:a="http://schemas.openxmlformats.org/drawingml/2006/main">
            <a:r>
              <a:t>services/genesis/worker.py</a:t>
            </a:r>
          </a:p>
          <a:p xmlns:a="http://schemas.openxmlformats.org/drawingml/2006/main">
            <a:r>
              <a:t>services/genesis/workflow.py</a:t>
            </a:r>
          </a:p>
          <a:p xmlns:a="http://schemas.openxmlformats.org/drawingml/2006/main">
            <a:r>
              <a:t>docs/DATABASE-RECOVERY.md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OrderBoard prépare les données déjà choisies et appelle l’API. Pydantic valide la forme et les bornes, puis orders.py applique référence unique et règles de contenu. SQLAlchemy permet au Store d’enregistrer ou de refuser tout le lot dans une transaction. Sauvegarder une commande ne lance pas automatiquement une tournée. Le répartiteur sélectionne ensuite les commandes, puis le serveur crée une demande persistante que le worker réclame. LangGraph organise alors les rôles, qui utilisent leurs outils déterministes. Une proposition certifiée attend encore une action explicite de départ simulé. Chaque bibliothèque couvre une responsabilité précise, tandis que le code Genesis définit ce parcours métier.</a:t>
            </a:r>
          </a:p>
          <a:p xmlns:a="http://schemas.openxmlformats.org/drawingml/2006/main">
            <a:r>
              <a:t/>
            </a:r>
          </a:p>
          <a:p xmlns:a="http://schemas.openxmlformats.org/drawingml/2006/main">
            <a:r>
              <a:t>Sources du dépôt, état au 11 octobre 2026 (U17–U19) :</a:t>
            </a:r>
          </a:p>
          <a:p xmlns:a="http://schemas.openxmlformats.org/drawingml/2006/main">
            <a:r>
              <a:t>apps/web/src/OrderBoard.tsx</a:t>
            </a:r>
          </a:p>
          <a:p xmlns:a="http://schemas.openxmlformats.org/drawingml/2006/main">
            <a:r>
              <a:t>services/genesis/orders.py</a:t>
            </a:r>
          </a:p>
          <a:p xmlns:a="http://schemas.openxmlformats.org/drawingml/2006/main">
            <a:r>
              <a:t>services/genesis/db.py</a:t>
            </a:r>
          </a:p>
          <a:p xmlns:a="http://schemas.openxmlformats.org/drawingml/2006/main">
            <a:r>
              <a:t>services/genesis/broker_api.py</a:t>
            </a:r>
          </a:p>
          <a:p xmlns:a="http://schemas.openxmlformats.org/drawingml/2006/main">
            <a:r>
              <a:t>services/genesis/broker_runtime.py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workflow courant exécute les cinq rôles séquentiellement. Chaque rôle conserve sa durée, son résultat et les références de preuves transmises. Ces durées sont du travail logiciel réel, y compris lorsque les modèles sont désactivés. Le trafic du benchmark est synthétique. Le courtier utilise une matrice de temps routiers statiques. Le contrôle indépendant est déterministe. Le rôle exception ne peut pas déplacer une cargaison réelle ou remplacer une contrainte par un texte plausible. L’admission transactionnelle reste une étape distincte. Un rôle peut avoir un résultat valide sans consommation de tokens.</a:t>
            </a:r>
          </a:p>
          <a:p xmlns:a="http://schemas.openxmlformats.org/drawingml/2006/main">
            <a:r>
              <a:t/>
            </a:r>
          </a:p>
          <a:p xmlns:a="http://schemas.openxmlformats.org/drawingml/2006/main">
            <a:r>
              <a:t>Sources du dépôt, état au 11 octobre 2026 (U17–U19) :</a:t>
            </a:r>
          </a:p>
          <a:p xmlns:a="http://schemas.openxmlformats.org/drawingml/2006/main">
            <a:r>
              <a:t>services/genesis/workflow.py</a:t>
            </a:r>
          </a:p>
          <a:p xmlns:a="http://schemas.openxmlformats.org/drawingml/2006/main">
            <a:r>
              <a:t>services/genesis/broker_runtime.py</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mode standard de courtage utilise explanation_policy=none. Il n’exige aucune clé de modèle et n’émet aucun appel fournisseur. always prévoit cinq explications dans une mission normale complète. routine omet planification et trafic, soit trois explications sur un historique manquant. Si un contexte historique admissible correspond au plan nouvellement vérifié, routine peut omettre les cinq. Les tentatives réelles, erreurs et reprises peuvent différer de ces nombres de politique. Ces valeurs décrivent le contrat du code, pas une mesure de performance. Les fixtures déterministes et les expériences live restent séparées.</a:t>
            </a:r>
          </a:p>
          <a:p xmlns:a="http://schemas.openxmlformats.org/drawingml/2006/main">
            <a:r>
              <a:t/>
            </a:r>
          </a:p>
          <a:p xmlns:a="http://schemas.openxmlformats.org/drawingml/2006/main">
            <a:r>
              <a:t>Sources du dépôt, état au 11 octobre 2026 (U17–U19) :</a:t>
            </a:r>
          </a:p>
          <a:p xmlns:a="http://schemas.openxmlformats.org/drawingml/2006/main">
            <a:r>
              <a:t>services/genesis/broker_runtime.py</a:t>
            </a:r>
          </a:p>
          <a:p xmlns:a="http://schemas.openxmlformats.org/drawingml/2006/main">
            <a:r>
              <a:t>services/genesis/route_memory.py</a:t>
            </a:r>
          </a:p>
          <a:p xmlns:a="http://schemas.openxmlformats.org/drawingml/2006/main">
            <a:r>
              <a:t>services/genesis/llm.py</a:t>
            </a:r>
          </a:p>
          <a:p xmlns:a="http://schemas.openxmlformats.org/drawingml/2006/main">
            <a:r>
              <a:t>docs/BROKER-ORDERS.md</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seul fournisseur d’exécution live est Anthropic. Les anciens enregistrements OpenAI restent consultables comme historique et ne peuvent pas relancer ce fournisseur. Les IDs exacts des modèles, sorties autorisées et tarifs sont versionnés dans la configuration. La sortie structurée contient un résumé et des références de preuves validées. Une réponse persuasive ne permet pas de modifier capacité, budget, certificat ou réservation. Il n’existe aucun remplacement silencieux de fournisseur. Les prix du jeu actuel expirent le 17 octobre 2026 et doivent être revalidés ensuite. Les familles affichées décrivent la politique configurée, sans nouvelle évaluation des modèles dans cette révision.</a:t>
            </a:r>
          </a:p>
          <a:p xmlns:a="http://schemas.openxmlformats.org/drawingml/2006/main">
            <a:r>
              <a:t/>
            </a:r>
          </a:p>
          <a:p xmlns:a="http://schemas.openxmlformats.org/drawingml/2006/main">
            <a:r>
              <a:t>Sources du dépôt, état au 11 octobre 2026 (U17–U19) :</a:t>
            </a:r>
          </a:p>
          <a:p xmlns:a="http://schemas.openxmlformats.org/drawingml/2006/main">
            <a:r>
              <a:t>docs/MODEL-POLICY.md</a:t>
            </a:r>
          </a:p>
          <a:p xmlns:a="http://schemas.openxmlformats.org/drawingml/2006/main">
            <a:r>
              <a:t>services/genesis/llm.py</a:t>
            </a:r>
          </a:p>
          <a:p xmlns:a="http://schemas.openxmlformats.org/drawingml/2006/main">
            <a:r>
              <a:t>config/anthropic-prices.json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choix d’une adresse doit confirmer un résultat géocodé. Les coordonnées contrôlées alimentent les services routiers, puis la carte. OSRM renvoie distances et temps statiques, sans connaissance native des restrictions d’un poids lourd. Le nombre maximal de nœuds du courtier est trente, soit dix origines et vingt arrêts. OpenFreeMap fournit le style et les tuiles, tandis que MapLibre rend le résultat dans le navigateur. Les fournisseurs publics de démonstration n’offrent pas le SLA nécessaire à une offre payante. Des endpoints détenus ou contractuels devront être validés. L’attribution cartographique reste visible.</a:t>
            </a:r>
          </a:p>
          <a:p xmlns:a="http://schemas.openxmlformats.org/drawingml/2006/main">
            <a:r>
              <a:t/>
            </a:r>
          </a:p>
          <a:p xmlns:a="http://schemas.openxmlformats.org/drawingml/2006/main">
            <a:r>
              <a:t>Sources du dépôt, état au 11 octobre 2026 (U17–U19) :</a:t>
            </a:r>
          </a:p>
          <a:p xmlns:a="http://schemas.openxmlformats.org/drawingml/2006/main">
            <a:r>
              <a:t>services/genesis/dispatch.py</a:t>
            </a:r>
          </a:p>
          <a:p xmlns:a="http://schemas.openxmlformats.org/drawingml/2006/main">
            <a:r>
              <a:t>services/genesis/traffic.py</a:t>
            </a:r>
          </a:p>
          <a:p xmlns:a="http://schemas.openxmlformats.org/drawingml/2006/main">
            <a:r>
              <a:t>apps/web/src/DispatchMap.tsx</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problème de pickup/delivery impose que le ramassage précède le dépôt et que chaque livraison conserve son véhicule. La capacité porte sur la charge de chaque leg, pas sur le volume total d’une journée. Les fenêtres relatives, durées de service et origines entrent dans la comparaison. Les coûts incluent activation, distance et travail selon les hypothèses saisies. La recherche hybride a une limite de trois secondes, suivie d’une seconde par candidat véhicule unique. Avec dix véhicules, cela représente au plus treize secondes configurées de recherche, hors préparation et réseau. La comparaison séparée borne l’énumération à mille affectations. Le résultat est un candidat vérifié, sans garantie d’optimum global.</a:t>
            </a:r>
          </a:p>
          <a:p xmlns:a="http://schemas.openxmlformats.org/drawingml/2006/main">
            <a:r>
              <a:t/>
            </a:r>
          </a:p>
          <a:p xmlns:a="http://schemas.openxmlformats.org/drawingml/2006/main">
            <a:r>
              <a:t>Sources du dépôt, état au 11 octobre 2026 (U17–U19) :</a:t>
            </a:r>
          </a:p>
          <a:p xmlns:a="http://schemas.openxmlformats.org/drawingml/2006/main">
            <a:r>
              <a:t>services/genesis/broker_solver.py</a:t>
            </a:r>
          </a:p>
          <a:p xmlns:a="http://schemas.openxmlformats.org/drawingml/2006/main">
            <a:r>
              <a:t>services/genesis/broker_runtime.py</a:t>
            </a:r>
          </a:p>
          <a:p xmlns:a="http://schemas.openxmlformats.org/drawingml/2006/main">
            <a:r>
              <a:t>docs/FLEET-CONFIGURATION.md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OR-Tools RoutingModel recherche une affectation et une séquence à partir des dimensions et contraintes créées par Genesis. La matrice dirigée distingue le temps de A vers B de celui de B vers A. Les règles de ramassage et de livraison imposent la précédence, les contraintes de véhicule et la capacité pendant le trajet. Le coût assemble des hypothèses configurées plutôt qu’un tarif commercial universel. Le temps de recherche est borné. Le code de contrôle recalcule les charges, temps et couverture sur les entrées figées, puis vérifie les géométries et l’admission. Un candidat valide n’est pas une preuve d’optimum global. NumPy, Pandas, protobuf, Abseil et immutabledict sont des dépendances du paquet OR-Tools. Leur présence ne signifie pas que Genesis entraîne un modèle ou réalise une analyse Pandas.</a:t>
            </a:r>
          </a:p>
          <a:p xmlns:a="http://schemas.openxmlformats.org/drawingml/2006/main">
            <a:r>
              <a:t/>
            </a:r>
          </a:p>
          <a:p xmlns:a="http://schemas.openxmlformats.org/drawingml/2006/main">
            <a:r>
              <a:t>Sources du dépôt, état au 11 octobre 2026 (U17–U19) :</a:t>
            </a:r>
          </a:p>
          <a:p xmlns:a="http://schemas.openxmlformats.org/drawingml/2006/main">
            <a:r>
              <a:t>services/genesis/broker_solver.py</a:t>
            </a:r>
          </a:p>
          <a:p xmlns:a="http://schemas.openxmlformats.org/drawingml/2006/main">
            <a:r>
              <a:t>services/genesis/solver.py</a:t>
            </a:r>
          </a:p>
          <a:p xmlns:a="http://schemas.openxmlformats.org/drawingml/2006/main">
            <a:r>
              <a:t>services/genesis/dispatch.py</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contrôle indépendant ne prend pas la faisabilité du solveur pour acquise. Il recalcule séquence, charge, durées et fenêtres depuis le problème figé. Les empreintes relient problème, solution et certificat. La matérialisation compare ensuite la géométrie réellement reçue à la matrice utilisée. Elle inclut les services et refuse les dépassements. Une transaction contrôle de nouveau les réservations, la configuration et l’état de la mission. L’annulation et la finalisation ne doivent pas laisser une réservation orpheline. Un certificat de suffixe replanifié ne certifie pas rétroactivement une journée entière.</a:t>
            </a:r>
          </a:p>
          <a:p xmlns:a="http://schemas.openxmlformats.org/drawingml/2006/main">
            <a:r>
              <a:t/>
            </a:r>
          </a:p>
          <a:p xmlns:a="http://schemas.openxmlformats.org/drawingml/2006/main">
            <a:r>
              <a:t>Sources du dépôt, état au 11 octobre 2026 (U17–U19) :</a:t>
            </a:r>
          </a:p>
          <a:p xmlns:a="http://schemas.openxmlformats.org/drawingml/2006/main">
            <a:r>
              <a:t>services/genesis/broker_solver.py</a:t>
            </a:r>
          </a:p>
          <a:p xmlns:a="http://schemas.openxmlformats.org/drawingml/2006/main">
            <a:r>
              <a:t>services/genesis/dispatch.py</a:t>
            </a:r>
          </a:p>
          <a:p xmlns:a="http://schemas.openxmlformats.org/drawingml/2006/main">
            <a:r>
              <a:t>services/genesis/solver.py</a:t>
            </a:r>
          </a:p>
          <a:p xmlns:a="http://schemas.openxmlformats.org/drawingml/2006/main">
            <a:r>
              <a:t>docs/reviews/broker-review.md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GENESIS_FLEET_CONFIG désigne un JSON local borné à 16 Kio. Le schéma valide les propriétés, les identifiants uniques et les capacités entières. La configuration est figée au niveau du moteur de base du processus et son empreinte est conservée en base. Un changement demande une flotte sans activité incompatible et un redémarrage coordonné de l’API et du worker. Les anciens processus échouent si la version acceptée change. L’historique des véhicules retirés reste lisible. Le renommage ne permet pas de faire disparaître une cargaison bloquée. U19 a été exercé par les workers isolés. Le worker opérateur antérieur attend son redémarrage autorisé.</a:t>
            </a:r>
          </a:p>
          <a:p xmlns:a="http://schemas.openxmlformats.org/drawingml/2006/main">
            <a:r>
              <a:t/>
            </a:r>
          </a:p>
          <a:p xmlns:a="http://schemas.openxmlformats.org/drawingml/2006/main">
            <a:r>
              <a:t>Sources du dépôt, état au 11 octobre 2026 (U17–U19) :</a:t>
            </a:r>
          </a:p>
          <a:p xmlns:a="http://schemas.openxmlformats.org/drawingml/2006/main">
            <a:r>
              <a:t>services/genesis/fleet_config.py</a:t>
            </a:r>
          </a:p>
          <a:p xmlns:a="http://schemas.openxmlformats.org/drawingml/2006/main">
            <a:r>
              <a:t>docs/FLEET-CONFIGURATION.md</a:t>
            </a:r>
          </a:p>
          <a:p xmlns:a="http://schemas.openxmlformats.org/drawingml/2006/main">
            <a:r>
              <a:t>docs/work/U19-configurable-fleet.md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capture provient du navigateur MCP pendant la vérification U18/U19. La configuration QA comporte cinq véhicules aux capacités différentes. Le véhicule « est » porte une tournée de deux commandes, avec quatre arrêts et un certificat valide. La sélection clavier d’un arrêt met à jour la fiche et le marqueur correspondant. La carte de fond représente Montréal. Les segments de ce test sont des géométries synthétiques explicites et ne constituent pas une validation de routes publiques. Le test a ensuite observé un démarrage explicite puis une simulation terminée. Les horloges de simulation et de calcul logiciel restent séparées. Capture conservée sans données client ou secret.</a:t>
            </a:r>
          </a:p>
          <a:p xmlns:a="http://schemas.openxmlformats.org/drawingml/2006/main">
            <a:r>
              <a:t/>
            </a:r>
          </a:p>
          <a:p xmlns:a="http://schemas.openxmlformats.org/drawingml/2006/main">
            <a:r>
              <a:t>Sources du dépôt, état au 11 octobre 2026 (U17–U19) :</a:t>
            </a:r>
          </a:p>
          <a:p xmlns:a="http://schemas.openxmlformats.org/drawingml/2006/main">
            <a:r>
              <a:t>docs/work/U18-local-readiness.md</a:t>
            </a:r>
          </a:p>
          <a:p xmlns:a="http://schemas.openxmlformats.org/drawingml/2006/main">
            <a:r>
              <a:t>qa/fixtures/fleet-five.json</a:t>
            </a:r>
          </a:p>
          <a:p xmlns:a="http://schemas.openxmlformats.org/drawingml/2006/main">
            <a:r>
              <a:t>apps/web/src/DispatchMap.tsx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mémoire rapproche des tâches selon leurs contraintes et conserve des variantes d’ordres d’arrêts. Le chargement historique ne réserve pas un véhicule. Il reconstruit un contexte, puis le système vérifie les données actuelles. La version et les capacités de flotte font partie de la compatibilité U19. Une répétition d’adresse seule ne garantit pas un réemploi. Les temps moyens et médians viennent de simulations terminées. Les origines et conditions peuvent différer, donc un classement brut ne démontre pas une meilleure route causale. La réduction de tokens provient d’explications omises sur un contexte compatible, pas d’un apprentissage GPS ou d’une prédiction de trafic.</a:t>
            </a:r>
          </a:p>
          <a:p xmlns:a="http://schemas.openxmlformats.org/drawingml/2006/main">
            <a:r>
              <a:t/>
            </a:r>
          </a:p>
          <a:p xmlns:a="http://schemas.openxmlformats.org/drawingml/2006/main">
            <a:r>
              <a:t>Sources du dépôt, état au 11 octobre 2026 (U17–U19) :</a:t>
            </a:r>
          </a:p>
          <a:p xmlns:a="http://schemas.openxmlformats.org/drawingml/2006/main">
            <a:r>
              <a:t>services/genesis/route_memory.py</a:t>
            </a:r>
          </a:p>
          <a:p xmlns:a="http://schemas.openxmlformats.org/drawingml/2006/main">
            <a:r>
              <a:t>apps/web/src/RouteLibrary.tsx</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graphe interactif utilise React Flow. ECharts rend chronologie, Sankey, comparaison, heatmap et répartitions. Le Sankey compte des transmissions, sans conservation de tokens. Les comparaisons exigent des cohortes et unités compatibles. La heatmap présente des moyennes avec leurs effectifs. Une donnée manquante n’est pas zéro. L’export CSV reprend filtres, horodatages, couverture et unités. Il agrège trois réponses API séparées, sans instantané transactionnel commun. Les inventaires bornés aux deux cents dernières lignes ne sont pas des comptes exhaustifs. Les tableaux textuels complètent les graphiques. Le descriptif accessible automatique de la chronologie a encore des placeholders NaN à corriger.</a:t>
            </a:r>
          </a:p>
          <a:p xmlns:a="http://schemas.openxmlformats.org/drawingml/2006/main">
            <a:r>
              <a:t/>
            </a:r>
          </a:p>
          <a:p xmlns:a="http://schemas.openxmlformats.org/drawingml/2006/main">
            <a:r>
              <a:t>Sources du dépôt, état au 11 octobre 2026 (U17–U19) :</a:t>
            </a:r>
          </a:p>
          <a:p xmlns:a="http://schemas.openxmlformats.org/drawingml/2006/main">
            <a:r>
              <a:t>apps/web/src/Observability.tsx</a:t>
            </a:r>
          </a:p>
          <a:p xmlns:a="http://schemas.openxmlformats.org/drawingml/2006/main">
            <a:r>
              <a:t>apps/web/src/Analytics.tsx</a:t>
            </a:r>
          </a:p>
          <a:p xmlns:a="http://schemas.openxmlformats.org/drawingml/2006/main">
            <a:r>
              <a:t>apps/web/src/analyticsExport.ts</a:t>
            </a:r>
          </a:p>
          <a:p xmlns:a="http://schemas.openxmlformats.org/drawingml/2006/main">
            <a:r>
              <a:t>docs/DATA-CONTRACT.md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tentatives fournisseur sont la source de vérité des tokens et des charges. Une invocation de rôle peut inclure plusieurs tentatives ou aucune. Les agrégats distinguent couverture connue et valeurs manquantes. Le ledger financier conserve les charges connues et les réserves incertaines, y compris après une erreur de sortie. Les chiffres de coût dépendent des tarifs versionnés et ne constituent pas une facture. Decimal protège les sommes. Langfuse reçoit les données expurgées de l’outbox lorsqu’il est configuré. L’export cloud reste non validé ici. Les paquets OpenTelemetry et LangSmith de l’écosystème ne prouvent pas qu’une télémétrie de production est activée.</a:t>
            </a:r>
          </a:p>
          <a:p xmlns:a="http://schemas.openxmlformats.org/drawingml/2006/main">
            <a:r>
              <a:t/>
            </a:r>
          </a:p>
          <a:p xmlns:a="http://schemas.openxmlformats.org/drawingml/2006/main">
            <a:r>
              <a:t>Sources du dépôt, état au 11 octobre 2026 (U17–U19) :</a:t>
            </a:r>
          </a:p>
          <a:p xmlns:a="http://schemas.openxmlformats.org/drawingml/2006/main">
            <a:r>
              <a:t>services/genesis/telemetry.py</a:t>
            </a:r>
          </a:p>
          <a:p xmlns:a="http://schemas.openxmlformats.org/drawingml/2006/main">
            <a:r>
              <a:t>services/genesis/db.py</a:t>
            </a:r>
          </a:p>
          <a:p xmlns:a="http://schemas.openxmlformats.org/drawingml/2006/main">
            <a:r>
              <a:t>services/genesis/worker.py</a:t>
            </a:r>
          </a:p>
          <a:p xmlns:a="http://schemas.openxmlformats.org/drawingml/2006/main">
            <a:r>
              <a:t>apps/web/src/Metering.tsx</a:t>
            </a:r>
          </a:p>
          <a:p xmlns:a="http://schemas.openxmlformats.org/drawingml/2006/main">
            <a:r>
              <a:t>apps/web/src/OverallCost.tsx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budget du projet est partagé par toutes les demandes. Le facteur conservateur CAD/USD est une politique de plafonnement, sans prétention de taux de change ou de facture. Le dépassement connu gèle de nouveaux appels. Le déclencheur de budget crée une alerte durable unique. Le worker SMTP travaille hors transaction, avec TLS vérifié. Une remise ambiguë reste incertaine et ne déclenche pas un renvoi automatique. Gmail a accepté la connexion et l’authentification lors du contrôle précédent, sans message externe de test. La réception en boîte demeure non vérifiée.</a:t>
            </a:r>
          </a:p>
          <a:p xmlns:a="http://schemas.openxmlformats.org/drawingml/2006/main">
            <a:r>
              <a:t/>
            </a:r>
          </a:p>
          <a:p xmlns:a="http://schemas.openxmlformats.org/drawingml/2006/main">
            <a:r>
              <a:t>Sources du dépôt, état au 11 octobre 2026 (U17–U19) :</a:t>
            </a:r>
          </a:p>
          <a:p xmlns:a="http://schemas.openxmlformats.org/drawingml/2006/main">
            <a:r>
              <a:t>docs/BUDGET.md</a:t>
            </a:r>
          </a:p>
          <a:p xmlns:a="http://schemas.openxmlformats.org/drawingml/2006/main">
            <a:r>
              <a:t>docs/BUDGET-EMAIL.md</a:t>
            </a:r>
          </a:p>
          <a:p xmlns:a="http://schemas.openxmlformats.org/drawingml/2006/main">
            <a:r>
              <a:t>services/genesis/notifications.py</a:t>
            </a:r>
          </a:p>
          <a:p xmlns:a="http://schemas.openxmlformats.org/drawingml/2006/main">
            <a:r>
              <a:t>services/genesis/db.py</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manifeste historique couvre S01 à S05, baseline_only et solver_with_one_replan, avec graines 17 et 29. Le produit de 5 × 2 × 2 donne 20 exécutions acceptées, totalisant 100 appels. Une analyse peut réussir en expliquant une mission infaisable. Cela ne signifie pas que toutes les tournées ont servi tous les clients. Les politiques logistiques diffèrent des familles de modèles. Le benchmark emploie des données et du trafic synthétiques. Le courtage opérateur emploie des demandes d’adresses, une matrice routière et une admission de flotte. Leurs résultats ne sont pas interchangeables. Les vérifications déterministes récentes ne sont pas de nouvelles expériences live.</a:t>
            </a:r>
          </a:p>
          <a:p xmlns:a="http://schemas.openxmlformats.org/drawingml/2006/main">
            <a:r>
              <a:t/>
            </a:r>
          </a:p>
          <a:p xmlns:a="http://schemas.openxmlformats.org/drawingml/2006/main">
            <a:r>
              <a:t>Sources du dépôt, état au 11 octobre 2026 (U17–U19) :</a:t>
            </a:r>
          </a:p>
          <a:p xmlns:a="http://schemas.openxmlformats.org/drawingml/2006/main">
            <a:r>
              <a:t>experiments/live-manifest.json</a:t>
            </a:r>
          </a:p>
          <a:p xmlns:a="http://schemas.openxmlformats.org/drawingml/2006/main">
            <a:r>
              <a:t>docs/REPORT.md</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Vite utilise la chaîne de compilation du frontend. Le plugin React prend en charge sa transformation et le rafraîchissement pendant le développement. La commande de build exécute TypeScript avant Vite. Vitest exécute les tests web, tandis que pytest exécute les fixtures et assertions backend. Ruff détecte des erreurs et incohérences statiques, sans démontrer l’absence de défaut fonctionnel. Playwright décrit des parcours de navigateur. @axe-core/playwright branche axe sur ces pages pour une partie des règles d’accessibilité. Les contrôles MCP documentés et les suites Playwright sont des preuves distinctes. Les quatre tests du harness isolé vérifient aussi les frontières du profil QA. Les notes de référence distinguent outils de développement et bibliothèques exécutées par le produit.</a:t>
            </a:r>
          </a:p>
          <a:p xmlns:a="http://schemas.openxmlformats.org/drawingml/2006/main">
            <a:r>
              <a:t/>
            </a:r>
          </a:p>
          <a:p xmlns:a="http://schemas.openxmlformats.org/drawingml/2006/main">
            <a:r>
              <a:t>Sources du dépôt, état au 11 octobre 2026 (U17–U19) :</a:t>
            </a:r>
          </a:p>
          <a:p xmlns:a="http://schemas.openxmlformats.org/drawingml/2006/main">
            <a:r>
              <a:t>apps/web/package.json</a:t>
            </a:r>
          </a:p>
          <a:p xmlns:a="http://schemas.openxmlformats.org/drawingml/2006/main">
            <a:r>
              <a:t>apps/web/vite.config.ts</a:t>
            </a:r>
          </a:p>
          <a:p xmlns:a="http://schemas.openxmlformats.org/drawingml/2006/main">
            <a:r>
              <a:t>apps/web/tsconfig.json</a:t>
            </a:r>
          </a:p>
          <a:p xmlns:a="http://schemas.openxmlformats.org/drawingml/2006/main">
            <a:r>
              <a:t>qa/package.json</a:t>
            </a:r>
          </a:p>
          <a:p xmlns:a="http://schemas.openxmlformats.org/drawingml/2006/main">
            <a:r>
              <a:t>docs/QA.md</a:t>
            </a:r>
          </a:p>
          <a:p xmlns:a="http://schemas.openxmlformats.org/drawingml/2006/main">
            <a:r>
              <a:t>scripts/check.ps1</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tests Python ont couvert contraintes, transactions, budget, mémoire, configurations et recovery sur fixtures. Les 77 tests frontend ont couvert logique et rendu ciblés. Quatre tests du harness isolé vérifient les deux profils de flotte et les frontières de processus. Le navigateur MCP a observé un lot CSV validé, enregistré sans doublon, un plan certifié, un départ explicite et une simulation terminée. Les largeurs 320 à 1440 px ont fait l’objet de mesures DOM sans débordement de page. La suite Playwright complète n’a pas été exécutée dans cette phase. Le contrôle n’équivaut pas à une certification WCAG. Les avertissements de bundle et dépréciations SWIG restent documentés.</a:t>
            </a:r>
          </a:p>
          <a:p xmlns:a="http://schemas.openxmlformats.org/drawingml/2006/main">
            <a:r>
              <a:t/>
            </a:r>
          </a:p>
          <a:p xmlns:a="http://schemas.openxmlformats.org/drawingml/2006/main">
            <a:r>
              <a:t>Sources du dépôt, état au 11 octobre 2026 (U17–U19) :</a:t>
            </a:r>
          </a:p>
          <a:p xmlns:a="http://schemas.openxmlformats.org/drawingml/2006/main">
            <a:r>
              <a:t>docs/reviews/local-readiness-review.md</a:t>
            </a:r>
          </a:p>
          <a:p xmlns:a="http://schemas.openxmlformats.org/drawingml/2006/main">
            <a:r>
              <a:t>docs/work/U18-local-readiness.md</a:t>
            </a:r>
          </a:p>
          <a:p xmlns:a="http://schemas.openxmlformats.org/drawingml/2006/main">
            <a:r>
              <a:t>docs/QA.md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module backup utilise l’API de copie en ligne SQLite et prend en compte les transactions WAL validées. Il vérifie intégrité, clés et forme du schéma. Les tables de dispatch optionnelles d’une base ancienne sont autorisées si absentes et contrôlées exactement si présentes. Le manifeste associe format, taille et SHA256. La restauration refuse toute destination existante. Les tests préservent notamment commandes, plans, trajets, événements et réserves financières. La base de checkpoints et les fichiers privés ne font pas partie du bundle. Restaurer la base seule puis lancer un worker pourrait rejouer un effet externe. Aucune reprise de production n’est validée par ce seul outil.</a:t>
            </a:r>
          </a:p>
          <a:p xmlns:a="http://schemas.openxmlformats.org/drawingml/2006/main">
            <a:r>
              <a:t/>
            </a:r>
          </a:p>
          <a:p xmlns:a="http://schemas.openxmlformats.org/drawingml/2006/main">
            <a:r>
              <a:t>Sources du dépôt, état au 11 octobre 2026 (U17–U19) :</a:t>
            </a:r>
          </a:p>
          <a:p xmlns:a="http://schemas.openxmlformats.org/drawingml/2006/main">
            <a:r>
              <a:t>services/genesis/backup.py</a:t>
            </a:r>
          </a:p>
          <a:p xmlns:a="http://schemas.openxmlformats.org/drawingml/2006/main">
            <a:r>
              <a:t>docs/DATABASE-RECOVERY.md</a:t>
            </a:r>
          </a:p>
          <a:p xmlns:a="http://schemas.openxmlformats.org/drawingml/2006/main">
            <a:r>
              <a:t>tests/test_backup.py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priorité est de fermer la boucle opérationnelle avant d’augmenter le nombre d’appels IA. L’identité et l’isolation doivent couvrir chaque lecture, mutation, événement et export. Les étapes conducteur demandent horodatages, fraîcheur GPS, mode hors ligne et idempotence. Retour, transfert et déchargement exigent des événements physiques audités. Les contraintes poids, dimensions, température, horaires et chargement ne sont pas représentées par une capacité de colis seule. Un pilote doit comparer une même couverture de commandes, les exceptions, la latence, le coût logiciel et les corrections du répartiteur. Les revenus et économies sont des hypothèses tant que ce pilote n’existe pas.</a:t>
            </a:r>
          </a:p>
          <a:p xmlns:a="http://schemas.openxmlformats.org/drawingml/2006/main">
            <a:r>
              <a:t/>
            </a:r>
          </a:p>
          <a:p xmlns:a="http://schemas.openxmlformats.org/drawingml/2006/main">
            <a:r>
              <a:t>Sources du dépôt, état au 11 octobre 2026 (U17–U19) :</a:t>
            </a:r>
          </a:p>
          <a:p xmlns:a="http://schemas.openxmlformats.org/drawingml/2006/main">
            <a:r>
              <a:t>docs/TRANSPORT-CHECKLIST.md</a:t>
            </a:r>
          </a:p>
          <a:p xmlns:a="http://schemas.openxmlformats.org/drawingml/2006/main">
            <a:r>
              <a:t>docs/DISCOVERY.md</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parcours de démonstration utilise le profil QA isolé pour préserver le carnet, les véhicules et le budget opérateur. Présenter explicitement les routes synthétiques de la fixture et l’absence de GPS. Montrer une proposition prête avant de démarrer. Les explications standard sont désactivées et les cinq rôles restent inspectables. Une version historique compatible peut ensuite illustrer la mémoire, sans promettre un réemploi à chaque demande. Les six pages de référence suivantes regroupent les dépendances. Leurs notes conservent chaque paquet, sa version, sa fonction et sa classification. Le dépôt contient également les lockfiles npm transitifs et la présentation longue originale.</a:t>
            </a:r>
          </a:p>
          <a:p xmlns:a="http://schemas.openxmlformats.org/drawingml/2006/main">
            <a:r>
              <a:t/>
            </a:r>
          </a:p>
          <a:p xmlns:a="http://schemas.openxmlformats.org/drawingml/2006/main">
            <a:r>
              <a:t>Sources du dépôt, état au 11 octobre 2026 (U17–U19) :</a:t>
            </a:r>
          </a:p>
          <a:p xmlns:a="http://schemas.openxmlformats.org/drawingml/2006/main">
            <a:r>
              <a:t>docs/QA.md</a:t>
            </a:r>
          </a:p>
          <a:p xmlns:a="http://schemas.openxmlformats.org/drawingml/2006/main">
            <a:r>
              <a:t>docs/BROKER-ORDERS.md</a:t>
            </a:r>
          </a:p>
          <a:p xmlns:a="http://schemas.openxmlformats.org/drawingml/2006/main">
            <a:r>
              <a:t>docs/ROUTE-MEMORY.md</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Usage direct.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anthropic==1.13.0</a:t>
            </a:r>
          </a:p>
          <a:p xmlns:a="http://schemas.openxmlformats.org/drawingml/2006/main">
            <a:r>
              <a:t>Classement de référence : Usage direct.</a:t>
            </a:r>
          </a:p>
          <a:p xmlns:a="http://schemas.openxmlformats.org/drawingml/2006/main">
            <a:r>
              <a:t>Fonction : Fournit le client officiel de l’API Anthropic, ses types de réponse et ses erreurs.</a:t>
            </a:r>
          </a:p>
          <a:p xmlns:a="http://schemas.openxmlformats.org/drawingml/2006/main">
            <a:r>
              <a:t>Utilisation Genesis : ModelAdapter l’utilise pour les explications payantes; les autres fournisseurs ne sont pas activés et les reprises SDK sont désactivées.</a:t>
            </a:r>
          </a:p>
          <a:p xmlns:a="http://schemas.openxmlformats.org/drawingml/2006/main">
            <a:r>
              <a:t>Pourquoi présent : Version épinglée dans requirements.txt; aucun parent d’exécution dans les 87 distributions de cet inventaire.</a:t>
            </a:r>
          </a:p>
          <a:p xmlns:a="http://schemas.openxmlformats.org/drawingml/2006/main">
            <a:r>
              <a:t>Exemple : messages.create renvoie le texte, l’usage et l’identifiant de requête d’une tentative enregistrée par Genesis.</a:t>
            </a:r>
          </a:p>
          <a:p xmlns:a="http://schemas.openxmlformats.org/drawingml/2006/main">
            <a:r>
              <a:t>Sources :</a:t>
            </a:r>
          </a:p>
          <a:p xmlns:a="http://schemas.openxmlformats.org/drawingml/2006/main">
            <a:r>
              <a:t>services/genesis/llm.py</a:t>
            </a:r>
          </a:p>
          <a:p xmlns:a="http://schemas.openxmlformats.org/drawingml/2006/main">
            <a:r>
              <a:t>.venv/Lib/site-packages/anthropic-1.13.0.dist-info/METADATA</a:t>
            </a:r>
          </a:p>
          <a:p xmlns:a="http://schemas.openxmlformats.org/drawingml/2006/main">
            <a:r>
              <a:t>requirements.txt</a:t>
            </a:r>
          </a:p>
          <a:p xmlns:a="http://schemas.openxmlformats.org/drawingml/2006/main">
            <a:r>
              <a:t>https://github.com/anthropics/anthropic-sdk-python</a:t>
            </a:r>
          </a:p>
          <a:p xmlns:a="http://schemas.openxmlformats.org/drawingml/2006/main">
            <a:r>
              <a:t/>
            </a:r>
          </a:p>
          <a:p xmlns:a="http://schemas.openxmlformats.org/drawingml/2006/main">
            <a:r>
              <a:t>fastapi==0.143.0</a:t>
            </a:r>
          </a:p>
          <a:p xmlns:a="http://schemas.openxmlformats.org/drawingml/2006/main">
            <a:r>
              <a:t>Classement de référence : Usage direct.</a:t>
            </a:r>
          </a:p>
          <a:p xmlns:a="http://schemas.openxmlformats.org/drawingml/2006/main">
            <a:r>
              <a:t>Fonction : Déclare des routes HTTP typées et produit validation, réponses et documentation OpenAPI.</a:t>
            </a:r>
          </a:p>
          <a:p xmlns:a="http://schemas.openxmlformats.org/drawingml/2006/main">
            <a:r>
              <a:t>Utilisation Genesis : Expose les missions, commandes, plans, coûts et événements de l’API locale.</a:t>
            </a:r>
          </a:p>
          <a:p xmlns:a="http://schemas.openxmlformats.org/drawingml/2006/main">
            <a:r>
              <a:t>Pourquoi présent : Version épinglée dans requirements.txt; aucun parent d’exécution dans les 87 distributions de cet inventaire.</a:t>
            </a:r>
          </a:p>
          <a:p xmlns:a="http://schemas.openxmlformats.org/drawingml/2006/main">
            <a:r>
              <a:t>Exemple : Une commande mal formée est refusée avant sa réservation ou son insertion en base.</a:t>
            </a:r>
          </a:p>
          <a:p xmlns:a="http://schemas.openxmlformats.org/drawingml/2006/main">
            <a:r>
              <a:t>Sources :</a:t>
            </a:r>
          </a:p>
          <a:p xmlns:a="http://schemas.openxmlformats.org/drawingml/2006/main">
            <a:r>
              <a:t>services/genesis/api.py</a:t>
            </a:r>
          </a:p>
          <a:p xmlns:a="http://schemas.openxmlformats.org/drawingml/2006/main">
            <a:r>
              <a:t>.venv/Lib/site-packages/fastapi-0.143.0.dist-info/METADATA</a:t>
            </a:r>
          </a:p>
          <a:p xmlns:a="http://schemas.openxmlformats.org/drawingml/2006/main">
            <a:r>
              <a:t>requirements.txt</a:t>
            </a:r>
          </a:p>
          <a:p xmlns:a="http://schemas.openxmlformats.org/drawingml/2006/main">
            <a:r>
              <a:t>https://github.com/fastapi/fastapi</a:t>
            </a:r>
          </a:p>
          <a:p xmlns:a="http://schemas.openxmlformats.org/drawingml/2006/main">
            <a:r>
              <a:t/>
            </a:r>
          </a:p>
          <a:p xmlns:a="http://schemas.openxmlformats.org/drawingml/2006/main">
            <a:r>
              <a:t>httpx==0.28.1</a:t>
            </a:r>
          </a:p>
          <a:p xmlns:a="http://schemas.openxmlformats.org/drawingml/2006/main">
            <a:r>
              <a:t>Classement de référence : Usage direct.</a:t>
            </a:r>
          </a:p>
          <a:p xmlns:a="http://schemas.openxmlformats.org/drawingml/2006/main">
            <a:r>
              <a:t>Fonction : Fournit des clients HTTP synchrones/asynchrones, délais et gestion d’erreurs.</a:t>
            </a:r>
          </a:p>
          <a:p xmlns:a="http://schemas.openxmlformats.org/drawingml/2006/main">
            <a:r>
              <a:t>Utilisation Genesis : Genesis l’appelle pour Photon, OSRM et les permis de travaux municipaux; les tests l’emploient aussi.</a:t>
            </a:r>
          </a:p>
          <a:p xmlns:a="http://schemas.openxmlformats.org/drawingml/2006/main">
            <a:r>
              <a:t>Pourquoi présent : Version épinglée dans requirements.txt; requis immédiatement par langchain-core, langfuse, langgraph-sdk.</a:t>
            </a:r>
          </a:p>
          <a:p xmlns:a="http://schemas.openxmlformats.org/drawingml/2006/main">
            <a:r>
              <a:t>Exemple : Une matrice routière est demandée avec un délai borné et sa réponse est contrôlée avant utilisation.</a:t>
            </a:r>
          </a:p>
          <a:p xmlns:a="http://schemas.openxmlformats.org/drawingml/2006/main">
            <a:r>
              <a:t>Sources :</a:t>
            </a:r>
          </a:p>
          <a:p xmlns:a="http://schemas.openxmlformats.org/drawingml/2006/main">
            <a:r>
              <a:t>services/genesis/dispatch.py</a:t>
            </a:r>
          </a:p>
          <a:p xmlns:a="http://schemas.openxmlformats.org/drawingml/2006/main">
            <a:r>
              <a:t>.venv/Lib/site-packages/httpx-0.28.1.dist-info/METADATA</a:t>
            </a:r>
          </a:p>
          <a:p xmlns:a="http://schemas.openxmlformats.org/drawingml/2006/main">
            <a:r>
              <a:t>requirements.txt</a:t>
            </a:r>
          </a:p>
          <a:p xmlns:a="http://schemas.openxmlformats.org/drawingml/2006/main">
            <a:r>
              <a:t>https://www.python-httpx.org</a:t>
            </a:r>
          </a:p>
          <a:p xmlns:a="http://schemas.openxmlformats.org/drawingml/2006/main">
            <a:r>
              <a:t/>
            </a:r>
          </a:p>
          <a:p xmlns:a="http://schemas.openxmlformats.org/drawingml/2006/main">
            <a:r>
              <a:t>langgraph==1.2.14</a:t>
            </a:r>
          </a:p>
          <a:p xmlns:a="http://schemas.openxmlformats.org/drawingml/2006/main">
            <a:r>
              <a:t>Classement de référence : Usage direct.</a:t>
            </a:r>
          </a:p>
          <a:p xmlns:a="http://schemas.openxmlformats.org/drawingml/2006/main">
            <a:r>
              <a:t>Fonction : Construit et exécute des graphes d’état avec nœuds, transitions et checkpoints.</a:t>
            </a:r>
          </a:p>
          <a:p xmlns:a="http://schemas.openxmlformats.org/drawingml/2006/main">
            <a:r>
              <a:t>Utilisation Genesis : Orchestre les cinq rôles du workflow à travers un StateGraph compilé avec persistance SQLite.</a:t>
            </a:r>
          </a:p>
          <a:p xmlns:a="http://schemas.openxmlformats.org/drawingml/2006/main">
            <a:r>
              <a:t>Pourquoi présent : Version épinglée dans requirements.txt; aucun parent d’exécution dans les 87 distributions de cet inventaire.</a:t>
            </a:r>
          </a:p>
          <a:p xmlns:a="http://schemas.openxmlformats.org/drawingml/2006/main">
            <a:r>
              <a:t>Exemple : Le nœud de monitoring reçoit les résultats de l’optimisation avant le nœud d’exception.</a:t>
            </a:r>
          </a:p>
          <a:p xmlns:a="http://schemas.openxmlformats.org/drawingml/2006/main">
            <a:r>
              <a:t>Sources :</a:t>
            </a:r>
          </a:p>
          <a:p xmlns:a="http://schemas.openxmlformats.org/drawingml/2006/main">
            <a:r>
              <a:t>services/genesis/workflow.py</a:t>
            </a:r>
          </a:p>
          <a:p xmlns:a="http://schemas.openxmlformats.org/drawingml/2006/main">
            <a:r>
              <a:t>.venv/Lib/site-packages/langgraph-1.2.14.dist-info/METADATA</a:t>
            </a:r>
          </a:p>
          <a:p xmlns:a="http://schemas.openxmlformats.org/drawingml/2006/main">
            <a:r>
              <a:t>requirements.txt</a:t>
            </a:r>
          </a:p>
          <a:p xmlns:a="http://schemas.openxmlformats.org/drawingml/2006/main">
            <a:r>
              <a:t>https://docs.langchain.com/oss/python/langgraph/overview</a:t>
            </a:r>
          </a:p>
          <a:p xmlns:a="http://schemas.openxmlformats.org/drawingml/2006/main">
            <a:r>
              <a:t/>
            </a:r>
          </a:p>
          <a:p xmlns:a="http://schemas.openxmlformats.org/drawingml/2006/main">
            <a:r>
              <a:t>langgraph-checkpoint-sqlite==3.1.1</a:t>
            </a:r>
          </a:p>
          <a:p xmlns:a="http://schemas.openxmlformats.org/drawingml/2006/main">
            <a:r>
              <a:t>Classement de référence : Usage direct.</a:t>
            </a:r>
          </a:p>
          <a:p xmlns:a="http://schemas.openxmlformats.org/drawingml/2006/main">
            <a:r>
              <a:t>Fonction : Implémente les savers et composants de stockage SQLite pour LangGraph.</a:t>
            </a:r>
          </a:p>
          <a:p xmlns:a="http://schemas.openxmlformats.org/drawingml/2006/main">
            <a:r>
              <a:t>Utilisation Genesis : Genesis utilise SqliteSaver pour conserver les états du graphe dans une base de checkpoints distincte.</a:t>
            </a:r>
          </a:p>
          <a:p xmlns:a="http://schemas.openxmlformats.org/drawingml/2006/main">
            <a:r>
              <a:t>Pourquoi présent : Version épinglée dans requirements.txt; aucun parent d’exécution dans les 87 distributions de cet inventaire.</a:t>
            </a:r>
          </a:p>
          <a:p xmlns:a="http://schemas.openxmlformats.org/drawingml/2006/main">
            <a:r>
              <a:t>Exemple : Une étape enregistrée du workflow peut être relue sans confondre cette base avec la sauvegarde de la base applicative.</a:t>
            </a:r>
          </a:p>
          <a:p xmlns:a="http://schemas.openxmlformats.org/drawingml/2006/main">
            <a:r>
              <a:t>Sources :</a:t>
            </a:r>
          </a:p>
          <a:p xmlns:a="http://schemas.openxmlformats.org/drawingml/2006/main">
            <a:r>
              <a:t>services/genesis/workflow.py</a:t>
            </a:r>
          </a:p>
          <a:p xmlns:a="http://schemas.openxmlformats.org/drawingml/2006/main">
            <a:r>
              <a:t>.venv/Lib/site-packages/langgraph_checkpoint_sqlite-3.1.1.dist-info/METADATA</a:t>
            </a:r>
          </a:p>
          <a:p xmlns:a="http://schemas.openxmlformats.org/drawingml/2006/main">
            <a:r>
              <a:t>requirements.txt</a:t>
            </a:r>
          </a:p>
          <a:p xmlns:a="http://schemas.openxmlformats.org/drawingml/2006/main">
            <a:r>
              <a:t>https://github.com/langchain-ai/langgraph/tree/main/libs/checkpoint-sqlite</a:t>
            </a:r>
          </a:p>
          <a:p xmlns:a="http://schemas.openxmlformats.org/drawingml/2006/main">
            <a:r>
              <a:t/>
            </a:r>
          </a:p>
          <a:p xmlns:a="http://schemas.openxmlformats.org/drawingml/2006/main">
            <a:r>
              <a:t>ortools==9.15.6755</a:t>
            </a:r>
          </a:p>
          <a:p xmlns:a="http://schemas.openxmlformats.org/drawingml/2006/main">
            <a:r>
              <a:t>Classement de référence : Usage direct.</a:t>
            </a:r>
          </a:p>
          <a:p xmlns:a="http://schemas.openxmlformats.org/drawingml/2006/main">
            <a:r>
              <a:t>Fonction : Fournit des solveurs de contraintes, d’optimisation et de tournées de véhicules.</a:t>
            </a:r>
          </a:p>
          <a:p xmlns:a="http://schemas.openxmlformats.org/drawingml/2006/main">
            <a:r>
              <a:t>Utilisation Genesis : Genesis utilise RoutingModel avec capacités, fenêtres et durée de recherche bornée; un validateur indépendant décide de l’admission.</a:t>
            </a:r>
          </a:p>
          <a:p xmlns:a="http://schemas.openxmlformats.org/drawingml/2006/main">
            <a:r>
              <a:t>Pourquoi présent : Version épinglée dans requirements.txt; aucun parent d’exécution dans les 87 distributions de cet inventaire.</a:t>
            </a:r>
          </a:p>
          <a:p xmlns:a="http://schemas.openxmlformats.org/drawingml/2006/main">
            <a:r>
              <a:t>Exemple : Le solveur compare l’affectation partagée, séparée ou hybride des enlèvements et livraisons.</a:t>
            </a:r>
          </a:p>
          <a:p xmlns:a="http://schemas.openxmlformats.org/drawingml/2006/main">
            <a:r>
              <a:t>Sources :</a:t>
            </a:r>
          </a:p>
          <a:p xmlns:a="http://schemas.openxmlformats.org/drawingml/2006/main">
            <a:r>
              <a:t>services/genesis/broker_solver.py</a:t>
            </a:r>
          </a:p>
          <a:p xmlns:a="http://schemas.openxmlformats.org/drawingml/2006/main">
            <a:r>
              <a:t>.venv/Lib/site-packages/ortools-9.15.6755.dist-info/METADATA</a:t>
            </a:r>
          </a:p>
          <a:p xmlns:a="http://schemas.openxmlformats.org/drawingml/2006/main">
            <a:r>
              <a:t>requirements.txt</a:t>
            </a:r>
          </a:p>
          <a:p xmlns:a="http://schemas.openxmlformats.org/drawingml/2006/main">
            <a:r>
              <a:t>https://developers.google.com/optimization/</a:t>
            </a:r>
          </a:p>
          <a:p xmlns:a="http://schemas.openxmlformats.org/drawingml/2006/main">
            <a:r>
              <a:t/>
            </a:r>
          </a:p>
          <a:p xmlns:a="http://schemas.openxmlformats.org/drawingml/2006/main">
            <a:r>
              <a:t>pydantic==2.14.0</a:t>
            </a:r>
          </a:p>
          <a:p xmlns:a="http://schemas.openxmlformats.org/drawingml/2006/main">
            <a:r>
              <a:t>Classement de référence : Usage direct.</a:t>
            </a:r>
          </a:p>
          <a:p xmlns:a="http://schemas.openxmlformats.org/drawingml/2006/main">
            <a:r>
              <a:t>Fonction : Valide et sérialise des objets à partir de types Python et de contraintes explicites.</a:t>
            </a:r>
          </a:p>
          <a:p xmlns:a="http://schemas.openxmlformats.org/drawingml/2006/main">
            <a:r>
              <a:t>Utilisation Genesis : Définit les commandes, véhicules, arrêts, plans et sorties explicatives Genesis, avec bornes et champs supplémentaires contrôlés.</a:t>
            </a:r>
          </a:p>
          <a:p xmlns:a="http://schemas.openxmlformats.org/drawingml/2006/main">
            <a:r>
              <a:t>Pourquoi présent : Version épinglée dans requirements.txt; requis immédiatement par anthropic, fastapi, langchain-core, langfuse, langgraph, langsmith.</a:t>
            </a:r>
          </a:p>
          <a:p xmlns:a="http://schemas.openxmlformats.org/drawingml/2006/main">
            <a:r>
              <a:t>Exemple : Une quantité de colis hors borne ou un champ interdit échoue avant la planification.</a:t>
            </a:r>
          </a:p>
          <a:p xmlns:a="http://schemas.openxmlformats.org/drawingml/2006/main">
            <a:r>
              <a:t>Sources :</a:t>
            </a:r>
          </a:p>
          <a:p xmlns:a="http://schemas.openxmlformats.org/drawingml/2006/main">
            <a:r>
              <a:t>services/genesis/models.py</a:t>
            </a:r>
          </a:p>
          <a:p xmlns:a="http://schemas.openxmlformats.org/drawingml/2006/main">
            <a:r>
              <a:t>.venv/Lib/site-packages/pydantic-2.14.0.dist-info/METADATA</a:t>
            </a:r>
          </a:p>
          <a:p xmlns:a="http://schemas.openxmlformats.org/drawingml/2006/main">
            <a:r>
              <a:t>requirements.txt</a:t>
            </a:r>
          </a:p>
          <a:p xmlns:a="http://schemas.openxmlformats.org/drawingml/2006/main">
            <a:r>
              <a:t>https://github.com/pydantic/pydantic</a:t>
            </a:r>
          </a:p>
          <a:p xmlns:a="http://schemas.openxmlformats.org/drawingml/2006/main">
            <a:r>
              <a:t/>
            </a:r>
          </a:p>
          <a:p xmlns:a="http://schemas.openxmlformats.org/drawingml/2006/main">
            <a:r>
              <a:t>python-dotenv==1.2.4</a:t>
            </a:r>
          </a:p>
          <a:p xmlns:a="http://schemas.openxmlformats.org/drawingml/2006/main">
            <a:r>
              <a:t>Classement de référence : Usage direct.</a:t>
            </a:r>
          </a:p>
          <a:p xmlns:a="http://schemas.openxmlformats.org/drawingml/2006/main">
            <a:r>
              <a:t>Fonction : Charge des paires de configuration d’un fichier dotenv dans l’environnement.</a:t>
            </a:r>
          </a:p>
          <a:p xmlns:a="http://schemas.openxmlformats.org/drawingml/2006/main">
            <a:r>
              <a:t>Utilisation Genesis : L’API et le worker chargent la configuration locale; aucune valeur privée n’est incluse dans cette présentation.</a:t>
            </a:r>
          </a:p>
          <a:p xmlns:a="http://schemas.openxmlformats.org/drawingml/2006/main">
            <a:r>
              <a:t>Pourquoi présent : Version épinglée dans requirements.txt; liens conditionnels distincts : uvicorn (extra == "standard").</a:t>
            </a:r>
          </a:p>
          <a:p xmlns:a="http://schemas.openxmlformats.org/drawingml/2006/main">
            <a:r>
              <a:t>Exemple : load_dotenv fournit les réglages de lancement et le worker peut actualiser ceux qu’il consulte.</a:t>
            </a:r>
          </a:p>
          <a:p xmlns:a="http://schemas.openxmlformats.org/drawingml/2006/main">
            <a:r>
              <a:t>Sources :</a:t>
            </a:r>
          </a:p>
          <a:p xmlns:a="http://schemas.openxmlformats.org/drawingml/2006/main">
            <a:r>
              <a:t>services/genesis/api.py</a:t>
            </a:r>
          </a:p>
          <a:p xmlns:a="http://schemas.openxmlformats.org/drawingml/2006/main">
            <a:r>
              <a:t>.venv/Lib/site-packages/python_dotenv-1.2.4.dist-info/METADATA</a:t>
            </a:r>
          </a:p>
          <a:p xmlns:a="http://schemas.openxmlformats.org/drawingml/2006/main">
            <a:r>
              <a:t>requirements.txt</a:t>
            </a:r>
          </a:p>
          <a:p xmlns:a="http://schemas.openxmlformats.org/drawingml/2006/main">
            <a:r>
              <a:t>https://github.com/theskumar/python-dotenv</a:t>
            </a:r>
          </a:p>
          <a:p xmlns:a="http://schemas.openxmlformats.org/drawingml/2006/main">
            <a:r>
              <a:t/>
            </a:r>
          </a:p>
          <a:p xmlns:a="http://schemas.openxmlformats.org/drawingml/2006/main">
            <a:r>
              <a:t>SQLAlchemy==2.1.4</a:t>
            </a:r>
          </a:p>
          <a:p xmlns:a="http://schemas.openxmlformats.org/drawingml/2006/main">
            <a:r>
              <a:t>Classement de référence : Usage direct.</a:t>
            </a:r>
          </a:p>
          <a:p xmlns:a="http://schemas.openxmlformats.org/drawingml/2006/main">
            <a:r>
              <a:t>Fonction : Décrit les tables SQL et fournit requêtes, connexions et transactions.</a:t>
            </a:r>
          </a:p>
          <a:p xmlns:a="http://schemas.openxmlformats.org/drawingml/2006/main">
            <a:r>
              <a:t>Utilisation Genesis : Genesis utilise son API Core pour commandes, runs, événements, réservations et dépenses SQLite.</a:t>
            </a:r>
          </a:p>
          <a:p xmlns:a="http://schemas.openxmlformats.org/drawingml/2006/main">
            <a:r>
              <a:t>Pourquoi présent : Version épinglée dans requirements.txt; requis immédiatement par alembic.</a:t>
            </a:r>
          </a:p>
          <a:p xmlns:a="http://schemas.openxmlformats.org/drawingml/2006/main">
            <a:r>
              <a:t>Exemple : Une transaction réserve le budget et écrit l’état associé avant l’appel externe.</a:t>
            </a:r>
          </a:p>
          <a:p xmlns:a="http://schemas.openxmlformats.org/drawingml/2006/main">
            <a:r>
              <a:t>Sources :</a:t>
            </a:r>
          </a:p>
          <a:p xmlns:a="http://schemas.openxmlformats.org/drawingml/2006/main">
            <a:r>
              <a:t>services/genesis/db.py</a:t>
            </a:r>
          </a:p>
          <a:p xmlns:a="http://schemas.openxmlformats.org/drawingml/2006/main">
            <a:r>
              <a:t>.venv/Lib/site-packages/sqlalchemy-2.1.4.dist-info/METADATA</a:t>
            </a:r>
          </a:p>
          <a:p xmlns:a="http://schemas.openxmlformats.org/drawingml/2006/main">
            <a:r>
              <a:t>requirements.txt</a:t>
            </a:r>
          </a:p>
          <a:p xmlns:a="http://schemas.openxmlformats.org/drawingml/2006/main">
            <a:r>
              <a:t>https://www.sqlalchemy.org</a:t>
            </a:r>
          </a:p>
          <a:p xmlns:a="http://schemas.openxmlformats.org/drawingml/2006/main">
            <a:r>
              <a:t/>
            </a:r>
          </a:p>
          <a:p xmlns:a="http://schemas.openxmlformats.org/drawingml/2006/main">
            <a:r>
              <a:t>uvicorn==0.54.0</a:t>
            </a:r>
          </a:p>
          <a:p xmlns:a="http://schemas.openxmlformats.org/drawingml/2006/main">
            <a:r>
              <a:t>Classement de référence : Usage direct.</a:t>
            </a:r>
          </a:p>
          <a:p xmlns:a="http://schemas.openxmlformats.org/drawingml/2006/main">
            <a:r>
              <a:t>Fonction : Exécute une application ASGI et expose ses connexions HTTP.</a:t>
            </a:r>
          </a:p>
          <a:p xmlns:a="http://schemas.openxmlformats.org/drawingml/2006/main">
            <a:r>
              <a:t>Utilisation Genesis : Le lanceur démarre l’API FastAPI en écoute locale sur loopback.</a:t>
            </a:r>
          </a:p>
          <a:p xmlns:a="http://schemas.openxmlformats.org/drawingml/2006/main">
            <a:r>
              <a:t>Pourquoi présent : Version épinglée dans requirements.txt; liens conditionnels distincts : fastapi (extra == "standard"), fastapi (extra == "standard-no-fastapi-cloud-cli"), fastapi (extra == "all").</a:t>
            </a:r>
          </a:p>
          <a:p xmlns:a="http://schemas.openxmlformats.org/drawingml/2006/main">
            <a:r>
              <a:t>Exemple : La commande uvicorn genesis.api:app reçoit les requêtes web et transmet les réponses de l’API.</a:t>
            </a:r>
          </a:p>
          <a:p xmlns:a="http://schemas.openxmlformats.org/drawingml/2006/main">
            <a:r>
              <a:t>Sources :</a:t>
            </a:r>
          </a:p>
          <a:p xmlns:a="http://schemas.openxmlformats.org/drawingml/2006/main">
            <a:r>
              <a:t>scripts/start.ps1</a:t>
            </a:r>
          </a:p>
          <a:p xmlns:a="http://schemas.openxmlformats.org/drawingml/2006/main">
            <a:r>
              <a:t>.venv/Lib/site-packages/uvicorn-0.54.0.dist-info/METADATA</a:t>
            </a:r>
          </a:p>
          <a:p xmlns:a="http://schemas.openxmlformats.org/drawingml/2006/main">
            <a:r>
              <a:t>requirements.txt</a:t>
            </a:r>
          </a:p>
          <a:p xmlns:a="http://schemas.openxmlformats.org/drawingml/2006/main">
            <a:r>
              <a:t>https://uvicorn.dev/</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dépendance.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absl-py==2.5.1</a:t>
            </a:r>
          </a:p>
          <a:p xmlns:a="http://schemas.openxmlformats.org/drawingml/2006/main">
            <a:r>
              <a:t>Classement de référence : Support de dépendance.</a:t>
            </a:r>
          </a:p>
          <a:p xmlns:a="http://schemas.openxmlformats.org/drawingml/2006/main">
            <a:r>
              <a:t>Fonction : Fournit les utilitaires Abseil pour options, journalisation et tests Python.</a:t>
            </a:r>
          </a:p>
          <a:p xmlns:a="http://schemas.openxmlformats.org/drawingml/2006/main">
            <a:r>
              <a:t>Utilisation Genesis : Sert de bibliothèque de support d’OR-Tools; Genesis ne l’importe pas directement.</a:t>
            </a:r>
          </a:p>
          <a:p xmlns:a="http://schemas.openxmlformats.org/drawingml/2006/main">
            <a:r>
              <a:t>Pourquoi présent : Version épinglée dans requirements.txt; requis immédiatement par ortools.</a:t>
            </a:r>
          </a:p>
          <a:p xmlns:a="http://schemas.openxmlformats.org/drawingml/2006/main">
            <a:r>
              <a:t>Exemple : Le paquet permet aux modules OR-Tools qui dépendent d’Abseil de charger leurs utilitaires communs.</a:t>
            </a:r>
          </a:p>
          <a:p xmlns:a="http://schemas.openxmlformats.org/drawingml/2006/main">
            <a:r>
              <a:t>Sources :</a:t>
            </a:r>
          </a:p>
          <a:p xmlns:a="http://schemas.openxmlformats.org/drawingml/2006/main">
            <a:r>
              <a:t>services/genesis/solver.py</a:t>
            </a:r>
          </a:p>
          <a:p xmlns:a="http://schemas.openxmlformats.org/drawingml/2006/main">
            <a:r>
              <a:t>.venv/Lib/site-packages/absl_py-2.5.1.dist-info/METADATA</a:t>
            </a:r>
          </a:p>
          <a:p xmlns:a="http://schemas.openxmlformats.org/drawingml/2006/main">
            <a:r>
              <a:t>requirements.txt</a:t>
            </a:r>
          </a:p>
          <a:p xmlns:a="http://schemas.openxmlformats.org/drawingml/2006/main">
            <a:r>
              <a:t>https://abseil.io/docs/python/</a:t>
            </a:r>
          </a:p>
          <a:p xmlns:a="http://schemas.openxmlformats.org/drawingml/2006/main">
            <a:r>
              <a:t/>
            </a:r>
          </a:p>
          <a:p xmlns:a="http://schemas.openxmlformats.org/drawingml/2006/main">
            <a:r>
              <a:t>annotated-doc==0.0.5</a:t>
            </a:r>
          </a:p>
          <a:p xmlns:a="http://schemas.openxmlformats.org/drawingml/2006/main">
            <a:r>
              <a:t>Classement de référence : Support de dépendance.</a:t>
            </a:r>
          </a:p>
          <a:p xmlns:a="http://schemas.openxmlformats.org/drawingml/2006/main">
            <a:r>
              <a:t>Fonction : Associe du texte documentaire aux paramètres et types avec typing.Annotated.</a:t>
            </a:r>
          </a:p>
          <a:p xmlns:a="http://schemas.openxmlformats.org/drawingml/2006/main">
            <a:r>
              <a:t>Utilisation Genesis : Supporte les annotations internes de FastAPI sans import direct dans Genesis.</a:t>
            </a:r>
          </a:p>
          <a:p xmlns:a="http://schemas.openxmlformats.org/drawingml/2006/main">
            <a:r>
              <a:t>Pourquoi présent : Version épinglée dans requirements.txt; requis immédiatement par fastapi.</a:t>
            </a:r>
          </a:p>
          <a:p xmlns:a="http://schemas.openxmlformats.org/drawingml/2006/main">
            <a:r>
              <a:t>Exemple : Une annotation Doc décrit un paramètre de fonction de bibliothèque; elle ne valide pas une capacité de véhicule.</a:t>
            </a:r>
          </a:p>
          <a:p xmlns:a="http://schemas.openxmlformats.org/drawingml/2006/main">
            <a:r>
              <a:t>Sources :</a:t>
            </a:r>
          </a:p>
          <a:p xmlns:a="http://schemas.openxmlformats.org/drawingml/2006/main">
            <a:r>
              <a:t>services/genesis/api.py</a:t>
            </a:r>
          </a:p>
          <a:p xmlns:a="http://schemas.openxmlformats.org/drawingml/2006/main">
            <a:r>
              <a:t>.venv/Lib/site-packages/annotated_doc-0.0.5.dist-info/METADATA</a:t>
            </a:r>
          </a:p>
          <a:p xmlns:a="http://schemas.openxmlformats.org/drawingml/2006/main">
            <a:r>
              <a:t>requirements.txt</a:t>
            </a:r>
          </a:p>
          <a:p xmlns:a="http://schemas.openxmlformats.org/drawingml/2006/main">
            <a:r>
              <a:t>https://github.com/fastapi/annotated-doc</a:t>
            </a:r>
          </a:p>
          <a:p xmlns:a="http://schemas.openxmlformats.org/drawingml/2006/main">
            <a:r>
              <a:t/>
            </a:r>
          </a:p>
          <a:p xmlns:a="http://schemas.openxmlformats.org/drawingml/2006/main">
            <a:r>
              <a:t>annotated-types==0.8.0</a:t>
            </a:r>
          </a:p>
          <a:p xmlns:a="http://schemas.openxmlformats.org/drawingml/2006/main">
            <a:r>
              <a:t>Classement de référence : Support de dépendance.</a:t>
            </a:r>
          </a:p>
          <a:p xmlns:a="http://schemas.openxmlformats.org/drawingml/2006/main">
            <a:r>
              <a:t>Fonction : Décrit des contraintes réutilisables comme minimum, maximum et longueur dans Annotated.</a:t>
            </a:r>
          </a:p>
          <a:p xmlns:a="http://schemas.openxmlformats.org/drawingml/2006/main">
            <a:r>
              <a:t>Utilisation Genesis : Fournit les métadonnées interprétées par Pydantic pour ses schémas; Genesis utilise les champs Pydantic.</a:t>
            </a:r>
          </a:p>
          <a:p xmlns:a="http://schemas.openxmlformats.org/drawingml/2006/main">
            <a:r>
              <a:t>Pourquoi présent : Version épinglée dans requirements.txt; requis immédiatement par pydantic.</a:t>
            </a:r>
          </a:p>
          <a:p xmlns:a="http://schemas.openxmlformats.org/drawingml/2006/main">
            <a:r>
              <a:t>Exemple : Une contrainte Ge représente une borne numérique que le moteur de validation peut appliquer.</a:t>
            </a:r>
          </a:p>
          <a:p xmlns:a="http://schemas.openxmlformats.org/drawingml/2006/main">
            <a:r>
              <a:t>Sources :</a:t>
            </a:r>
          </a:p>
          <a:p xmlns:a="http://schemas.openxmlformats.org/drawingml/2006/main">
            <a:r>
              <a:t>services/genesis/models.py</a:t>
            </a:r>
          </a:p>
          <a:p xmlns:a="http://schemas.openxmlformats.org/drawingml/2006/main">
            <a:r>
              <a:t>.venv/Lib/site-packages/annotated_types-0.8.0.dist-info/METADATA</a:t>
            </a:r>
          </a:p>
          <a:p xmlns:a="http://schemas.openxmlformats.org/drawingml/2006/main">
            <a:r>
              <a:t>requirements.txt</a:t>
            </a:r>
          </a:p>
          <a:p xmlns:a="http://schemas.openxmlformats.org/drawingml/2006/main">
            <a:r>
              <a:t>https://github.com/annotated-types/annotated-types</a:t>
            </a:r>
          </a:p>
          <a:p xmlns:a="http://schemas.openxmlformats.org/drawingml/2006/main">
            <a:r>
              <a:t/>
            </a:r>
          </a:p>
          <a:p xmlns:a="http://schemas.openxmlformats.org/drawingml/2006/main">
            <a:r>
              <a:t>anyio==4.15.1</a:t>
            </a:r>
          </a:p>
          <a:p xmlns:a="http://schemas.openxmlformats.org/drawingml/2006/main">
            <a:r>
              <a:t>Classement de référence : Support de dépendance.</a:t>
            </a:r>
          </a:p>
          <a:p xmlns:a="http://schemas.openxmlformats.org/drawingml/2006/main">
            <a:r>
              <a:t>Fonction : Offre des tâches, synchronisations et entrées/sorties asynchrones sur différents moteurs async.</a:t>
            </a:r>
          </a:p>
          <a:p xmlns:a="http://schemas.openxmlformats.org/drawingml/2006/main">
            <a:r>
              <a:t>Utilisation Genesis : Supporte Starlette et les clients HTTP installés; aucune orchestration métier Genesis n’appelle directement AnyIO.</a:t>
            </a:r>
          </a:p>
          <a:p xmlns:a="http://schemas.openxmlformats.org/drawingml/2006/main">
            <a:r>
              <a:t>Pourquoi présent : Version épinglée dans requirements.txt; requis immédiatement par anthropic, httpx, httpx2 (sys_platform != "emscripten"), langsmith, starlette.</a:t>
            </a:r>
          </a:p>
          <a:p xmlns:a="http://schemas.openxmlformats.org/drawingml/2006/main">
            <a:r>
              <a:t>Exemple : Une couche serveur peut déléguer un travail synchrone à un thread plutôt que bloquer la boucle événementielle.</a:t>
            </a:r>
          </a:p>
          <a:p xmlns:a="http://schemas.openxmlformats.org/drawingml/2006/main">
            <a:r>
              <a:t>Sources :</a:t>
            </a:r>
          </a:p>
          <a:p xmlns:a="http://schemas.openxmlformats.org/drawingml/2006/main">
            <a:r>
              <a:t>services/genesis/api.py</a:t>
            </a:r>
          </a:p>
          <a:p xmlns:a="http://schemas.openxmlformats.org/drawingml/2006/main">
            <a:r>
              <a:t>.venv/Lib/site-packages/anyio-4.15.1.dist-info/METADATA</a:t>
            </a:r>
          </a:p>
          <a:p xmlns:a="http://schemas.openxmlformats.org/drawingml/2006/main">
            <a:r>
              <a:t>requirements.txt</a:t>
            </a:r>
          </a:p>
          <a:p xmlns:a="http://schemas.openxmlformats.org/drawingml/2006/main">
            <a:r>
              <a:t>https://anyio.readthedocs.io/en/latest/</a:t>
            </a:r>
          </a:p>
          <a:p xmlns:a="http://schemas.openxmlformats.org/drawingml/2006/main">
            <a:r>
              <a:t/>
            </a:r>
          </a:p>
          <a:p xmlns:a="http://schemas.openxmlformats.org/drawingml/2006/main">
            <a:r>
              <a:t>backoff==2.2.1</a:t>
            </a:r>
          </a:p>
          <a:p xmlns:a="http://schemas.openxmlformats.org/drawingml/2006/main">
            <a:r>
              <a:t>Classement de référence : Support de dépendance.</a:t>
            </a:r>
          </a:p>
          <a:p xmlns:a="http://schemas.openxmlformats.org/drawingml/2006/main">
            <a:r>
              <a:t>Fonction : Décore une opération pour la réessayer après des délais croissants et une condition d’arrêt.</a:t>
            </a:r>
          </a:p>
          <a:p xmlns:a="http://schemas.openxmlformats.org/drawingml/2006/main">
            <a:r>
              <a:t>Utilisation Genesis : Est une dépendance du SDK Langfuse facultatif; aucune reprise applicative directe ne lui est confiée.</a:t>
            </a:r>
          </a:p>
          <a:p xmlns:a="http://schemas.openxmlformats.org/drawingml/2006/main">
            <a:r>
              <a:t>Pourquoi présent : Version épinglée dans requirements.txt; requis immédiatement par langfuse.</a:t>
            </a:r>
          </a:p>
          <a:p xmlns:a="http://schemas.openxmlformats.org/drawingml/2006/main">
            <a:r>
              <a:t>Exemple : Le SDK peut espacer ses tentatives de transport; le budget et les reprises des appels IA restent gérés dans Genesis.</a:t>
            </a:r>
          </a:p>
          <a:p xmlns:a="http://schemas.openxmlformats.org/drawingml/2006/main">
            <a:r>
              <a:t>Sources :</a:t>
            </a:r>
          </a:p>
          <a:p xmlns:a="http://schemas.openxmlformats.org/drawingml/2006/main">
            <a:r>
              <a:t>services/genesis/worker.py</a:t>
            </a:r>
          </a:p>
          <a:p xmlns:a="http://schemas.openxmlformats.org/drawingml/2006/main">
            <a:r>
              <a:t>.venv/Lib/site-packages/backoff-2.2.1.dist-info/METADATA</a:t>
            </a:r>
          </a:p>
          <a:p xmlns:a="http://schemas.openxmlformats.org/drawingml/2006/main">
            <a:r>
              <a:t>requirements.txt</a:t>
            </a:r>
          </a:p>
          <a:p xmlns:a="http://schemas.openxmlformats.org/drawingml/2006/main">
            <a:r>
              <a:t>https://github.com/litl/backoff</a:t>
            </a:r>
          </a:p>
          <a:p xmlns:a="http://schemas.openxmlformats.org/drawingml/2006/main">
            <a:r>
              <a:t/>
            </a:r>
          </a:p>
          <a:p xmlns:a="http://schemas.openxmlformats.org/drawingml/2006/main">
            <a:r>
              <a:t>certifi==2026.7.22</a:t>
            </a:r>
          </a:p>
          <a:p xmlns:a="http://schemas.openxmlformats.org/drawingml/2006/main">
            <a:r>
              <a:t>Classement de référence : Support de dépendance.</a:t>
            </a:r>
          </a:p>
          <a:p xmlns:a="http://schemas.openxmlformats.org/drawingml/2006/main">
            <a:r>
              <a:t>Fonction : Distribue un ensemble de certificats racines Mozilla pour vérifier TLS.</a:t>
            </a:r>
          </a:p>
          <a:p xmlns:a="http://schemas.openxmlformats.org/drawingml/2006/main">
            <a:r>
              <a:t>Utilisation Genesis : Supporte HTTPX/httpcore et Requests; Genesis ne manipule pas directement son fichier de certificats.</a:t>
            </a:r>
          </a:p>
          <a:p xmlns:a="http://schemas.openxmlformats.org/drawingml/2006/main">
            <a:r>
              <a:t>Pourquoi présent : Version épinglée dans requirements.txt; requis immédiatement par httpcore, httpx, requests.</a:t>
            </a:r>
          </a:p>
          <a:p xmlns:a="http://schemas.openxmlformats.org/drawingml/2006/main">
            <a:r>
              <a:t>Exemple : Un client HTTP peut vérifier la chaîne TLS d’un serveur contre ce bundle.</a:t>
            </a:r>
          </a:p>
          <a:p xmlns:a="http://schemas.openxmlformats.org/drawingml/2006/main">
            <a:r>
              <a:t>Sources :</a:t>
            </a:r>
          </a:p>
          <a:p xmlns:a="http://schemas.openxmlformats.org/drawingml/2006/main">
            <a:r>
              <a:t>services/genesis/dispatch.py</a:t>
            </a:r>
          </a:p>
          <a:p xmlns:a="http://schemas.openxmlformats.org/drawingml/2006/main">
            <a:r>
              <a:t>.venv/Lib/site-packages/certifi-2026.7.22.dist-info/METADATA</a:t>
            </a:r>
          </a:p>
          <a:p xmlns:a="http://schemas.openxmlformats.org/drawingml/2006/main">
            <a:r>
              <a:t>requirements.txt</a:t>
            </a:r>
          </a:p>
          <a:p xmlns:a="http://schemas.openxmlformats.org/drawingml/2006/main">
            <a:r>
              <a:t>https://github.com/certifi/python-certifi</a:t>
            </a:r>
          </a:p>
          <a:p xmlns:a="http://schemas.openxmlformats.org/drawingml/2006/main">
            <a:r>
              <a:t/>
            </a:r>
          </a:p>
          <a:p xmlns:a="http://schemas.openxmlformats.org/drawingml/2006/main">
            <a:r>
              <a:t>charset-normalizer==3.5.2</a:t>
            </a:r>
          </a:p>
          <a:p xmlns:a="http://schemas.openxmlformats.org/drawingml/2006/main">
            <a:r>
              <a:t>Classement de référence : Support de dépendance.</a:t>
            </a:r>
          </a:p>
          <a:p xmlns:a="http://schemas.openxmlformats.org/drawingml/2006/main">
            <a:r>
              <a:t>Fonction : Détecte l’encodage probable d’un contenu texte reçu comme octets.</a:t>
            </a:r>
          </a:p>
          <a:p xmlns:a="http://schemas.openxmlformats.org/drawingml/2006/main">
            <a:r>
              <a:t>Utilisation Genesis : Est un support de Requests installé; le code métier utilise HTTPX et ne l’importe pas.</a:t>
            </a:r>
          </a:p>
          <a:p xmlns:a="http://schemas.openxmlformats.org/drawingml/2006/main">
            <a:r>
              <a:t>Pourquoi présent : Version épinglée dans requirements.txt; requis immédiatement par requests.</a:t>
            </a:r>
          </a:p>
          <a:p xmlns:a="http://schemas.openxmlformats.org/drawingml/2006/main">
            <a:r>
              <a:t>Exemple : Requests peut décoder une réponse sans encodage exploitable à partir d’une estimation de charset.</a:t>
            </a:r>
          </a:p>
          <a:p xmlns:a="http://schemas.openxmlformats.org/drawingml/2006/main">
            <a:r>
              <a:t>Sources :</a:t>
            </a:r>
          </a:p>
          <a:p xmlns:a="http://schemas.openxmlformats.org/drawingml/2006/main">
            <a:r>
              <a:t>services/genesis/dispatch.py</a:t>
            </a:r>
          </a:p>
          <a:p xmlns:a="http://schemas.openxmlformats.org/drawingml/2006/main">
            <a:r>
              <a:t>.venv/Lib/site-packages/charset_normalizer-3.5.2.dist-info/METADATA</a:t>
            </a:r>
          </a:p>
          <a:p xmlns:a="http://schemas.openxmlformats.org/drawingml/2006/main">
            <a:r>
              <a:t>requirements.txt</a:t>
            </a:r>
          </a:p>
          <a:p xmlns:a="http://schemas.openxmlformats.org/drawingml/2006/main">
            <a:r>
              <a:t>https://charset-normalizer.readthedocs.io/</a:t>
            </a:r>
          </a:p>
          <a:p xmlns:a="http://schemas.openxmlformats.org/drawingml/2006/main">
            <a:r>
              <a:t/>
            </a:r>
          </a:p>
          <a:p xmlns:a="http://schemas.openxmlformats.org/drawingml/2006/main">
            <a:r>
              <a:t>click==8.5.0</a:t>
            </a:r>
          </a:p>
          <a:p xmlns:a="http://schemas.openxmlformats.org/drawingml/2006/main">
            <a:r>
              <a:t>Classement de référence : Support de dépendance.</a:t>
            </a:r>
          </a:p>
          <a:p xmlns:a="http://schemas.openxmlformats.org/drawingml/2006/main">
            <a:r>
              <a:t>Fonction : Construit des commandes terminal avec arguments, options et aide intégrée.</a:t>
            </a:r>
          </a:p>
          <a:p xmlns:a="http://schemas.openxmlformats.org/drawingml/2006/main">
            <a:r>
              <a:t>Utilisation Genesis : Fournit l’interface de commande du serveur Uvicorn; les scripts métier Genesis utilisent argparse.</a:t>
            </a:r>
          </a:p>
          <a:p xmlns:a="http://schemas.openxmlformats.org/drawingml/2006/main">
            <a:r>
              <a:t>Pourquoi présent : Version épinglée dans requirements.txt; requis immédiatement par uvicorn.</a:t>
            </a:r>
          </a:p>
          <a:p xmlns:a="http://schemas.openxmlformats.org/drawingml/2006/main">
            <a:r>
              <a:t>Exemple : L’option de lancement --host est analysée par la commande Uvicorn avant le démarrage ASGI.</a:t>
            </a:r>
          </a:p>
          <a:p xmlns:a="http://schemas.openxmlformats.org/drawingml/2006/main">
            <a:r>
              <a:t>Sources :</a:t>
            </a:r>
          </a:p>
          <a:p xmlns:a="http://schemas.openxmlformats.org/drawingml/2006/main">
            <a:r>
              <a:t>scripts/start.ps1</a:t>
            </a:r>
          </a:p>
          <a:p xmlns:a="http://schemas.openxmlformats.org/drawingml/2006/main">
            <a:r>
              <a:t>.venv/Lib/site-packages/click-8.5.0.dist-info/METADATA</a:t>
            </a:r>
          </a:p>
          <a:p xmlns:a="http://schemas.openxmlformats.org/drawingml/2006/main">
            <a:r>
              <a:t>requirements.txt</a:t>
            </a:r>
          </a:p>
          <a:p xmlns:a="http://schemas.openxmlformats.org/drawingml/2006/main">
            <a:r>
              <a:t>https://click.palletsprojects.com/</a:t>
            </a:r>
          </a:p>
          <a:p xmlns:a="http://schemas.openxmlformats.org/drawingml/2006/main">
            <a:r>
              <a:t/>
            </a:r>
          </a:p>
          <a:p xmlns:a="http://schemas.openxmlformats.org/drawingml/2006/main">
            <a:r>
              <a:t>colorama==0.4.6</a:t>
            </a:r>
          </a:p>
          <a:p xmlns:a="http://schemas.openxmlformats.org/drawingml/2006/main">
            <a:r>
              <a:t>Classement de référence : Support de dépendance.</a:t>
            </a:r>
          </a:p>
          <a:p xmlns:a="http://schemas.openxmlformats.org/drawingml/2006/main">
            <a:r>
              <a:t>Fonction : Adapte les séquences de couleur de terminal entre plateformes, notamment Windows.</a:t>
            </a:r>
          </a:p>
          <a:p xmlns:a="http://schemas.openxmlformats.org/drawingml/2006/main">
            <a:r>
              <a:t>Utilisation Genesis : Supporte pytest sous Windows; ce n’est pas une bibliothèque de couleurs de l’interface web.</a:t>
            </a:r>
          </a:p>
          <a:p xmlns:a="http://schemas.openxmlformats.org/drawingml/2006/main">
            <a:r>
              <a:t>Pourquoi présent : Version épinglée dans requirements.txt; requis immédiatement par pytest (sys_platform == "win32").</a:t>
            </a:r>
          </a:p>
          <a:p xmlns:a="http://schemas.openxmlformats.org/drawingml/2006/main">
            <a:r>
              <a:t>Exemple : Les résultats de tests peuvent conserver une sortie terminal colorée sous Windows.</a:t>
            </a:r>
          </a:p>
          <a:p xmlns:a="http://schemas.openxmlformats.org/drawingml/2006/main">
            <a:r>
              <a:t>Sources :</a:t>
            </a:r>
          </a:p>
          <a:p xmlns:a="http://schemas.openxmlformats.org/drawingml/2006/main">
            <a:r>
              <a:t>scripts/check.ps1</a:t>
            </a:r>
          </a:p>
          <a:p xmlns:a="http://schemas.openxmlformats.org/drawingml/2006/main">
            <a:r>
              <a:t>.venv/Lib/site-packages/colorama-0.4.6.dist-info/METADATA</a:t>
            </a:r>
          </a:p>
          <a:p xmlns:a="http://schemas.openxmlformats.org/drawingml/2006/main">
            <a:r>
              <a:t>requirements.txt</a:t>
            </a:r>
          </a:p>
          <a:p xmlns:a="http://schemas.openxmlformats.org/drawingml/2006/main">
            <a:r>
              <a:t>https://github.com/tartley/colorama</a:t>
            </a:r>
          </a:p>
          <a:p xmlns:a="http://schemas.openxmlformats.org/drawingml/2006/main">
            <a:r>
              <a:t/>
            </a:r>
          </a:p>
          <a:p xmlns:a="http://schemas.openxmlformats.org/drawingml/2006/main">
            <a:r>
              <a:t>distro==1.9.0</a:t>
            </a:r>
          </a:p>
          <a:p xmlns:a="http://schemas.openxmlformats.org/drawingml/2006/main">
            <a:r>
              <a:t>Classement de référence : Support de dépendance.</a:t>
            </a:r>
          </a:p>
          <a:p xmlns:a="http://schemas.openxmlformats.org/drawingml/2006/main">
            <a:r>
              <a:t>Fonction : Expose les informations d’une distribution de système d’exploitation.</a:t>
            </a:r>
          </a:p>
          <a:p xmlns:a="http://schemas.openxmlformats.org/drawingml/2006/main">
            <a:r>
              <a:t>Utilisation Genesis : Est requis par Langsmith, sans import ni diagnostic métier direct dans Genesis.</a:t>
            </a:r>
          </a:p>
          <a:p xmlns:a="http://schemas.openxmlformats.org/drawingml/2006/main">
            <a:r>
              <a:t>Pourquoi présent : Version épinglée dans requirements.txt; requis immédiatement par langsmith.</a:t>
            </a:r>
          </a:p>
          <a:p xmlns:a="http://schemas.openxmlformats.org/drawingml/2006/main">
            <a:r>
              <a:t>Exemple : Le SDK peut recueillir le nom et la version de la plateforme; cela ne mesure aucun KPI de livraison.</a:t>
            </a:r>
          </a:p>
          <a:p xmlns:a="http://schemas.openxmlformats.org/drawingml/2006/main">
            <a:r>
              <a:t>Sources :</a:t>
            </a:r>
          </a:p>
          <a:p xmlns:a="http://schemas.openxmlformats.org/drawingml/2006/main">
            <a:r>
              <a:t>services/genesis/workflow.py</a:t>
            </a:r>
          </a:p>
          <a:p xmlns:a="http://schemas.openxmlformats.org/drawingml/2006/main">
            <a:r>
              <a:t>.venv/Lib/site-packages/distro-1.9.0.dist-info/METADATA</a:t>
            </a:r>
          </a:p>
          <a:p xmlns:a="http://schemas.openxmlformats.org/drawingml/2006/main">
            <a:r>
              <a:t>requirements.txt</a:t>
            </a:r>
          </a:p>
          <a:p xmlns:a="http://schemas.openxmlformats.org/drawingml/2006/main">
            <a:r>
              <a:t>https://github.com/python-distro/distro</a:t>
            </a:r>
          </a:p>
          <a:p xmlns:a="http://schemas.openxmlformats.org/drawingml/2006/main">
            <a:r>
              <a:t/>
            </a:r>
          </a:p>
          <a:p xmlns:a="http://schemas.openxmlformats.org/drawingml/2006/main">
            <a:r>
              <a:t>docstring_parser==0.18.0</a:t>
            </a:r>
          </a:p>
          <a:p xmlns:a="http://schemas.openxmlformats.org/drawingml/2006/main">
            <a:r>
              <a:t>Classement de référence : Support de dépendance.</a:t>
            </a:r>
          </a:p>
          <a:p xmlns:a="http://schemas.openxmlformats.org/drawingml/2006/main">
            <a:r>
              <a:t>Fonction : Analyse les docstrings Python au format reST, Google ou NumPy.</a:t>
            </a:r>
          </a:p>
          <a:p xmlns:a="http://schemas.openxmlformats.org/drawingml/2006/main">
            <a:r>
              <a:t>Utilisation Genesis : Est requis par le SDK Anthropic, sans appel direct dans l’application.</a:t>
            </a:r>
          </a:p>
          <a:p xmlns:a="http://schemas.openxmlformats.org/drawingml/2006/main">
            <a:r>
              <a:t>Pourquoi présent : Version épinglée dans requirements.txt; requis immédiatement par anthropic.</a:t>
            </a:r>
          </a:p>
          <a:p xmlns:a="http://schemas.openxmlformats.org/drawingml/2006/main">
            <a:r>
              <a:t>Exemple : Un outil de bibliothèque peut transformer les descriptions de paramètres d’une docstring en métadonnées structurées.</a:t>
            </a:r>
          </a:p>
          <a:p xmlns:a="http://schemas.openxmlformats.org/drawingml/2006/main">
            <a:r>
              <a:t>Sources :</a:t>
            </a:r>
          </a:p>
          <a:p xmlns:a="http://schemas.openxmlformats.org/drawingml/2006/main">
            <a:r>
              <a:t>services/genesis/llm.py</a:t>
            </a:r>
          </a:p>
          <a:p xmlns:a="http://schemas.openxmlformats.org/drawingml/2006/main">
            <a:r>
              <a:t>.venv/Lib/site-packages/docstring_parser-0.18.0.dist-info/METADATA</a:t>
            </a:r>
          </a:p>
          <a:p xmlns:a="http://schemas.openxmlformats.org/drawingml/2006/main">
            <a:r>
              <a:t>requirements.txt</a:t>
            </a:r>
          </a:p>
          <a:p xmlns:a="http://schemas.openxmlformats.org/drawingml/2006/main">
            <a:r>
              <a:t>https://github.com/rr-/docstring_parser</a:t>
            </a:r>
          </a:p>
          <a:p xmlns:a="http://schemas.openxmlformats.org/drawingml/2006/main">
            <a:r>
              <a:t/>
            </a:r>
          </a:p>
          <a:p xmlns:a="http://schemas.openxmlformats.org/drawingml/2006/main">
            <a:r>
              <a:t>googleapis-common-protos==1.75.5</a:t>
            </a:r>
          </a:p>
          <a:p xmlns:a="http://schemas.openxmlformats.org/drawingml/2006/main">
            <a:r>
              <a:t>Classement de référence : Support de dépendance.</a:t>
            </a:r>
          </a:p>
          <a:p xmlns:a="http://schemas.openxmlformats.org/drawingml/2006/main">
            <a:r>
              <a:t>Fonction : Fournit des classes Protobuf communes aux protocoles Google et à des échanges compatibles.</a:t>
            </a:r>
          </a:p>
          <a:p xmlns:a="http://schemas.openxmlformats.org/drawingml/2006/main">
            <a:r>
              <a:t>Utilisation Genesis : Supporte l’exporteur OTLP installé; cela n’active aucune API Google Maps dans Genesis.</a:t>
            </a:r>
          </a:p>
          <a:p xmlns:a="http://schemas.openxmlformats.org/drawingml/2006/main">
            <a:r>
              <a:t>Pourquoi présent : Version épinglée dans requirements.txt; requis immédiatement par opentelemetry-exporter-otlp-proto-http.</a:t>
            </a:r>
          </a:p>
          <a:p xmlns:a="http://schemas.openxmlformats.org/drawingml/2006/main">
            <a:r>
              <a:t>Exemple : Un message partagé de statut peut être décodé dans une réponse d’export de télémétrie.</a:t>
            </a:r>
          </a:p>
          <a:p xmlns:a="http://schemas.openxmlformats.org/drawingml/2006/main">
            <a:r>
              <a:t>Sources :</a:t>
            </a:r>
          </a:p>
          <a:p xmlns:a="http://schemas.openxmlformats.org/drawingml/2006/main">
            <a:r>
              <a:t>services/genesis/worker.py</a:t>
            </a:r>
          </a:p>
          <a:p xmlns:a="http://schemas.openxmlformats.org/drawingml/2006/main">
            <a:r>
              <a:t>.venv/Lib/site-packages/googleapis_common_protos-1.75.5.dist-info/METADATA</a:t>
            </a:r>
          </a:p>
          <a:p xmlns:a="http://schemas.openxmlformats.org/drawingml/2006/main">
            <a:r>
              <a:t>requirements.txt</a:t>
            </a:r>
          </a:p>
          <a:p xmlns:a="http://schemas.openxmlformats.org/drawingml/2006/main">
            <a:r>
              <a:t>https://github.com/googleapis/google-cloud-python/tree/main/packages/googleapis-common-protos</a:t>
            </a:r>
          </a:p>
          <a:p xmlns:a="http://schemas.openxmlformats.org/drawingml/2006/main">
            <a:r>
              <a:t/>
            </a:r>
          </a:p>
          <a:p xmlns:a="http://schemas.openxmlformats.org/drawingml/2006/main">
            <a:r>
              <a:t>h11==0.16.0</a:t>
            </a:r>
          </a:p>
          <a:p xmlns:a="http://schemas.openxmlformats.org/drawingml/2006/main">
            <a:r>
              <a:t>Classement de référence : Support de dépendance.</a:t>
            </a:r>
          </a:p>
          <a:p xmlns:a="http://schemas.openxmlformats.org/drawingml/2006/main">
            <a:r>
              <a:t>Fonction : Implémente la machine d’état HTTP/1.1 sans gérer lui-même les sockets.</a:t>
            </a:r>
          </a:p>
          <a:p xmlns:a="http://schemas.openxmlformats.org/drawingml/2006/main">
            <a:r>
              <a:t>Utilisation Genesis : Supporte Uvicorn et les transports httpcore/httpcore2 sans import métier.</a:t>
            </a:r>
          </a:p>
          <a:p xmlns:a="http://schemas.openxmlformats.org/drawingml/2006/main">
            <a:r>
              <a:t>Pourquoi présent : Version épinglée dans requirements.txt; requis immédiatement par httpcore, httpcore2, uvicorn.</a:t>
            </a:r>
          </a:p>
          <a:p xmlns:a="http://schemas.openxmlformats.org/drawingml/2006/main">
            <a:r>
              <a:t>Exemple : Le transport traduit des octets en événements Request, Data et EndOfMessage.</a:t>
            </a:r>
          </a:p>
          <a:p xmlns:a="http://schemas.openxmlformats.org/drawingml/2006/main">
            <a:r>
              <a:t>Sources :</a:t>
            </a:r>
          </a:p>
          <a:p xmlns:a="http://schemas.openxmlformats.org/drawingml/2006/main">
            <a:r>
              <a:t>scripts/start.ps1</a:t>
            </a:r>
          </a:p>
          <a:p xmlns:a="http://schemas.openxmlformats.org/drawingml/2006/main">
            <a:r>
              <a:t>.venv/Lib/site-packages/h11-0.16.0.dist-info/METADATA</a:t>
            </a:r>
          </a:p>
          <a:p xmlns:a="http://schemas.openxmlformats.org/drawingml/2006/main">
            <a:r>
              <a:t>requirements.txt</a:t>
            </a:r>
          </a:p>
          <a:p xmlns:a="http://schemas.openxmlformats.org/drawingml/2006/main">
            <a:r>
              <a:t>https://github.com/python-hyper/h11</a:t>
            </a:r>
          </a:p>
          <a:p xmlns:a="http://schemas.openxmlformats.org/drawingml/2006/main">
            <a:r>
              <a:t/>
            </a:r>
          </a:p>
          <a:p xmlns:a="http://schemas.openxmlformats.org/drawingml/2006/main">
            <a:r>
              <a:t>httpcore==1.0.9</a:t>
            </a:r>
          </a:p>
          <a:p xmlns:a="http://schemas.openxmlformats.org/drawingml/2006/main">
            <a:r>
              <a:t>Classement de référence : Support de dépendance.</a:t>
            </a:r>
          </a:p>
          <a:p xmlns:a="http://schemas.openxmlformats.org/drawingml/2006/main">
            <a:r>
              <a:t>Fonction : Gère connexions, pools et transports synchrones/asynchrones de bas niveau.</a:t>
            </a:r>
          </a:p>
          <a:p xmlns:a="http://schemas.openxmlformats.org/drawingml/2006/main">
            <a:r>
              <a:t>Utilisation Genesis : Est le transport de HTTPX utilisé pour les services routiers et les tests API.</a:t>
            </a:r>
          </a:p>
          <a:p xmlns:a="http://schemas.openxmlformats.org/drawingml/2006/main">
            <a:r>
              <a:t>Pourquoi présent : Version épinglée dans requirements.txt; requis immédiatement par httpx.</a:t>
            </a:r>
          </a:p>
          <a:p xmlns:a="http://schemas.openxmlformats.org/drawingml/2006/main">
            <a:r>
              <a:t>Exemple : Le pool peut réutiliser une connexion vers OSRM au lieu d’ouvrir un socket par requête.</a:t>
            </a:r>
          </a:p>
          <a:p xmlns:a="http://schemas.openxmlformats.org/drawingml/2006/main">
            <a:r>
              <a:t>Sources :</a:t>
            </a:r>
          </a:p>
          <a:p xmlns:a="http://schemas.openxmlformats.org/drawingml/2006/main">
            <a:r>
              <a:t>services/genesis/dispatch.py</a:t>
            </a:r>
          </a:p>
          <a:p xmlns:a="http://schemas.openxmlformats.org/drawingml/2006/main">
            <a:r>
              <a:t>.venv/Lib/site-packages/httpcore-1.0.9.dist-info/METADATA</a:t>
            </a:r>
          </a:p>
          <a:p xmlns:a="http://schemas.openxmlformats.org/drawingml/2006/main">
            <a:r>
              <a:t>requirements.txt</a:t>
            </a:r>
          </a:p>
          <a:p xmlns:a="http://schemas.openxmlformats.org/drawingml/2006/main">
            <a:r>
              <a:t>https://www.encode.io/httpcore</a:t>
            </a:r>
          </a:p>
          <a:p xmlns:a="http://schemas.openxmlformats.org/drawingml/2006/main">
            <a:r>
              <a:t/>
            </a:r>
          </a:p>
          <a:p xmlns:a="http://schemas.openxmlformats.org/drawingml/2006/main">
            <a:r>
              <a:t>httpcore2==2.13.1</a:t>
            </a:r>
          </a:p>
          <a:p xmlns:a="http://schemas.openxmlformats.org/drawingml/2006/main">
            <a:r>
              <a:t>Classement de référence : Support de dépendance.</a:t>
            </a:r>
          </a:p>
          <a:p xmlns:a="http://schemas.openxmlformats.org/drawingml/2006/main">
            <a:r>
              <a:t>Fonction : Fournit le transport de bas niveau de la distribution httpx2 installée.</a:t>
            </a:r>
          </a:p>
          <a:p xmlns:a="http://schemas.openxmlformats.org/drawingml/2006/main">
            <a:r>
              <a:t>Utilisation Genesis : Supporte indirectement le client du SDK Anthropic; Genesis ne l’importe pas.</a:t>
            </a:r>
          </a:p>
          <a:p xmlns:a="http://schemas.openxmlformats.org/drawingml/2006/main">
            <a:r>
              <a:t>Pourquoi présent : Version épinglée dans requirements.txt; requis immédiatement par httpx2 (sys_platform != "emscripten").</a:t>
            </a:r>
          </a:p>
          <a:p xmlns:a="http://schemas.openxmlformats.org/drawingml/2006/main">
            <a:r>
              <a:t>Exemple : Il gère le transport réseau et le pool de connexions d’une requête envoyée via httpx2.</a:t>
            </a:r>
          </a:p>
          <a:p xmlns:a="http://schemas.openxmlformats.org/drawingml/2006/main">
            <a:r>
              <a:t>Sources :</a:t>
            </a:r>
          </a:p>
          <a:p xmlns:a="http://schemas.openxmlformats.org/drawingml/2006/main">
            <a:r>
              <a:t>services/genesis/llm.py</a:t>
            </a:r>
          </a:p>
          <a:p xmlns:a="http://schemas.openxmlformats.org/drawingml/2006/main">
            <a:r>
              <a:t>.venv/Lib/site-packages/httpcore2-2.13.1.dist-info/METADATA</a:t>
            </a:r>
          </a:p>
          <a:p xmlns:a="http://schemas.openxmlformats.org/drawingml/2006/main">
            <a:r>
              <a:t>requirements.txt</a:t>
            </a:r>
          </a:p>
          <a:p xmlns:a="http://schemas.openxmlformats.org/drawingml/2006/main">
            <a:r>
              <a:t>https://github.com/pydantic/httpx2</a:t>
            </a:r>
          </a:p>
          <a:p xmlns:a="http://schemas.openxmlformats.org/drawingml/2006/main">
            <a:r>
              <a:t/>
            </a:r>
          </a:p>
          <a:p xmlns:a="http://schemas.openxmlformats.org/drawingml/2006/main">
            <a:r>
              <a:t>httpx2==2.13.1</a:t>
            </a:r>
          </a:p>
          <a:p xmlns:a="http://schemas.openxmlformats.org/drawingml/2006/main">
            <a:r>
              <a:t>Classement de référence : Support de dépendance.</a:t>
            </a:r>
          </a:p>
          <a:p xmlns:a="http://schemas.openxmlformats.org/drawingml/2006/main">
            <a:r>
              <a:t>Fonction : Fournit une autre distribution de client HTTP, distincte du paquet HTTPX 0.28 installé.</a:t>
            </a:r>
          </a:p>
          <a:p xmlns:a="http://schemas.openxmlformats.org/drawingml/2006/main">
            <a:r>
              <a:t>Utilisation Genesis : Le SDK Anthropic installé la requiert; les appels routiers Genesis importent le paquet httpx.</a:t>
            </a:r>
          </a:p>
          <a:p xmlns:a="http://schemas.openxmlformats.org/drawingml/2006/main">
            <a:r>
              <a:t>Pourquoi présent : Version épinglée dans requirements.txt; requis immédiatement par anthropic, langsmith.</a:t>
            </a:r>
          </a:p>
          <a:p xmlns:a="http://schemas.openxmlformats.org/drawingml/2006/main">
            <a:r>
              <a:t>Exemple : La requête d’explication traverse le client httpx2 du SDK sans remplacer l’adaptateur routier HTTPX.</a:t>
            </a:r>
          </a:p>
          <a:p xmlns:a="http://schemas.openxmlformats.org/drawingml/2006/main">
            <a:r>
              <a:t>Sources :</a:t>
            </a:r>
          </a:p>
          <a:p xmlns:a="http://schemas.openxmlformats.org/drawingml/2006/main">
            <a:r>
              <a:t>services/genesis/llm.py</a:t>
            </a:r>
          </a:p>
          <a:p xmlns:a="http://schemas.openxmlformats.org/drawingml/2006/main">
            <a:r>
              <a:t>.venv/Lib/site-packages/httpx2-2.13.1.dist-info/METADATA</a:t>
            </a:r>
          </a:p>
          <a:p xmlns:a="http://schemas.openxmlformats.org/drawingml/2006/main">
            <a:r>
              <a:t>requirements.txt</a:t>
            </a:r>
          </a:p>
          <a:p xmlns:a="http://schemas.openxmlformats.org/drawingml/2006/main">
            <a:r>
              <a:t>https://github.com/pydantic/httpx2</a:t>
            </a:r>
          </a:p>
          <a:p xmlns:a="http://schemas.openxmlformats.org/drawingml/2006/main">
            <a:r>
              <a:t/>
            </a:r>
          </a:p>
          <a:p xmlns:a="http://schemas.openxmlformats.org/drawingml/2006/main">
            <a:r>
              <a:t>idna==3.20</a:t>
            </a:r>
          </a:p>
          <a:p xmlns:a="http://schemas.openxmlformats.org/drawingml/2006/main">
            <a:r>
              <a:t>Classement de référence : Support de dépendance.</a:t>
            </a:r>
          </a:p>
          <a:p xmlns:a="http://schemas.openxmlformats.org/drawingml/2006/main">
            <a:r>
              <a:t>Fonction : Convertit et valide les noms de domaine internationalisés suivant IDNA.</a:t>
            </a:r>
          </a:p>
          <a:p xmlns:a="http://schemas.openxmlformats.org/drawingml/2006/main">
            <a:r>
              <a:t>Utilisation Genesis : Supporte les clients HTTP et AnyIO; aucun appel direct de Genesis.</a:t>
            </a:r>
          </a:p>
          <a:p xmlns:a="http://schemas.openxmlformats.org/drawingml/2006/main">
            <a:r>
              <a:t>Pourquoi présent : Version épinglée dans requirements.txt; requis immédiatement par anyio, httpx, httpx2, requests.</a:t>
            </a:r>
          </a:p>
          <a:p xmlns:a="http://schemas.openxmlformats.org/drawingml/2006/main">
            <a:r>
              <a:t>Exemple : Un nom de domaine Unicode peut être normalisé en forme ASCII utilisable dans une connexion réseau.</a:t>
            </a:r>
          </a:p>
          <a:p xmlns:a="http://schemas.openxmlformats.org/drawingml/2006/main">
            <a:r>
              <a:t>Sources :</a:t>
            </a:r>
          </a:p>
          <a:p xmlns:a="http://schemas.openxmlformats.org/drawingml/2006/main">
            <a:r>
              <a:t>services/genesis/dispatch.py</a:t>
            </a:r>
          </a:p>
          <a:p xmlns:a="http://schemas.openxmlformats.org/drawingml/2006/main">
            <a:r>
              <a:t>.venv/Lib/site-packages/idna-3.20.dist-info/METADATA</a:t>
            </a:r>
          </a:p>
          <a:p xmlns:a="http://schemas.openxmlformats.org/drawingml/2006/main">
            <a:r>
              <a:t>requirements.txt</a:t>
            </a:r>
          </a:p>
          <a:p xmlns:a="http://schemas.openxmlformats.org/drawingml/2006/main">
            <a:r>
              <a:t>https://github.com/kjd/idna</a:t>
            </a:r>
          </a:p>
          <a:p xmlns:a="http://schemas.openxmlformats.org/drawingml/2006/main">
            <a:r>
              <a:t/>
            </a:r>
          </a:p>
          <a:p xmlns:a="http://schemas.openxmlformats.org/drawingml/2006/main">
            <a:r>
              <a:t>immutabledict==4.3.1</a:t>
            </a:r>
          </a:p>
          <a:p xmlns:a="http://schemas.openxmlformats.org/drawingml/2006/main">
            <a:r>
              <a:t>Classement de référence : Support de dépendance.</a:t>
            </a:r>
          </a:p>
          <a:p xmlns:a="http://schemas.openxmlformats.org/drawingml/2006/main">
            <a:r>
              <a:t>Fonction : Fournit des dictionnaires dont les entrées ne peuvent pas être modifiées après construction.</a:t>
            </a:r>
          </a:p>
          <a:p xmlns:a="http://schemas.openxmlformats.org/drawingml/2006/main">
            <a:r>
              <a:t>Utilisation Genesis : Est requis par OR-Tools; Genesis n’utilise pas directement ce type.</a:t>
            </a:r>
          </a:p>
          <a:p xmlns:a="http://schemas.openxmlformats.org/drawingml/2006/main">
            <a:r>
              <a:t>Pourquoi présent : Version épinglée dans requirements.txt; requis immédiatement par ortools.</a:t>
            </a:r>
          </a:p>
          <a:p xmlns:a="http://schemas.openxmlformats.org/drawingml/2006/main">
            <a:r>
              <a:t>Exemple : Une bibliothèque peut partager des paramètres immuables sans autoriser une mutation accidentelle.</a:t>
            </a:r>
          </a:p>
          <a:p xmlns:a="http://schemas.openxmlformats.org/drawingml/2006/main">
            <a:r>
              <a:t>Sources :</a:t>
            </a:r>
          </a:p>
          <a:p xmlns:a="http://schemas.openxmlformats.org/drawingml/2006/main">
            <a:r>
              <a:t>services/genesis/solver.py</a:t>
            </a:r>
          </a:p>
          <a:p xmlns:a="http://schemas.openxmlformats.org/drawingml/2006/main">
            <a:r>
              <a:t>.venv/Lib/site-packages/immutabledict-4.3.1.dist-info/METADATA</a:t>
            </a:r>
          </a:p>
          <a:p xmlns:a="http://schemas.openxmlformats.org/drawingml/2006/main">
            <a:r>
              <a:t>requirements.txt</a:t>
            </a:r>
          </a:p>
          <a:p xmlns:a="http://schemas.openxmlformats.org/drawingml/2006/main">
            <a:r>
              <a:t>https://immutabledict.corenting.fr</a:t>
            </a:r>
          </a:p>
          <a:p xmlns:a="http://schemas.openxmlformats.org/drawingml/2006/main">
            <a:r>
              <a:t/>
            </a:r>
          </a:p>
          <a:p xmlns:a="http://schemas.openxmlformats.org/drawingml/2006/main">
            <a:r>
              <a:t>jiter==0.17.0</a:t>
            </a:r>
          </a:p>
          <a:p xmlns:a="http://schemas.openxmlformats.org/drawingml/2006/main">
            <a:r>
              <a:t>Classement de référence : Support de dépendance.</a:t>
            </a:r>
          </a:p>
          <a:p xmlns:a="http://schemas.openxmlformats.org/drawingml/2006/main">
            <a:r>
              <a:t>Fonction : Analyse rapidement des documents JSON via une implémentation Rust.</a:t>
            </a:r>
          </a:p>
          <a:p xmlns:a="http://schemas.openxmlformats.org/drawingml/2006/main">
            <a:r>
              <a:t>Utilisation Genesis : Est requis par le SDK Anthropic; aucun comptage ou validation métier ne lui est confié directement.</a:t>
            </a:r>
          </a:p>
          <a:p xmlns:a="http://schemas.openxmlformats.org/drawingml/2006/main">
            <a:r>
              <a:t>Pourquoi présent : Version épinglée dans requirements.txt; requis immédiatement par anthropic.</a:t>
            </a:r>
          </a:p>
          <a:p xmlns:a="http://schemas.openxmlformats.org/drawingml/2006/main">
            <a:r>
              <a:t>Exemple : Le SDK peut désérialiser une réponse JSON avant de la transformer en objets typés.</a:t>
            </a:r>
          </a:p>
          <a:p xmlns:a="http://schemas.openxmlformats.org/drawingml/2006/main">
            <a:r>
              <a:t>Sources :</a:t>
            </a:r>
          </a:p>
          <a:p xmlns:a="http://schemas.openxmlformats.org/drawingml/2006/main">
            <a:r>
              <a:t>services/genesis/llm.py</a:t>
            </a:r>
          </a:p>
          <a:p xmlns:a="http://schemas.openxmlformats.org/drawingml/2006/main">
            <a:r>
              <a:t>.venv/Lib/site-packages/jiter-0.17.0.dist-info/METADATA</a:t>
            </a:r>
          </a:p>
          <a:p xmlns:a="http://schemas.openxmlformats.org/drawingml/2006/main">
            <a:r>
              <a:t>requirements.txt</a:t>
            </a:r>
          </a:p>
          <a:p xmlns:a="http://schemas.openxmlformats.org/drawingml/2006/main">
            <a:r>
              <a:t>https://github.com/pydantic/jiter/</a:t>
            </a:r>
          </a:p>
          <a:p xmlns:a="http://schemas.openxmlformats.org/drawingml/2006/main">
            <a:r>
              <a:t/>
            </a:r>
          </a:p>
          <a:p xmlns:a="http://schemas.openxmlformats.org/drawingml/2006/main">
            <a:r>
              <a:t>jsonpatch==1.34</a:t>
            </a:r>
          </a:p>
          <a:p xmlns:a="http://schemas.openxmlformats.org/drawingml/2006/main">
            <a:r>
              <a:t>Classement de référence : Support de dépendance.</a:t>
            </a:r>
          </a:p>
          <a:p xmlns:a="http://schemas.openxmlformats.org/drawingml/2006/main">
            <a:r>
              <a:t>Fonction : Applique et construit des opérations JSON Patch définies par la RFC 6902.</a:t>
            </a:r>
          </a:p>
          <a:p xmlns:a="http://schemas.openxmlformats.org/drawingml/2006/main">
            <a:r>
              <a:t>Utilisation Genesis : Est requis par langchain-core; Genesis ne produit pas directement de patch JSON avec ce module.</a:t>
            </a:r>
          </a:p>
          <a:p xmlns:a="http://schemas.openxmlformats.org/drawingml/2006/main">
            <a:r>
              <a:t>Pourquoi présent : Version épinglée dans requirements.txt; requis immédiatement par langchain-core.</a:t>
            </a:r>
          </a:p>
          <a:p xmlns:a="http://schemas.openxmlformats.org/drawingml/2006/main">
            <a:r>
              <a:t>Exemple : Une opération replace sur /status représente une différence d’état, sans recalculer une tournée.</a:t>
            </a:r>
          </a:p>
          <a:p xmlns:a="http://schemas.openxmlformats.org/drawingml/2006/main">
            <a:r>
              <a:t>Sources :</a:t>
            </a:r>
          </a:p>
          <a:p xmlns:a="http://schemas.openxmlformats.org/drawingml/2006/main">
            <a:r>
              <a:t>services/genesis/workflow.py</a:t>
            </a:r>
          </a:p>
          <a:p xmlns:a="http://schemas.openxmlformats.org/drawingml/2006/main">
            <a:r>
              <a:t>.venv/Lib/site-packages/jsonpatch-1.34.dist-info/METADATA</a:t>
            </a:r>
          </a:p>
          <a:p xmlns:a="http://schemas.openxmlformats.org/drawingml/2006/main">
            <a:r>
              <a:t>requirements.txt</a:t>
            </a:r>
          </a:p>
          <a:p xmlns:a="http://schemas.openxmlformats.org/drawingml/2006/main">
            <a:r>
              <a:t>https://github.com/stefankoegl/python-json-patch.git</a:t>
            </a:r>
          </a:p>
          <a:p xmlns:a="http://schemas.openxmlformats.org/drawingml/2006/main">
            <a:r>
              <a:t/>
            </a:r>
          </a:p>
          <a:p xmlns:a="http://schemas.openxmlformats.org/drawingml/2006/main">
            <a:r>
              <a:t>jsonpointer==3.2.0</a:t>
            </a:r>
          </a:p>
          <a:p xmlns:a="http://schemas.openxmlformats.org/drawingml/2006/main">
            <a:r>
              <a:t>Classement de référence : Support de dépendance.</a:t>
            </a:r>
          </a:p>
          <a:p xmlns:a="http://schemas.openxmlformats.org/drawingml/2006/main">
            <a:r>
              <a:t>Fonction : Résout des chemins vers les valeurs d’un document JSON suivant la RFC 6901.</a:t>
            </a:r>
          </a:p>
          <a:p xmlns:a="http://schemas.openxmlformats.org/drawingml/2006/main">
            <a:r>
              <a:t>Utilisation Genesis : Supporte jsonpatch sans import applicatif Genesis.</a:t>
            </a:r>
          </a:p>
          <a:p xmlns:a="http://schemas.openxmlformats.org/drawingml/2006/main">
            <a:r>
              <a:t>Pourquoi présent : Version épinglée dans requirements.txt; requis immédiatement par jsonpatch.</a:t>
            </a:r>
          </a:p>
          <a:p xmlns:a="http://schemas.openxmlformats.org/drawingml/2006/main">
            <a:r>
              <a:t>Exemple : Le chemin /vehicles/0/id désigne une valeur précise dans un document structuré.</a:t>
            </a:r>
          </a:p>
          <a:p xmlns:a="http://schemas.openxmlformats.org/drawingml/2006/main">
            <a:r>
              <a:t>Sources :</a:t>
            </a:r>
          </a:p>
          <a:p xmlns:a="http://schemas.openxmlformats.org/drawingml/2006/main">
            <a:r>
              <a:t>services/genesis/workflow.py</a:t>
            </a:r>
          </a:p>
          <a:p xmlns:a="http://schemas.openxmlformats.org/drawingml/2006/main">
            <a:r>
              <a:t>.venv/Lib/site-packages/jsonpointer-3.2.0.dist-info/METADATA</a:t>
            </a:r>
          </a:p>
          <a:p xmlns:a="http://schemas.openxmlformats.org/drawingml/2006/main">
            <a:r>
              <a:t>requirements.txt</a:t>
            </a:r>
          </a:p>
          <a:p xmlns:a="http://schemas.openxmlformats.org/drawingml/2006/main">
            <a:r>
              <a:t>https://github.com/stefankoegl/python-json-pointer</a:t>
            </a:r>
          </a:p>
          <a:p xmlns:a="http://schemas.openxmlformats.org/drawingml/2006/main">
            <a:r>
              <a:t/>
            </a:r>
          </a:p>
          <a:p xmlns:a="http://schemas.openxmlformats.org/drawingml/2006/main">
            <a:r>
              <a:t>langchain-core==1.6.9</a:t>
            </a:r>
          </a:p>
          <a:p xmlns:a="http://schemas.openxmlformats.org/drawingml/2006/main">
            <a:r>
              <a:t>Classement de référence : Support de dépendance.</a:t>
            </a:r>
          </a:p>
          <a:p xmlns:a="http://schemas.openxmlformats.org/drawingml/2006/main">
            <a:r>
              <a:t>Fonction : Fournit les abstractions de messages, exécutables, outils et schémas de l’écosystème LangChain.</a:t>
            </a:r>
          </a:p>
          <a:p xmlns:a="http://schemas.openxmlformats.org/drawingml/2006/main">
            <a:r>
              <a:t>Utilisation Genesis : Est une fondation requise par LangGraph; Genesis construit son propre StateGraph et utilise Anthropic directement.</a:t>
            </a:r>
          </a:p>
          <a:p xmlns:a="http://schemas.openxmlformats.org/drawingml/2006/main">
            <a:r>
              <a:t>Pourquoi présent : Version épinglée dans requirements.txt; requis immédiatement par langgraph, langgraph-checkpoint, langgraph-prebuilt, langgraph-sdk.</a:t>
            </a:r>
          </a:p>
          <a:p xmlns:a="http://schemas.openxmlformats.org/drawingml/2006/main">
            <a:r>
              <a:t>Exemple : Les composants du graphe peuvent s’appuyer sur ces primitives sans que Genesis crée une chaîne LangChain dédiée.</a:t>
            </a:r>
          </a:p>
          <a:p xmlns:a="http://schemas.openxmlformats.org/drawingml/2006/main">
            <a:r>
              <a:t>Sources :</a:t>
            </a:r>
          </a:p>
          <a:p xmlns:a="http://schemas.openxmlformats.org/drawingml/2006/main">
            <a:r>
              <a:t>services/genesis/workflow.py</a:t>
            </a:r>
          </a:p>
          <a:p xmlns:a="http://schemas.openxmlformats.org/drawingml/2006/main">
            <a:r>
              <a:t>.venv/Lib/site-packages/langchain_core-1.6.9.dist-info/METADATA</a:t>
            </a:r>
          </a:p>
          <a:p xmlns:a="http://schemas.openxmlformats.org/drawingml/2006/main">
            <a:r>
              <a:t>requirements.txt</a:t>
            </a:r>
          </a:p>
          <a:p xmlns:a="http://schemas.openxmlformats.org/drawingml/2006/main">
            <a:r>
              <a:t>https://docs.langchain.com/</a:t>
            </a:r>
          </a:p>
          <a:p xmlns:a="http://schemas.openxmlformats.org/drawingml/2006/main">
            <a:r>
              <a:t/>
            </a:r>
          </a:p>
          <a:p xmlns:a="http://schemas.openxmlformats.org/drawingml/2006/main">
            <a:r>
              <a:t>langchain-protocol==0.0.19</a:t>
            </a:r>
          </a:p>
          <a:p xmlns:a="http://schemas.openxmlformats.org/drawingml/2006/main">
            <a:r>
              <a:t>Classement de référence : Support de dépendance.</a:t>
            </a:r>
          </a:p>
          <a:p xmlns:a="http://schemas.openxmlformats.org/drawingml/2006/main">
            <a:r>
              <a:t>Fonction : Fournit les types du protocole de diffusion d’événements d’agents LangChain.</a:t>
            </a:r>
          </a:p>
          <a:p xmlns:a="http://schemas.openxmlformats.org/drawingml/2006/main">
            <a:r>
              <a:t>Utilisation Genesis : Est requis par langchain-core et le SDK LangGraph; aucune intégration distante directe n’est appelée.</a:t>
            </a:r>
          </a:p>
          <a:p xmlns:a="http://schemas.openxmlformats.org/drawingml/2006/main">
            <a:r>
              <a:t>Pourquoi présent : Version épinglée dans requirements.txt; requis immédiatement par langchain-core, langgraph-sdk.</a:t>
            </a:r>
          </a:p>
          <a:p xmlns:a="http://schemas.openxmlformats.org/drawingml/2006/main">
            <a:r>
              <a:t>Exemple : Une bibliothèque peut typer des événements de flux d’agent; le contrat d’événements Genesis reste défini séparément.</a:t>
            </a:r>
          </a:p>
          <a:p xmlns:a="http://schemas.openxmlformats.org/drawingml/2006/main">
            <a:r>
              <a:t>Sources :</a:t>
            </a:r>
          </a:p>
          <a:p xmlns:a="http://schemas.openxmlformats.org/drawingml/2006/main">
            <a:r>
              <a:t>services/genesis/workflow.py</a:t>
            </a:r>
          </a:p>
          <a:p xmlns:a="http://schemas.openxmlformats.org/drawingml/2006/main">
            <a:r>
              <a:t>.venv/Lib/site-packages/langchain_protocol-0.0.19.dist-info/METADATA</a:t>
            </a:r>
          </a:p>
          <a:p xmlns:a="http://schemas.openxmlformats.org/drawingml/2006/main">
            <a:r>
              <a:t>requirements.txt</a:t>
            </a:r>
          </a:p>
          <a:p xmlns:a="http://schemas.openxmlformats.org/drawingml/2006/main">
            <a:r>
              <a:t>https://github.com/langchain-ai/agent-protocol/tree/main/streaming</a:t>
            </a:r>
          </a:p>
          <a:p xmlns:a="http://schemas.openxmlformats.org/drawingml/2006/main">
            <a:r>
              <a:t/>
            </a:r>
          </a:p>
          <a:p xmlns:a="http://schemas.openxmlformats.org/drawingml/2006/main">
            <a:r>
              <a:t>langgraph-checkpoint==4.2.0</a:t>
            </a:r>
          </a:p>
          <a:p xmlns:a="http://schemas.openxmlformats.org/drawingml/2006/main">
            <a:r>
              <a:t>Classement de référence : Support de dépendance.</a:t>
            </a:r>
          </a:p>
          <a:p xmlns:a="http://schemas.openxmlformats.org/drawingml/2006/main">
            <a:r>
              <a:t>Fonction : Définit les interfaces de sauvegarde et la sérialisation des checkpoints LangGraph.</a:t>
            </a:r>
          </a:p>
          <a:p xmlns:a="http://schemas.openxmlformats.org/drawingml/2006/main">
            <a:r>
              <a:t>Utilisation Genesis : Relie le graphe au saver SQLite utilisé; Genesis n’implémente pas de nouveau backend de checkpoints.</a:t>
            </a:r>
          </a:p>
          <a:p xmlns:a="http://schemas.openxmlformats.org/drawingml/2006/main">
            <a:r>
              <a:t>Pourquoi présent : Version épinglée dans requirements.txt; requis immédiatement par langgraph, langgraph-checkpoint-postgres, langgraph-checkpoint-sqlite, langgraph-prebuilt.</a:t>
            </a:r>
          </a:p>
          <a:p xmlns:a="http://schemas.openxmlformats.org/drawingml/2006/main">
            <a:r>
              <a:t>Exemple : Le moteur sauvegarde l’état et les écritures d’une étape pour une reprise ultérieure.</a:t>
            </a:r>
          </a:p>
          <a:p xmlns:a="http://schemas.openxmlformats.org/drawingml/2006/main">
            <a:r>
              <a:t>Sources :</a:t>
            </a:r>
          </a:p>
          <a:p xmlns:a="http://schemas.openxmlformats.org/drawingml/2006/main">
            <a:r>
              <a:t>services/genesis/workflow.py</a:t>
            </a:r>
          </a:p>
          <a:p xmlns:a="http://schemas.openxmlformats.org/drawingml/2006/main">
            <a:r>
              <a:t>.venv/Lib/site-packages/langgraph_checkpoint-4.2.0.dist-info/METADATA</a:t>
            </a:r>
          </a:p>
          <a:p xmlns:a="http://schemas.openxmlformats.org/drawingml/2006/main">
            <a:r>
              <a:t>requirements.txt</a:t>
            </a:r>
          </a:p>
          <a:p xmlns:a="http://schemas.openxmlformats.org/drawingml/2006/main">
            <a:r>
              <a:t>https://github.com/langchain-ai/langgraph/tree/main/libs/checkpoint</a:t>
            </a:r>
          </a:p>
          <a:p xmlns:a="http://schemas.openxmlformats.org/drawingml/2006/main">
            <a:r>
              <a:t/>
            </a:r>
          </a:p>
          <a:p xmlns:a="http://schemas.openxmlformats.org/drawingml/2006/main">
            <a:r>
              <a:t>langgraph-prebuilt==1.1.0</a:t>
            </a:r>
          </a:p>
          <a:p xmlns:a="http://schemas.openxmlformats.org/drawingml/2006/main">
            <a:r>
              <a:t>Classement de référence : Support de dépendance.</a:t>
            </a:r>
          </a:p>
          <a:p xmlns:a="http://schemas.openxmlformats.org/drawingml/2006/main">
            <a:r>
              <a:t>Fonction : Fournit des assemblages prêts à l’emploi pour agents et nœuds d’outils LangGraph.</a:t>
            </a:r>
          </a:p>
          <a:p xmlns:a="http://schemas.openxmlformats.org/drawingml/2006/main">
            <a:r>
              <a:t>Utilisation Genesis : Est requis par LangGraph, mais Genesis assemble explicitement ses rôles et n’importe pas ces agents préfabriqués.</a:t>
            </a:r>
          </a:p>
          <a:p xmlns:a="http://schemas.openxmlformats.org/drawingml/2006/main">
            <a:r>
              <a:t>Pourquoi présent : Version épinglée dans requirements.txt; requis immédiatement par langgraph.</a:t>
            </a:r>
          </a:p>
          <a:p xmlns:a="http://schemas.openxmlformats.org/drawingml/2006/main">
            <a:r>
              <a:t>Exemple : Un ToolNode préfabriqué peut exécuter des appels d’outils; Genesis emploie son propre déroulement borné.</a:t>
            </a:r>
          </a:p>
          <a:p xmlns:a="http://schemas.openxmlformats.org/drawingml/2006/main">
            <a:r>
              <a:t>Sources :</a:t>
            </a:r>
          </a:p>
          <a:p xmlns:a="http://schemas.openxmlformats.org/drawingml/2006/main">
            <a:r>
              <a:t>services/genesis/workflow.py</a:t>
            </a:r>
          </a:p>
          <a:p xmlns:a="http://schemas.openxmlformats.org/drawingml/2006/main">
            <a:r>
              <a:t>.venv/Lib/site-packages/langgraph_prebuilt-1.1.0.dist-info/METADATA</a:t>
            </a:r>
          </a:p>
          <a:p xmlns:a="http://schemas.openxmlformats.org/drawingml/2006/main">
            <a:r>
              <a:t>requirements.txt</a:t>
            </a:r>
          </a:p>
          <a:p xmlns:a="http://schemas.openxmlformats.org/drawingml/2006/main">
            <a:r>
              <a:t>https://github.com/langchain-ai/langgraph/tree/main/libs/prebuilt</a:t>
            </a:r>
          </a:p>
          <a:p xmlns:a="http://schemas.openxmlformats.org/drawingml/2006/main">
            <a:r>
              <a:t/>
            </a:r>
          </a:p>
          <a:p xmlns:a="http://schemas.openxmlformats.org/drawingml/2006/main">
            <a:r>
              <a:t>langgraph-sdk==0.4.6</a:t>
            </a:r>
          </a:p>
          <a:p xmlns:a="http://schemas.openxmlformats.org/drawingml/2006/main">
            <a:r>
              <a:t>Classement de référence : Support de dépendance.</a:t>
            </a:r>
          </a:p>
          <a:p xmlns:a="http://schemas.openxmlformats.org/drawingml/2006/main">
            <a:r>
              <a:t>Fonction : Fournit un client pour communiquer avec une API de serveur LangGraph.</a:t>
            </a:r>
          </a:p>
          <a:p xmlns:a="http://schemas.openxmlformats.org/drawingml/2006/main">
            <a:r>
              <a:t>Utilisation Genesis : Est requis par LangGraph; Genesis exécute son graphe dans un worker local sans appel explicite à un serveur LangGraph distant.</a:t>
            </a:r>
          </a:p>
          <a:p xmlns:a="http://schemas.openxmlformats.org/drawingml/2006/main">
            <a:r>
              <a:t>Pourquoi présent : Version épinglée dans requirements.txt; requis immédiatement par langgraph.</a:t>
            </a:r>
          </a:p>
          <a:p xmlns:a="http://schemas.openxmlformats.org/drawingml/2006/main">
            <a:r>
              <a:t>Exemple : Le SDK peut soumettre un run à un serveur LangGraph; ce mécanisme ne remplace pas la file locale Genesis.</a:t>
            </a:r>
          </a:p>
          <a:p xmlns:a="http://schemas.openxmlformats.org/drawingml/2006/main">
            <a:r>
              <a:t>Sources :</a:t>
            </a:r>
          </a:p>
          <a:p xmlns:a="http://schemas.openxmlformats.org/drawingml/2006/main">
            <a:r>
              <a:t>services/genesis/workflow.py</a:t>
            </a:r>
          </a:p>
          <a:p xmlns:a="http://schemas.openxmlformats.org/drawingml/2006/main">
            <a:r>
              <a:t>.venv/Lib/site-packages/langgraph_sdk-0.4.6.dist-info/METADATA</a:t>
            </a:r>
          </a:p>
          <a:p xmlns:a="http://schemas.openxmlformats.org/drawingml/2006/main">
            <a:r>
              <a:t>requirements.txt</a:t>
            </a:r>
          </a:p>
          <a:p xmlns:a="http://schemas.openxmlformats.org/drawingml/2006/main">
            <a:r>
              <a:t>https://github.com/langchain-ai/langgraph/tree/main/libs/sdk-py</a:t>
            </a:r>
          </a:p>
          <a:p xmlns:a="http://schemas.openxmlformats.org/drawingml/2006/main">
            <a:r>
              <a:t/>
            </a:r>
          </a:p>
          <a:p xmlns:a="http://schemas.openxmlformats.org/drawingml/2006/main">
            <a:r>
              <a:t>langsmith==0.14.7</a:t>
            </a:r>
          </a:p>
          <a:p xmlns:a="http://schemas.openxmlformats.org/drawingml/2006/main">
            <a:r>
              <a:t>Classement de référence : Support de dépendance.</a:t>
            </a:r>
          </a:p>
          <a:p xmlns:a="http://schemas.openxmlformats.org/drawingml/2006/main">
            <a:r>
              <a:t>Fonction : Fournit un client de traçage et d’évaluation de la plateforme LangSmith.</a:t>
            </a:r>
          </a:p>
          <a:p xmlns:a="http://schemas.openxmlformats.org/drawingml/2006/main">
            <a:r>
              <a:t>Utilisation Genesis : Est requis par langchain-core; aucun export LangSmith explicite n’apparaît dans Genesis.</a:t>
            </a:r>
          </a:p>
          <a:p xmlns:a="http://schemas.openxmlformats.org/drawingml/2006/main">
            <a:r>
              <a:t>Pourquoi présent : Version épinglée dans requirements.txt; requis immédiatement par langchain-core.</a:t>
            </a:r>
          </a:p>
          <a:p xmlns:a="http://schemas.openxmlformats.org/drawingml/2006/main">
            <a:r>
              <a:t>Exemple : La bibliothèque propose un client de traces, mais sa présence installée ne prouve pas un envoi de télémétrie.</a:t>
            </a:r>
          </a:p>
          <a:p xmlns:a="http://schemas.openxmlformats.org/drawingml/2006/main">
            <a:r>
              <a:t>Sources :</a:t>
            </a:r>
          </a:p>
          <a:p xmlns:a="http://schemas.openxmlformats.org/drawingml/2006/main">
            <a:r>
              <a:t>services/genesis/workflow.py</a:t>
            </a:r>
          </a:p>
          <a:p xmlns:a="http://schemas.openxmlformats.org/drawingml/2006/main">
            <a:r>
              <a:t>.venv/Lib/site-packages/langsmith-0.14.7.dist-info/METADATA</a:t>
            </a:r>
          </a:p>
          <a:p xmlns:a="http://schemas.openxmlformats.org/drawingml/2006/main">
            <a:r>
              <a:t>requirements.txt</a:t>
            </a:r>
          </a:p>
          <a:p xmlns:a="http://schemas.openxmlformats.org/drawingml/2006/main">
            <a:r>
              <a:t>https://smith.langchain.com/</a:t>
            </a:r>
          </a:p>
          <a:p xmlns:a="http://schemas.openxmlformats.org/drawingml/2006/main">
            <a:r>
              <a:t/>
            </a:r>
          </a:p>
          <a:p xmlns:a="http://schemas.openxmlformats.org/drawingml/2006/main">
            <a:r>
              <a:t>MarkupSafe==3.0.4</a:t>
            </a:r>
          </a:p>
          <a:p xmlns:a="http://schemas.openxmlformats.org/drawingml/2006/main">
            <a:r>
              <a:t>Classement de référence : Support de dépendance.</a:t>
            </a:r>
          </a:p>
          <a:p xmlns:a="http://schemas.openxmlformats.org/drawingml/2006/main">
            <a:r>
              <a:t>Fonction : Échappe les caractères sensibles HTML/XML et distingue une chaîne déjà sûre.</a:t>
            </a:r>
          </a:p>
          <a:p xmlns:a="http://schemas.openxmlformats.org/drawingml/2006/main">
            <a:r>
              <a:t>Utilisation Genesis : Supporte Mako; il ne protège pas les transactions ni les prompts Genesis.</a:t>
            </a:r>
          </a:p>
          <a:p xmlns:a="http://schemas.openxmlformats.org/drawingml/2006/main">
            <a:r>
              <a:t>Pourquoi présent : Version épinglée dans requirements.txt; requis immédiatement par Mako.</a:t>
            </a:r>
          </a:p>
          <a:p xmlns:a="http://schemas.openxmlformats.org/drawingml/2006/main">
            <a:r>
              <a:t>Exemple : Le caractère &lt; peut devenir &amp;lt; lors d’un rendu textuel de gabarit.</a:t>
            </a:r>
          </a:p>
          <a:p xmlns:a="http://schemas.openxmlformats.org/drawingml/2006/main">
            <a:r>
              <a:t>Sources :</a:t>
            </a:r>
          </a:p>
          <a:p xmlns:a="http://schemas.openxmlformats.org/drawingml/2006/main">
            <a:r>
              <a:t>requirements.txt</a:t>
            </a:r>
          </a:p>
          <a:p xmlns:a="http://schemas.openxmlformats.org/drawingml/2006/main">
            <a:r>
              <a:t>.venv/Lib/site-packages/markupsafe-3.0.4.dist-info/METADATA</a:t>
            </a:r>
          </a:p>
          <a:p xmlns:a="http://schemas.openxmlformats.org/drawingml/2006/main">
            <a:r>
              <a:t>requirements.txt</a:t>
            </a:r>
          </a:p>
          <a:p xmlns:a="http://schemas.openxmlformats.org/drawingml/2006/main">
            <a:r>
              <a:t>https://markupsafe.palletsprojects.com/</a:t>
            </a:r>
          </a:p>
          <a:p xmlns:a="http://schemas.openxmlformats.org/drawingml/2006/main">
            <a:r>
              <a:t/>
            </a:r>
          </a:p>
          <a:p xmlns:a="http://schemas.openxmlformats.org/drawingml/2006/main">
            <a:r>
              <a:t>opentelemetry-api==1.45.1</a:t>
            </a:r>
          </a:p>
          <a:p xmlns:a="http://schemas.openxmlformats.org/drawingml/2006/main">
            <a:r>
              <a:t>Classement de référence : Support de dépendance.</a:t>
            </a:r>
          </a:p>
          <a:p xmlns:a="http://schemas.openxmlformats.org/drawingml/2006/main">
            <a:r>
              <a:t>Fonction : Définit les interfaces et le contexte de traces, métriques et journaux OpenTelemetry.</a:t>
            </a:r>
          </a:p>
          <a:p xmlns:a="http://schemas.openxmlformats.org/drawingml/2006/main">
            <a:r>
              <a:t>Utilisation Genesis : Est requis notamment par FastAPI et Langfuse; Genesis ne l’importe pas pour calculer ses métriques locales.</a:t>
            </a:r>
          </a:p>
          <a:p xmlns:a="http://schemas.openxmlformats.org/drawingml/2006/main">
            <a:r>
              <a:t>Pourquoi présent : Version épinglée dans requirements.txt; requis immédiatement par fastapi, langfuse, opentelemetry-exporter-http-transport, opentelemetry-exporter-otlp-proto-http, opentelemetry-sdk, opentelemetry-semantic-conventions.</a:t>
            </a:r>
          </a:p>
          <a:p xmlns:a="http://schemas.openxmlformats.org/drawingml/2006/main">
            <a:r>
              <a:t>Exemple : Une bibliothèque peut obtenir un tracer sans imposer elle-même un exporteur de données.</a:t>
            </a:r>
          </a:p>
          <a:p xmlns:a="http://schemas.openxmlformats.org/drawingml/2006/main">
            <a:r>
              <a:t>Sources :</a:t>
            </a:r>
          </a:p>
          <a:p xmlns:a="http://schemas.openxmlformats.org/drawingml/2006/main">
            <a:r>
              <a:t>services/genesis/api.py</a:t>
            </a:r>
          </a:p>
          <a:p xmlns:a="http://schemas.openxmlformats.org/drawingml/2006/main">
            <a:r>
              <a:t>.venv/Lib/site-packages/opentelemetry_api-1.45.1.dist-info/METADATA</a:t>
            </a:r>
          </a:p>
          <a:p xmlns:a="http://schemas.openxmlformats.org/drawingml/2006/main">
            <a:r>
              <a:t>requirements.txt</a:t>
            </a:r>
          </a:p>
          <a:p xmlns:a="http://schemas.openxmlformats.org/drawingml/2006/main">
            <a:r>
              <a:t>https://github.com/open-telemetry/opentelemetry-python/tree/main/opentelemetry-api</a:t>
            </a:r>
          </a:p>
          <a:p xmlns:a="http://schemas.openxmlformats.org/drawingml/2006/main">
            <a:r>
              <a:t/>
            </a:r>
          </a:p>
          <a:p xmlns:a="http://schemas.openxmlformats.org/drawingml/2006/main">
            <a:r>
              <a:t>opentelemetry-exporter-http-transport==0.66b1</a:t>
            </a:r>
          </a:p>
          <a:p xmlns:a="http://schemas.openxmlformats.org/drawingml/2006/main">
            <a:r>
              <a:t>Classement de référence : Support de dépendance.</a:t>
            </a:r>
          </a:p>
          <a:p xmlns:a="http://schemas.openxmlformats.org/drawingml/2006/main">
            <a:r>
              <a:t>Fonction : Définit les transports HTTP partageables entre exporteurs OpenTelemetry.</a:t>
            </a:r>
          </a:p>
          <a:p xmlns:a="http://schemas.openxmlformats.org/drawingml/2006/main">
            <a:r>
              <a:t>Utilisation Genesis : Supporte indirectement l’export OTLP du SDK Langfuse facultatif, sans appel métier direct.</a:t>
            </a:r>
          </a:p>
          <a:p xmlns:a="http://schemas.openxmlformats.org/drawingml/2006/main">
            <a:r>
              <a:t>Pourquoi présent : Version épinglée dans requirements.txt; requis immédiatement par opentelemetry-exporter-otlp-proto-http.</a:t>
            </a:r>
          </a:p>
          <a:p xmlns:a="http://schemas.openxmlformats.org/drawingml/2006/main">
            <a:r>
              <a:t>Exemple : Une implémentation RequestsHTTPTransport envoie un lot HTTP et normalise statut, en-têtes et erreurs.</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.venv/Lib/site-packages/opentelemetry_exporter_http_transport-0.66b1.dist-info/METADATA</a:t>
            </a:r>
          </a:p>
          <a:p xmlns:a="http://schemas.openxmlformats.org/drawingml/2006/main">
            <a:r>
              <a:t>requirements.txt</a:t>
            </a:r>
          </a:p>
          <a:p xmlns:a="http://schemas.openxmlformats.org/drawingml/2006/main">
            <a:r>
              <a:t>https://github.com/open-telemetry/opentelemetry-python/tree/main/exporter/opentelemetry-exporter-http-transport</a:t>
            </a:r>
          </a:p>
          <a:p xmlns:a="http://schemas.openxmlformats.org/drawingml/2006/main">
            <a:r>
              <a:t/>
            </a:r>
          </a:p>
          <a:p xmlns:a="http://schemas.openxmlformats.org/drawingml/2006/main">
            <a:r>
              <a:t>opentelemetry-exporter-otlp-common==0.66b1</a:t>
            </a:r>
          </a:p>
          <a:p xmlns:a="http://schemas.openxmlformats.org/drawingml/2006/main">
            <a:r>
              <a:t>Classement de référence : Support de dépendance.</a:t>
            </a:r>
          </a:p>
          <a:p xmlns:a="http://schemas.openxmlformats.org/drawingml/2006/main">
            <a:r>
              <a:t>Fonction : Fournit les utilitaires partagés OTLP pour compression, délais et reprises d’export.</a:t>
            </a:r>
          </a:p>
          <a:p xmlns:a="http://schemas.openxmlformats.org/drawingml/2006/main">
            <a:r>
              <a:t>Utilisation Genesis : Appartient à la chaîne de l’export OTLP installée, sans calculer les coûts ou certificats Genesis.</a:t>
            </a:r>
          </a:p>
          <a:p xmlns:a="http://schemas.openxmlformats.org/drawingml/2006/main">
            <a:r>
              <a:t>Pourquoi présent : Version épinglée dans requirements.txt; requis immédiatement par opentelemetry-exporter-otlp-proto-http.</a:t>
            </a:r>
          </a:p>
          <a:p xmlns:a="http://schemas.openxmlformats.org/drawingml/2006/main">
            <a:r>
              <a:t>Exemple : Le moteur commun reconnaît Retry-After et certains statuts temporaires pour espacer les envois.</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.venv/Lib/site-packages/opentelemetry_exporter_otlp_common-0.66b1.dist-info/METADATA</a:t>
            </a:r>
          </a:p>
          <a:p xmlns:a="http://schemas.openxmlformats.org/drawingml/2006/main">
            <a:r>
              <a:t>requirements.txt</a:t>
            </a:r>
          </a:p>
          <a:p xmlns:a="http://schemas.openxmlformats.org/drawingml/2006/main">
            <a:r>
              <a:t>https://github.com/open-telemetry/opentelemetry-python/tree/main/exporter/opentelemetry-exporter-otlp-common</a:t>
            </a:r>
          </a:p>
          <a:p xmlns:a="http://schemas.openxmlformats.org/drawingml/2006/main">
            <a:r>
              <a:t/>
            </a:r>
          </a:p>
          <a:p xmlns:a="http://schemas.openxmlformats.org/drawingml/2006/main">
            <a:r>
              <a:t>opentelemetry-exporter-otlp-proto-common==1.45.1</a:t>
            </a:r>
          </a:p>
          <a:p xmlns:a="http://schemas.openxmlformats.org/drawingml/2006/main">
            <a:r>
              <a:t>Classement de référence : Support de dépendance.</a:t>
            </a:r>
          </a:p>
          <a:p xmlns:a="http://schemas.openxmlformats.org/drawingml/2006/main">
            <a:r>
              <a:t>Fonction : Encode les données du SDK OpenTelemetry en messages Protobuf OTLP.</a:t>
            </a:r>
          </a:p>
          <a:p xmlns:a="http://schemas.openxmlformats.org/drawingml/2006/main">
            <a:r>
              <a:t>Utilisation Genesis : Supporte l’exporteur HTTP utilisé par Langfuse lorsqu’il est activé.</a:t>
            </a:r>
          </a:p>
          <a:p xmlns:a="http://schemas.openxmlformats.org/drawingml/2006/main">
            <a:r>
              <a:t>Pourquoi présent : Version épinglée dans requirements.txt; requis immédiatement par opentelemetry-exporter-otlp-proto-http.</a:t>
            </a:r>
          </a:p>
          <a:p xmlns:a="http://schemas.openxmlformats.org/drawingml/2006/main">
            <a:r>
              <a:t>Exemple : Un span du SDK est transformé en message de trace compatible avec le protocole OTLP.</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.venv/Lib/site-packages/opentelemetry_exporter_otlp_proto_common-1.45.1.dist-info/METADATA</a:t>
            </a:r>
          </a:p>
          <a:p xmlns:a="http://schemas.openxmlformats.org/drawingml/2006/main">
            <a:r>
              <a:t>requirements.txt</a:t>
            </a:r>
          </a:p>
          <a:p xmlns:a="http://schemas.openxmlformats.org/drawingml/2006/main">
            <a:r>
              <a:t>https://github.com/open-telemetry/opentelemetry-python/tree/main/exporter/opentelemetry-exporter-otlp-proto-common</a:t>
            </a:r>
          </a:p>
          <a:p xmlns:a="http://schemas.openxmlformats.org/drawingml/2006/main">
            <a:r>
              <a:t/>
            </a:r>
          </a:p>
          <a:p xmlns:a="http://schemas.openxmlformats.org/drawingml/2006/main">
            <a:r>
              <a:t>opentelemetry-exporter-otlp-proto-http==1.45.1</a:t>
            </a:r>
          </a:p>
          <a:p xmlns:a="http://schemas.openxmlformats.org/drawingml/2006/main">
            <a:r>
              <a:t>Classement de référence : Support de dépendance.</a:t>
            </a:r>
          </a:p>
          <a:p xmlns:a="http://schemas.openxmlformats.org/drawingml/2006/main">
            <a:r>
              <a:t>Fonction : Envoie les traces, métriques et journaux OTLP encodés en Protobuf sur HTTP.</a:t>
            </a:r>
          </a:p>
          <a:p xmlns:a="http://schemas.openxmlformats.org/drawingml/2006/main">
            <a:r>
              <a:t>Utilisation Genesis : Est requis par Langfuse; sa présence ne démontre pas un export externe Genesis effectivement configuré.</a:t>
            </a:r>
          </a:p>
          <a:p xmlns:a="http://schemas.openxmlformats.org/drawingml/2006/main">
            <a:r>
              <a:t>Pourquoi présent : Version épinglée dans requirements.txt; requis immédiatement par langfuse.</a:t>
            </a:r>
          </a:p>
          <a:p xmlns:a="http://schemas.openxmlformats.org/drawingml/2006/main">
            <a:r>
              <a:t>Exemple : Un lot de spans peut être envoyé à un point de collecte OTLP avec des délais et reprises bornés par l’exporteur.</a:t>
            </a:r>
          </a:p>
          <a:p xmlns:a="http://schemas.openxmlformats.org/drawingml/2006/main">
            <a:r>
              <a:t>Sources :</a:t>
            </a:r>
          </a:p>
          <a:p xmlns:a="http://schemas.openxmlformats.org/drawingml/2006/main">
            <a:r>
              <a:t>services/genesis/worker.py</a:t>
            </a:r>
          </a:p>
          <a:p xmlns:a="http://schemas.openxmlformats.org/drawingml/2006/main">
            <a:r>
              <a:t>.venv/Lib/site-packages/opentelemetry_exporter_otlp_proto_http-1.45.1.dist-info/METADATA</a:t>
            </a:r>
          </a:p>
          <a:p xmlns:a="http://schemas.openxmlformats.org/drawingml/2006/main">
            <a:r>
              <a:t>requirements.txt</a:t>
            </a:r>
          </a:p>
          <a:p xmlns:a="http://schemas.openxmlformats.org/drawingml/2006/main">
            <a:r>
              <a:t>https://github.com/open-telemetry/opentelemetry-python/tree/main/exporter/opentelemetry-exporter-otlp-proto-http</a:t>
            </a:r>
          </a:p>
          <a:p xmlns:a="http://schemas.openxmlformats.org/drawingml/2006/main">
            <a:r>
              <a:t/>
            </a:r>
          </a:p>
          <a:p xmlns:a="http://schemas.openxmlformats.org/drawingml/2006/main">
            <a:r>
              <a:t>opentelemetry-proto==1.45.1</a:t>
            </a:r>
          </a:p>
          <a:p xmlns:a="http://schemas.openxmlformats.org/drawingml/2006/main">
            <a:r>
              <a:t>Classement de référence : Support de dépendance.</a:t>
            </a:r>
          </a:p>
          <a:p xmlns:a="http://schemas.openxmlformats.org/drawingml/2006/main">
            <a:r>
              <a:t>Fonction : Distribue les classes Python générées à partir des schémas Protobuf OpenTelemetry.</a:t>
            </a:r>
          </a:p>
          <a:p xmlns:a="http://schemas.openxmlformats.org/drawingml/2006/main">
            <a:r>
              <a:t>Utilisation Genesis : Supporte les encodeurs et exporteurs de la chaîne OTLP installée.</a:t>
            </a:r>
          </a:p>
          <a:p xmlns:a="http://schemas.openxmlformats.org/drawingml/2006/main">
            <a:r>
              <a:t>Pourquoi présent : Version épinglée dans requirements.txt; requis immédiatement par opentelemetry-exporter-otlp-proto-common, opentelemetry-exporter-otlp-proto-http.</a:t>
            </a:r>
          </a:p>
          <a:p xmlns:a="http://schemas.openxmlformats.org/drawingml/2006/main">
            <a:r>
              <a:t>Exemple : Un message ExportTraceServiceRequest représente un lot de traces dans un format interopérable.</a:t>
            </a:r>
          </a:p>
          <a:p xmlns:a="http://schemas.openxmlformats.org/drawingml/2006/main">
            <a:r>
              <a:t>Sources :</a:t>
            </a:r>
          </a:p>
          <a:p xmlns:a="http://schemas.openxmlformats.org/drawingml/2006/main">
            <a:r>
              <a:t>services/genesis/worker.py</a:t>
            </a:r>
          </a:p>
          <a:p xmlns:a="http://schemas.openxmlformats.org/drawingml/2006/main">
            <a:r>
              <a:t>.venv/Lib/site-packages/opentelemetry_proto-1.45.1.dist-info/METADATA</a:t>
            </a:r>
          </a:p>
          <a:p xmlns:a="http://schemas.openxmlformats.org/drawingml/2006/main">
            <a:r>
              <a:t>requirements.txt</a:t>
            </a:r>
          </a:p>
          <a:p xmlns:a="http://schemas.openxmlformats.org/drawingml/2006/main">
            <a:r>
              <a:t>https://github.com/open-telemetry/opentelemetry-python/tree/main/opentelemetry-proto</a:t>
            </a:r>
          </a:p>
          <a:p xmlns:a="http://schemas.openxmlformats.org/drawingml/2006/main">
            <a:r>
              <a:t/>
            </a:r>
          </a:p>
          <a:p xmlns:a="http://schemas.openxmlformats.org/drawingml/2006/main">
            <a:r>
              <a:t>opentelemetry-sdk==1.45.1</a:t>
            </a:r>
          </a:p>
          <a:p xmlns:a="http://schemas.openxmlformats.org/drawingml/2006/main">
            <a:r>
              <a:t>Classement de référence : Support de dépendance.</a:t>
            </a:r>
          </a:p>
          <a:p xmlns:a="http://schemas.openxmlformats.org/drawingml/2006/main">
            <a:r>
              <a:t>Fonction : Implémente les fournisseurs, processeurs et exporteurs des signaux OpenTelemetry.</a:t>
            </a:r>
          </a:p>
          <a:p xmlns:a="http://schemas.openxmlformats.org/drawingml/2006/main">
            <a:r>
              <a:t>Utilisation Genesis : Supporte le SDK Langfuse facultatif; les métriques du tableau de bord viennent de la base applicative Genesis.</a:t>
            </a:r>
          </a:p>
          <a:p xmlns:a="http://schemas.openxmlformats.org/drawingml/2006/main">
            <a:r>
              <a:t>Pourquoi présent : Version épinglée dans requirements.txt; requis immédiatement par langfuse, opentelemetry-exporter-otlp-common, opentelemetry-exporter-otlp-proto-http.</a:t>
            </a:r>
          </a:p>
          <a:p xmlns:a="http://schemas.openxmlformats.org/drawingml/2006/main">
            <a:r>
              <a:t>Exemple : Un processeur de spans peut assembler les événements avant leur export sans modifier le registre de dépenses.</a:t>
            </a:r>
          </a:p>
          <a:p xmlns:a="http://schemas.openxmlformats.org/drawingml/2006/main">
            <a:r>
              <a:t>Sources :</a:t>
            </a:r>
          </a:p>
          <a:p xmlns:a="http://schemas.openxmlformats.org/drawingml/2006/main">
            <a:r>
              <a:t>services/genesis/worker.py</a:t>
            </a:r>
          </a:p>
          <a:p xmlns:a="http://schemas.openxmlformats.org/drawingml/2006/main">
            <a:r>
              <a:t>.venv/Lib/site-packages/opentelemetry_sdk-1.45.1.dist-info/METADATA</a:t>
            </a:r>
          </a:p>
          <a:p xmlns:a="http://schemas.openxmlformats.org/drawingml/2006/main">
            <a:r>
              <a:t>requirements.txt</a:t>
            </a:r>
          </a:p>
          <a:p xmlns:a="http://schemas.openxmlformats.org/drawingml/2006/main">
            <a:r>
              <a:t>https://github.com/open-telemetry/opentelemetry-python/tree/main/opentelemetry-sdk</a:t>
            </a:r>
          </a:p>
          <a:p xmlns:a="http://schemas.openxmlformats.org/drawingml/2006/main">
            <a:r>
              <a:t/>
            </a:r>
          </a:p>
          <a:p xmlns:a="http://schemas.openxmlformats.org/drawingml/2006/main">
            <a:r>
              <a:t>opentelemetry-semantic-conventions==0.66b1</a:t>
            </a:r>
          </a:p>
          <a:p xmlns:a="http://schemas.openxmlformats.org/drawingml/2006/main">
            <a:r>
              <a:t>Classement de référence : Support de dépendance.</a:t>
            </a:r>
          </a:p>
          <a:p xmlns:a="http://schemas.openxmlformats.org/drawingml/2006/main">
            <a:r>
              <a:t>Fonction : Distribue les noms d’attributs et conventions sémantiques de télémétrie.</a:t>
            </a:r>
          </a:p>
          <a:p xmlns:a="http://schemas.openxmlformats.org/drawingml/2006/main">
            <a:r>
              <a:t>Utilisation Genesis : Est requis par le SDK OpenTelemetry; le contrat d’événements métier Genesis reste distinct.</a:t>
            </a:r>
          </a:p>
          <a:p xmlns:a="http://schemas.openxmlformats.org/drawingml/2006/main">
            <a:r>
              <a:t>Pourquoi présent : Version épinglée dans requirements.txt; requis immédiatement par opentelemetry-sdk.</a:t>
            </a:r>
          </a:p>
          <a:p xmlns:a="http://schemas.openxmlformats.org/drawingml/2006/main">
            <a:r>
              <a:t>Exemple : Un attribut standard identifie le service ou le transport d’un span et facilite sa lecture par les outils.</a:t>
            </a:r>
          </a:p>
          <a:p xmlns:a="http://schemas.openxmlformats.org/drawingml/2006/main">
            <a:r>
              <a:t>Sources :</a:t>
            </a:r>
          </a:p>
          <a:p xmlns:a="http://schemas.openxmlformats.org/drawingml/2006/main">
            <a:r>
              <a:t>docs/DATA-CONTRACT.md</a:t>
            </a:r>
          </a:p>
          <a:p xmlns:a="http://schemas.openxmlformats.org/drawingml/2006/main">
            <a:r>
              <a:t>.venv/Lib/site-packages/opentelemetry_semantic_conventions-0.66b1.dist-info/METADATA</a:t>
            </a:r>
          </a:p>
          <a:p xmlns:a="http://schemas.openxmlformats.org/drawingml/2006/main">
            <a:r>
              <a:t>requirements.txt</a:t>
            </a:r>
          </a:p>
          <a:p xmlns:a="http://schemas.openxmlformats.org/drawingml/2006/main">
            <a:r>
              <a:t>https://github.com/open-telemetry/opentelemetry-python/tree/main/opentelemetry-semantic-conventions</a:t>
            </a:r>
          </a:p>
          <a:p xmlns:a="http://schemas.openxmlformats.org/drawingml/2006/main">
            <a:r>
              <a:t/>
            </a:r>
          </a:p>
          <a:p xmlns:a="http://schemas.openxmlformats.org/drawingml/2006/main">
            <a:r>
              <a:t>orjson==3.13.0</a:t>
            </a:r>
          </a:p>
          <a:p xmlns:a="http://schemas.openxmlformats.org/drawingml/2006/main">
            <a:r>
              <a:t>Classement de référence : Support de dépendance.</a:t>
            </a:r>
          </a:p>
          <a:p xmlns:a="http://schemas.openxmlformats.org/drawingml/2006/main">
            <a:r>
              <a:t>Fonction : Sérialise et désérialise rapidement du JSON, avec une implémentation native.</a:t>
            </a:r>
          </a:p>
          <a:p xmlns:a="http://schemas.openxmlformats.org/drawingml/2006/main">
            <a:r>
              <a:t>Utilisation Genesis : Est requis par le SDK LangGraph, Langsmith et le saver PostgreSQL installé; Genesis importe json de la bibliothèque standard.</a:t>
            </a:r>
          </a:p>
          <a:p xmlns:a="http://schemas.openxmlformats.org/drawingml/2006/main">
            <a:r>
              <a:t>Pourquoi présent : Version épinglée dans requirements.txt; requis immédiatement par langgraph-checkpoint-postgres, langgraph-sdk, langsmith (platform_python_implementation != "PyPy").</a:t>
            </a:r>
          </a:p>
          <a:p xmlns:a="http://schemas.openxmlformats.org/drawingml/2006/main">
            <a:r>
              <a:t>Exemple : Une bibliothèque peut encoder un objet en octets JSON; ce chemin n’établit aucun usage du saver PostgreSQL.</a:t>
            </a:r>
          </a:p>
          <a:p xmlns:a="http://schemas.openxmlformats.org/drawingml/2006/main">
            <a:r>
              <a:t>Sources :</a:t>
            </a:r>
          </a:p>
          <a:p xmlns:a="http://schemas.openxmlformats.org/drawingml/2006/main">
            <a:r>
              <a:t>services/genesis/workflow.py</a:t>
            </a:r>
          </a:p>
          <a:p xmlns:a="http://schemas.openxmlformats.org/drawingml/2006/main">
            <a:r>
              <a:t>.venv/Lib/site-packages/orjson-3.13.0.dist-info/METADATA</a:t>
            </a:r>
          </a:p>
          <a:p xmlns:a="http://schemas.openxmlformats.org/drawingml/2006/main">
            <a:r>
              <a:t>requirements.txt</a:t>
            </a:r>
          </a:p>
          <a:p xmlns:a="http://schemas.openxmlformats.org/drawingml/2006/main">
            <a:r>
              <a:t>https://github.com/ijl/orjson</a:t>
            </a:r>
          </a:p>
          <a:p xmlns:a="http://schemas.openxmlformats.org/drawingml/2006/main">
            <a:r>
              <a:t/>
            </a:r>
          </a:p>
          <a:p xmlns:a="http://schemas.openxmlformats.org/drawingml/2006/main">
            <a:r>
              <a:t>ormsgpack==1.12.2</a:t>
            </a:r>
          </a:p>
          <a:p xmlns:a="http://schemas.openxmlformats.org/drawingml/2006/main">
            <a:r>
              <a:t>Classement de référence : Support de dépendance.</a:t>
            </a:r>
          </a:p>
          <a:p xmlns:a="http://schemas.openxmlformats.org/drawingml/2006/main">
            <a:r>
              <a:t>Fonction : Encode et décode des objets Python au format MessagePack binaire.</a:t>
            </a:r>
          </a:p>
          <a:p xmlns:a="http://schemas.openxmlformats.org/drawingml/2006/main">
            <a:r>
              <a:t>Utilisation Genesis : Est requis par langgraph-checkpoint pour sa couche de sérialisation.</a:t>
            </a:r>
          </a:p>
          <a:p xmlns:a="http://schemas.openxmlformats.org/drawingml/2006/main">
            <a:r>
              <a:t>Pourquoi présent : Version épinglée dans requirements.txt; requis immédiatement par langgraph-checkpoint.</a:t>
            </a:r>
          </a:p>
          <a:p xmlns:a="http://schemas.openxmlformats.org/drawingml/2006/main">
            <a:r>
              <a:t>Exemple : Le sérialiseur des checkpoints peut stocker un état compact avant sa réhydratation.</a:t>
            </a:r>
          </a:p>
          <a:p xmlns:a="http://schemas.openxmlformats.org/drawingml/2006/main">
            <a:r>
              <a:t>Sources :</a:t>
            </a:r>
          </a:p>
          <a:p xmlns:a="http://schemas.openxmlformats.org/drawingml/2006/main">
            <a:r>
              <a:t>services/genesis/workflow.py</a:t>
            </a:r>
          </a:p>
          <a:p xmlns:a="http://schemas.openxmlformats.org/drawingml/2006/main">
            <a:r>
              <a:t>.venv/Lib/site-packages/ormsgpack-1.12.2.dist-info/METADATA</a:t>
            </a:r>
          </a:p>
          <a:p xmlns:a="http://schemas.openxmlformats.org/drawingml/2006/main">
            <a:r>
              <a:t>requirements.txt</a:t>
            </a:r>
          </a:p>
          <a:p xmlns:a="http://schemas.openxmlformats.org/drawingml/2006/main">
            <a:r>
              <a:t>https://github.com/ormsgpack/ormsgpack</a:t>
            </a:r>
          </a:p>
          <a:p xmlns:a="http://schemas.openxmlformats.org/drawingml/2006/main">
            <a:r>
              <a:t/>
            </a:r>
          </a:p>
          <a:p xmlns:a="http://schemas.openxmlformats.org/drawingml/2006/main">
            <a:r>
              <a:t>packaging==26.3</a:t>
            </a:r>
          </a:p>
          <a:p xmlns:a="http://schemas.openxmlformats.org/drawingml/2006/main">
            <a:r>
              <a:t>Classement de référence : Support de dépendance.</a:t>
            </a:r>
          </a:p>
          <a:p xmlns:a="http://schemas.openxmlformats.org/drawingml/2006/main">
            <a:r>
              <a:t>Fonction : Analyse versions, spécificateurs, noms et conditions des paquets Python.</a:t>
            </a:r>
          </a:p>
          <a:p xmlns:a="http://schemas.openxmlformats.org/drawingml/2006/main">
            <a:r>
              <a:t>Utilisation Genesis : Est requis par plusieurs bibliothèques et pytest; aucun calcul métier de tournée ne lui est confié.</a:t>
            </a:r>
          </a:p>
          <a:p xmlns:a="http://schemas.openxmlformats.org/drawingml/2006/main">
            <a:r>
              <a:t>Pourquoi présent : Version épinglée dans requirements.txt; requis immédiatement par langchain-core, langfuse, langsmith, pytest.</a:t>
            </a:r>
          </a:p>
          <a:p xmlns:a="http://schemas.openxmlformats.org/drawingml/2006/main">
            <a:r>
              <a:t>Exemple : Un outil compare une version installée à une contrainte &gt;=4 plutôt que comparer deux chaînes arbitrairement.</a:t>
            </a:r>
          </a:p>
          <a:p xmlns:a="http://schemas.openxmlformats.org/drawingml/2006/main">
            <a:r>
              <a:t>Sources :</a:t>
            </a:r>
          </a:p>
          <a:p xmlns:a="http://schemas.openxmlformats.org/drawingml/2006/main">
            <a:r>
              <a:t>pyproject.toml</a:t>
            </a:r>
          </a:p>
          <a:p xmlns:a="http://schemas.openxmlformats.org/drawingml/2006/main">
            <a:r>
              <a:t>.venv/Lib/site-packages/packaging-26.3.dist-info/METADATA</a:t>
            </a:r>
          </a:p>
          <a:p xmlns:a="http://schemas.openxmlformats.org/drawingml/2006/main">
            <a:r>
              <a:t>requirements.txt</a:t>
            </a:r>
          </a:p>
          <a:p xmlns:a="http://schemas.openxmlformats.org/drawingml/2006/main">
            <a:r>
              <a:t>https://packaging.pypa.io/</a:t>
            </a:r>
          </a:p>
          <a:p xmlns:a="http://schemas.openxmlformats.org/drawingml/2006/main">
            <a:r>
              <a:t/>
            </a:r>
          </a:p>
          <a:p xmlns:a="http://schemas.openxmlformats.org/drawingml/2006/main">
            <a:r>
              <a:t>protobuf==6.33.6</a:t>
            </a:r>
          </a:p>
          <a:p xmlns:a="http://schemas.openxmlformats.org/drawingml/2006/main">
            <a:r>
              <a:t>Classement de référence : Support de dépendance.</a:t>
            </a:r>
          </a:p>
          <a:p xmlns:a="http://schemas.openxmlformats.org/drawingml/2006/main">
            <a:r>
              <a:t>Fonction : Encode et décode des messages typés dans le format binaire Protocol Buffers.</a:t>
            </a:r>
          </a:p>
          <a:p xmlns:a="http://schemas.openxmlformats.org/drawingml/2006/main">
            <a:r>
              <a:t>Utilisation Genesis : Est requis par OR-Tools et la chaîne OTLP; Genesis ne déclare pas de service RPC Protobuf.</a:t>
            </a:r>
          </a:p>
          <a:p xmlns:a="http://schemas.openxmlformats.org/drawingml/2006/main">
            <a:r>
              <a:t>Pourquoi présent : Version épinglée dans requirements.txt; requis immédiatement par googleapis-common-protos, opentelemetry-proto, ortools.</a:t>
            </a:r>
          </a:p>
          <a:p xmlns:a="http://schemas.openxmlformats.org/drawingml/2006/main">
            <a:r>
              <a:t>Exemple : Les paramètres du solveur sont représentés par des messages générés, distincts des contrats JSON de l’API.</a:t>
            </a:r>
          </a:p>
          <a:p xmlns:a="http://schemas.openxmlformats.org/drawingml/2006/main">
            <a:r>
              <a:t>Sources :</a:t>
            </a:r>
          </a:p>
          <a:p xmlns:a="http://schemas.openxmlformats.org/drawingml/2006/main">
            <a:r>
              <a:t>services/genesis/solver.py</a:t>
            </a:r>
          </a:p>
          <a:p xmlns:a="http://schemas.openxmlformats.org/drawingml/2006/main">
            <a:r>
              <a:t>.venv/Lib/site-packages/protobuf-6.33.6.dist-info/METADATA</a:t>
            </a:r>
          </a:p>
          <a:p xmlns:a="http://schemas.openxmlformats.org/drawingml/2006/main">
            <a:r>
              <a:t>requirements.txt</a:t>
            </a:r>
          </a:p>
          <a:p xmlns:a="http://schemas.openxmlformats.org/drawingml/2006/main">
            <a:r>
              <a:t>https://developers.google.com/protocol-buffers/</a:t>
            </a:r>
          </a:p>
          <a:p xmlns:a="http://schemas.openxmlformats.org/drawingml/2006/main">
            <a:r>
              <a:t/>
            </a:r>
          </a:p>
          <a:p xmlns:a="http://schemas.openxmlformats.org/drawingml/2006/main">
            <a:r>
              <a:t>pydantic_core==2.50.0</a:t>
            </a:r>
          </a:p>
          <a:p xmlns:a="http://schemas.openxmlformats.org/drawingml/2006/main">
            <a:r>
              <a:t>Classement de référence : Support de dépendance.</a:t>
            </a:r>
          </a:p>
          <a:p xmlns:a="http://schemas.openxmlformats.org/drawingml/2006/main">
            <a:r>
              <a:t>Fonction : Exécute en Rust les fonctions centrales de validation et sérialisation de Pydantic.</a:t>
            </a:r>
          </a:p>
          <a:p xmlns:a="http://schemas.openxmlformats.org/drawingml/2006/main">
            <a:r>
              <a:t>Utilisation Genesis : Supporte les modèles Pydantic de Genesis sans import métier direct.</a:t>
            </a:r>
          </a:p>
          <a:p xmlns:a="http://schemas.openxmlformats.org/drawingml/2006/main">
            <a:r>
              <a:t>Pourquoi présent : Version épinglée dans requirements.txt; requis immédiatement par pydantic.</a:t>
            </a:r>
          </a:p>
          <a:p xmlns:a="http://schemas.openxmlformats.org/drawingml/2006/main">
            <a:r>
              <a:t>Exemple : Le moteur vérifie le type et les bornes d’un entier avant de construire l’objet validé.</a:t>
            </a:r>
          </a:p>
          <a:p xmlns:a="http://schemas.openxmlformats.org/drawingml/2006/main">
            <a:r>
              <a:t>Sources :</a:t>
            </a:r>
          </a:p>
          <a:p xmlns:a="http://schemas.openxmlformats.org/drawingml/2006/main">
            <a:r>
              <a:t>services/genesis/models.py</a:t>
            </a:r>
          </a:p>
          <a:p xmlns:a="http://schemas.openxmlformats.org/drawingml/2006/main">
            <a:r>
              <a:t>.venv/Lib/site-packages/pydantic_core-2.50.0.dist-info/METADATA</a:t>
            </a:r>
          </a:p>
          <a:p xmlns:a="http://schemas.openxmlformats.org/drawingml/2006/main">
            <a:r>
              <a:t>requirements.txt</a:t>
            </a:r>
          </a:p>
          <a:p xmlns:a="http://schemas.openxmlformats.org/drawingml/2006/main">
            <a:r>
              <a:t>https://github.com/pydantic</a:t>
            </a:r>
          </a:p>
          <a:p xmlns:a="http://schemas.openxmlformats.org/drawingml/2006/main">
            <a:r>
              <a:t/>
            </a:r>
          </a:p>
          <a:p xmlns:a="http://schemas.openxmlformats.org/drawingml/2006/main">
            <a:r>
              <a:t>Pygments==2.21.0</a:t>
            </a:r>
          </a:p>
          <a:p xmlns:a="http://schemas.openxmlformats.org/drawingml/2006/main">
            <a:r>
              <a:t>Classement de référence : Support de dépendance.</a:t>
            </a:r>
          </a:p>
          <a:p xmlns:a="http://schemas.openxmlformats.org/drawingml/2006/main">
            <a:r>
              <a:t>Fonction : Reconnaît les langages et produit une coloration syntaxique du code.</a:t>
            </a:r>
          </a:p>
          <a:p xmlns:a="http://schemas.openxmlformats.org/drawingml/2006/main">
            <a:r>
              <a:t>Utilisation Genesis : Est requis par pytest; aucun moteur de coloration du tableau de bord ne l’importe.</a:t>
            </a:r>
          </a:p>
          <a:p xmlns:a="http://schemas.openxmlformats.org/drawingml/2006/main">
            <a:r>
              <a:t>Pourquoi présent : Version épinglée dans requirements.txt; requis immédiatement par pytest.</a:t>
            </a:r>
          </a:p>
          <a:p xmlns:a="http://schemas.openxmlformats.org/drawingml/2006/main">
            <a:r>
              <a:t>Exemple : pytest peut améliorer la présentation d’un extrait de code dans un diagnostic de test.</a:t>
            </a:r>
          </a:p>
          <a:p xmlns:a="http://schemas.openxmlformats.org/drawingml/2006/main">
            <a:r>
              <a:t>Sources :</a:t>
            </a:r>
          </a:p>
          <a:p xmlns:a="http://schemas.openxmlformats.org/drawingml/2006/main">
            <a:r>
              <a:t>scripts/check.ps1</a:t>
            </a:r>
          </a:p>
          <a:p xmlns:a="http://schemas.openxmlformats.org/drawingml/2006/main">
            <a:r>
              <a:t>.venv/Lib/site-packages/pygments-2.21.0.dist-info/METADATA</a:t>
            </a:r>
          </a:p>
          <a:p xmlns:a="http://schemas.openxmlformats.org/drawingml/2006/main">
            <a:r>
              <a:t>requirements.txt</a:t>
            </a:r>
          </a:p>
          <a:p xmlns:a="http://schemas.openxmlformats.org/drawingml/2006/main">
            <a:r>
              <a:t>https://pygments.org</a:t>
            </a:r>
          </a:p>
          <a:p xmlns:a="http://schemas.openxmlformats.org/drawingml/2006/main">
            <a:r>
              <a:t/>
            </a:r>
          </a:p>
          <a:p xmlns:a="http://schemas.openxmlformats.org/drawingml/2006/main">
            <a:r>
              <a:t>python-dateutil==2.9.0.post0</a:t>
            </a:r>
          </a:p>
          <a:p xmlns:a="http://schemas.openxmlformats.org/drawingml/2006/main">
            <a:r>
              <a:t>Classement de référence : Support de dépendance.</a:t>
            </a:r>
          </a:p>
          <a:p xmlns:a="http://schemas.openxmlformats.org/drawingml/2006/main">
            <a:r>
              <a:t>Fonction : Étend datetime avec analyse de dates, calculs relatifs et récurrences.</a:t>
            </a:r>
          </a:p>
          <a:p xmlns:a="http://schemas.openxmlformats.org/drawingml/2006/main">
            <a:r>
              <a:t>Utilisation Genesis : Est requis par pandas; les modules métier Genesis utilisent datetime de la bibliothèque standard.</a:t>
            </a:r>
          </a:p>
          <a:p xmlns:a="http://schemas.openxmlformats.org/drawingml/2006/main">
            <a:r>
              <a:t>Pourquoi présent : Version épinglée dans requirements.txt; requis immédiatement par pandas.</a:t>
            </a:r>
          </a:p>
          <a:p xmlns:a="http://schemas.openxmlformats.org/drawingml/2006/main">
            <a:r>
              <a:t>Exemple : relativedelta peut représenter un mois civil sans le réduire à un nombre fixe de secondes.</a:t>
            </a:r>
          </a:p>
          <a:p xmlns:a="http://schemas.openxmlformats.org/drawingml/2006/main">
            <a:r>
              <a:t>Sources :</a:t>
            </a:r>
          </a:p>
          <a:p xmlns:a="http://schemas.openxmlformats.org/drawingml/2006/main">
            <a:r>
              <a:t>requirements.txt</a:t>
            </a:r>
          </a:p>
          <a:p xmlns:a="http://schemas.openxmlformats.org/drawingml/2006/main">
            <a:r>
              <a:t>.venv/Lib/site-packages/python_dateutil-2.9.0.post0.dist-info/METADATA</a:t>
            </a:r>
          </a:p>
          <a:p xmlns:a="http://schemas.openxmlformats.org/drawingml/2006/main">
            <a:r>
              <a:t>requirements.txt</a:t>
            </a:r>
          </a:p>
          <a:p xmlns:a="http://schemas.openxmlformats.org/drawingml/2006/main">
            <a:r>
              <a:t>https://dateutil.readthedocs.io/en/stable/</a:t>
            </a:r>
          </a:p>
          <a:p xmlns:a="http://schemas.openxmlformats.org/drawingml/2006/main">
            <a:r>
              <a:t/>
            </a:r>
          </a:p>
          <a:p xmlns:a="http://schemas.openxmlformats.org/drawingml/2006/main">
            <a:r>
              <a:t>PyYAML==6.0.3</a:t>
            </a:r>
          </a:p>
          <a:p xmlns:a="http://schemas.openxmlformats.org/drawingml/2006/main">
            <a:r>
              <a:t>Classement de référence : Support de dépendance.</a:t>
            </a:r>
          </a:p>
          <a:p xmlns:a="http://schemas.openxmlformats.org/drawingml/2006/main">
            <a:r>
              <a:t>Fonction : Lit et écrit des documents YAML en objets Python.</a:t>
            </a:r>
          </a:p>
          <a:p xmlns:a="http://schemas.openxmlformats.org/drawingml/2006/main">
            <a:r>
              <a:t>Utilisation Genesis : Est requis par langchain-core; aucun format métier Genesis n’est chargé directement avec PyYAML.</a:t>
            </a:r>
          </a:p>
          <a:p xmlns:a="http://schemas.openxmlformats.org/drawingml/2006/main">
            <a:r>
              <a:t>Pourquoi présent : Version épinglée dans requirements.txt; requis immédiatement par langchain-core.</a:t>
            </a:r>
          </a:p>
          <a:p xmlns:a="http://schemas.openxmlformats.org/drawingml/2006/main">
            <a:r>
              <a:t>Exemple : Une bibliothèque peut lire une configuration YAML; les commandes et plans Genesis utilisent leurs contrats JSON.</a:t>
            </a:r>
          </a:p>
          <a:p xmlns:a="http://schemas.openxmlformats.org/drawingml/2006/main">
            <a:r>
              <a:t>Sources :</a:t>
            </a:r>
          </a:p>
          <a:p xmlns:a="http://schemas.openxmlformats.org/drawingml/2006/main">
            <a:r>
              <a:t>services/genesis/workflow.py</a:t>
            </a:r>
          </a:p>
          <a:p xmlns:a="http://schemas.openxmlformats.org/drawingml/2006/main">
            <a:r>
              <a:t>.venv/Lib/site-packages/pyyaml-6.0.3.dist-info/METADATA</a:t>
            </a:r>
          </a:p>
          <a:p xmlns:a="http://schemas.openxmlformats.org/drawingml/2006/main">
            <a:r>
              <a:t>requirements.txt</a:t>
            </a:r>
          </a:p>
          <a:p xmlns:a="http://schemas.openxmlformats.org/drawingml/2006/main">
            <a:r>
              <a:t>https://pyyaml.org/wiki/PyYAMLDocumentation</a:t>
            </a:r>
          </a:p>
          <a:p xmlns:a="http://schemas.openxmlformats.org/drawingml/2006/main">
            <a:r>
              <a:t/>
            </a:r>
          </a:p>
          <a:p xmlns:a="http://schemas.openxmlformats.org/drawingml/2006/main">
            <a:r>
              <a:t>regex==2026.9.29</a:t>
            </a:r>
          </a:p>
          <a:p xmlns:a="http://schemas.openxmlformats.org/drawingml/2006/main">
            <a:r>
              <a:t>Classement de référence : Support de dépendance.</a:t>
            </a:r>
          </a:p>
          <a:p xmlns:a="http://schemas.openxmlformats.org/drawingml/2006/main">
            <a:r>
              <a:t>Fonction : Fournit des expressions régulières étendues et une gestion avancée d’Unicode.</a:t>
            </a:r>
          </a:p>
          <a:p xmlns:a="http://schemas.openxmlformats.org/drawingml/2006/main">
            <a:r>
              <a:t>Utilisation Genesis : Est requis par tiktoken installé; aucun filtre métier Genesis ne l’importe.</a:t>
            </a:r>
          </a:p>
          <a:p xmlns:a="http://schemas.openxmlformats.org/drawingml/2006/main">
            <a:r>
              <a:t>Pourquoi présent : Version épinglée dans requirements.txt; requis immédiatement par tiktoken.</a:t>
            </a:r>
          </a:p>
          <a:p xmlns:a="http://schemas.openxmlformats.org/drawingml/2006/main">
            <a:r>
              <a:t>Exemple : Le tokeniseur peut découper du texte selon des motifs avant d’appliquer son encodage BPE.</a:t>
            </a:r>
          </a:p>
          <a:p xmlns:a="http://schemas.openxmlformats.org/drawingml/2006/main">
            <a:r>
              <a:t>Sources :</a:t>
            </a:r>
          </a:p>
          <a:p xmlns:a="http://schemas.openxmlformats.org/drawingml/2006/main">
            <a:r>
              <a:t>requirements.txt</a:t>
            </a:r>
          </a:p>
          <a:p xmlns:a="http://schemas.openxmlformats.org/drawingml/2006/main">
            <a:r>
              <a:t>.venv/Lib/site-packages/regex-2026.9.29.dist-info/METADATA</a:t>
            </a:r>
          </a:p>
          <a:p xmlns:a="http://schemas.openxmlformats.org/drawingml/2006/main">
            <a:r>
              <a:t>requirements.txt</a:t>
            </a:r>
          </a:p>
          <a:p xmlns:a="http://schemas.openxmlformats.org/drawingml/2006/main">
            <a:r>
              <a:t>https://github.com/mrabarnett/mrab-regex</a:t>
            </a:r>
          </a:p>
          <a:p xmlns:a="http://schemas.openxmlformats.org/drawingml/2006/main">
            <a:r>
              <a:t/>
            </a:r>
          </a:p>
          <a:p xmlns:a="http://schemas.openxmlformats.org/drawingml/2006/main">
            <a:r>
              <a:t>requests-toolbelt==1.0.0</a:t>
            </a:r>
          </a:p>
          <a:p xmlns:a="http://schemas.openxmlformats.org/drawingml/2006/main">
            <a:r>
              <a:t>Classement de référence : Support de dépendance.</a:t>
            </a:r>
          </a:p>
          <a:p xmlns:a="http://schemas.openxmlformats.org/drawingml/2006/main">
            <a:r>
              <a:t>Fonction : Ajoute des utilitaires à Requests, notamment encodage multipart et adaptateurs de transport.</a:t>
            </a:r>
          </a:p>
          <a:p xmlns:a="http://schemas.openxmlformats.org/drawingml/2006/main">
            <a:r>
              <a:t>Utilisation Genesis : Est requis par Langsmith sans appel direct dans Genesis.</a:t>
            </a:r>
          </a:p>
          <a:p xmlns:a="http://schemas.openxmlformats.org/drawingml/2006/main">
            <a:r>
              <a:t>Pourquoi présent : Version épinglée dans requirements.txt; requis immédiatement par langsmith.</a:t>
            </a:r>
          </a:p>
          <a:p xmlns:a="http://schemas.openxmlformats.org/drawingml/2006/main">
            <a:r>
              <a:t>Exemple : Un client dépendant peut construire un corps multipart pour transmettre des fichiers.</a:t>
            </a:r>
          </a:p>
          <a:p xmlns:a="http://schemas.openxmlformats.org/drawingml/2006/main">
            <a:r>
              <a:t>Sources :</a:t>
            </a:r>
          </a:p>
          <a:p xmlns:a="http://schemas.openxmlformats.org/drawingml/2006/main">
            <a:r>
              <a:t>services/genesis/workflow.py</a:t>
            </a:r>
          </a:p>
          <a:p xmlns:a="http://schemas.openxmlformats.org/drawingml/2006/main">
            <a:r>
              <a:t>.venv/Lib/site-packages/requests_toolbelt-1.0.0.dist-info/METADATA</a:t>
            </a:r>
          </a:p>
          <a:p xmlns:a="http://schemas.openxmlformats.org/drawingml/2006/main">
            <a:r>
              <a:t>requirements.txt</a:t>
            </a:r>
          </a:p>
          <a:p xmlns:a="http://schemas.openxmlformats.org/drawingml/2006/main">
            <a:r>
              <a:t>https://github.com/requests/toolbelt</a:t>
            </a:r>
          </a:p>
          <a:p xmlns:a="http://schemas.openxmlformats.org/drawingml/2006/main">
            <a:r>
              <a:t/>
            </a:r>
          </a:p>
          <a:p xmlns:a="http://schemas.openxmlformats.org/drawingml/2006/main">
            <a:r>
              <a:t>six==1.17.0</a:t>
            </a:r>
          </a:p>
          <a:p xmlns:a="http://schemas.openxmlformats.org/drawingml/2006/main">
            <a:r>
              <a:t>Classement de référence : Support de dépendance.</a:t>
            </a:r>
          </a:p>
          <a:p xmlns:a="http://schemas.openxmlformats.org/drawingml/2006/main">
            <a:r>
              <a:t>Fonction : Fournit des utilitaires de compatibilité entre Python 2 et Python 3.</a:t>
            </a:r>
          </a:p>
          <a:p xmlns:a="http://schemas.openxmlformats.org/drawingml/2006/main">
            <a:r>
              <a:t>Utilisation Genesis : Est requis par python-dateutil; Genesis lui-même demande une version Python moderne.</a:t>
            </a:r>
          </a:p>
          <a:p xmlns:a="http://schemas.openxmlformats.org/drawingml/2006/main">
            <a:r>
              <a:t>Pourquoi présent : Version épinglée dans requirements.txt; requis immédiatement par python-dateutil.</a:t>
            </a:r>
          </a:p>
          <a:p xmlns:a="http://schemas.openxmlformats.org/drawingml/2006/main">
            <a:r>
              <a:t>Exemple : Une dépendance réutilise une fonction de compatibilité sans rendre Genesis exécutable sous Python 2.</a:t>
            </a:r>
          </a:p>
          <a:p xmlns:a="http://schemas.openxmlformats.org/drawingml/2006/main">
            <a:r>
              <a:t>Sources :</a:t>
            </a:r>
          </a:p>
          <a:p xmlns:a="http://schemas.openxmlformats.org/drawingml/2006/main">
            <a:r>
              <a:t>pyproject.toml</a:t>
            </a:r>
          </a:p>
          <a:p xmlns:a="http://schemas.openxmlformats.org/drawingml/2006/main">
            <a:r>
              <a:t>.venv/Lib/site-packages/six-1.17.0.dist-info/METADATA</a:t>
            </a:r>
          </a:p>
          <a:p xmlns:a="http://schemas.openxmlformats.org/drawingml/2006/main">
            <a:r>
              <a:t>requirements.txt</a:t>
            </a:r>
          </a:p>
          <a:p xmlns:a="http://schemas.openxmlformats.org/drawingml/2006/main">
            <a:r>
              <a:t>https://github.com/benjaminp/six</a:t>
            </a:r>
          </a:p>
          <a:p xmlns:a="http://schemas.openxmlformats.org/drawingml/2006/main">
            <a:r>
              <a:t/>
            </a:r>
          </a:p>
          <a:p xmlns:a="http://schemas.openxmlformats.org/drawingml/2006/main">
            <a:r>
              <a:t>sniffio==1.3.1</a:t>
            </a:r>
          </a:p>
          <a:p xmlns:a="http://schemas.openxmlformats.org/drawingml/2006/main">
            <a:r>
              <a:t>Classement de référence : Support de dépendance.</a:t>
            </a:r>
          </a:p>
          <a:p xmlns:a="http://schemas.openxmlformats.org/drawingml/2006/main">
            <a:r>
              <a:t>Fonction : Identifie le moteur asynchrone actif dans le contexte courant.</a:t>
            </a:r>
          </a:p>
          <a:p xmlns:a="http://schemas.openxmlformats.org/drawingml/2006/main">
            <a:r>
              <a:t>Utilisation Genesis : Est requis par Anthropic et Langsmith; aucun appel métier direct.</a:t>
            </a:r>
          </a:p>
          <a:p xmlns:a="http://schemas.openxmlformats.org/drawingml/2006/main">
            <a:r>
              <a:t>Pourquoi présent : Version épinglée dans requirements.txt; requis immédiatement par anthropic, langsmith.</a:t>
            </a:r>
          </a:p>
          <a:p xmlns:a="http://schemas.openxmlformats.org/drawingml/2006/main">
            <a:r>
              <a:t>Exemple : Un SDK peut savoir s’il s’exécute dans un contexte asyncio ou Trio avant de choisir son comportement.</a:t>
            </a:r>
          </a:p>
          <a:p xmlns:a="http://schemas.openxmlformats.org/drawingml/2006/main">
            <a:r>
              <a:t>Sources :</a:t>
            </a:r>
          </a:p>
          <a:p xmlns:a="http://schemas.openxmlformats.org/drawingml/2006/main">
            <a:r>
              <a:t>services/genesis/llm.py</a:t>
            </a:r>
          </a:p>
          <a:p xmlns:a="http://schemas.openxmlformats.org/drawingml/2006/main">
            <a:r>
              <a:t>.venv/Lib/site-packages/sniffio-1.3.1.dist-info/METADATA</a:t>
            </a:r>
          </a:p>
          <a:p xmlns:a="http://schemas.openxmlformats.org/drawingml/2006/main">
            <a:r>
              <a:t>requirements.txt</a:t>
            </a:r>
          </a:p>
          <a:p xmlns:a="http://schemas.openxmlformats.org/drawingml/2006/main">
            <a:r>
              <a:t>https://github.com/python-trio/sniffio</a:t>
            </a:r>
          </a:p>
          <a:p xmlns:a="http://schemas.openxmlformats.org/drawingml/2006/main">
            <a:r>
              <a:t/>
            </a:r>
          </a:p>
          <a:p xmlns:a="http://schemas.openxmlformats.org/drawingml/2006/main">
            <a:r>
              <a:t>starlette==1.7.0</a:t>
            </a:r>
          </a:p>
          <a:p xmlns:a="http://schemas.openxmlformats.org/drawingml/2006/main">
            <a:r>
              <a:t>Classement de référence : Support de dépendance.</a:t>
            </a:r>
          </a:p>
          <a:p xmlns:a="http://schemas.openxmlformats.org/drawingml/2006/main">
            <a:r>
              <a:t>Fonction : Fournit les primitives ASGI de requêtes, réponses, middleware et streaming.</a:t>
            </a:r>
          </a:p>
          <a:p xmlns:a="http://schemas.openxmlformats.org/drawingml/2006/main">
            <a:r>
              <a:t>Utilisation Genesis : Sous-tend FastAPI; les réponses JSON et flux SSE de Genesis utilisent cette infrastructure.</a:t>
            </a:r>
          </a:p>
          <a:p xmlns:a="http://schemas.openxmlformats.org/drawingml/2006/main">
            <a:r>
              <a:t>Pourquoi présent : Version épinglée dans requirements.txt; requis immédiatement par fastapi.</a:t>
            </a:r>
          </a:p>
          <a:p xmlns:a="http://schemas.openxmlformats.org/drawingml/2006/main">
            <a:r>
              <a:t>Exemple : StreamingResponse envoie des événements conservés sans lancer un nouvel agent.</a:t>
            </a:r>
          </a:p>
          <a:p xmlns:a="http://schemas.openxmlformats.org/drawingml/2006/main">
            <a:r>
              <a:t>Sources :</a:t>
            </a:r>
          </a:p>
          <a:p xmlns:a="http://schemas.openxmlformats.org/drawingml/2006/main">
            <a:r>
              <a:t>services/genesis/api.py</a:t>
            </a:r>
          </a:p>
          <a:p xmlns:a="http://schemas.openxmlformats.org/drawingml/2006/main">
            <a:r>
              <a:t>.venv/Lib/site-packages/starlette-1.7.0.dist-info/METADATA</a:t>
            </a:r>
          </a:p>
          <a:p xmlns:a="http://schemas.openxmlformats.org/drawingml/2006/main">
            <a:r>
              <a:t>requirements.txt</a:t>
            </a:r>
          </a:p>
          <a:p xmlns:a="http://schemas.openxmlformats.org/drawingml/2006/main">
            <a:r>
              <a:t>https://github.com/Kludex/starlette</a:t>
            </a:r>
          </a:p>
          <a:p xmlns:a="http://schemas.openxmlformats.org/drawingml/2006/main">
            <a:r>
              <a:t/>
            </a:r>
          </a:p>
          <a:p xmlns:a="http://schemas.openxmlformats.org/drawingml/2006/main">
            <a:r>
              <a:t>tenacity==9.2.1</a:t>
            </a:r>
          </a:p>
          <a:p xmlns:a="http://schemas.openxmlformats.org/drawingml/2006/main">
            <a:r>
              <a:t>Classement de référence : Support de dépendance.</a:t>
            </a:r>
          </a:p>
          <a:p xmlns:a="http://schemas.openxmlformats.org/drawingml/2006/main">
            <a:r>
              <a:t>Fonction : Fournit des politiques réutilisables de reprise, attente et arrêt.</a:t>
            </a:r>
          </a:p>
          <a:p xmlns:a="http://schemas.openxmlformats.org/drawingml/2006/main">
            <a:r>
              <a:t>Utilisation Genesis : Est requis par langchain-core; Genesis conserve sa propre politique de tentatives IA et de réservation.</a:t>
            </a:r>
          </a:p>
          <a:p xmlns:a="http://schemas.openxmlformats.org/drawingml/2006/main">
            <a:r>
              <a:t>Pourquoi présent : Version épinglée dans requirements.txt; requis immédiatement par langchain-core.</a:t>
            </a:r>
          </a:p>
          <a:p xmlns:a="http://schemas.openxmlformats.org/drawingml/2006/main">
            <a:r>
              <a:t>Exemple : Une bibliothèque peut limiter une opération à quelques tentatives sans décider du budget applicatif.</a:t>
            </a:r>
          </a:p>
          <a:p xmlns:a="http://schemas.openxmlformats.org/drawingml/2006/main">
            <a:r>
              <a:t>Sources :</a:t>
            </a:r>
          </a:p>
          <a:p xmlns:a="http://schemas.openxmlformats.org/drawingml/2006/main">
            <a:r>
              <a:t>services/genesis/llm.py</a:t>
            </a:r>
          </a:p>
          <a:p xmlns:a="http://schemas.openxmlformats.org/drawingml/2006/main">
            <a:r>
              <a:t>.venv/Lib/site-packages/tenacity-9.2.1.dist-info/METADATA</a:t>
            </a:r>
          </a:p>
          <a:p xmlns:a="http://schemas.openxmlformats.org/drawingml/2006/main">
            <a:r>
              <a:t>requirements.txt</a:t>
            </a:r>
          </a:p>
          <a:p xmlns:a="http://schemas.openxmlformats.org/drawingml/2006/main">
            <a:r>
              <a:t>https://github.com/jd/tenacity</a:t>
            </a:r>
          </a:p>
          <a:p xmlns:a="http://schemas.openxmlformats.org/drawingml/2006/main">
            <a:r>
              <a:t/>
            </a:r>
          </a:p>
          <a:p xmlns:a="http://schemas.openxmlformats.org/drawingml/2006/main">
            <a:r>
              <a:t>truststore==0.10.4</a:t>
            </a:r>
          </a:p>
          <a:p xmlns:a="http://schemas.openxmlformats.org/drawingml/2006/main">
            <a:r>
              <a:t>Classement de référence : Support de dépendance.</a:t>
            </a:r>
          </a:p>
          <a:p xmlns:a="http://schemas.openxmlformats.org/drawingml/2006/main">
            <a:r>
              <a:t>Fonction : Permet à TLS de s’appuyer sur le magasin natif de certificats du système.</a:t>
            </a:r>
          </a:p>
          <a:p xmlns:a="http://schemas.openxmlformats.org/drawingml/2006/main">
            <a:r>
              <a:t>Utilisation Genesis : Est requis par httpcore2 et httpx2, donc disponible sous le SDK Anthropic installé.</a:t>
            </a:r>
          </a:p>
          <a:p xmlns:a="http://schemas.openxmlformats.org/drawingml/2006/main">
            <a:r>
              <a:t>Pourquoi présent : Version épinglée dans requirements.txt; requis immédiatement par httpcore2, httpx2 (sys_platform != "emscripten").</a:t>
            </a:r>
          </a:p>
          <a:p xmlns:a="http://schemas.openxmlformats.org/drawingml/2006/main">
            <a:r>
              <a:t>Exemple : Sous Windows, une connexion peut utiliser les autorités de confiance gérées par le système.</a:t>
            </a:r>
          </a:p>
          <a:p xmlns:a="http://schemas.openxmlformats.org/drawingml/2006/main">
            <a:r>
              <a:t>Sources :</a:t>
            </a:r>
          </a:p>
          <a:p xmlns:a="http://schemas.openxmlformats.org/drawingml/2006/main">
            <a:r>
              <a:t>services/genesis/llm.py</a:t>
            </a:r>
          </a:p>
          <a:p xmlns:a="http://schemas.openxmlformats.org/drawingml/2006/main">
            <a:r>
              <a:t>.venv/Lib/site-packages/truststore-0.10.4.dist-info/METADATA</a:t>
            </a:r>
          </a:p>
          <a:p xmlns:a="http://schemas.openxmlformats.org/drawingml/2006/main">
            <a:r>
              <a:t>requirements.txt</a:t>
            </a:r>
          </a:p>
          <a:p xmlns:a="http://schemas.openxmlformats.org/drawingml/2006/main">
            <a:r>
              <a:t>https://truststore.readthedocs.io</a:t>
            </a:r>
          </a:p>
          <a:p xmlns:a="http://schemas.openxmlformats.org/drawingml/2006/main">
            <a:r>
              <a:t/>
            </a:r>
          </a:p>
          <a:p xmlns:a="http://schemas.openxmlformats.org/drawingml/2006/main">
            <a:r>
              <a:t>typing-inspection==0.4.4</a:t>
            </a:r>
          </a:p>
          <a:p xmlns:a="http://schemas.openxmlformats.org/drawingml/2006/main">
            <a:r>
              <a:t>Classement de référence : Support de dépendance.</a:t>
            </a:r>
          </a:p>
          <a:p xmlns:a="http://schemas.openxmlformats.org/drawingml/2006/main">
            <a:r>
              <a:t>Fonction : Analyse les annotations de types à l’exécution.</a:t>
            </a:r>
          </a:p>
          <a:p xmlns:a="http://schemas.openxmlformats.org/drawingml/2006/main">
            <a:r>
              <a:t>Utilisation Genesis : Est requis par FastAPI et Pydantic, sans appel métier direct.</a:t>
            </a:r>
          </a:p>
          <a:p xmlns:a="http://schemas.openxmlformats.org/drawingml/2006/main">
            <a:r>
              <a:t>Pourquoi présent : Version épinglée dans requirements.txt; requis immédiatement par fastapi, pydantic.</a:t>
            </a:r>
          </a:p>
          <a:p xmlns:a="http://schemas.openxmlformats.org/drawingml/2006/main">
            <a:r>
              <a:t>Exemple : Un moteur de schéma peut reconnaître une union de types ou les métadonnées d’Annotated.</a:t>
            </a:r>
          </a:p>
          <a:p xmlns:a="http://schemas.openxmlformats.org/drawingml/2006/main">
            <a:r>
              <a:t>Sources :</a:t>
            </a:r>
          </a:p>
          <a:p xmlns:a="http://schemas.openxmlformats.org/drawingml/2006/main">
            <a:r>
              <a:t>services/genesis/models.py</a:t>
            </a:r>
          </a:p>
          <a:p xmlns:a="http://schemas.openxmlformats.org/drawingml/2006/main">
            <a:r>
              <a:t>.venv/Lib/site-packages/typing_inspection-0.4.4.dist-info/METADATA</a:t>
            </a:r>
          </a:p>
          <a:p xmlns:a="http://schemas.openxmlformats.org/drawingml/2006/main">
            <a:r>
              <a:t>requirements.txt</a:t>
            </a:r>
          </a:p>
          <a:p xmlns:a="http://schemas.openxmlformats.org/drawingml/2006/main">
            <a:r>
              <a:t>https://github.com/pydantic/typing-inspection</a:t>
            </a:r>
          </a:p>
          <a:p xmlns:a="http://schemas.openxmlformats.org/drawingml/2006/main">
            <a:r>
              <a:t/>
            </a:r>
          </a:p>
          <a:p xmlns:a="http://schemas.openxmlformats.org/drawingml/2006/main">
            <a:r>
              <a:t>typing_extensions==4.16.0</a:t>
            </a:r>
          </a:p>
          <a:p xmlns:a="http://schemas.openxmlformats.org/drawingml/2006/main">
            <a:r>
              <a:t>Classement de référence : Support de dépendance.</a:t>
            </a:r>
          </a:p>
          <a:p xmlns:a="http://schemas.openxmlformats.org/drawingml/2006/main">
            <a:r>
              <a:t>Fonction : Distribue des types et fonctionnalités de typing rétroportés ou expérimentaux.</a:t>
            </a:r>
          </a:p>
          <a:p xmlns:a="http://schemas.openxmlformats.org/drawingml/2006/main">
            <a:r>
              <a:t>Utilisation Genesis : Supporte les bibliothèques typées installées; Genesis utilise principalement typing de Python.</a:t>
            </a:r>
          </a:p>
          <a:p xmlns:a="http://schemas.openxmlformats.org/drawingml/2006/main">
            <a:r>
              <a:t>Pourquoi présent : Version épinglée dans requirements.txt; requis immédiatement par alembic, anthropic, anyio (python_version &lt; "3.15"), fastapi, langchain-core, langchain-protocol, langfuse, langsmith, opentelemetry-api, opentelemetry-exporter-otlp-proto-http, opentelemetry-sdk, opentelemetry-semantic-conventions, ortools, psycopg-pool, pydantic, pydantic_core, SQLAlchemy, typing-inspection; liens conditionnels distincts : httpx2 (python_version &lt; "3.13"), psycopg (python_version &lt; "3.13"), starlette (python_version &lt; "3.13"), uvicorn (python_version &lt; "3.11").</a:t>
            </a:r>
          </a:p>
          <a:p xmlns:a="http://schemas.openxmlformats.org/drawingml/2006/main">
            <a:r>
              <a:t>Exemple : Une dépendance peut importer TypedDict ou une nouvelle annotation sur plusieurs versions de Python.</a:t>
            </a:r>
          </a:p>
          <a:p xmlns:a="http://schemas.openxmlformats.org/drawingml/2006/main">
            <a:r>
              <a:t>Sources :</a:t>
            </a:r>
          </a:p>
          <a:p xmlns:a="http://schemas.openxmlformats.org/drawingml/2006/main">
            <a:r>
              <a:t>pyproject.toml</a:t>
            </a:r>
          </a:p>
          <a:p xmlns:a="http://schemas.openxmlformats.org/drawingml/2006/main">
            <a:r>
              <a:t>.venv/Lib/site-packages/typing_extensions-4.16.0.dist-info/METADATA</a:t>
            </a:r>
          </a:p>
          <a:p xmlns:a="http://schemas.openxmlformats.org/drawingml/2006/main">
            <a:r>
              <a:t>requirements.txt</a:t>
            </a:r>
          </a:p>
          <a:p xmlns:a="http://schemas.openxmlformats.org/drawingml/2006/main">
            <a:r>
              <a:t>https://typing-extensions.readthedocs.io/</a:t>
            </a:r>
          </a:p>
          <a:p xmlns:a="http://schemas.openxmlformats.org/drawingml/2006/main">
            <a:r>
              <a:t/>
            </a:r>
          </a:p>
          <a:p xmlns:a="http://schemas.openxmlformats.org/drawingml/2006/main">
            <a:r>
              <a:t>tzdata==2026.5</a:t>
            </a:r>
          </a:p>
          <a:p xmlns:a="http://schemas.openxmlformats.org/drawingml/2006/main">
            <a:r>
              <a:t>Classement de référence : Support de dépendance.</a:t>
            </a:r>
          </a:p>
          <a:p xmlns:a="http://schemas.openxmlformats.org/drawingml/2006/main">
            <a:r>
              <a:t>Fonction : Distribue les règles IANA des fuseaux horaires pour les systèmes qui en ont besoin.</a:t>
            </a:r>
          </a:p>
          <a:p xmlns:a="http://schemas.openxmlformats.org/drawingml/2006/main">
            <a:r>
              <a:t>Utilisation Genesis : Est notamment requis par pandas et Psycopg sous Windows; ce n’est pas le moteur de formatage horaire du navigateur.</a:t>
            </a:r>
          </a:p>
          <a:p xmlns:a="http://schemas.openxmlformats.org/drawingml/2006/main">
            <a:r>
              <a:t>Pourquoi présent : Version épinglée dans requirements.txt; requis immédiatement par pandas (sys_platform == "win32"), psycopg (sys_platform == "win32"); liens conditionnels distincts : pandas (sys_platform == "emscripten").</a:t>
            </a:r>
          </a:p>
          <a:p xmlns:a="http://schemas.openxmlformats.org/drawingml/2006/main">
            <a:r>
              <a:t>Exemple : La base fournit les règles America/Toronto à zoneinfo lorsque le système n’offre pas cette base.</a:t>
            </a:r>
          </a:p>
          <a:p xmlns:a="http://schemas.openxmlformats.org/drawingml/2006/main">
            <a:r>
              <a:t>Sources :</a:t>
            </a:r>
          </a:p>
          <a:p xmlns:a="http://schemas.openxmlformats.org/drawingml/2006/main">
            <a:r>
              <a:t>requirements.txt</a:t>
            </a:r>
          </a:p>
          <a:p xmlns:a="http://schemas.openxmlformats.org/drawingml/2006/main">
            <a:r>
              <a:t>.venv/Lib/site-packages/tzdata-2026.5.dist-info/METADATA</a:t>
            </a:r>
          </a:p>
          <a:p xmlns:a="http://schemas.openxmlformats.org/drawingml/2006/main">
            <a:r>
              <a:t>requirements.txt</a:t>
            </a:r>
          </a:p>
          <a:p xmlns:a="http://schemas.openxmlformats.org/drawingml/2006/main">
            <a:r>
              <a:t>https://github.com/python/tzdata</a:t>
            </a:r>
          </a:p>
          <a:p xmlns:a="http://schemas.openxmlformats.org/drawingml/2006/main">
            <a:r>
              <a:t/>
            </a:r>
          </a:p>
          <a:p xmlns:a="http://schemas.openxmlformats.org/drawingml/2006/main">
            <a:r>
              <a:t>urllib3==2.8.0</a:t>
            </a:r>
          </a:p>
          <a:p xmlns:a="http://schemas.openxmlformats.org/drawingml/2006/main">
            <a:r>
              <a:t>Classement de référence : Support de dépendance.</a:t>
            </a:r>
          </a:p>
          <a:p xmlns:a="http://schemas.openxmlformats.org/drawingml/2006/main">
            <a:r>
              <a:t>Fonction : Fournit pools de connexions HTTP, gestion TLS et mécanismes de transport.</a:t>
            </a:r>
          </a:p>
          <a:p xmlns:a="http://schemas.openxmlformats.org/drawingml/2006/main">
            <a:r>
              <a:t>Utilisation Genesis : Est requis par Requests; aucun appel métier Genesis direct ne l’importe.</a:t>
            </a:r>
          </a:p>
          <a:p xmlns:a="http://schemas.openxmlformats.org/drawingml/2006/main">
            <a:r>
              <a:t>Pourquoi présent : Version épinglée dans requirements.txt; requis immédiatement par requests.</a:t>
            </a:r>
          </a:p>
          <a:p xmlns:a="http://schemas.openxmlformats.org/drawingml/2006/main">
            <a:r>
              <a:t>Exemple : Requests réutilise son pool réseau pour des requêtes répétées vers un même hôte.</a:t>
            </a:r>
          </a:p>
          <a:p xmlns:a="http://schemas.openxmlformats.org/drawingml/2006/main">
            <a:r>
              <a:t>Sources :</a:t>
            </a:r>
          </a:p>
          <a:p xmlns:a="http://schemas.openxmlformats.org/drawingml/2006/main">
            <a:r>
              <a:t>services/genesis/worker.py</a:t>
            </a:r>
          </a:p>
          <a:p xmlns:a="http://schemas.openxmlformats.org/drawingml/2006/main">
            <a:r>
              <a:t>.venv/Lib/site-packages/urllib3-2.8.0.dist-info/METADATA</a:t>
            </a:r>
          </a:p>
          <a:p xmlns:a="http://schemas.openxmlformats.org/drawingml/2006/main">
            <a:r>
              <a:t>requirements.txt</a:t>
            </a:r>
          </a:p>
          <a:p xmlns:a="http://schemas.openxmlformats.org/drawingml/2006/main">
            <a:r>
              <a:t>https://urllib3.readthedocs.io</a:t>
            </a:r>
          </a:p>
          <a:p xmlns:a="http://schemas.openxmlformats.org/drawingml/2006/main">
            <a:r>
              <a:t/>
            </a:r>
          </a:p>
          <a:p xmlns:a="http://schemas.openxmlformats.org/drawingml/2006/main">
            <a:r>
              <a:t>uuid_utils==0.17.1</a:t>
            </a:r>
          </a:p>
          <a:p xmlns:a="http://schemas.openxmlformats.org/drawingml/2006/main">
            <a:r>
              <a:t>Classement de référence : Support de dépendance.</a:t>
            </a:r>
          </a:p>
          <a:p xmlns:a="http://schemas.openxmlformats.org/drawingml/2006/main">
            <a:r>
              <a:t>Fonction : Génère et manipule rapidement des UUID avec une implémentation Rust.</a:t>
            </a:r>
          </a:p>
          <a:p xmlns:a="http://schemas.openxmlformats.org/drawingml/2006/main">
            <a:r>
              <a:t>Utilisation Genesis : Est requis par langchain-core et Langsmith; les identifiants métier Genesis utilisent uuid de Python.</a:t>
            </a:r>
          </a:p>
          <a:p xmlns:a="http://schemas.openxmlformats.org/drawingml/2006/main">
            <a:r>
              <a:t>Pourquoi présent : Version épinglée dans requirements.txt; requis immédiatement par langchain-core, langsmith.</a:t>
            </a:r>
          </a:p>
          <a:p xmlns:a="http://schemas.openxmlformats.org/drawingml/2006/main">
            <a:r>
              <a:t>Exemple : Une dépendance peut produire un UUID performant sans modifier le schéma d’identité des runs Genesis.</a:t>
            </a:r>
          </a:p>
          <a:p xmlns:a="http://schemas.openxmlformats.org/drawingml/2006/main">
            <a:r>
              <a:t>Sources :</a:t>
            </a:r>
          </a:p>
          <a:p xmlns:a="http://schemas.openxmlformats.org/drawingml/2006/main">
            <a:r>
              <a:t>services/genesis/workflow.py</a:t>
            </a:r>
          </a:p>
          <a:p xmlns:a="http://schemas.openxmlformats.org/drawingml/2006/main">
            <a:r>
              <a:t>.venv/Lib/site-packages/uuid_utils-0.17.1.dist-info/METADATA</a:t>
            </a:r>
          </a:p>
          <a:p xmlns:a="http://schemas.openxmlformats.org/drawingml/2006/main">
            <a:r>
              <a:t>requirements.txt</a:t>
            </a:r>
          </a:p>
          <a:p xmlns:a="http://schemas.openxmlformats.org/drawingml/2006/main">
            <a:r>
              <a:t>https://github.com/aminalaee/uuid-utils</a:t>
            </a:r>
          </a:p>
          <a:p xmlns:a="http://schemas.openxmlformats.org/drawingml/2006/main">
            <a:r>
              <a:t/>
            </a:r>
          </a:p>
          <a:p xmlns:a="http://schemas.openxmlformats.org/drawingml/2006/main">
            <a:r>
              <a:t>websockets==16.1.1</a:t>
            </a:r>
          </a:p>
          <a:p xmlns:a="http://schemas.openxmlformats.org/drawingml/2006/main">
            <a:r>
              <a:t>Classement de référence : Support de dépendance.</a:t>
            </a:r>
          </a:p>
          <a:p xmlns:a="http://schemas.openxmlformats.org/drawingml/2006/main">
            <a:r>
              <a:t>Fonction : Implémente les clients et serveurs du protocole WebSocket.</a:t>
            </a:r>
          </a:p>
          <a:p xmlns:a="http://schemas.openxmlformats.org/drawingml/2006/main">
            <a:r>
              <a:t>Utilisation Genesis : Est requis par les SDK LangGraph et Langsmith; Genesis expose ses événements via SSE plutôt qu’un endpoint WebSocket explicite.</a:t>
            </a:r>
          </a:p>
          <a:p xmlns:a="http://schemas.openxmlformats.org/drawingml/2006/main">
            <a:r>
              <a:t>Pourquoi présent : Version épinglée dans requirements.txt; requis immédiatement par langgraph-sdk, langsmith; liens conditionnels distincts : uvicorn (extra == "standard").</a:t>
            </a:r>
          </a:p>
          <a:p xmlns:a="http://schemas.openxmlformats.org/drawingml/2006/main">
            <a:r>
              <a:t>Exemple : Un SDK peut maintenir une connexion bidirectionnelle persistante; cela ne décrit pas le replay local Genesis.</a:t>
            </a:r>
          </a:p>
          <a:p xmlns:a="http://schemas.openxmlformats.org/drawingml/2006/main">
            <a:r>
              <a:t>Sources :</a:t>
            </a:r>
          </a:p>
          <a:p xmlns:a="http://schemas.openxmlformats.org/drawingml/2006/main">
            <a:r>
              <a:t>services/genesis/api.py</a:t>
            </a:r>
          </a:p>
          <a:p xmlns:a="http://schemas.openxmlformats.org/drawingml/2006/main">
            <a:r>
              <a:t>.venv/Lib/site-packages/websockets-16.1.1.dist-info/METADATA</a:t>
            </a:r>
          </a:p>
          <a:p xmlns:a="http://schemas.openxmlformats.org/drawingml/2006/main">
            <a:r>
              <a:t>requirements.txt</a:t>
            </a:r>
          </a:p>
          <a:p xmlns:a="http://schemas.openxmlformats.org/drawingml/2006/main">
            <a:r>
              <a:t>https://github.com/python-websockets/websockets</a:t>
            </a:r>
          </a:p>
          <a:p xmlns:a="http://schemas.openxmlformats.org/drawingml/2006/main">
            <a:r>
              <a:t/>
            </a:r>
          </a:p>
          <a:p xmlns:a="http://schemas.openxmlformats.org/drawingml/2006/main">
            <a:r>
              <a:t>wrapt==2.5.0</a:t>
            </a:r>
          </a:p>
          <a:p xmlns:a="http://schemas.openxmlformats.org/drawingml/2006/main">
            <a:r>
              <a:t>Classement de référence : Support de dépendance.</a:t>
            </a:r>
          </a:p>
          <a:p xmlns:a="http://schemas.openxmlformats.org/drawingml/2006/main">
            <a:r>
              <a:t>Fonction : Fournit des décorateurs et proxies qui préservent correctement les objets enveloppés.</a:t>
            </a:r>
          </a:p>
          <a:p xmlns:a="http://schemas.openxmlformats.org/drawingml/2006/main">
            <a:r>
              <a:t>Utilisation Genesis : Est requis par Langfuse facultatif, sans import métier direct.</a:t>
            </a:r>
          </a:p>
          <a:p xmlns:a="http://schemas.openxmlformats.org/drawingml/2006/main">
            <a:r>
              <a:t>Pourquoi présent : Version épinglée dans requirements.txt; requis immédiatement par langfuse.</a:t>
            </a:r>
          </a:p>
          <a:p xmlns:a="http://schemas.openxmlformats.org/drawingml/2006/main">
            <a:r>
              <a:t>Exemple : Un décorateur peut observer une fonction tout en conservant sa signature et son comportement d’appel.</a:t>
            </a:r>
          </a:p>
          <a:p xmlns:a="http://schemas.openxmlformats.org/drawingml/2006/main">
            <a:r>
              <a:t>Sources :</a:t>
            </a:r>
          </a:p>
          <a:p xmlns:a="http://schemas.openxmlformats.org/drawingml/2006/main">
            <a:r>
              <a:t>services/genesis/worker.py</a:t>
            </a:r>
          </a:p>
          <a:p xmlns:a="http://schemas.openxmlformats.org/drawingml/2006/main">
            <a:r>
              <a:t>.venv/Lib/site-packages/wrapt-2.5.0.dist-info/METADATA</a:t>
            </a:r>
          </a:p>
          <a:p xmlns:a="http://schemas.openxmlformats.org/drawingml/2006/main">
            <a:r>
              <a:t>requirements.txt</a:t>
            </a:r>
          </a:p>
          <a:p xmlns:a="http://schemas.openxmlformats.org/drawingml/2006/main">
            <a:r>
              <a:t>https://github.com/GrahamDumpleton/wrapt</a:t>
            </a:r>
          </a:p>
          <a:p xmlns:a="http://schemas.openxmlformats.org/drawingml/2006/main">
            <a:r>
              <a:t/>
            </a:r>
          </a:p>
          <a:p xmlns:a="http://schemas.openxmlformats.org/drawingml/2006/main">
            <a:r>
              <a:t>xxhash==4.0.1</a:t>
            </a:r>
          </a:p>
          <a:p xmlns:a="http://schemas.openxmlformats.org/drawingml/2006/main">
            <a:r>
              <a:t>Classement de référence : Support de dépendance.</a:t>
            </a:r>
          </a:p>
          <a:p xmlns:a="http://schemas.openxmlformats.org/drawingml/2006/main">
            <a:r>
              <a:t>Fonction : Calcule rapidement des empreintes non cryptographiques.</a:t>
            </a:r>
          </a:p>
          <a:p xmlns:a="http://schemas.openxmlformats.org/drawingml/2006/main">
            <a:r>
              <a:t>Utilisation Genesis : Est requis par LangGraph et Langsmith; les hashes métier Genesis utilisent hashlib.</a:t>
            </a:r>
          </a:p>
          <a:p xmlns:a="http://schemas.openxmlformats.org/drawingml/2006/main">
            <a:r>
              <a:t>Pourquoi présent : Version épinglée dans requirements.txt; requis immédiatement par langgraph, langsmith.</a:t>
            </a:r>
          </a:p>
          <a:p xmlns:a="http://schemas.openxmlformats.org/drawingml/2006/main">
            <a:r>
              <a:t>Exemple : Une bibliothèque peut comparer des états par hash rapide; cette empreinte ne remplace pas les certificats ni SHA-256 Genesis.</a:t>
            </a:r>
          </a:p>
          <a:p xmlns:a="http://schemas.openxmlformats.org/drawingml/2006/main">
            <a:r>
              <a:t>Sources :</a:t>
            </a:r>
          </a:p>
          <a:p xmlns:a="http://schemas.openxmlformats.org/drawingml/2006/main">
            <a:r>
              <a:t>services/genesis/models.py</a:t>
            </a:r>
          </a:p>
          <a:p xmlns:a="http://schemas.openxmlformats.org/drawingml/2006/main">
            <a:r>
              <a:t>.venv/Lib/site-packages/xxhash-4.0.1.dist-info/METADATA</a:t>
            </a:r>
          </a:p>
          <a:p xmlns:a="http://schemas.openxmlformats.org/drawingml/2006/main">
            <a:r>
              <a:t>requirements.txt</a:t>
            </a:r>
          </a:p>
          <a:p xmlns:a="http://schemas.openxmlformats.org/drawingml/2006/main">
            <a:r>
              <a:t>https://github.com/ifduyue/python-xxhash</a:t>
            </a:r>
          </a:p>
          <a:p xmlns:a="http://schemas.openxmlformats.org/drawingml/2006/main">
            <a:r>
              <a:t/>
            </a:r>
          </a:p>
          <a:p xmlns:a="http://schemas.openxmlformats.org/drawingml/2006/main">
            <a:r>
              <a:t>zstandard==0.25.0</a:t>
            </a:r>
          </a:p>
          <a:p xmlns:a="http://schemas.openxmlformats.org/drawingml/2006/main">
            <a:r>
              <a:t>Classement de référence : Support de dépendance.</a:t>
            </a:r>
          </a:p>
          <a:p xmlns:a="http://schemas.openxmlformats.org/drawingml/2006/main">
            <a:r>
              <a:t>Fonction : Compresse et décompresse au format Zstandard.</a:t>
            </a:r>
          </a:p>
          <a:p xmlns:a="http://schemas.openxmlformats.org/drawingml/2006/main">
            <a:r>
              <a:t>Utilisation Genesis : Est requis par Langsmith; aucune archive métier Genesis n’est produite directement avec ce module.</a:t>
            </a:r>
          </a:p>
          <a:p xmlns:a="http://schemas.openxmlformats.org/drawingml/2006/main">
            <a:r>
              <a:t>Pourquoi présent : Version épinglée dans requirements.txt; requis immédiatement par langsmith.</a:t>
            </a:r>
          </a:p>
          <a:p xmlns:a="http://schemas.openxmlformats.org/drawingml/2006/main">
            <a:r>
              <a:t>Exemple : Un client dépendant peut compresser un lot de données pour réduire son volume de transport.</a:t>
            </a:r>
          </a:p>
          <a:p xmlns:a="http://schemas.openxmlformats.org/drawingml/2006/main">
            <a:r>
              <a:t>Sources :</a:t>
            </a:r>
          </a:p>
          <a:p xmlns:a="http://schemas.openxmlformats.org/drawingml/2006/main">
            <a:r>
              <a:t>services/genesis/workflow.py</a:t>
            </a:r>
          </a:p>
          <a:p xmlns:a="http://schemas.openxmlformats.org/drawingml/2006/main">
            <a:r>
              <a:t>.venv/Lib/site-packages/zstandard-0.25.0.dist-info/METADATA</a:t>
            </a:r>
          </a:p>
          <a:p xmlns:a="http://schemas.openxmlformats.org/drawingml/2006/main">
            <a:r>
              <a:t>requirements.txt</a:t>
            </a:r>
          </a:p>
          <a:p xmlns:a="http://schemas.openxmlformats.org/drawingml/2006/main">
            <a:r>
              <a:t>https://github.com/indygreg/python-zstandard</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Intégration optionnelle.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langfuse==4.17.0</a:t>
            </a:r>
          </a:p>
          <a:p xmlns:a="http://schemas.openxmlformats.org/drawingml/2006/main">
            <a:r>
              <a:t>Classement de référence : Intégration optionnelle.</a:t>
            </a:r>
          </a:p>
          <a:p xmlns:a="http://schemas.openxmlformats.org/drawingml/2006/main">
            <a:r>
              <a:t>Fonction : Fournit traçage LLM, gestion de prompts, jeux de données et outils d’évaluation.</a:t>
            </a:r>
          </a:p>
          <a:p xmlns:a="http://schemas.openxmlformats.org/drawingml/2006/main">
            <a:r>
              <a:t>Utilisation Genesis : Le worker l’importe uniquement pour l’export externe facultatif; la base locale et l’outbox restent la source d’observation.</a:t>
            </a:r>
          </a:p>
          <a:p xmlns:a="http://schemas.openxmlformats.org/drawingml/2006/main">
            <a:r>
              <a:t>Pourquoi présent : Version épinglée dans requirements.txt; aucun parent d’exécution dans les 87 distributions de cet inventaire.</a:t>
            </a:r>
          </a:p>
          <a:p xmlns:a="http://schemas.openxmlformats.org/drawingml/2006/main">
            <a:r>
              <a:t>Exemple : export_outbox transmet un événement assaini si l’export est configuré; aucune connexion externe n’est démontrée ici.</a:t>
            </a:r>
          </a:p>
          <a:p xmlns:a="http://schemas.openxmlformats.org/drawingml/2006/main">
            <a:r>
              <a:t>Sources :</a:t>
            </a:r>
          </a:p>
          <a:p xmlns:a="http://schemas.openxmlformats.org/drawingml/2006/main">
            <a:r>
              <a:t>services/genesis/worker.py</a:t>
            </a:r>
          </a:p>
          <a:p xmlns:a="http://schemas.openxmlformats.org/drawingml/2006/main">
            <a:r>
              <a:t>.venv/Lib/site-packages/langfuse-4.17.0.dist-info/METADATA</a:t>
            </a:r>
          </a:p>
          <a:p xmlns:a="http://schemas.openxmlformats.org/drawingml/2006/main">
            <a:r>
              <a:t>requirements.txt</a:t>
            </a:r>
          </a:p>
          <a:p xmlns:a="http://schemas.openxmlformats.org/drawingml/2006/main">
            <a:r>
              <a:t>https://langfuse.com</a:t>
            </a:r>
          </a:p>
          <a:p xmlns:a="http://schemas.openxmlformats.org/drawingml/2006/main">
            <a:r>
              <a:t/>
            </a:r>
          </a:p>
          <a:p xmlns:a="http://schemas.openxmlformats.org/drawingml/2006/main">
            <a:r>
              <a:t>psycopg==3.3.6</a:t>
            </a:r>
          </a:p>
          <a:p xmlns:a="http://schemas.openxmlformats.org/drawingml/2006/main">
            <a:r>
              <a:t>Classement de référence : Intégration optionnelle.</a:t>
            </a:r>
          </a:p>
          <a:p xmlns:a="http://schemas.openxmlformats.org/drawingml/2006/main">
            <a:r>
              <a:t>Fonction : Fournit le pilote Python PostgreSQL pour exécuter des requêtes et gérer les transactions.</a:t>
            </a:r>
          </a:p>
          <a:p xmlns:a="http://schemas.openxmlformats.org/drawingml/2006/main">
            <a:r>
              <a:t>Utilisation Genesis : Est installé pour le profil PostgreSQL et le saver correspondant; seul le profil SQLite est vérifié localement.</a:t>
            </a:r>
          </a:p>
          <a:p xmlns:a="http://schemas.openxmlformats.org/drawingml/2006/main">
            <a:r>
              <a:t>Pourquoi présent : Version épinglée dans requirements.txt; requis immédiatement par langgraph-checkpoint-postgres.</a:t>
            </a:r>
          </a:p>
          <a:p xmlns:a="http://schemas.openxmlformats.org/drawingml/2006/main">
            <a:r>
              <a:t>Exemple : Une URL SQLAlchemy PostgreSQL pourrait employer ce pilote, sans prouver un test PostgreSQL exécuté.</a:t>
            </a:r>
          </a:p>
          <a:p xmlns:a="http://schemas.openxmlformats.org/drawingml/2006/main">
            <a:r>
              <a:t>Sources :</a:t>
            </a:r>
          </a:p>
          <a:p xmlns:a="http://schemas.openxmlformats.org/drawingml/2006/main">
            <a:r>
              <a:t>services/genesis/db.py</a:t>
            </a:r>
          </a:p>
          <a:p xmlns:a="http://schemas.openxmlformats.org/drawingml/2006/main">
            <a:r>
              <a:t>.venv/Lib/site-packages/psycopg-3.3.6.dist-info/METADATA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psycopg-binary==3.3.6</a:t>
            </a:r>
          </a:p>
          <a:p xmlns:a="http://schemas.openxmlformats.org/drawingml/2006/main">
            <a:r>
              <a:t>Classement de référence : Intégration optionnelle.</a:t>
            </a:r>
          </a:p>
          <a:p xmlns:a="http://schemas.openxmlformats.org/drawingml/2006/main">
            <a:r>
              <a:t>Fonction : Distribue l’implémentation compilée de Psycopg et ses composants binaires.</a:t>
            </a:r>
          </a:p>
          <a:p xmlns:a="http://schemas.openxmlformats.org/drawingml/2006/main">
            <a:r>
              <a:t>Utilisation Genesis : Est installé pour le profil PostgreSQL facultatif; aucun usage de ce profil n’est attesté.</a:t>
            </a:r>
          </a:p>
          <a:p xmlns:a="http://schemas.openxmlformats.org/drawingml/2006/main">
            <a:r>
              <a:t>Pourquoi présent : Version épinglée dans requirements.txt; liens conditionnels distincts : psycopg (implementation_name != "pypy" and extra == "binary").</a:t>
            </a:r>
          </a:p>
          <a:p xmlns:a="http://schemas.openxmlformats.org/drawingml/2006/main">
            <a:r>
              <a:t>Exemple : Il permet au pilote de charger son implémentation compilée sans construire ces composants localement.</a:t>
            </a:r>
          </a:p>
          <a:p xmlns:a="http://schemas.openxmlformats.org/drawingml/2006/main">
            <a:r>
              <a:t>Sources :</a:t>
            </a:r>
          </a:p>
          <a:p xmlns:a="http://schemas.openxmlformats.org/drawingml/2006/main">
            <a:r>
              <a:t>requirements.txt</a:t>
            </a:r>
          </a:p>
          <a:p xmlns:a="http://schemas.openxmlformats.org/drawingml/2006/main">
            <a:r>
              <a:t>.venv/Lib/site-packages/psycopg_binary-3.3.6.dist-info/METADATA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psycopg-pool==3.3.3</a:t>
            </a:r>
          </a:p>
          <a:p xmlns:a="http://schemas.openxmlformats.org/drawingml/2006/main">
            <a:r>
              <a:t>Classement de référence : Intégration optionnelle.</a:t>
            </a:r>
          </a:p>
          <a:p xmlns:a="http://schemas.openxmlformats.org/drawingml/2006/main">
            <a:r>
              <a:t>Fonction : Maintient un ensemble réutilisable de connexions Psycopg.</a:t>
            </a:r>
          </a:p>
          <a:p xmlns:a="http://schemas.openxmlformats.org/drawingml/2006/main">
            <a:r>
              <a:t>Utilisation Genesis : Est requis par le saver PostgreSQL installé, que le workflow Genesis ne sélectionne pas.</a:t>
            </a:r>
          </a:p>
          <a:p xmlns:a="http://schemas.openxmlformats.org/drawingml/2006/main">
            <a:r>
              <a:t>Pourquoi présent : Version épinglée dans requirements.txt; requis immédiatement par langgraph-checkpoint-postgres; liens conditionnels distincts : psycopg (extra == "pool").</a:t>
            </a:r>
          </a:p>
          <a:p xmlns:a="http://schemas.openxmlformats.org/drawingml/2006/main">
            <a:r>
              <a:t>Exemple : Un saver PostgreSQL peut emprunter puis rendre une connexion au pool.</a:t>
            </a:r>
          </a:p>
          <a:p xmlns:a="http://schemas.openxmlformats.org/drawingml/2006/main">
            <a:r>
              <a:t>Sources :</a:t>
            </a:r>
          </a:p>
          <a:p xmlns:a="http://schemas.openxmlformats.org/drawingml/2006/main">
            <a:r>
              <a:t>services/genesis/workflow.py</a:t>
            </a:r>
          </a:p>
          <a:p xmlns:a="http://schemas.openxmlformats.org/drawingml/2006/main">
            <a:r>
              <a:t>.venv/Lib/site-packages/psycopg_pool-3.3.3.dist-info/METADATA</a:t>
            </a:r>
          </a:p>
          <a:p xmlns:a="http://schemas.openxmlformats.org/drawingml/2006/main">
            <a:r>
              <a:t>requirements.txt</a:t>
            </a:r>
          </a:p>
          <a:p xmlns:a="http://schemas.openxmlformats.org/drawingml/2006/main">
            <a:r>
              <a:t>https://psycopg.org/</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Développement et tests.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iniconfig==2.3.1</a:t>
            </a:r>
          </a:p>
          <a:p xmlns:a="http://schemas.openxmlformats.org/drawingml/2006/main">
            <a:r>
              <a:t>Classement de référence : Développement et tests.</a:t>
            </a:r>
          </a:p>
          <a:p xmlns:a="http://schemas.openxmlformats.org/drawingml/2006/main">
            <a:r>
              <a:t>Fonction : Lit des fichiers de configuration INI en sections et valeurs.</a:t>
            </a:r>
          </a:p>
          <a:p xmlns:a="http://schemas.openxmlformats.org/drawingml/2006/main">
            <a:r>
              <a:t>Utilisation Genesis : Est une dépendance de pytest; ce n’est pas le lecteur de configuration métier Genesis.</a:t>
            </a:r>
          </a:p>
          <a:p xmlns:a="http://schemas.openxmlformats.org/drawingml/2006/main">
            <a:r>
              <a:t>Pourquoi présent : Version épinglée dans requirements.txt; requis immédiatement par pytest.</a:t>
            </a:r>
          </a:p>
          <a:p xmlns:a="http://schemas.openxmlformats.org/drawingml/2006/main">
            <a:r>
              <a:t>Exemple : pytest dispose de ce parseur pour les formats INI, alors que les réglages Genesis de pytest sont dans pyproject.toml.</a:t>
            </a:r>
          </a:p>
          <a:p xmlns:a="http://schemas.openxmlformats.org/drawingml/2006/main">
            <a:r>
              <a:t>Sources :</a:t>
            </a:r>
          </a:p>
          <a:p xmlns:a="http://schemas.openxmlformats.org/drawingml/2006/main">
            <a:r>
              <a:t>pyproject.toml</a:t>
            </a:r>
          </a:p>
          <a:p xmlns:a="http://schemas.openxmlformats.org/drawingml/2006/main">
            <a:r>
              <a:t>.venv/Lib/site-packages/iniconfig-2.3.1.dist-info/METADATA</a:t>
            </a:r>
          </a:p>
          <a:p xmlns:a="http://schemas.openxmlformats.org/drawingml/2006/main">
            <a:r>
              <a:t>requirements.txt</a:t>
            </a:r>
          </a:p>
          <a:p xmlns:a="http://schemas.openxmlformats.org/drawingml/2006/main">
            <a:r>
              <a:t>https://github.com/pytest-dev/iniconfig</a:t>
            </a:r>
          </a:p>
          <a:p xmlns:a="http://schemas.openxmlformats.org/drawingml/2006/main">
            <a:r>
              <a:t/>
            </a:r>
          </a:p>
          <a:p xmlns:a="http://schemas.openxmlformats.org/drawingml/2006/main">
            <a:r>
              <a:t>pluggy==1.6.0</a:t>
            </a:r>
          </a:p>
          <a:p xmlns:a="http://schemas.openxmlformats.org/drawingml/2006/main">
            <a:r>
              <a:t>Classement de référence : Développement et tests.</a:t>
            </a:r>
          </a:p>
          <a:p xmlns:a="http://schemas.openxmlformats.org/drawingml/2006/main">
            <a:r>
              <a:t>Fonction : Organise les hooks et plugins Python au moyen de points d’extension explicites.</a:t>
            </a:r>
          </a:p>
          <a:p xmlns:a="http://schemas.openxmlformats.org/drawingml/2006/main">
            <a:r>
              <a:t>Utilisation Genesis : Fournit le système de plugins de pytest utilisé pour la vérification du backend.</a:t>
            </a:r>
          </a:p>
          <a:p xmlns:a="http://schemas.openxmlformats.org/drawingml/2006/main">
            <a:r>
              <a:t>Pourquoi présent : Version épinglée dans requirements.txt; requis immédiatement par pytest.</a:t>
            </a:r>
          </a:p>
          <a:p xmlns:a="http://schemas.openxmlformats.org/drawingml/2006/main">
            <a:r>
              <a:t>Exemple : pytest appelle un hook de collecte ou de résultat auprès des plugins enregistrés.</a:t>
            </a:r>
          </a:p>
          <a:p xmlns:a="http://schemas.openxmlformats.org/drawingml/2006/main">
            <a:r>
              <a:t>Sources :</a:t>
            </a:r>
          </a:p>
          <a:p xmlns:a="http://schemas.openxmlformats.org/drawingml/2006/main">
            <a:r>
              <a:t>tests/conftest.py</a:t>
            </a:r>
          </a:p>
          <a:p xmlns:a="http://schemas.openxmlformats.org/drawingml/2006/main">
            <a:r>
              <a:t>.venv/Lib/site-packages/pluggy-1.6.0.dist-info/METADATA</a:t>
            </a:r>
          </a:p>
          <a:p xmlns:a="http://schemas.openxmlformats.org/drawingml/2006/main">
            <a:r>
              <a:t>requirements.txt</a:t>
            </a:r>
          </a:p>
          <a:p xmlns:a="http://schemas.openxmlformats.org/drawingml/2006/main">
            <a:r>
              <a:t>https://pluggy.readthedocs.io/en/stable/</a:t>
            </a:r>
          </a:p>
          <a:p xmlns:a="http://schemas.openxmlformats.org/drawingml/2006/main">
            <a:r>
              <a:t/>
            </a:r>
          </a:p>
          <a:p xmlns:a="http://schemas.openxmlformats.org/drawingml/2006/main">
            <a:r>
              <a:t>pytest==9.1.1</a:t>
            </a:r>
          </a:p>
          <a:p xmlns:a="http://schemas.openxmlformats.org/drawingml/2006/main">
            <a:r>
              <a:t>Classement de référence : Développement et tests.</a:t>
            </a:r>
          </a:p>
          <a:p xmlns:a="http://schemas.openxmlformats.org/drawingml/2006/main">
            <a:r>
              <a:t>Fonction : Collecte et exécute les tests Python avec assertions, fixtures et paramétrisation.</a:t>
            </a:r>
          </a:p>
          <a:p xmlns:a="http://schemas.openxmlformats.org/drawingml/2006/main">
            <a:r>
              <a:t>Utilisation Genesis : Vérifie domaines, budgets, transactions, APIs, recovery et workflows dans tests/.</a:t>
            </a:r>
          </a:p>
          <a:p xmlns:a="http://schemas.openxmlformats.org/drawingml/2006/main">
            <a:r>
              <a:t>Pourquoi présent : Version épinglée dans requirements.txt; aucun parent d’exécution dans les 87 distributions de cet inventaire.</a:t>
            </a:r>
          </a:p>
          <a:p xmlns:a="http://schemas.openxmlformats.org/drawingml/2006/main">
            <a:r>
              <a:t>Exemple : Les fixtures de petites tournées contrôlent dépassement de capacité et erreurs de fenêtres horaires.</a:t>
            </a:r>
          </a:p>
          <a:p xmlns:a="http://schemas.openxmlformats.org/drawingml/2006/main">
            <a:r>
              <a:t>Sources :</a:t>
            </a:r>
          </a:p>
          <a:p xmlns:a="http://schemas.openxmlformats.org/drawingml/2006/main">
            <a:r>
              <a:t>tests/test_domain.py</a:t>
            </a:r>
          </a:p>
          <a:p xmlns:a="http://schemas.openxmlformats.org/drawingml/2006/main">
            <a:r>
              <a:t>.venv/Lib/site-packages/pytest-9.1.1.dist-info/METADATA</a:t>
            </a:r>
          </a:p>
          <a:p xmlns:a="http://schemas.openxmlformats.org/drawingml/2006/main">
            <a:r>
              <a:t>requirements.txt</a:t>
            </a:r>
          </a:p>
          <a:p xmlns:a="http://schemas.openxmlformats.org/drawingml/2006/main">
            <a:r>
              <a:t>https://docs.pytest.org/en/latest/</a:t>
            </a:r>
          </a:p>
          <a:p xmlns:a="http://schemas.openxmlformats.org/drawingml/2006/main">
            <a:r>
              <a:t/>
            </a:r>
          </a:p>
          <a:p xmlns:a="http://schemas.openxmlformats.org/drawingml/2006/main">
            <a:r>
              <a:t>ruff==0.17.0</a:t>
            </a:r>
          </a:p>
          <a:p xmlns:a="http://schemas.openxmlformats.org/drawingml/2006/main">
            <a:r>
              <a:t>Classement de référence : Développement et tests.</a:t>
            </a:r>
          </a:p>
          <a:p xmlns:a="http://schemas.openxmlformats.org/drawingml/2006/main">
            <a:r>
              <a:t>Fonction : Analyse rapidement le code Python pour erreurs de lint et conventions configurées.</a:t>
            </a:r>
          </a:p>
          <a:p xmlns:a="http://schemas.openxmlformats.org/drawingml/2006/main">
            <a:r>
              <a:t>Utilisation Genesis : Le script de vérification l’utilise avec les règles E4, E7, E9 et F de pyproject.toml.</a:t>
            </a:r>
          </a:p>
          <a:p xmlns:a="http://schemas.openxmlformats.org/drawingml/2006/main">
            <a:r>
              <a:t>Pourquoi présent : Version épinglée dans requirements.txt; aucun parent d’exécution dans les 87 distributions de cet inventaire.</a:t>
            </a:r>
          </a:p>
          <a:p xmlns:a="http://schemas.openxmlformats.org/drawingml/2006/main">
            <a:r>
              <a:t>Exemple : Un import inutilisé ou un nom non défini provoque un diagnostic avant livraison.</a:t>
            </a:r>
          </a:p>
          <a:p xmlns:a="http://schemas.openxmlformats.org/drawingml/2006/main">
            <a:r>
              <a:t>Sources :</a:t>
            </a:r>
          </a:p>
          <a:p xmlns:a="http://schemas.openxmlformats.org/drawingml/2006/main">
            <a:r>
              <a:t>scripts/check.ps1</a:t>
            </a:r>
          </a:p>
          <a:p xmlns:a="http://schemas.openxmlformats.org/drawingml/2006/main">
            <a:r>
              <a:t>.venv/Lib/site-packages/ruff-0.17.0.dist-info/METADATA</a:t>
            </a:r>
          </a:p>
          <a:p xmlns:a="http://schemas.openxmlformats.org/drawingml/2006/main">
            <a:r>
              <a:t>requirements.txt</a:t>
            </a:r>
          </a:p>
          <a:p xmlns:a="http://schemas.openxmlformats.org/drawingml/2006/main">
            <a:r>
              <a:t>https://docs.astral.sh/ruff/</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Installé sans usage métier direct. Les versions décrivent le dépôt, sans affirmation de dernière version disponible. Les relations Python proviennent des métadonnées installées, dont les 87 versions correspondent aux épingles. Les extras conditionnels restent distincts de l’usage actif. Les exemples du tableau peuvent citer un paquet détaillé dans un autre groupe.</a:t>
            </a:r>
          </a:p>
          <a:p xmlns:a="http://schemas.openxmlformats.org/drawingml/2006/main">
            <a:r>
              <a:t/>
            </a:r>
          </a:p>
          <a:p xmlns:a="http://schemas.openxmlformats.org/drawingml/2006/main">
            <a:r>
              <a:t>aiosqlite==0.22.1</a:t>
            </a:r>
          </a:p>
          <a:p xmlns:a="http://schemas.openxmlformats.org/drawingml/2006/main">
            <a:r>
              <a:t>Classement de référence : Installé sans usage métier direct.</a:t>
            </a:r>
          </a:p>
          <a:p xmlns:a="http://schemas.openxmlformats.org/drawingml/2006/main">
            <a:r>
              <a:t>Fonction : Expose SQLite à asyncio en exécutant les opérations sur une file et un thread dédié.</a:t>
            </a:r>
          </a:p>
          <a:p xmlns:a="http://schemas.openxmlformats.org/drawingml/2006/main">
            <a:r>
              <a:t>Utilisation Genesis : Est requis par le paquet de checkpoints SQLite, mais Genesis sélectionne le saver synchrone; aucun appel applicatif direct.</a:t>
            </a:r>
          </a:p>
          <a:p xmlns:a="http://schemas.openxmlformats.org/drawingml/2006/main">
            <a:r>
              <a:t>Pourquoi présent : Version épinglée dans requirements.txt; requis immédiatement par langgraph-checkpoint-sqlite; liens conditionnels distincts : SQLAlchemy (extra == "aiosqlite").</a:t>
            </a:r>
          </a:p>
          <a:p xmlns:a="http://schemas.openxmlformats.org/drawingml/2006/main">
            <a:r>
              <a:t>Exemple : AsyncSqliteSaver peut attendre une écriture sans bloquer la boucle asyncio; ce saver n’est pas celui du workflow Genesis.</a:t>
            </a:r>
          </a:p>
          <a:p xmlns:a="http://schemas.openxmlformats.org/drawingml/2006/main">
            <a:r>
              <a:t>Sources :</a:t>
            </a:r>
          </a:p>
          <a:p xmlns:a="http://schemas.openxmlformats.org/drawingml/2006/main">
            <a:r>
              <a:t>services/genesis/workflow.py</a:t>
            </a:r>
          </a:p>
          <a:p xmlns:a="http://schemas.openxmlformats.org/drawingml/2006/main">
            <a:r>
              <a:t>.venv/Lib/site-packages/aiosqlite-0.22.1.dist-info/METADATA</a:t>
            </a:r>
          </a:p>
          <a:p xmlns:a="http://schemas.openxmlformats.org/drawingml/2006/main">
            <a:r>
              <a:t>requirements.txt</a:t>
            </a:r>
          </a:p>
          <a:p xmlns:a="http://schemas.openxmlformats.org/drawingml/2006/main">
            <a:r>
              <a:t>https://aiosqlite.omnilib.dev</a:t>
            </a:r>
          </a:p>
          <a:p xmlns:a="http://schemas.openxmlformats.org/drawingml/2006/main">
            <a:r>
              <a:t/>
            </a:r>
          </a:p>
          <a:p xmlns:a="http://schemas.openxmlformats.org/drawingml/2006/main">
            <a:r>
              <a:t>alembic==1.20.0</a:t>
            </a:r>
          </a:p>
          <a:p xmlns:a="http://schemas.openxmlformats.org/drawingml/2006/main">
            <a:r>
              <a:t>Classement de référence : Installé sans usage métier direct.</a:t>
            </a:r>
          </a:p>
          <a:p xmlns:a="http://schemas.openxmlformats.org/drawingml/2006/main">
            <a:r>
              <a:t>Fonction : Versionne et applique les évolutions de schéma d’une base SQLAlchemy.</a:t>
            </a:r>
          </a:p>
          <a:p xmlns:a="http://schemas.openxmlformats.org/drawingml/2006/main">
            <a:r>
              <a:t>Utilisation Genesis : Est installé pour l’architecture SQL, mais aucune migration Alembic active n’est appelée; le schéma local est créé par le code.</a:t>
            </a:r>
          </a:p>
          <a:p xmlns:a="http://schemas.openxmlformats.org/drawingml/2006/main">
            <a:r>
              <a:t>Pourquoi présent : Version épinglée dans requirements.txt; aucun parent d’exécution dans les 87 distributions de cet inventaire.</a:t>
            </a:r>
          </a:p>
          <a:p xmlns:a="http://schemas.openxmlformats.org/drawingml/2006/main">
            <a:r>
              <a:t>Exemple : Une révision Alembic décrirait l’ajout d’une colonne et sa réversion; Genesis n’exécute pas ce mécanisme actuellement.</a:t>
            </a:r>
          </a:p>
          <a:p xmlns:a="http://schemas.openxmlformats.org/drawingml/2006/main">
            <a:r>
              <a:t>Sources :</a:t>
            </a:r>
          </a:p>
          <a:p xmlns:a="http://schemas.openxmlformats.org/drawingml/2006/main">
            <a:r>
              <a:t>services/genesis/db.py</a:t>
            </a:r>
          </a:p>
          <a:p xmlns:a="http://schemas.openxmlformats.org/drawingml/2006/main">
            <a:r>
              <a:t>.venv/Lib/site-packages/alembic-1.20.0.dist-info/METADATA</a:t>
            </a:r>
          </a:p>
          <a:p xmlns:a="http://schemas.openxmlformats.org/drawingml/2006/main">
            <a:r>
              <a:t>requirements.txt</a:t>
            </a:r>
          </a:p>
          <a:p xmlns:a="http://schemas.openxmlformats.org/drawingml/2006/main">
            <a:r>
              <a:t>https://alembic.sqlalchemy.org</a:t>
            </a:r>
          </a:p>
          <a:p xmlns:a="http://schemas.openxmlformats.org/drawingml/2006/main">
            <a:r>
              <a:t/>
            </a:r>
          </a:p>
          <a:p xmlns:a="http://schemas.openxmlformats.org/drawingml/2006/main">
            <a:r>
              <a:t>langgraph-checkpoint-postgres==3.1.2</a:t>
            </a:r>
          </a:p>
          <a:p xmlns:a="http://schemas.openxmlformats.org/drawingml/2006/main">
            <a:r>
              <a:t>Classement de référence : Installé sans usage métier direct.</a:t>
            </a:r>
          </a:p>
          <a:p xmlns:a="http://schemas.openxmlformats.org/drawingml/2006/main">
            <a:r>
              <a:t>Fonction : Implémente la persistance des checkpoints LangGraph dans PostgreSQL.</a:t>
            </a:r>
          </a:p>
          <a:p xmlns:a="http://schemas.openxmlformats.org/drawingml/2006/main">
            <a:r>
              <a:t>Utilisation Genesis : Est installé, mais le workflow importe SqliteSaver; aucune exécution du saver PostgreSQL n’est établie.</a:t>
            </a:r>
          </a:p>
          <a:p xmlns:a="http://schemas.openxmlformats.org/drawingml/2006/main">
            <a:r>
              <a:t>Pourquoi présent : Version épinglée dans requirements.txt; aucun parent d’exécution dans les 87 distributions de cet inventaire.</a:t>
            </a:r>
          </a:p>
          <a:p xmlns:a="http://schemas.openxmlformats.org/drawingml/2006/main">
            <a:r>
              <a:t>Exemple : PostgresSaver pourrait enregistrer l’état dans PostgreSQL, mais sa présence n’atteste pas la reprise du profil local.</a:t>
            </a:r>
          </a:p>
          <a:p xmlns:a="http://schemas.openxmlformats.org/drawingml/2006/main">
            <a:r>
              <a:t>Sources :</a:t>
            </a:r>
          </a:p>
          <a:p xmlns:a="http://schemas.openxmlformats.org/drawingml/2006/main">
            <a:r>
              <a:t>services/genesis/workflow.py</a:t>
            </a:r>
          </a:p>
          <a:p xmlns:a="http://schemas.openxmlformats.org/drawingml/2006/main">
            <a:r>
              <a:t>.venv/Lib/site-packages/langgraph_checkpoint_postgres-3.1.2.dist-info/METADATA</a:t>
            </a:r>
          </a:p>
          <a:p xmlns:a="http://schemas.openxmlformats.org/drawingml/2006/main">
            <a:r>
              <a:t>requirements.txt</a:t>
            </a:r>
          </a:p>
          <a:p xmlns:a="http://schemas.openxmlformats.org/drawingml/2006/main">
            <a:r>
              <a:t>https://github.com/langchain-ai/langgraph/tree/main/libs/checkpoint-postgres</a:t>
            </a:r>
          </a:p>
          <a:p xmlns:a="http://schemas.openxmlformats.org/drawingml/2006/main">
            <a:r>
              <a:t/>
            </a:r>
          </a:p>
          <a:p xmlns:a="http://schemas.openxmlformats.org/drawingml/2006/main">
            <a:r>
              <a:t>Mako==1.4.3</a:t>
            </a:r>
          </a:p>
          <a:p xmlns:a="http://schemas.openxmlformats.org/drawingml/2006/main">
            <a:r>
              <a:t>Classement de référence : Installé sans usage métier direct.</a:t>
            </a:r>
          </a:p>
          <a:p xmlns:a="http://schemas.openxmlformats.org/drawingml/2006/main">
            <a:r>
              <a:t>Fonction : Transforme des modèles textuels contenant expressions et blocs Python en documents.</a:t>
            </a:r>
          </a:p>
          <a:p xmlns:a="http://schemas.openxmlformats.org/drawingml/2006/main">
            <a:r>
              <a:t>Utilisation Genesis : Est requis par Alembic installé, sans génération de page web métier Genesis.</a:t>
            </a:r>
          </a:p>
          <a:p xmlns:a="http://schemas.openxmlformats.org/drawingml/2006/main">
            <a:r>
              <a:t>Pourquoi présent : Version épinglée dans requirements.txt; requis immédiatement par alembic.</a:t>
            </a:r>
          </a:p>
          <a:p xmlns:a="http://schemas.openxmlformats.org/drawingml/2006/main">
            <a:r>
              <a:t>Exemple : Alembic peut générer un fichier de révision depuis un modèle Mako; aucune migration active n’est observée.</a:t>
            </a:r>
          </a:p>
          <a:p xmlns:a="http://schemas.openxmlformats.org/drawingml/2006/main">
            <a:r>
              <a:t>Sources :</a:t>
            </a:r>
          </a:p>
          <a:p xmlns:a="http://schemas.openxmlformats.org/drawingml/2006/main">
            <a:r>
              <a:t>requirements.txt</a:t>
            </a:r>
          </a:p>
          <a:p xmlns:a="http://schemas.openxmlformats.org/drawingml/2006/main">
            <a:r>
              <a:t>.venv/Lib/site-packages/mako-1.4.3.dist-info/METADATA</a:t>
            </a:r>
          </a:p>
          <a:p xmlns:a="http://schemas.openxmlformats.org/drawingml/2006/main">
            <a:r>
              <a:t>requirements.txt</a:t>
            </a:r>
          </a:p>
          <a:p xmlns:a="http://schemas.openxmlformats.org/drawingml/2006/main">
            <a:r>
              <a:t>https://www.makotemplates.org/</a:t>
            </a:r>
          </a:p>
          <a:p xmlns:a="http://schemas.openxmlformats.org/drawingml/2006/main">
            <a:r>
              <a:t/>
            </a:r>
          </a:p>
          <a:p xmlns:a="http://schemas.openxmlformats.org/drawingml/2006/main">
            <a:r>
              <a:t>numpy==2.5.3</a:t>
            </a:r>
          </a:p>
          <a:p xmlns:a="http://schemas.openxmlformats.org/drawingml/2006/main">
            <a:r>
              <a:t>Classement de référence : Installé sans usage métier direct.</a:t>
            </a:r>
          </a:p>
          <a:p xmlns:a="http://schemas.openxmlformats.org/drawingml/2006/main">
            <a:r>
              <a:t>Fonction : Fournit des tableaux numériques multidimensionnels et opérations vectorisées.</a:t>
            </a:r>
          </a:p>
          <a:p xmlns:a="http://schemas.openxmlformats.org/drawingml/2006/main">
            <a:r>
              <a:t>Utilisation Genesis : Est requis par OR-Tools et pandas; aucun import numérique direct n’est observé dans le code métier.</a:t>
            </a:r>
          </a:p>
          <a:p xmlns:a="http://schemas.openxmlformats.org/drawingml/2006/main">
            <a:r>
              <a:t>Pourquoi présent : Version épinglée dans requirements.txt; requis immédiatement par ortools, pandas (python_version &lt; "3.14"); liens conditionnels distincts : pandas (python_version &gt;= "3.14").</a:t>
            </a:r>
          </a:p>
          <a:p xmlns:a="http://schemas.openxmlformats.org/drawingml/2006/main">
            <a:r>
              <a:t>Exemple : Une dépendance peut convertir des données en tableaux; les capacités et horaires Genesis sont définis dans ses propres contrats.</a:t>
            </a:r>
          </a:p>
          <a:p xmlns:a="http://schemas.openxmlformats.org/drawingml/2006/main">
            <a:r>
              <a:t>Sources :</a:t>
            </a:r>
          </a:p>
          <a:p xmlns:a="http://schemas.openxmlformats.org/drawingml/2006/main">
            <a:r>
              <a:t>services/genesis/solver.py</a:t>
            </a:r>
          </a:p>
          <a:p xmlns:a="http://schemas.openxmlformats.org/drawingml/2006/main">
            <a:r>
              <a:t>.venv/Lib/site-packages/numpy-2.5.3.dist-info/METADATA</a:t>
            </a:r>
          </a:p>
          <a:p xmlns:a="http://schemas.openxmlformats.org/drawingml/2006/main">
            <a:r>
              <a:t>requirements.txt</a:t>
            </a:r>
          </a:p>
          <a:p xmlns:a="http://schemas.openxmlformats.org/drawingml/2006/main">
            <a:r>
              <a:t>https://numpy.org</a:t>
            </a:r>
          </a:p>
          <a:p xmlns:a="http://schemas.openxmlformats.org/drawingml/2006/main">
            <a:r>
              <a:t/>
            </a:r>
          </a:p>
          <a:p xmlns:a="http://schemas.openxmlformats.org/drawingml/2006/main">
            <a:r>
              <a:t>pandas==3.0.6</a:t>
            </a:r>
          </a:p>
          <a:p xmlns:a="http://schemas.openxmlformats.org/drawingml/2006/main">
            <a:r>
              <a:t>Classement de référence : Installé sans usage métier direct.</a:t>
            </a:r>
          </a:p>
          <a:p xmlns:a="http://schemas.openxmlformats.org/drawingml/2006/main">
            <a:r>
              <a:t>Fonction : Fournit DataFrame, regroupements et traitements de données tabulaires.</a:t>
            </a:r>
          </a:p>
          <a:p xmlns:a="http://schemas.openxmlformats.org/drawingml/2006/main">
            <a:r>
              <a:t>Utilisation Genesis : Est requis par OR-Tools, mais aucun import applicatif direct ne génère les analyses Genesis.</a:t>
            </a:r>
          </a:p>
          <a:p xmlns:a="http://schemas.openxmlformats.org/drawingml/2006/main">
            <a:r>
              <a:t>Pourquoi présent : Version épinglée dans requirements.txt; requis immédiatement par ortools.</a:t>
            </a:r>
          </a:p>
          <a:p xmlns:a="http://schemas.openxmlformats.org/drawingml/2006/main">
            <a:r>
              <a:t>Exemple : Une dépendance peut exposer des résultats tabulaires; le rapport et les CSV Genesis utilisent leurs propres données et fonctions.</a:t>
            </a:r>
          </a:p>
          <a:p xmlns:a="http://schemas.openxmlformats.org/drawingml/2006/main">
            <a:r>
              <a:t>Sources :</a:t>
            </a:r>
          </a:p>
          <a:p xmlns:a="http://schemas.openxmlformats.org/drawingml/2006/main">
            <a:r>
              <a:t>services/genesis/solver.py</a:t>
            </a:r>
          </a:p>
          <a:p xmlns:a="http://schemas.openxmlformats.org/drawingml/2006/main">
            <a:r>
              <a:t>.venv/Lib/site-packages/pandas-3.0.6.dist-info/METADATA</a:t>
            </a:r>
          </a:p>
          <a:p xmlns:a="http://schemas.openxmlformats.org/drawingml/2006/main">
            <a:r>
              <a:t>requirements.txt</a:t>
            </a:r>
          </a:p>
          <a:p xmlns:a="http://schemas.openxmlformats.org/drawingml/2006/main">
            <a:r>
              <a:t>https://pandas.pydata.org</a:t>
            </a:r>
          </a:p>
          <a:p xmlns:a="http://schemas.openxmlformats.org/drawingml/2006/main">
            <a:r>
              <a:t/>
            </a:r>
          </a:p>
          <a:p xmlns:a="http://schemas.openxmlformats.org/drawingml/2006/main">
            <a:r>
              <a:t>requests==2.34.2</a:t>
            </a:r>
          </a:p>
          <a:p xmlns:a="http://schemas.openxmlformats.org/drawingml/2006/main">
            <a:r>
              <a:t>Classement de référence : Installé sans usage métier direct.</a:t>
            </a:r>
          </a:p>
          <a:p xmlns:a="http://schemas.openxmlformats.org/drawingml/2006/main">
            <a:r>
              <a:t>Fonction : Fournit un client HTTP synchrone avec sessions, réponses et gestion TLS.</a:t>
            </a:r>
          </a:p>
          <a:p xmlns:a="http://schemas.openxmlformats.org/drawingml/2006/main">
            <a:r>
              <a:t>Utilisation Genesis : Supporte notamment Langsmith et l’exporteur OTLP; les requêtes routières Genesis utilisent HTTPX.</a:t>
            </a:r>
          </a:p>
          <a:p xmlns:a="http://schemas.openxmlformats.org/drawingml/2006/main">
            <a:r>
              <a:t>Pourquoi présent : Version épinglée dans requirements.txt; requis immédiatement par langsmith, opentelemetry-exporter-otlp-proto-http, requests-toolbelt, tiktoken.</a:t>
            </a:r>
          </a:p>
          <a:p xmlns:a="http://schemas.openxmlformats.org/drawingml/2006/main">
            <a:r>
              <a:t>Exemple : Un exporteur configuré peut envoyer son lot de télémétrie via une session Requests.</a:t>
            </a:r>
          </a:p>
          <a:p xmlns:a="http://schemas.openxmlformats.org/drawingml/2006/main">
            <a:r>
              <a:t>Sources :</a:t>
            </a:r>
          </a:p>
          <a:p xmlns:a="http://schemas.openxmlformats.org/drawingml/2006/main">
            <a:r>
              <a:t>services/genesis/worker.py</a:t>
            </a:r>
          </a:p>
          <a:p xmlns:a="http://schemas.openxmlformats.org/drawingml/2006/main">
            <a:r>
              <a:t>.venv/Lib/site-packages/requests-2.34.2.dist-info/METADATA</a:t>
            </a:r>
          </a:p>
          <a:p xmlns:a="http://schemas.openxmlformats.org/drawingml/2006/main">
            <a:r>
              <a:t>requirements.txt</a:t>
            </a:r>
          </a:p>
          <a:p xmlns:a="http://schemas.openxmlformats.org/drawingml/2006/main">
            <a:r>
              <a:t>https://requests.readthedocs.io</a:t>
            </a:r>
          </a:p>
          <a:p xmlns:a="http://schemas.openxmlformats.org/drawingml/2006/main">
            <a:r>
              <a:t/>
            </a:r>
          </a:p>
          <a:p xmlns:a="http://schemas.openxmlformats.org/drawingml/2006/main">
            <a:r>
              <a:t>sqlite-vec==0.1.9</a:t>
            </a:r>
          </a:p>
          <a:p xmlns:a="http://schemas.openxmlformats.org/drawingml/2006/main">
            <a:r>
              <a:t>Classement de référence : Installé sans usage métier direct.</a:t>
            </a:r>
          </a:p>
          <a:p xmlns:a="http://schemas.openxmlformats.org/drawingml/2006/main">
            <a:r>
              <a:t>Fonction : Ajoute à SQLite des fonctions et tables de recherche vectorielle.</a:t>
            </a:r>
          </a:p>
          <a:p xmlns:a="http://schemas.openxmlformats.org/drawingml/2006/main">
            <a:r>
              <a:t>Utilisation Genesis : Est requis par le paquet de checkpoints SQLite, mais Genesis ne charge pas de recherche vectorielle applicative.</a:t>
            </a:r>
          </a:p>
          <a:p xmlns:a="http://schemas.openxmlformats.org/drawingml/2006/main">
            <a:r>
              <a:t>Pourquoi présent : Version épinglée dans requirements.txt; requis immédiatement par langgraph-checkpoint-sqlite.</a:t>
            </a:r>
          </a:p>
          <a:p xmlns:a="http://schemas.openxmlformats.org/drawingml/2006/main">
            <a:r>
              <a:t>Exemple : Le store fourni par la dépendance peut rechercher des vecteurs similaires; la mémoire de routes Genesis interroge son historique SQL.</a:t>
            </a:r>
          </a:p>
          <a:p xmlns:a="http://schemas.openxmlformats.org/drawingml/2006/main">
            <a:r>
              <a:t>Sources :</a:t>
            </a:r>
          </a:p>
          <a:p xmlns:a="http://schemas.openxmlformats.org/drawingml/2006/main">
            <a:r>
              <a:t>services/genesis/route_memory.py</a:t>
            </a:r>
          </a:p>
          <a:p xmlns:a="http://schemas.openxmlformats.org/drawingml/2006/main">
            <a:r>
              <a:t>.venv/Lib/site-packages/sqlite_vec-0.1.9.dist-info/METADATA</a:t>
            </a:r>
          </a:p>
          <a:p xmlns:a="http://schemas.openxmlformats.org/drawingml/2006/main">
            <a:r>
              <a:t>requirements.txt</a:t>
            </a:r>
          </a:p>
          <a:p xmlns:a="http://schemas.openxmlformats.org/drawingml/2006/main">
            <a:r>
              <a:t>https://github.com/asg017/sqlite-vec</a:t>
            </a:r>
          </a:p>
          <a:p xmlns:a="http://schemas.openxmlformats.org/drawingml/2006/main">
            <a:r>
              <a:t/>
            </a:r>
          </a:p>
          <a:p xmlns:a="http://schemas.openxmlformats.org/drawingml/2006/main">
            <a:r>
              <a:t>tiktoken==0.14.0</a:t>
            </a:r>
          </a:p>
          <a:p xmlns:a="http://schemas.openxmlformats.org/drawingml/2006/main">
            <a:r>
              <a:t>Classement de référence : Installé sans usage métier direct.</a:t>
            </a:r>
          </a:p>
          <a:p xmlns:a="http://schemas.openxmlformats.org/drawingml/2006/main">
            <a:r>
              <a:t>Fonction : Encode du texte en tokens BPE pour certaines familles de modèles.</a:t>
            </a:r>
          </a:p>
          <a:p xmlns:a="http://schemas.openxmlformats.org/drawingml/2006/main">
            <a:r>
              <a:t>Utilisation Genesis : Est déclaré et installé, mais aucun module métier Genesis ne l’utilise pour mesurer les tokens Anthropic.</a:t>
            </a:r>
          </a:p>
          <a:p xmlns:a="http://schemas.openxmlformats.org/drawingml/2006/main">
            <a:r>
              <a:t>Pourquoi présent : Version épinglée dans requirements.txt; aucun parent d’exécution dans les 87 distributions de cet inventaire.</a:t>
            </a:r>
          </a:p>
          <a:p xmlns:a="http://schemas.openxmlformats.org/drawingml/2006/main">
            <a:r>
              <a:t>Exemple : Le SDK fournit l’usage réellement retourné; la présence de tiktoken ne prouve pas un comptage local de ces appels.</a:t>
            </a:r>
          </a:p>
          <a:p xmlns:a="http://schemas.openxmlformats.org/drawingml/2006/main">
            <a:r>
              <a:t>Sources :</a:t>
            </a:r>
          </a:p>
          <a:p xmlns:a="http://schemas.openxmlformats.org/drawingml/2006/main">
            <a:r>
              <a:t>services/genesis/llm.py</a:t>
            </a:r>
          </a:p>
          <a:p xmlns:a="http://schemas.openxmlformats.org/drawingml/2006/main">
            <a:r>
              <a:t>.venv/Lib/site-packages/tiktoken-0.14.0.dist-info/METADATA</a:t>
            </a:r>
          </a:p>
          <a:p xmlns:a="http://schemas.openxmlformats.org/drawingml/2006/main">
            <a:r>
              <a:t>requirements.txt</a:t>
            </a:r>
          </a:p>
          <a:p xmlns:a="http://schemas.openxmlformats.org/drawingml/2006/main">
            <a:r>
              <a:t>https://github.com/openai/tiktoken</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dépendance directe déclarée est conservée ci-dessous. Les arbres transitifs npm restent dans les deux package-lock.json. Un paquet de développement peut produire du code livré au navigateur, sans que son moteur soit lui-même exécuté par le site.</a:t>
            </a:r>
          </a:p>
          <a:p xmlns:a="http://schemas.openxmlformats.org/drawingml/2006/main">
            <a:r>
              <a:t/>
            </a:r>
          </a:p>
          <a:p xmlns:a="http://schemas.openxmlformats.org/drawingml/2006/main">
            <a:r>
              <a:t>Manifeste : apps/web/package.json.</a:t>
            </a:r>
          </a:p>
          <a:p xmlns:a="http://schemas.openxmlformats.org/drawingml/2006/main">
            <a:r>
              <a:t>@fontsource-variable/inter@5.2.8</a:t>
            </a:r>
          </a:p>
          <a:p xmlns:a="http://schemas.openxmlformats.org/drawingml/2006/main">
            <a:r>
              <a:t>Classement de référence : Usage direct.</a:t>
            </a:r>
          </a:p>
          <a:p xmlns:a="http://schemas.openxmlformats.org/drawingml/2006/main">
            <a:r>
              <a:t>Fonction : Distribue les fichiers et styles de la police Inter à graisse variable.</a:t>
            </a:r>
          </a:p>
          <a:p xmlns:a="http://schemas.openxmlformats.org/drawingml/2006/main">
            <a:r>
              <a:t>Utilisation Genesis : main.tsx l’importe pour servir la police avec l’application locale.</a:t>
            </a:r>
          </a:p>
          <a:p xmlns:a="http://schemas.openxmlformats.org/drawingml/2006/main">
            <a:r>
              <a:t>Pourquoi présent : Déclaré directement dans apps/web/package.json (dependencies); résolution 5.2.8 conservée dans son package-lock.json.</a:t>
            </a:r>
          </a:p>
          <a:p xmlns:a="http://schemas.openxmlformats.org/drawingml/2006/main">
            <a:r>
              <a:t>Exemple : Les titres et textes peuvent varier de graisse sans requête vers un service de polices tiers.</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https://fontsource.org/docs/getting-started/variable</a:t>
            </a:r>
          </a:p>
          <a:p xmlns:a="http://schemas.openxmlformats.org/drawingml/2006/main">
            <a:r>
              <a:t/>
            </a:r>
          </a:p>
          <a:p xmlns:a="http://schemas.openxmlformats.org/drawingml/2006/main">
            <a:r>
              <a:t>Manifeste : apps/web/package.json.</a:t>
            </a:r>
          </a:p>
          <a:p xmlns:a="http://schemas.openxmlformats.org/drawingml/2006/main">
            <a:r>
              <a:t>@xyflow/react@12.10.0</a:t>
            </a:r>
          </a:p>
          <a:p xmlns:a="http://schemas.openxmlformats.org/drawingml/2006/main">
            <a:r>
              <a:t>Classement de référence : Usage direct.</a:t>
            </a:r>
          </a:p>
          <a:p xmlns:a="http://schemas.openxmlformats.org/drawingml/2006/main">
            <a:r>
              <a:t>Fonction : Fournit des nœuds, liens et interactions pour dessiner des graphes dans React.</a:t>
            </a:r>
          </a:p>
          <a:p xmlns:a="http://schemas.openxmlformats.org/drawingml/2006/main">
            <a:r>
              <a:t>Utilisation Genesis : Observability construit le graphe des rôles et transmissions observées avec ReactFlow.</a:t>
            </a:r>
          </a:p>
          <a:p xmlns:a="http://schemas.openxmlformats.org/drawingml/2006/main">
            <a:r>
              <a:t>Pourquoi présent : Déclaré directement dans apps/web/package.json (dependencies); résolution 12.10.0 conservée dans son package-lock.json.</a:t>
            </a:r>
          </a:p>
          <a:p xmlns:a="http://schemas.openxmlformats.org/drawingml/2006/main">
            <a:r>
              <a:t>Exemple : Sélectionner une étape relie son rôle, ses liens et son résultat; le graphe ne calcule pas de route.</a:t>
            </a:r>
          </a:p>
          <a:p xmlns:a="http://schemas.openxmlformats.org/drawingml/2006/main">
            <a:r>
              <a:t>Sources :</a:t>
            </a:r>
          </a:p>
          <a:p xmlns:a="http://schemas.openxmlformats.org/drawingml/2006/main">
            <a:r>
              <a:t>apps/web/src/Observability.tsx</a:t>
            </a:r>
          </a:p>
          <a:p xmlns:a="http://schemas.openxmlformats.org/drawingml/2006/main">
            <a:r>
              <a:t>apps/web/package.json</a:t>
            </a:r>
          </a:p>
          <a:p xmlns:a="http://schemas.openxmlformats.org/drawingml/2006/main">
            <a:r>
              <a:t>apps/web/package-lock.json</a:t>
            </a:r>
          </a:p>
          <a:p xmlns:a="http://schemas.openxmlformats.org/drawingml/2006/main">
            <a:r>
              <a:t>https://reactflow.dev/learn</a:t>
            </a:r>
          </a:p>
          <a:p xmlns:a="http://schemas.openxmlformats.org/drawingml/2006/main">
            <a:r>
              <a:t/>
            </a:r>
          </a:p>
          <a:p xmlns:a="http://schemas.openxmlformats.org/drawingml/2006/main">
            <a:r>
              <a:t>Manifeste : apps/web/package.json.</a:t>
            </a:r>
          </a:p>
          <a:p xmlns:a="http://schemas.openxmlformats.org/drawingml/2006/main">
            <a:r>
              <a:t>echarts@6.1.0</a:t>
            </a:r>
          </a:p>
          <a:p xmlns:a="http://schemas.openxmlformats.org/drawingml/2006/main">
            <a:r>
              <a:t>Classement de référence : Usage direct.</a:t>
            </a:r>
          </a:p>
          <a:p xmlns:a="http://schemas.openxmlformats.org/drawingml/2006/main">
            <a:r>
              <a:t>Fonction : Fournit des graphiques interactifs, axes, légendes et moteurs de rendu SVG/Canvas.</a:t>
            </a:r>
          </a:p>
          <a:p xmlns:a="http://schemas.openxmlformats.org/drawingml/2006/main">
            <a:r>
              <a:t>Utilisation Genesis : Chart enregistre les séries barre, heatmap, Sankey et camembert et utilise le moteur SVG.</a:t>
            </a:r>
          </a:p>
          <a:p xmlns:a="http://schemas.openxmlformats.org/drawingml/2006/main">
            <a:r>
              <a:t>Pourquoi présent : Déclaré directement dans apps/web/package.json (dependencies); résolution 6.1.0 conservée dans son package-lock.json.</a:t>
            </a:r>
          </a:p>
          <a:p xmlns:a="http://schemas.openxmlformats.org/drawingml/2006/main">
            <a:r>
              <a:t>Exemple : La répartition des coûts et la matrice de latence présentent les données observées avec des alternatives tabulaires.</a:t>
            </a:r>
          </a:p>
          <a:p xmlns:a="http://schemas.openxmlformats.org/drawingml/2006/main">
            <a:r>
              <a:t>Sources :</a:t>
            </a:r>
          </a:p>
          <a:p xmlns:a="http://schemas.openxmlformats.org/drawingml/2006/main">
            <a:r>
              <a:t>apps/web/src/Chart.tsx</a:t>
            </a:r>
          </a:p>
          <a:p xmlns:a="http://schemas.openxmlformats.org/drawingml/2006/main">
            <a:r>
              <a:t>apps/web/package.json</a:t>
            </a:r>
          </a:p>
          <a:p xmlns:a="http://schemas.openxmlformats.org/drawingml/2006/main">
            <a:r>
              <a:t>apps/web/package-lock.json</a:t>
            </a:r>
          </a:p>
          <a:p xmlns:a="http://schemas.openxmlformats.org/drawingml/2006/main">
            <a:r>
              <a:t>https://echarts.apache.org/handbook/en/get-started/</a:t>
            </a:r>
          </a:p>
          <a:p xmlns:a="http://schemas.openxmlformats.org/drawingml/2006/main">
            <a:r>
              <a:t/>
            </a:r>
          </a:p>
          <a:p xmlns:a="http://schemas.openxmlformats.org/drawingml/2006/main">
            <a:r>
              <a:t>Manifeste : apps/web/package.json.</a:t>
            </a:r>
          </a:p>
          <a:p xmlns:a="http://schemas.openxmlformats.org/drawingml/2006/main">
            <a:r>
              <a:t>lucide-react@0.577.0</a:t>
            </a:r>
          </a:p>
          <a:p xmlns:a="http://schemas.openxmlformats.org/drawingml/2006/main">
            <a:r>
              <a:t>Classement de référence : Usage direct.</a:t>
            </a:r>
          </a:p>
          <a:p xmlns:a="http://schemas.openxmlformats.org/drawingml/2006/main">
            <a:r>
              <a:t>Fonction : Fournit des icônes SVG sous forme de composants React.</a:t>
            </a:r>
          </a:p>
          <a:p xmlns:a="http://schemas.openxmlformats.org/drawingml/2006/main">
            <a:r>
              <a:t>Utilisation Genesis : Habille les commandes de navigation, rafraîchissement, export et états de l’interface.</a:t>
            </a:r>
          </a:p>
          <a:p xmlns:a="http://schemas.openxmlformats.org/drawingml/2006/main">
            <a:r>
              <a:t>Pourquoi présent : Déclaré directement dans apps/web/package.json (dependencies); résolution 0.577.0 conservée dans son package-lock.json.</a:t>
            </a:r>
          </a:p>
          <a:p xmlns:a="http://schemas.openxmlformats.org/drawingml/2006/main">
            <a:r>
              <a:t>Exemple : Download accompagne une commande d’export CSV; son libellé reste nécessaire à la compréhension.</a:t>
            </a:r>
          </a:p>
          <a:p xmlns:a="http://schemas.openxmlformats.org/drawingml/2006/main">
            <a:r>
              <a:t>Sources :</a:t>
            </a:r>
          </a:p>
          <a:p xmlns:a="http://schemas.openxmlformats.org/drawingml/2006/main">
            <a:r>
              <a:t>apps/web/src/Analytics.tsx</a:t>
            </a:r>
          </a:p>
          <a:p xmlns:a="http://schemas.openxmlformats.org/drawingml/2006/main">
            <a:r>
              <a:t>apps/web/package.json</a:t>
            </a:r>
          </a:p>
          <a:p xmlns:a="http://schemas.openxmlformats.org/drawingml/2006/main">
            <a:r>
              <a:t>apps/web/package-lock.json</a:t>
            </a:r>
          </a:p>
          <a:p xmlns:a="http://schemas.openxmlformats.org/drawingml/2006/main">
            <a:r>
              <a:t>https://lucide.dev/guide/packages/lucide-react</a:t>
            </a:r>
          </a:p>
          <a:p xmlns:a="http://schemas.openxmlformats.org/drawingml/2006/main">
            <a:r>
              <a:t/>
            </a:r>
          </a:p>
          <a:p xmlns:a="http://schemas.openxmlformats.org/drawingml/2006/main">
            <a:r>
              <a:t>Manifeste : apps/web/package.json.</a:t>
            </a:r>
          </a:p>
          <a:p xmlns:a="http://schemas.openxmlformats.org/drawingml/2006/main">
            <a:r>
              <a:t>maplibre-gl@6.13.0</a:t>
            </a:r>
          </a:p>
          <a:p xmlns:a="http://schemas.openxmlformats.org/drawingml/2006/main">
            <a:r>
              <a:t>Classement de référence : Usage direct.</a:t>
            </a:r>
          </a:p>
          <a:p xmlns:a="http://schemas.openxmlformats.org/drawingml/2006/main">
            <a:r>
              <a:t>Fonction : Dessine des cartes WebGL avec sources GeoJSON, couches et contrôles.</a:t>
            </a:r>
          </a:p>
          <a:p xmlns:a="http://schemas.openxmlformats.org/drawingml/2006/main">
            <a:r>
              <a:t>Utilisation Genesis : RouteMap et DispatchMap montrent les géométries, arrêts et véhicules dont le mouvement reste simulé.</a:t>
            </a:r>
          </a:p>
          <a:p xmlns:a="http://schemas.openxmlformats.org/drawingml/2006/main">
            <a:r>
              <a:t>Pourquoi présent : Déclaré directement dans apps/web/package.json (dependencies); résolution 6.13.0 conservée dans son package-lock.json.</a:t>
            </a:r>
          </a:p>
          <a:p xmlns:a="http://schemas.openxmlformats.org/drawingml/2006/main">
            <a:r>
              <a:t>Exemple : Une couche relie un arrêt sélectionné au tracé conservé; elle ne calcule ni tournée ni trafic réel.</a:t>
            </a:r>
          </a:p>
          <a:p xmlns:a="http://schemas.openxmlformats.org/drawingml/2006/main">
            <a:r>
              <a:t>Sources :</a:t>
            </a:r>
          </a:p>
          <a:p xmlns:a="http://schemas.openxmlformats.org/drawingml/2006/main">
            <a:r>
              <a:t>apps/web/src/DispatchMap.tsx</a:t>
            </a:r>
          </a:p>
          <a:p xmlns:a="http://schemas.openxmlformats.org/drawingml/2006/main">
            <a:r>
              <a:t>apps/web/package.json</a:t>
            </a:r>
          </a:p>
          <a:p xmlns:a="http://schemas.openxmlformats.org/drawingml/2006/main">
            <a:r>
              <a:t>apps/web/package-lock.json</a:t>
            </a:r>
          </a:p>
          <a:p xmlns:a="http://schemas.openxmlformats.org/drawingml/2006/main">
            <a:r>
              <a:t>https://maplibre.org/maplibre-gl-js/docs/</a:t>
            </a:r>
          </a:p>
          <a:p xmlns:a="http://schemas.openxmlformats.org/drawingml/2006/main">
            <a:r>
              <a:t/>
            </a:r>
          </a:p>
          <a:p xmlns:a="http://schemas.openxmlformats.org/drawingml/2006/main">
            <a:r>
              <a:t>Manifeste : apps/web/package.json.</a:t>
            </a:r>
          </a:p>
          <a:p xmlns:a="http://schemas.openxmlformats.org/drawingml/2006/main">
            <a:r>
              <a:t>react@19.2.0</a:t>
            </a:r>
          </a:p>
          <a:p xmlns:a="http://schemas.openxmlformats.org/drawingml/2006/main">
            <a:r>
              <a:t>Classement de référence : Usage direct.</a:t>
            </a:r>
          </a:p>
          <a:p xmlns:a="http://schemas.openxmlformats.org/drawingml/2006/main">
            <a:r>
              <a:t>Fonction : Construit l’interface en composants déclaratifs avec état et effets.</a:t>
            </a:r>
          </a:p>
          <a:p xmlns:a="http://schemas.openxmlformats.org/drawingml/2006/main">
            <a:r>
              <a:t>Utilisation Genesis : Les vues opérations, analytique et agents composent les formulaires, filtres et données de l’API.</a:t>
            </a:r>
          </a:p>
          <a:p xmlns:a="http://schemas.openxmlformats.org/drawingml/2006/main">
            <a:r>
              <a:t>Pourquoi présent : Déclaré directement dans apps/web/package.json (dependencies); résolution 19.2.0 conservée dans son package-lock.json; peer requis par react-dom, @xyflow/react et lucide-react.</a:t>
            </a:r>
          </a:p>
          <a:p xmlns:a="http://schemas.openxmlformats.org/drawingml/2006/main">
            <a:r>
              <a:t>Exemple : Changer un filtre met à jour l’état puis les vues et requêtes dépendantes.</a:t>
            </a:r>
          </a:p>
          <a:p xmlns:a="http://schemas.openxmlformats.org/drawingml/2006/main">
            <a:r>
              <a:t>Sources :</a:t>
            </a:r>
          </a:p>
          <a:p xmlns:a="http://schemas.openxmlformats.org/drawingml/2006/main">
            <a:r>
              <a:t>apps/web/src/App.tsx</a:t>
            </a:r>
          </a:p>
          <a:p xmlns:a="http://schemas.openxmlformats.org/drawingml/2006/main">
            <a:r>
              <a:t>apps/web/package.json</a:t>
            </a:r>
          </a:p>
          <a:p xmlns:a="http://schemas.openxmlformats.org/drawingml/2006/main">
            <a:r>
              <a:t>apps/web/package-lock.json</a:t>
            </a:r>
          </a:p>
          <a:p xmlns:a="http://schemas.openxmlformats.org/drawingml/2006/main">
            <a:r>
              <a:t>https://react.dev/learn</a:t>
            </a:r>
          </a:p>
          <a:p xmlns:a="http://schemas.openxmlformats.org/drawingml/2006/main">
            <a:r>
              <a:t/>
            </a:r>
          </a:p>
          <a:p xmlns:a="http://schemas.openxmlformats.org/drawingml/2006/main">
            <a:r>
              <a:t>Manifeste : apps/web/package.json.</a:t>
            </a:r>
          </a:p>
          <a:p xmlns:a="http://schemas.openxmlformats.org/drawingml/2006/main">
            <a:r>
              <a:t>react-dom@19.2.0</a:t>
            </a:r>
          </a:p>
          <a:p xmlns:a="http://schemas.openxmlformats.org/drawingml/2006/main">
            <a:r>
              <a:t>Classement de référence : Usage direct.</a:t>
            </a:r>
          </a:p>
          <a:p xmlns:a="http://schemas.openxmlformats.org/drawingml/2006/main">
            <a:r>
              <a:t>Fonction : Relie React au DOM du navigateur et fournit aussi un rendu serveur.</a:t>
            </a:r>
          </a:p>
          <a:p xmlns:a="http://schemas.openxmlformats.org/drawingml/2006/main">
            <a:r>
              <a:t>Utilisation Genesis : main.tsx monte App avec createRoot; certains tests utilisent renderToStaticMarkup.</a:t>
            </a:r>
          </a:p>
          <a:p xmlns:a="http://schemas.openxmlformats.org/drawingml/2006/main">
            <a:r>
              <a:t>Pourquoi présent : Déclaré directement dans apps/web/package.json (dependencies); résolution 19.2.0 conservée dans son package-lock.json; peer requis par @xyflow/react.</a:t>
            </a:r>
          </a:p>
          <a:p xmlns:a="http://schemas.openxmlformats.org/drawingml/2006/main">
            <a:r>
              <a:t>Exemple : Le conteneur HTML reçoit l’arbre de composants et ses mises à jour.</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https://react.dev/reference/react-dom/client/createRoot</a:t>
            </a:r>
          </a:p>
          <a:p xmlns:a="http://schemas.openxmlformats.org/drawingml/2006/main">
            <a:r>
              <a:t/>
            </a:r>
          </a:p>
          <a:p xmlns:a="http://schemas.openxmlformats.org/drawingml/2006/main">
            <a:r>
              <a:t>Manifeste : apps/web/package.json.</a:t>
            </a:r>
          </a:p>
          <a:p xmlns:a="http://schemas.openxmlformats.org/drawingml/2006/main">
            <a:r>
              <a:t>@types/react@19.2.14</a:t>
            </a:r>
          </a:p>
          <a:p xmlns:a="http://schemas.openxmlformats.org/drawingml/2006/main">
            <a:r>
              <a:t>Classement de référence : Développement et tests.</a:t>
            </a:r>
          </a:p>
          <a:p xmlns:a="http://schemas.openxmlformats.org/drawingml/2006/main">
            <a:r>
              <a:t>Fonction : Décrit les signatures React pour la vérification TypeScript.</a:t>
            </a:r>
          </a:p>
          <a:p xmlns:a="http://schemas.openxmlformats.org/drawingml/2006/main">
            <a:r>
              <a:t>Utilisation Genesis : Contrôle les props, hooks et références à la compilation; aucun code de ce paquet n’est exécuté par le navigateur.</a:t>
            </a:r>
          </a:p>
          <a:p xmlns:a="http://schemas.openxmlformats.org/drawingml/2006/main">
            <a:r>
              <a:t>Pourquoi présent : Déclaré directement dans apps/web/package.json (devDependencies); résolution 19.2.14 conservée dans son package-lock.json; peer requis par @types/react-dom.</a:t>
            </a:r>
          </a:p>
          <a:p xmlns:a="http://schemas.openxmlformats.org/drawingml/2006/main">
            <a:r>
              <a:t>Exemple : Une prop d’un type erroné peut être détectée avant le build.</a:t>
            </a:r>
          </a:p>
          <a:p xmlns:a="http://schemas.openxmlformats.org/drawingml/2006/main">
            <a:r>
              <a:t>Sources :</a:t>
            </a:r>
          </a:p>
          <a:p xmlns:a="http://schemas.openxmlformats.org/drawingml/2006/main">
            <a:r>
              <a:t>apps/web/tsconfig.json</a:t>
            </a:r>
          </a:p>
          <a:p xmlns:a="http://schemas.openxmlformats.org/drawingml/2006/main">
            <a:r>
              <a:t>apps/web/package.json</a:t>
            </a:r>
          </a:p>
          <a:p xmlns:a="http://schemas.openxmlformats.org/drawingml/2006/main">
            <a:r>
              <a:t>apps/web/package-lock.json</a:t>
            </a:r>
          </a:p>
          <a:p xmlns:a="http://schemas.openxmlformats.org/drawingml/2006/main">
            <a:r>
              <a:t>https://github.com/DefinitelyTyped/DefinitelyTyped/tree/master/types/react</a:t>
            </a:r>
          </a:p>
          <a:p xmlns:a="http://schemas.openxmlformats.org/drawingml/2006/main">
            <a:r>
              <a:t/>
            </a:r>
          </a:p>
          <a:p xmlns:a="http://schemas.openxmlformats.org/drawingml/2006/main">
            <a:r>
              <a:t>Manifeste : apps/web/package.json.</a:t>
            </a:r>
          </a:p>
          <a:p xmlns:a="http://schemas.openxmlformats.org/drawingml/2006/main">
            <a:r>
              <a:t>@types/react-dom@19.2.3</a:t>
            </a:r>
          </a:p>
          <a:p xmlns:a="http://schemas.openxmlformats.org/drawingml/2006/main">
            <a:r>
              <a:t>Classement de référence : Développement et tests.</a:t>
            </a:r>
          </a:p>
          <a:p xmlns:a="http://schemas.openxmlformats.org/drawingml/2006/main">
            <a:r>
              <a:t>Fonction : Décrit les API React DOM pour TypeScript.</a:t>
            </a:r>
          </a:p>
          <a:p xmlns:a="http://schemas.openxmlformats.org/drawingml/2006/main">
            <a:r>
              <a:t>Utilisation Genesis : Vérifie les appels de montage et rendu à la compilation.</a:t>
            </a:r>
          </a:p>
          <a:p xmlns:a="http://schemas.openxmlformats.org/drawingml/2006/main">
            <a:r>
              <a:t>Pourquoi présent : Déclaré directement dans apps/web/package.json (devDependencies); résolution 19.2.3 conservée dans son package-lock.json.</a:t>
            </a:r>
          </a:p>
          <a:p xmlns:a="http://schemas.openxmlformats.org/drawingml/2006/main">
            <a:r>
              <a:t>Exemple : Le compilateur vérifie le type du conteneur donné à createRoot.</a:t>
            </a:r>
          </a:p>
          <a:p xmlns:a="http://schemas.openxmlformats.org/drawingml/2006/main">
            <a:r>
              <a:t>Sources :</a:t>
            </a:r>
          </a:p>
          <a:p xmlns:a="http://schemas.openxmlformats.org/drawingml/2006/main">
            <a:r>
              <a:t>apps/web/src/main.tsx</a:t>
            </a:r>
          </a:p>
          <a:p xmlns:a="http://schemas.openxmlformats.org/drawingml/2006/main">
            <a:r>
              <a:t>apps/web/package.json</a:t>
            </a:r>
          </a:p>
          <a:p xmlns:a="http://schemas.openxmlformats.org/drawingml/2006/main">
            <a:r>
              <a:t>apps/web/package-lock.json</a:t>
            </a:r>
          </a:p>
          <a:p xmlns:a="http://schemas.openxmlformats.org/drawingml/2006/main">
            <a:r>
              <a:t>https://github.com/DefinitelyTyped/DefinitelyTyped/tree/master/types/react-dom</a:t>
            </a:r>
          </a:p>
          <a:p xmlns:a="http://schemas.openxmlformats.org/drawingml/2006/main">
            <a:r>
              <a:t/>
            </a:r>
          </a:p>
          <a:p xmlns:a="http://schemas.openxmlformats.org/drawingml/2006/main">
            <a:r>
              <a:t>Manifeste : apps/web/package.json.</a:t>
            </a:r>
          </a:p>
          <a:p xmlns:a="http://schemas.openxmlformats.org/drawingml/2006/main">
            <a:r>
              <a:t>@vitejs/plugin-react@5.1.4</a:t>
            </a:r>
          </a:p>
          <a:p xmlns:a="http://schemas.openxmlformats.org/drawingml/2006/main">
            <a:r>
              <a:t>Classement de référence : Développement et tests.</a:t>
            </a:r>
          </a:p>
          <a:p xmlns:a="http://schemas.openxmlformats.org/drawingml/2006/main">
            <a:r>
              <a:t>Fonction : Intègre la transformation JSX et le rafraîchissement React à Vite.</a:t>
            </a:r>
          </a:p>
          <a:p xmlns:a="http://schemas.openxmlformats.org/drawingml/2006/main">
            <a:r>
              <a:t>Utilisation Genesis : vite.config.ts l’enregistre dans plugins pour le développement et le build.</a:t>
            </a:r>
          </a:p>
          <a:p xmlns:a="http://schemas.openxmlformats.org/drawingml/2006/main">
            <a:r>
              <a:t>Pourquoi présent : Déclaré directement dans apps/web/package.json (devDependencies); résolution 5.1.4 conservée dans son package-lock.json.</a:t>
            </a:r>
          </a:p>
          <a:p xmlns:a="http://schemas.openxmlformats.org/drawingml/2006/main">
            <a:r>
              <a:t>Exemple : Modifier un composant peut actualiser son rendu par Fast Refresh pendant le développement.</a:t>
            </a:r>
          </a:p>
          <a:p xmlns:a="http://schemas.openxmlformats.org/drawingml/2006/main">
            <a:r>
              <a:t>Sources :</a:t>
            </a:r>
          </a:p>
          <a:p xmlns:a="http://schemas.openxmlformats.org/drawingml/2006/main">
            <a:r>
              <a:t>apps/web/vite.config.ts</a:t>
            </a:r>
          </a:p>
          <a:p xmlns:a="http://schemas.openxmlformats.org/drawingml/2006/main">
            <a:r>
              <a:t>apps/web/package.json</a:t>
            </a:r>
          </a:p>
          <a:p xmlns:a="http://schemas.openxmlformats.org/drawingml/2006/main">
            <a:r>
              <a:t>apps/web/package-lock.json</a:t>
            </a:r>
          </a:p>
          <a:p xmlns:a="http://schemas.openxmlformats.org/drawingml/2006/main">
            <a:r>
              <a:t>https://github.com/vitejs/vite-plugin-react/tree/main/packages/plugin-react</a:t>
            </a:r>
          </a:p>
          <a:p xmlns:a="http://schemas.openxmlformats.org/drawingml/2006/main">
            <a:r>
              <a:t/>
            </a:r>
          </a:p>
          <a:p xmlns:a="http://schemas.openxmlformats.org/drawingml/2006/main">
            <a:r>
              <a:t>Manifeste : apps/web/package.json.</a:t>
            </a:r>
          </a:p>
          <a:p xmlns:a="http://schemas.openxmlformats.org/drawingml/2006/main">
            <a:r>
              <a:t>prettier@3.9.10</a:t>
            </a:r>
          </a:p>
          <a:p xmlns:a="http://schemas.openxmlformats.org/drawingml/2006/main">
            <a:r>
              <a:t>Classement de référence : Installé sans usage métier direct.</a:t>
            </a:r>
          </a:p>
          <a:p xmlns:a="http://schemas.openxmlformats.org/drawingml/2006/main">
            <a:r>
              <a:t>Fonction : Reformate le code selon des règles cohérentes de présentation.</a:t>
            </a:r>
          </a:p>
          <a:p xmlns:a="http://schemas.openxmlformats.org/drawingml/2006/main">
            <a:r>
              <a:t>Utilisation Genesis : Est déclaré dans le frontend, mais aucun script de formatage Genesis ne l’appelle; le générateur de types QA installé le requiert aussi.</a:t>
            </a:r>
          </a:p>
          <a:p xmlns:a="http://schemas.openxmlformats.org/drawingml/2006/main">
            <a:r>
              <a:t>Pourquoi présent : Déclaré directement dans apps/web/package.json (devDependencies); résolution 3.9.10 conservée dans son package-lock.json; requis aussi par json-schema-to-typescript dans le lock QA.</a:t>
            </a:r>
          </a:p>
          <a:p xmlns:a="http://schemas.openxmlformats.org/drawingml/2006/main">
            <a:r>
              <a:t>Exemple : json-schema-to-typescript peut formater son texte généré avec Prettier, sans génération effectivement exécutée dans Genesis.</a:t>
            </a:r>
          </a:p>
          <a:p xmlns:a="http://schemas.openxmlformats.org/drawingml/2006/main">
            <a:r>
              <a:t>Sources :</a:t>
            </a:r>
          </a:p>
          <a:p xmlns:a="http://schemas.openxmlformats.org/drawingml/2006/main">
            <a:r>
              <a:t>apps/web/package.json</a:t>
            </a:r>
          </a:p>
          <a:p xmlns:a="http://schemas.openxmlformats.org/drawingml/2006/main">
            <a:r>
              <a:t>apps/web/package.json</a:t>
            </a:r>
          </a:p>
          <a:p xmlns:a="http://schemas.openxmlformats.org/drawingml/2006/main">
            <a:r>
              <a:t>apps/web/package-lock.json</a:t>
            </a:r>
          </a:p>
          <a:p xmlns:a="http://schemas.openxmlformats.org/drawingml/2006/main">
            <a:r>
              <a:t>https://prettier.io/docs/</a:t>
            </a:r>
          </a:p>
          <a:p xmlns:a="http://schemas.openxmlformats.org/drawingml/2006/main">
            <a:r>
              <a:t/>
            </a:r>
          </a:p>
          <a:p xmlns:a="http://schemas.openxmlformats.org/drawingml/2006/main">
            <a:r>
              <a:t>Manifeste : apps/web/package.json.</a:t>
            </a:r>
          </a:p>
          <a:p xmlns:a="http://schemas.openxmlformats.org/drawingml/2006/main">
            <a:r>
              <a:t>typescript@5.9.3</a:t>
            </a:r>
          </a:p>
          <a:p xmlns:a="http://schemas.openxmlformats.org/drawingml/2006/main">
            <a:r>
              <a:t>Classement de référence : Développement et tests.</a:t>
            </a:r>
          </a:p>
          <a:p xmlns:a="http://schemas.openxmlformats.org/drawingml/2006/main">
            <a:r>
              <a:t>Fonction : Vérifie les types et compile TypeScript vers JavaScript.</a:t>
            </a:r>
          </a:p>
          <a:p xmlns:a="http://schemas.openxmlformats.org/drawingml/2006/main">
            <a:r>
              <a:t>Utilisation Genesis : Le script build exécute tsc -b avant Vite pour vérifier le frontend.</a:t>
            </a:r>
          </a:p>
          <a:p xmlns:a="http://schemas.openxmlformats.org/drawingml/2006/main">
            <a:r>
              <a:t>Pourquoi présent : Déclaré directement dans apps/web/package.json (devDependencies); résolution 5.9.3 conservée dans son package-lock.json.</a:t>
            </a:r>
          </a:p>
          <a:p xmlns:a="http://schemas.openxmlformats.org/drawingml/2006/main">
            <a:r>
              <a:t>Exemple : Une incompatibilité entre une réponse API typée et son utilisateur peut interrompre le build.</a:t>
            </a:r>
          </a:p>
          <a:p xmlns:a="http://schemas.openxmlformats.org/drawingml/2006/main">
            <a:r>
              <a:t>Sources :</a:t>
            </a:r>
          </a:p>
          <a:p xmlns:a="http://schemas.openxmlformats.org/drawingml/2006/main">
            <a:r>
              <a:t>apps/web/package.json</a:t>
            </a:r>
          </a:p>
          <a:p xmlns:a="http://schemas.openxmlformats.org/drawingml/2006/main">
            <a:r>
              <a:t>apps/web/package.json</a:t>
            </a:r>
          </a:p>
          <a:p xmlns:a="http://schemas.openxmlformats.org/drawingml/2006/main">
            <a:r>
              <a:t>apps/web/package-lock.json</a:t>
            </a:r>
          </a:p>
          <a:p xmlns:a="http://schemas.openxmlformats.org/drawingml/2006/main">
            <a:r>
              <a:t>https://www.typescriptlang.org/docs/</a:t>
            </a:r>
          </a:p>
          <a:p xmlns:a="http://schemas.openxmlformats.org/drawingml/2006/main">
            <a:r>
              <a:t/>
            </a:r>
          </a:p>
          <a:p xmlns:a="http://schemas.openxmlformats.org/drawingml/2006/main">
            <a:r>
              <a:t>Manifeste : apps/web/package.json.</a:t>
            </a:r>
          </a:p>
          <a:p xmlns:a="http://schemas.openxmlformats.org/drawingml/2006/main">
            <a:r>
              <a:t>vite@7.3.7</a:t>
            </a:r>
          </a:p>
          <a:p xmlns:a="http://schemas.openxmlformats.org/drawingml/2006/main">
            <a:r>
              <a:t>Classement de référence : Développement et tests.</a:t>
            </a:r>
          </a:p>
          <a:p xmlns:a="http://schemas.openxmlformats.org/drawingml/2006/main">
            <a:r>
              <a:t>Fonction : Fournit le serveur de développement et le regroupement des modules pour distribution.</a:t>
            </a:r>
          </a:p>
          <a:p xmlns:a="http://schemas.openxmlformats.org/drawingml/2006/main">
            <a:r>
              <a:t>Utilisation Genesis : Les scripts dev et build lancent l’interface locale et produisent son bundle.</a:t>
            </a:r>
          </a:p>
          <a:p xmlns:a="http://schemas.openxmlformats.org/drawingml/2006/main">
            <a:r>
              <a:t>Pourquoi présent : Déclaré directement dans apps/web/package.json (devDependencies); résolution 7.3.7 conservée dans son package-lock.json; requis par vitest et peer de @vitejs/plugin-react.</a:t>
            </a:r>
          </a:p>
          <a:p xmlns:a="http://schemas.openxmlformats.org/drawingml/2006/main">
            <a:r>
              <a:t>Exemple : Le serveur écoute sur loopback et le build assemble modules, styles et workers de carte.</a:t>
            </a:r>
          </a:p>
          <a:p xmlns:a="http://schemas.openxmlformats.org/drawingml/2006/main">
            <a:r>
              <a:t>Sources :</a:t>
            </a:r>
          </a:p>
          <a:p xmlns:a="http://schemas.openxmlformats.org/drawingml/2006/main">
            <a:r>
              <a:t>apps/web/vite.config.ts</a:t>
            </a:r>
          </a:p>
          <a:p xmlns:a="http://schemas.openxmlformats.org/drawingml/2006/main">
            <a:r>
              <a:t>apps/web/package.json</a:t>
            </a:r>
          </a:p>
          <a:p xmlns:a="http://schemas.openxmlformats.org/drawingml/2006/main">
            <a:r>
              <a:t>apps/web/package-lock.json</a:t>
            </a:r>
          </a:p>
          <a:p xmlns:a="http://schemas.openxmlformats.org/drawingml/2006/main">
            <a:r>
              <a:t>https://vite.dev/guide/</a:t>
            </a:r>
          </a:p>
          <a:p xmlns:a="http://schemas.openxmlformats.org/drawingml/2006/main">
            <a:r>
              <a:t/>
            </a:r>
          </a:p>
          <a:p xmlns:a="http://schemas.openxmlformats.org/drawingml/2006/main">
            <a:r>
              <a:t>Manifeste : apps/web/package.json.</a:t>
            </a:r>
          </a:p>
          <a:p xmlns:a="http://schemas.openxmlformats.org/drawingml/2006/main">
            <a:r>
              <a:t>vitest@4.1.11</a:t>
            </a:r>
          </a:p>
          <a:p xmlns:a="http://schemas.openxmlformats.org/drawingml/2006/main">
            <a:r>
              <a:t>Classement de référence : Développement et tests.</a:t>
            </a:r>
          </a:p>
          <a:p xmlns:a="http://schemas.openxmlformats.org/drawingml/2006/main">
            <a:r>
              <a:t>Fonction : Exécute des tests JavaScript/TypeScript dans l’environnement Vite.</a:t>
            </a:r>
          </a:p>
          <a:p xmlns:a="http://schemas.openxmlformats.org/drawingml/2006/main">
            <a:r>
              <a:t>Utilisation Genesis : Le frontend l’utilise pour filtres, exports, replay et certains rendus statiques de composants.</a:t>
            </a:r>
          </a:p>
          <a:p xmlns:a="http://schemas.openxmlformats.org/drawingml/2006/main">
            <a:r>
              <a:t>Pourquoi présent : Déclaré directement dans apps/web/package.json (devDependencies); résolution 4.1.11 conservée dans son package-lock.json.</a:t>
            </a:r>
          </a:p>
          <a:p xmlns:a="http://schemas.openxmlformats.org/drawingml/2006/main">
            <a:r>
              <a:t>Exemple : analyticsExport.test.ts contrôle les valeurs, unités et protections CSV.</a:t>
            </a:r>
          </a:p>
          <a:p xmlns:a="http://schemas.openxmlformats.org/drawingml/2006/main">
            <a:r>
              <a:t>Sources :</a:t>
            </a:r>
          </a:p>
          <a:p xmlns:a="http://schemas.openxmlformats.org/drawingml/2006/main">
            <a:r>
              <a:t>apps/web/src/analyticsExport.test.ts</a:t>
            </a:r>
          </a:p>
          <a:p xmlns:a="http://schemas.openxmlformats.org/drawingml/2006/main">
            <a:r>
              <a:t>apps/web/package.json</a:t>
            </a:r>
          </a:p>
          <a:p xmlns:a="http://schemas.openxmlformats.org/drawingml/2006/main">
            <a:r>
              <a:t>apps/web/package-lock.json</a:t>
            </a:r>
          </a:p>
          <a:p xmlns:a="http://schemas.openxmlformats.org/drawingml/2006/main">
            <a:r>
              <a:t>https://vitest.dev/guide/</a:t>
            </a:r>
          </a:p>
          <a:p xmlns:a="http://schemas.openxmlformats.org/drawingml/2006/main">
            <a:r>
              <a:t/>
            </a:r>
          </a:p>
          <a:p xmlns:a="http://schemas.openxmlformats.org/drawingml/2006/main">
            <a:r>
              <a:t>Manifeste : qa/package.json.</a:t>
            </a:r>
          </a:p>
          <a:p xmlns:a="http://schemas.openxmlformats.org/drawingml/2006/main">
            <a:r>
              <a:t>@axe-core/playwright@4.11.1</a:t>
            </a:r>
          </a:p>
          <a:p xmlns:a="http://schemas.openxmlformats.org/drawingml/2006/main">
            <a:r>
              <a:t>Classement de référence : Développement et tests.</a:t>
            </a:r>
          </a:p>
          <a:p xmlns:a="http://schemas.openxmlformats.org/drawingml/2006/main">
            <a:r>
              <a:t>Fonction : Intègre le moteur axe-core à Playwright pour détecter des violations d’accessibilité.</a:t>
            </a:r>
          </a:p>
          <a:p xmlns:a="http://schemas.openxmlformats.org/drawingml/2006/main">
            <a:r>
              <a:t>Utilisation Genesis : Les tests QA importent AxeBuilder pour auditer les pages à des étapes précises.</a:t>
            </a:r>
          </a:p>
          <a:p xmlns:a="http://schemas.openxmlformats.org/drawingml/2006/main">
            <a:r>
              <a:t>Pourquoi présent : Déclaré directement dans qa/package.json (devDependencies); résolution 4.11.1 conservée dans son package-lock.json.</a:t>
            </a:r>
          </a:p>
          <a:p xmlns:a="http://schemas.openxmlformats.org/drawingml/2006/main">
            <a:r>
              <a:t>Exemple : Une analyse peut détecter un contrôle sans nom accessible; ce contrôle n’est pas un audit WCAG complet.</a:t>
            </a:r>
          </a:p>
          <a:p xmlns:a="http://schemas.openxmlformats.org/drawingml/2006/main">
            <a:r>
              <a:t>Sources :</a:t>
            </a:r>
          </a:p>
          <a:p xmlns:a="http://schemas.openxmlformats.org/drawingml/2006/main">
            <a:r>
              <a:t>qa/tests/observatory.spec.ts</a:t>
            </a:r>
          </a:p>
          <a:p xmlns:a="http://schemas.openxmlformats.org/drawingml/2006/main">
            <a:r>
              <a:t>qa/package.json</a:t>
            </a:r>
          </a:p>
          <a:p xmlns:a="http://schemas.openxmlformats.org/drawingml/2006/main">
            <a:r>
              <a:t>qa/package-lock.json</a:t>
            </a:r>
          </a:p>
          <a:p xmlns:a="http://schemas.openxmlformats.org/drawingml/2006/main">
            <a:r>
              <a:t>https://github.com/dequelabs/axe-core-npm/tree/develop/packages/playwright</a:t>
            </a:r>
          </a:p>
          <a:p xmlns:a="http://schemas.openxmlformats.org/drawingml/2006/main">
            <a:r>
              <a:t/>
            </a:r>
          </a:p>
          <a:p xmlns:a="http://schemas.openxmlformats.org/drawingml/2006/main">
            <a:r>
              <a:t>Manifeste : qa/package.json.</a:t>
            </a:r>
          </a:p>
          <a:p xmlns:a="http://schemas.openxmlformats.org/drawingml/2006/main">
            <a:r>
              <a:t>@playwright/test@1.59.1</a:t>
            </a:r>
          </a:p>
          <a:p xmlns:a="http://schemas.openxmlformats.org/drawingml/2006/main">
            <a:r>
              <a:t>Classement de référence : Développement et tests.</a:t>
            </a:r>
          </a:p>
          <a:p xmlns:a="http://schemas.openxmlformats.org/drawingml/2006/main">
            <a:r>
              <a:t>Fonction : Pilote des navigateurs et exécute des parcours avec assertions, fixtures et attentes.</a:t>
            </a:r>
          </a:p>
          <a:p xmlns:a="http://schemas.openxmlformats.org/drawingml/2006/main">
            <a:r>
              <a:t>Utilisation Genesis : La suite QA décrit commandes, budgets, cartes et parcours de routes dans des profils locaux.</a:t>
            </a:r>
          </a:p>
          <a:p xmlns:a="http://schemas.openxmlformats.org/drawingml/2006/main">
            <a:r>
              <a:t>Pourquoi présent : Déclaré directement dans qa/package.json (devDependencies); résolution 1.59.1 conservée dans son package-lock.json.</a:t>
            </a:r>
          </a:p>
          <a:p xmlns:a="http://schemas.openxmlformats.org/drawingml/2006/main">
            <a:r>
              <a:t>Exemple : Un scénario peut remplir un formulaire puis vérifier la proposition et le départ explicite de la simulation.</a:t>
            </a:r>
          </a:p>
          <a:p xmlns:a="http://schemas.openxmlformats.org/drawingml/2006/main">
            <a:r>
              <a:t>Sources :</a:t>
            </a:r>
          </a:p>
          <a:p xmlns:a="http://schemas.openxmlformats.org/drawingml/2006/main">
            <a:r>
              <a:t>qa/tests/routes.browser.spec.ts</a:t>
            </a:r>
          </a:p>
          <a:p xmlns:a="http://schemas.openxmlformats.org/drawingml/2006/main">
            <a:r>
              <a:t>qa/package.json</a:t>
            </a:r>
          </a:p>
          <a:p xmlns:a="http://schemas.openxmlformats.org/drawingml/2006/main">
            <a:r>
              <a:t>qa/package-lock.json</a:t>
            </a:r>
          </a:p>
          <a:p xmlns:a="http://schemas.openxmlformats.org/drawingml/2006/main">
            <a:r>
              <a:t>https://playwright.dev/docs/intro</a:t>
            </a:r>
          </a:p>
          <a:p xmlns:a="http://schemas.openxmlformats.org/drawingml/2006/main">
            <a:r>
              <a:t/>
            </a:r>
          </a:p>
          <a:p xmlns:a="http://schemas.openxmlformats.org/drawingml/2006/main">
            <a:r>
              <a:t>Manifeste : qa/package.json.</a:t>
            </a:r>
          </a:p>
          <a:p xmlns:a="http://schemas.openxmlformats.org/drawingml/2006/main">
            <a:r>
              <a:t>json-schema-to-typescript@^15.0.4</a:t>
            </a:r>
          </a:p>
          <a:p xmlns:a="http://schemas.openxmlformats.org/drawingml/2006/main">
            <a:r>
              <a:t>Classement de référence : Installé sans usage métier direct.</a:t>
            </a:r>
          </a:p>
          <a:p xmlns:a="http://schemas.openxmlformats.org/drawingml/2006/main">
            <a:r>
              <a:t>Fonction : Génère des déclarations TypeScript à partir de schémas JSON.</a:t>
            </a:r>
          </a:p>
          <a:p xmlns:a="http://schemas.openxmlformats.org/drawingml/2006/main">
            <a:r>
              <a:t>Utilisation Genesis : Est déclaré dans QA mais aucun script ni appel de génération Genesis n’est trouvé; les contrats web présents sont écrits dans le dépôt.</a:t>
            </a:r>
          </a:p>
          <a:p xmlns:a="http://schemas.openxmlformats.org/drawingml/2006/main">
            <a:r>
              <a:t>Pourquoi présent : Déclaré directement dans qa/package.json (devDependencies); résolution 15.0.4 conservée dans son package-lock.json.</a:t>
            </a:r>
          </a:p>
          <a:p xmlns:a="http://schemas.openxmlformats.org/drawingml/2006/main">
            <a:r>
              <a:t>Exemple : Il pourrait produire une interface depuis un schéma; sa présence n’atteste pas une synchronisation automatique des contrats.</a:t>
            </a:r>
          </a:p>
          <a:p xmlns:a="http://schemas.openxmlformats.org/drawingml/2006/main">
            <a:r>
              <a:t>Sources :</a:t>
            </a:r>
          </a:p>
          <a:p xmlns:a="http://schemas.openxmlformats.org/drawingml/2006/main">
            <a:r>
              <a:t>qa/package.json</a:t>
            </a:r>
          </a:p>
          <a:p xmlns:a="http://schemas.openxmlformats.org/drawingml/2006/main">
            <a:r>
              <a:t>qa/package.json</a:t>
            </a:r>
          </a:p>
          <a:p xmlns:a="http://schemas.openxmlformats.org/drawingml/2006/main">
            <a:r>
              <a:t>qa/package-lock.json</a:t>
            </a:r>
          </a:p>
          <a:p xmlns:a="http://schemas.openxmlformats.org/drawingml/2006/main">
            <a:r>
              <a:t>https://github.com/bcherny/json-schema-to-typescript</a:t>
            </a:r>
          </a:p>
          <a:p xmlns:a="http://schemas.openxmlformats.org/drawingml/2006/main">
            <a:r>
              <a:t/>
            </a:r>
          </a:p>
          <a:p xmlns:a="http://schemas.openxmlformats.org/drawingml/2006/main">
            <a:r>
              <a:t>Sources du dépôt, état au 11 octobre 2026 (U17–U19) :</a:t>
            </a:r>
          </a:p>
          <a:p xmlns:a="http://schemas.openxmlformats.org/drawingml/2006/main">
            <a:r>
              <a:t>apps/web/package.json</a:t>
            </a:r>
          </a:p>
          <a:p xmlns:a="http://schemas.openxmlformats.org/drawingml/2006/main">
            <a:r>
              <a:t>qa/package.json</a:t>
            </a:r>
          </a:p>
          <a:p xmlns:a="http://schemas.openxmlformats.org/drawingml/2006/main">
            <a:r>
              <a:t>apps/web/package-lock.json</a:t>
            </a:r>
          </a:p>
          <a:p xmlns:a="http://schemas.openxmlformats.org/drawingml/2006/main">
            <a:r>
              <a:t>qa/package-lock.json</a:t>
            </a:r>
          </a:p>
          <a:p xmlns:a="http://schemas.openxmlformats.org/drawingml/2006/main">
            <a:r>
              <a:t>presentations/package-details.json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c6ed4fd5a43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f09c6b442d4f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d2a9b32cc040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3d946876a349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0405e2c0f443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959988edc9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DD771-76B1-4378-8EC1-521EE999E8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9BD818-F9AF-484E-B59F-27C17B6045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0AA0D1-E946-461F-8D89-95B855085F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AB2C4-D9F2-4558-BA3E-1026B98CE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F045DC-C5FD-4192-B00A-751EEF1B12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4678CD-B849-457A-A582-174E4435A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128E26-D3F2-44E3-A751-88D2CF472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E128C9-560D-44F5-91A3-857FE47EB7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37538-E8BB-4FD2-93A4-9FA92976B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8C46EF-6248-4725-8D08-240DF918DB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60fe89be3a40ed" /><Relationship Type="http://schemas.openxmlformats.org/officeDocument/2006/relationships/slideLayout" Target="/ppt/slideLayouts/slideLayout1.xml" Id="R225f8f10cd1e4e24" /><Relationship Type="http://schemas.openxmlformats.org/officeDocument/2006/relationships/slideLayout" Target="/ppt/slideLayouts/slideLayout2.xml" Id="R39dd79229bd24466" /><Relationship Type="http://schemas.openxmlformats.org/officeDocument/2006/relationships/slideLayout" Target="/ppt/slideLayouts/slideLayout3.xml" Id="R4b21f07fc7584153" /><Relationship Type="http://schemas.openxmlformats.org/officeDocument/2006/relationships/slideLayout" Target="/ppt/slideLayouts/slideLayout4.xml" Id="Rd1d32467b6514aa5" /><Relationship Type="http://schemas.openxmlformats.org/officeDocument/2006/relationships/slideLayout" Target="/ppt/slideLayouts/slideLayout5.xml" Id="Rc408fe440e874206" /><Relationship Type="http://schemas.openxmlformats.org/officeDocument/2006/relationships/slideLayout" Target="/ppt/slideLayouts/slideLayout6.xml" Id="R3e1fd0982d0f44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5f8f10cd1e4e24"/>
    <p:sldLayoutId xmlns:r="http://schemas.openxmlformats.org/officeDocument/2006/relationships" id="2147483650" r:id="R39dd79229bd24466"/>
    <p:sldLayoutId xmlns:r="http://schemas.openxmlformats.org/officeDocument/2006/relationships" id="2147483651" r:id="R4b21f07fc7584153"/>
    <p:sldLayoutId xmlns:r="http://schemas.openxmlformats.org/officeDocument/2006/relationships" id="2147483652" r:id="Rd1d32467b6514aa5"/>
    <p:sldLayoutId xmlns:r="http://schemas.openxmlformats.org/officeDocument/2006/relationships" id="2147483653" r:id="Rc408fe440e874206"/>
    <p:sldLayoutId xmlns:r="http://schemas.openxmlformats.org/officeDocument/2006/relationships" id="2147483654" r:id="R3e1fd0982d0f44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a3898807064549" /><Relationship Type="http://schemas.openxmlformats.org/officeDocument/2006/relationships/notesSlide" Target="/ppt/notesSlides/notesSlide1.xml" Id="R019c7fb4a74f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55a393c9504c02" /><Relationship Type="http://schemas.openxmlformats.org/officeDocument/2006/relationships/notesSlide" Target="/ppt/notesSlides/notesSlide2.xml" Id="R8dfb6b23d0c145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bc4a63f9fe4834" /><Relationship Type="http://schemas.openxmlformats.org/officeDocument/2006/relationships/notesSlide" Target="/ppt/notesSlides/notesSlide3.xml" Id="Rdcc6540102a44c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5da3c46275408c" /><Relationship Type="http://schemas.openxmlformats.org/officeDocument/2006/relationships/notesSlide" Target="/ppt/notesSlides/notesSlide4.xml" Id="Rf67924c8ad7b4e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7b502c0b534e48" /><Relationship Type="http://schemas.openxmlformats.org/officeDocument/2006/relationships/notesSlide" Target="/ppt/notesSlides/notesSlide5.xml" Id="Rd2da66c9a7fd46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667ac7fee04c63" /><Relationship Type="http://schemas.openxmlformats.org/officeDocument/2006/relationships/notesSlide" Target="/ppt/notesSlides/notesSlide6.xml" Id="R3c0aeffb7b1640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c4e6c11d314a73" /><Relationship Type="http://schemas.openxmlformats.org/officeDocument/2006/relationships/notesSlide" Target="/ppt/notesSlides/notesSlide7.xml" Id="R8309a25f27214f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d19cc3a7c9f4da1" /><Relationship Type="http://schemas.openxmlformats.org/officeDocument/2006/relationships/notesSlide" Target="/ppt/notesSlides/notesSlide8.xml" Id="Rc2461b32020141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ddf92cb8c84253" /><Relationship Type="http://schemas.openxmlformats.org/officeDocument/2006/relationships/notesSlide" Target="/ppt/notesSlides/notesSlide9.xml" Id="R8dbb29534cde45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78d818f336645c9" /><Relationship Type="http://schemas.openxmlformats.org/officeDocument/2006/relationships/notesSlide" Target="/ppt/notesSlides/notesSlide10.xml" Id="R40870970529243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498f382dfc458f" /><Relationship Type="http://schemas.openxmlformats.org/officeDocument/2006/relationships/notesSlide" Target="/ppt/notesSlides/notesSlide11.xml" Id="R366d196750e24e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33ef21f2e94a29" /><Relationship Type="http://schemas.openxmlformats.org/officeDocument/2006/relationships/notesSlide" Target="/ppt/notesSlides/notesSlide12.xml" Id="R6b5746982b6a4a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2392f30cff4f6d" /><Relationship Type="http://schemas.openxmlformats.org/officeDocument/2006/relationships/chart" Target="/ppt/slides/charts/chart1.xml" Id="R42b5e242af8841ea" /><Relationship Type="http://schemas.openxmlformats.org/officeDocument/2006/relationships/notesSlide" Target="/ppt/notesSlides/notesSlide13.xml" Id="R1a49b99cb06044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d2b78a5e5d43ed" /><Relationship Type="http://schemas.openxmlformats.org/officeDocument/2006/relationships/notesSlide" Target="/ppt/notesSlides/notesSlide14.xml" Id="Ra63f64caeb8b4f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0122d33a6534448" /><Relationship Type="http://schemas.openxmlformats.org/officeDocument/2006/relationships/notesSlide" Target="/ppt/notesSlides/notesSlide15.xml" Id="Ra6365ef6e3a340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d675b32af447ae" /><Relationship Type="http://schemas.openxmlformats.org/officeDocument/2006/relationships/notesSlide" Target="/ppt/notesSlides/notesSlide16.xml" Id="Ree402068bd1a4d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77e3f84481424d" /><Relationship Type="http://schemas.openxmlformats.org/officeDocument/2006/relationships/notesSlide" Target="/ppt/notesSlides/notesSlide17.xml" Id="Ra140170a8dab40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4ad9267ffcb4096" /><Relationship Type="http://schemas.openxmlformats.org/officeDocument/2006/relationships/notesSlide" Target="/ppt/notesSlides/notesSlide18.xml" Id="Rb79d1b06c5de4f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aba3c483d9d485b" /><Relationship Type="http://schemas.openxmlformats.org/officeDocument/2006/relationships/notesSlide" Target="/ppt/notesSlides/notesSlide19.xml" Id="R48b2aaebb77448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cddab4d4c22439f" /><Relationship Type="http://schemas.openxmlformats.org/officeDocument/2006/relationships/image" Target="/ppt/media/image.jpeg" Id="R4026b7f6635546ab" /><Relationship Type="http://schemas.openxmlformats.org/officeDocument/2006/relationships/notesSlide" Target="/ppt/notesSlides/notesSlide20.xml" Id="R8201b734af0a46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2131b4c5b8043ce" /><Relationship Type="http://schemas.openxmlformats.org/officeDocument/2006/relationships/notesSlide" Target="/ppt/notesSlides/notesSlide21.xml" Id="Raf17f245b96d40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846cea5f7d4eab" /><Relationship Type="http://schemas.openxmlformats.org/officeDocument/2006/relationships/notesSlide" Target="/ppt/notesSlides/notesSlide22.xml" Id="Rd105e1b31dd44e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bfc63d28e9649d3" /><Relationship Type="http://schemas.openxmlformats.org/officeDocument/2006/relationships/notesSlide" Target="/ppt/notesSlides/notesSlide23.xml" Id="Rc52dfbd4750443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f3fb96369f24fc4" /><Relationship Type="http://schemas.openxmlformats.org/officeDocument/2006/relationships/notesSlide" Target="/ppt/notesSlides/notesSlide24.xml" Id="R45dc7bd58be94d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cbec1f2688d4243" /><Relationship Type="http://schemas.openxmlformats.org/officeDocument/2006/relationships/notesSlide" Target="/ppt/notesSlides/notesSlide25.xml" Id="Rfba631e13265471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a8c0f1615eb494f" /><Relationship Type="http://schemas.openxmlformats.org/officeDocument/2006/relationships/notesSlide" Target="/ppt/notesSlides/notesSlide26.xml" Id="R46706acac94a4a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223a9a99fdc43a5" /><Relationship Type="http://schemas.openxmlformats.org/officeDocument/2006/relationships/notesSlide" Target="/ppt/notesSlides/notesSlide27.xml" Id="R5b924536c68c48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cdc0f7b59b1489e" /><Relationship Type="http://schemas.openxmlformats.org/officeDocument/2006/relationships/notesSlide" Target="/ppt/notesSlides/notesSlide28.xml" Id="R6d010efd6cc143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d523830c5214388" /><Relationship Type="http://schemas.openxmlformats.org/officeDocument/2006/relationships/notesSlide" Target="/ppt/notesSlides/notesSlide29.xml" Id="R8b1684905ea547e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9204b0032c040ed" /><Relationship Type="http://schemas.openxmlformats.org/officeDocument/2006/relationships/notesSlide" Target="/ppt/notesSlides/notesSlide30.xml" Id="R535b5445017a49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53099f4953347bd" /><Relationship Type="http://schemas.openxmlformats.org/officeDocument/2006/relationships/notesSlide" Target="/ppt/notesSlides/notesSlide31.xml" Id="R1faf8d347ab74f0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34bd79dbb7a4525" /><Relationship Type="http://schemas.openxmlformats.org/officeDocument/2006/relationships/notesSlide" Target="/ppt/notesSlides/notesSlide32.xml" Id="Rb59b29741bf24f5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a36b1de02e84233" /><Relationship Type="http://schemas.openxmlformats.org/officeDocument/2006/relationships/notesSlide" Target="/ppt/notesSlides/notesSlide33.xml" Id="Rf94ea3cb55ea431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9546981c0da4f0f" /><Relationship Type="http://schemas.openxmlformats.org/officeDocument/2006/relationships/notesSlide" Target="/ppt/notesSlides/notesSlide34.xml" Id="R96dc27a2ea674e0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3836dea39304cd1" /><Relationship Type="http://schemas.openxmlformats.org/officeDocument/2006/relationships/notesSlide" Target="/ppt/notesSlides/notesSlide35.xml" Id="R1e874e83a3444d4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b37b642556b94839" /><Relationship Type="http://schemas.openxmlformats.org/officeDocument/2006/relationships/notesSlide" Target="/ppt/notesSlides/notesSlide36.xml" Id="Re5f94415c87c4f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Appels prévus</c:v>
          </c:tx>
          <c:spPr>
            <a:solidFill xmlns:a="http://schemas.openxmlformats.org/drawingml/2006/main">
              <a:srgbClr val="146C78"/>
            </a:solidFill>
          </c:spPr>
          <c:cat>
            <c:strRef>
              <c:f>'Chart Data'!$A$2:$A$5</c:f>
              <c:strCache>
                <c:ptCount val="4"/>
                <c:pt idx="0">
                  <c:v>Complète</c:v>
                </c:pt>
                <c:pt idx="1">
                  <c:v>Routine sans réemploi</c:v>
                </c:pt>
                <c:pt idx="2">
                  <c:v>Routine avec réemploi</c:v>
                </c:pt>
                <c:pt idx="3">
                  <c:v>Standard sans IA</c:v>
                </c:pt>
              </c:strCache>
            </c:strRef>
          </c:cat>
          <c:val>
            <c:numRef>
              <c:f>'Chart Data'!$B$2:$B$5</c:f>
              <c:numCache>
                <c:formatCode>General</c:formatCode>
                <c:ptCount val="4"/>
                <c:pt idx="0">
                  <c:v>5</c:v>
                </c:pt>
                <c:pt idx="1">
                  <c:v>3</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3039"/>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039"/>
                </a:solidFill>
                <a:latin typeface="Arial"/>
                <a:ea typeface="Arial"/>
                <a:cs typeface="Arial"/>
              </a:defRPr>
            </a:pPr>
          </a:p>
        </c:txPr>
        <c:crossAx val="48672768"/>
      </c:catAx>
      <c:valAx>
        <c:axId val="48672768"/>
        <c:scaling>
          <c:orientation val="minMax"/>
          <c:max val="6"/>
          <c:min val="0"/>
        </c:scaling>
        <c:delete val="0"/>
        <c:axPos val="b"/>
        <c:majorGridlines>
          <c:spPr>
            <a:ln xmlns:a="http://schemas.openxmlformats.org/drawingml/2006/main" w="9525">
              <a:solidFill>
                <a:srgbClr val="D7E1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Nombre d’appels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0"/>
                </a:solidFill>
                <a:latin typeface="Arial"/>
                <a:ea typeface="Arial"/>
                <a:cs typeface="Arial"/>
              </a:defRPr>
            </a:pPr>
          </a:p>
        </c:txPr>
        <c:crossAx val="48650112"/>
        <c:crossBetween val="between"/>
        <c:majorUnit val="1"/>
      </c:valAx>
      <c:spPr>
        <a:solidFill xmlns:a="http://schemas.openxmlformats.org/drawingml/2006/main">
          <a:srgbClr val="F4F7F7"/>
        </a:solidFill>
      </c:spPr>
    </c:plotArea>
    <c:plotVisOnly val="1"/>
  </c:chart>
  <c:spPr>
    <a:solidFill xmlns:a="http://schemas.openxmlformats.org/drawingml/2006/main">
      <a:srgbClr val="F4F7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9DA191-83A5-421C-8D6F-4CFB4A7AAB2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B5DED7"/>
                </a:solidFill>
                <a:latin typeface="Arial"/>
                <a:ea typeface="Arial"/>
                <a:cs typeface="Arial"/>
              </a:defRPr>
            </a:defPPr>
          </a:lstStyle>
          <a:p xmlns:a="http://schemas.openxmlformats.org/drawingml/2006/main">
            <a:pPr>
              <a:buNone/>
              <a:defRPr sz="1200" b="1">
                <a:solidFill>
                  <a:srgbClr val="B5DED7"/>
                </a:solidFill>
                <a:latin typeface="Arial"/>
                <a:ea typeface="Arial"/>
                <a:cs typeface="Arial"/>
              </a:defRPr>
            </a:pPr>
            <a:r>
              <a:rPr sz="1200" b="1">
                <a:solidFill>
                  <a:srgbClr val="B5DED7"/>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9714827-5B16-4A29-B5B5-48CC802407A4}"/>
              </a:ext>
            </a:extLst>
          </p:cNvPr>
          <p:cNvSpPr>
            <a:spLocks xmlns:a="http://schemas.openxmlformats.org/drawingml/2006/main" noGrp="1"/>
          </p:cNvSpPr>
          <p:nvPr/>
        </p:nvSpPr>
        <p:spPr>
          <a:xfrm xmlns:a="http://schemas.openxmlformats.org/drawingml/2006/main">
            <a:off x="609600" y="14382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FFFFFF"/>
                </a:solidFill>
                <a:latin typeface="Arial"/>
                <a:ea typeface="Arial"/>
                <a:cs typeface="Arial"/>
              </a:defRPr>
            </a:defPPr>
          </a:lstStyle>
          <a:p xmlns:a="http://schemas.openxmlformats.org/drawingml/2006/main">
            <a:pPr>
              <a:buNone/>
              <a:defRPr sz="6600" b="1">
                <a:solidFill>
                  <a:srgbClr val="FFFFFF"/>
                </a:solidFill>
                <a:latin typeface="Arial"/>
                <a:ea typeface="Arial"/>
                <a:cs typeface="Arial"/>
              </a:defRPr>
            </a:pPr>
            <a:r>
              <a:rPr sz="6600" b="1">
                <a:solidFill>
                  <a:srgbClr val="FFFFFF"/>
                </a:solidFill>
                <a:latin typeface="Arial"/>
                <a:ea typeface="Arial"/>
                <a:cs typeface="Arial"/>
              </a:rPr>
              <a:t>genesis</a:t>
            </a:r>
          </a:p>
        </p:txBody>
      </p:sp>
      <p:sp>
        <p:nvSpPr>
          <p:cNvPr id="3" name="">
            <a:extLst xmlns:a="http://schemas.openxmlformats.org/drawingml/2006/main">
              <a:ext uri="{FF2B5EF4-FFF2-40B4-BE49-F238E27FC236}">
                <a16:creationId xmlns:a16="http://schemas.microsoft.com/office/drawing/2014/main" id="{74A3AA28-4D3E-420B-A130-BFF6682C4DF1}"/>
              </a:ext>
            </a:extLst>
          </p:cNvPr>
          <p:cNvSpPr>
            <a:spLocks xmlns:a="http://schemas.openxmlformats.org/drawingml/2006/main" noGrp="1"/>
          </p:cNvSpPr>
          <p:nvPr/>
        </p:nvSpPr>
        <p:spPr>
          <a:xfrm xmlns:a="http://schemas.openxmlformats.org/drawingml/2006/main">
            <a:off x="647700" y="2667000"/>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Arial"/>
                <a:ea typeface="Arial"/>
                <a:cs typeface="Arial"/>
              </a:defRPr>
            </a:defPPr>
          </a:lstStyle>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Architecture, technologies</a:t>
            </a:r>
          </a:p>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et fonctionnement</a:t>
            </a:r>
          </a:p>
        </p:txBody>
      </p:sp>
      <p:sp>
        <p:nvSpPr>
          <p:cNvPr id="4" name="">
            <a:extLst xmlns:a="http://schemas.openxmlformats.org/drawingml/2006/main">
              <a:ext uri="{FF2B5EF4-FFF2-40B4-BE49-F238E27FC236}">
                <a16:creationId xmlns:a16="http://schemas.microsoft.com/office/drawing/2014/main" id="{47B6F337-4621-4516-B302-8D4504CF2EFA}"/>
              </a:ext>
            </a:extLst>
          </p:cNvPr>
          <p:cNvSpPr>
            <a:spLocks xmlns:a="http://schemas.openxmlformats.org/drawingml/2006/main" noGrp="1"/>
          </p:cNvSpPr>
          <p:nvPr/>
        </p:nvSpPr>
        <p:spPr>
          <a:xfrm xmlns:a="http://schemas.openxmlformats.org/drawingml/2006/main">
            <a:off x="647700" y="4619625"/>
            <a:ext cx="962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5DED7"/>
                </a:solidFill>
                <a:latin typeface="Arial"/>
                <a:ea typeface="Arial"/>
                <a:cs typeface="Arial"/>
              </a:defRPr>
            </a:defPPr>
          </a:lstStyle>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Observatoire multiagents pour la logistique montréalaise</a:t>
            </a:r>
          </a:p>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Dossier technique · 11 octobre 2026</a:t>
            </a:r>
          </a:p>
        </p:txBody>
      </p:sp>
      <p:sp>
        <p:nvSpPr>
          <p:cNvPr id="5" name="">
            <a:extLst xmlns:a="http://schemas.openxmlformats.org/drawingml/2006/main">
              <a:ext uri="{FF2B5EF4-FFF2-40B4-BE49-F238E27FC236}">
                <a16:creationId xmlns:a16="http://schemas.microsoft.com/office/drawing/2014/main" id="{5AD531BC-210F-4BB6-9F45-9AFA8D1458C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buNone/>
              <a:defRPr sz="1125" b="0">
                <a:solidFill>
                  <a:srgbClr val="B5DED7"/>
                </a:solidFill>
                <a:latin typeface="Arial"/>
                <a:ea typeface="Arial"/>
                <a:cs typeface="Arial"/>
              </a:defRPr>
            </a:pPr>
            <a:r>
              <a:rPr sz="1125" b="0">
                <a:solidFill>
                  <a:srgbClr val="B5DED7"/>
                </a:solidFill>
                <a:latin typeface="Arial"/>
                <a:ea typeface="Arial"/>
                <a:cs typeface="Arial"/>
              </a:rPr>
              <a:t>01</a:t>
            </a:r>
          </a:p>
        </p:txBody>
      </p:sp>
    </p:spTree>
    <p:extLst>
      <p:ext uri="{BB962C8B-B14F-4D97-AF65-F5344CB8AC3E}">
        <p14:creationId xmlns:p14="http://schemas.microsoft.com/office/powerpoint/2010/main" val="282065504"/>
      </p:ext>
    </p:extLst>
  </p:cSld>
</p:sld>
</file>

<file path=ppt/slides/slide2.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419B6C-8846-463B-874A-42DBFA0C75E2}"/>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La décision du répartiteur</a:t>
            </a:r>
          </a:p>
        </p:txBody>
      </p:sp>
      <p:sp>
        <p:nvSpPr>
          <p:cNvPr id="2" name="">
            <a:extLst xmlns:a="http://schemas.openxmlformats.org/drawingml/2006/main">
              <a:ext uri="{FF2B5EF4-FFF2-40B4-BE49-F238E27FC236}">
                <a16:creationId xmlns:a16="http://schemas.microsoft.com/office/drawing/2014/main" id="{DE656F5C-B559-47AC-BA8C-A52C1E50538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8CA2CE7-3B60-4CE4-BF6F-D56AF9213AF6}"/>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Périmètre actuel : livraisons à Montréal, positions et progression simulées.</a:t>
            </a:r>
          </a:p>
        </p:txBody>
      </p:sp>
      <p:sp>
        <p:nvSpPr>
          <p:cNvPr id="4" name="">
            <a:extLst xmlns:a="http://schemas.openxmlformats.org/drawingml/2006/main">
              <a:ext uri="{FF2B5EF4-FFF2-40B4-BE49-F238E27FC236}">
                <a16:creationId xmlns:a16="http://schemas.microsoft.com/office/drawing/2014/main" id="{F81ED5A8-75C4-4363-BB88-C63C6A35B2AB}"/>
              </a:ext>
            </a:extLst>
          </p:cNvPr>
          <p:cNvSpPr>
            <a:spLocks xmlns:a="http://schemas.openxmlformats.org/drawingml/2006/main" noGrp="1"/>
          </p:cNvSpPr>
          <p:nvPr/>
        </p:nvSpPr>
        <p:spPr>
          <a:xfrm xmlns:a="http://schemas.openxmlformats.org/drawingml/2006/main">
            <a:off x="609600" y="19812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FFFFFF"/>
                </a:solidFill>
                <a:latin typeface="Arial"/>
                <a:ea typeface="Arial"/>
                <a:cs typeface="Arial"/>
              </a:defRPr>
            </a:defPPr>
          </a:lstStyle>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Quel véhicule peut livrer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quoi, à quel coût ?</a:t>
            </a:r>
          </a:p>
        </p:txBody>
      </p:sp>
      <p:sp>
        <p:nvSpPr>
          <p:cNvPr id="5" name="">
            <a:extLst xmlns:a="http://schemas.openxmlformats.org/drawingml/2006/main">
              <a:ext uri="{FF2B5EF4-FFF2-40B4-BE49-F238E27FC236}">
                <a16:creationId xmlns:a16="http://schemas.microsoft.com/office/drawing/2014/main" id="{B9CA3767-050B-403A-9AFC-34CA40798722}"/>
              </a:ext>
            </a:extLst>
          </p:cNvPr>
          <p:cNvSpPr>
            <a:spLocks xmlns:a="http://schemas.openxmlformats.org/drawingml/2006/main" noGrp="1"/>
          </p:cNvSpPr>
          <p:nvPr/>
        </p:nvSpPr>
        <p:spPr>
          <a:xfrm xmlns:a="http://schemas.openxmlformats.org/drawingml/2006/main">
            <a:off x="609600" y="4429125"/>
            <a:ext cx="990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B5DED7"/>
                </a:solidFill>
                <a:latin typeface="Arial"/>
                <a:ea typeface="Arial"/>
                <a:cs typeface="Arial"/>
              </a:defRPr>
            </a:defPPr>
          </a:lstStyle>
          <a:p xmlns:a="http://schemas.openxmlformats.org/drawingml/2006/main">
            <a:pPr>
              <a:defRPr sz="2325" b="0">
                <a:solidFill>
                  <a:srgbClr val="B5DED7"/>
                </a:solidFill>
                <a:latin typeface="Arial"/>
                <a:ea typeface="Arial"/>
                <a:cs typeface="Arial"/>
              </a:defRPr>
            </a:pPr>
            <a:r>
              <a:rPr sz="2325" b="0">
                <a:solidFill>
                  <a:srgbClr val="B5DED7"/>
                </a:solidFill>
                <a:latin typeface="Arial"/>
                <a:ea typeface="Arial"/>
                <a:cs typeface="Arial"/>
              </a:rPr>
              <a:t>Genesis compare les affectations, contrôle les contraintes et conserve les preuves de chaque proposition.</a:t>
            </a:r>
          </a:p>
        </p:txBody>
      </p:sp>
    </p:spTree>
    <p:extLst>
      <p:ext uri="{BB962C8B-B14F-4D97-AF65-F5344CB8AC3E}">
        <p14:creationId xmlns:p14="http://schemas.microsoft.com/office/powerpoint/2010/main" val="494803315"/>
      </p:ext>
    </p:extLst>
  </p:cSld>
</p:sld>
</file>

<file path=ppt/slides/slide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8BC6DE-ACC0-41D3-9DAD-FF2E52AFF74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périmètre livré</a:t>
            </a:r>
          </a:p>
        </p:txBody>
      </p:sp>
      <p:sp>
        <p:nvSpPr>
          <p:cNvPr id="2" name="">
            <a:extLst xmlns:a="http://schemas.openxmlformats.org/drawingml/2006/main">
              <a:ext uri="{FF2B5EF4-FFF2-40B4-BE49-F238E27FC236}">
                <a16:creationId xmlns:a16="http://schemas.microsoft.com/office/drawing/2014/main" id="{8E87FF33-C686-41F7-8B21-1C19912FB7A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22EBF17-E100-4BA3-B554-E9E20240FF8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adresses et rues peuvent être réelles. La livraison exécutée reste simulée.</a:t>
            </a:r>
          </a:p>
        </p:txBody>
      </p:sp>
      <p:sp>
        <p:nvSpPr>
          <p:cNvPr id="4" name="">
            <a:extLst xmlns:a="http://schemas.openxmlformats.org/drawingml/2006/main">
              <a:ext uri="{FF2B5EF4-FFF2-40B4-BE49-F238E27FC236}">
                <a16:creationId xmlns:a16="http://schemas.microsoft.com/office/drawing/2014/main" id="{2833B1BF-B8ED-44A3-90B9-BC2287264CB7}"/>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Dans le prototype</a:t>
            </a:r>
          </a:p>
        </p:txBody>
      </p:sp>
      <p:sp>
        <p:nvSpPr>
          <p:cNvPr id="5" name="">
            <a:extLst xmlns:a="http://schemas.openxmlformats.org/drawingml/2006/main">
              <a:ext uri="{FF2B5EF4-FFF2-40B4-BE49-F238E27FC236}">
                <a16:creationId xmlns:a16="http://schemas.microsoft.com/office/drawing/2014/main" id="{C7746E98-D407-40AB-A663-41E9EEAA602E}"/>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Commandes persistantes et import CSV</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Planification et certificats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Flotte locale configurable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Coûts, tokens et historique</a:t>
            </a:r>
          </a:p>
        </p:txBody>
      </p:sp>
      <p:sp>
        <p:nvSpPr>
          <p:cNvPr id="6" name="">
            <a:extLst xmlns:a="http://schemas.openxmlformats.org/drawingml/2006/main">
              <a:ext uri="{FF2B5EF4-FFF2-40B4-BE49-F238E27FC236}">
                <a16:creationId xmlns:a16="http://schemas.microsoft.com/office/drawing/2014/main" id="{F837D08F-BA06-4792-B1C4-2BD03A89AF8E}"/>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Avant le terrain</a:t>
            </a:r>
          </a:p>
        </p:txBody>
      </p:sp>
      <p:sp>
        <p:nvSpPr>
          <p:cNvPr id="7" name="">
            <a:extLst xmlns:a="http://schemas.openxmlformats.org/drawingml/2006/main">
              <a:ext uri="{FF2B5EF4-FFF2-40B4-BE49-F238E27FC236}">
                <a16:creationId xmlns:a16="http://schemas.microsoft.com/office/drawing/2014/main" id="{F9EAA16B-A889-42F0-A75C-B7EF89FB4D95}"/>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Identité et séparation des entreprises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Acceptation conducteur et GPS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Preuve de livraison et cargaison</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Fournisseurs et exploitation validés</a:t>
            </a:r>
          </a:p>
        </p:txBody>
      </p:sp>
    </p:spTree>
    <p:extLst>
      <p:ext uri="{BB962C8B-B14F-4D97-AF65-F5344CB8AC3E}">
        <p14:creationId xmlns:p14="http://schemas.microsoft.com/office/powerpoint/2010/main" val="2134518974"/>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CE4489-92CA-480B-B6AA-B3D409F6179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Trois espaces de travail</a:t>
            </a:r>
          </a:p>
        </p:txBody>
      </p:sp>
      <p:sp>
        <p:nvSpPr>
          <p:cNvPr id="2" name="">
            <a:extLst xmlns:a="http://schemas.openxmlformats.org/drawingml/2006/main">
              <a:ext uri="{FF2B5EF4-FFF2-40B4-BE49-F238E27FC236}">
                <a16:creationId xmlns:a16="http://schemas.microsoft.com/office/drawing/2014/main" id="{ECBD18E4-47A5-475C-8C2E-14B7F2F662C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90EDD68-2EEE-405E-B7B0-E5576EF31BF9}"/>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Une seule chaîne</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d’information</a:t>
            </a:r>
          </a:p>
        </p:txBody>
      </p:sp>
      <p:sp>
        <p:nvSpPr>
          <p:cNvPr id="4" name="">
            <a:extLst xmlns:a="http://schemas.openxmlformats.org/drawingml/2006/main">
              <a:ext uri="{FF2B5EF4-FFF2-40B4-BE49-F238E27FC236}">
                <a16:creationId xmlns:a16="http://schemas.microsoft.com/office/drawing/2014/main" id="{5B6CE9C6-9C0F-4E9B-8797-E7807DD880F3}"/>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Opérations</a:t>
            </a:r>
          </a:p>
        </p:txBody>
      </p:sp>
      <p:sp>
        <p:nvSpPr>
          <p:cNvPr id="5" name="">
            <a:extLst xmlns:a="http://schemas.openxmlformats.org/drawingml/2006/main">
              <a:ext uri="{FF2B5EF4-FFF2-40B4-BE49-F238E27FC236}">
                <a16:creationId xmlns:a16="http://schemas.microsoft.com/office/drawing/2014/main" id="{4640EE13-578A-44F8-828E-95D9A298CBE2}"/>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Recevoir les commandes, préparer les tournées et contrôler leur départ simulé.</a:t>
            </a:r>
          </a:p>
        </p:txBody>
      </p:sp>
      <p:sp>
        <p:nvSpPr>
          <p:cNvPr id="6" name="">
            <a:extLst xmlns:a="http://schemas.openxmlformats.org/drawingml/2006/main">
              <a:ext uri="{FF2B5EF4-FFF2-40B4-BE49-F238E27FC236}">
                <a16:creationId xmlns:a16="http://schemas.microsoft.com/office/drawing/2014/main" id="{4E3DD668-A735-4008-A116-21FC11426884}"/>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Analytique</a:t>
            </a:r>
          </a:p>
        </p:txBody>
      </p:sp>
      <p:sp>
        <p:nvSpPr>
          <p:cNvPr id="7" name="">
            <a:extLst xmlns:a="http://schemas.openxmlformats.org/drawingml/2006/main">
              <a:ext uri="{FF2B5EF4-FFF2-40B4-BE49-F238E27FC236}">
                <a16:creationId xmlns:a16="http://schemas.microsoft.com/office/drawing/2014/main" id="{4A5351BB-D43D-4438-8F3E-3C16DED4AE87}"/>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Comparer les résultats, suivre le budget global et exporter les données.</a:t>
            </a:r>
          </a:p>
        </p:txBody>
      </p:sp>
      <p:sp>
        <p:nvSpPr>
          <p:cNvPr id="8" name="">
            <a:extLst xmlns:a="http://schemas.openxmlformats.org/drawingml/2006/main">
              <a:ext uri="{FF2B5EF4-FFF2-40B4-BE49-F238E27FC236}">
                <a16:creationId xmlns:a16="http://schemas.microsoft.com/office/drawing/2014/main" id="{C2F0AE6E-EC84-48B6-8136-C0A13200485C}"/>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Agents</a:t>
            </a:r>
          </a:p>
        </p:txBody>
      </p:sp>
      <p:sp>
        <p:nvSpPr>
          <p:cNvPr id="9" name="">
            <a:extLst xmlns:a="http://schemas.openxmlformats.org/drawingml/2006/main">
              <a:ext uri="{FF2B5EF4-FFF2-40B4-BE49-F238E27FC236}">
                <a16:creationId xmlns:a16="http://schemas.microsoft.com/office/drawing/2014/main" id="{D4D9B080-F6CF-4DC2-93E1-6695F842FDEE}"/>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Inspecter chaque rôle, appel, transmission, erreur et résultat.</a:t>
            </a:r>
          </a:p>
        </p:txBody>
      </p:sp>
    </p:spTree>
    <p:extLst>
      <p:ext uri="{BB962C8B-B14F-4D97-AF65-F5344CB8AC3E}">
        <p14:creationId xmlns:p14="http://schemas.microsoft.com/office/powerpoint/2010/main" val="1516470383"/>
      </p:ext>
    </p:extLst>
  </p:cSld>
</p:sld>
</file>

<file path=ppt/slides/slide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68B2CC-1169-4758-83D0-95089E7CD47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parcours d’une commande</a:t>
            </a:r>
          </a:p>
        </p:txBody>
      </p:sp>
      <p:sp>
        <p:nvSpPr>
          <p:cNvPr id="2" name="">
            <a:extLst xmlns:a="http://schemas.openxmlformats.org/drawingml/2006/main">
              <a:ext uri="{FF2B5EF4-FFF2-40B4-BE49-F238E27FC236}">
                <a16:creationId xmlns:a16="http://schemas.microsoft.com/office/drawing/2014/main" id="{053622C7-EABB-4EAF-962A-60CE9F8AA8B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2DAE5E6-4C39-4651-B5EF-BE519B41D721}"/>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Une proposition prête réserve le véhicule. Elle ne prouve aucune livraison réelle.</a:t>
            </a:r>
          </a:p>
        </p:txBody>
      </p:sp>
      <p:sp>
        <p:nvSpPr>
          <p:cNvPr id="4" name="">
            <a:extLst xmlns:a="http://schemas.openxmlformats.org/drawingml/2006/main">
              <a:ext uri="{FF2B5EF4-FFF2-40B4-BE49-F238E27FC236}">
                <a16:creationId xmlns:a16="http://schemas.microsoft.com/office/drawing/2014/main" id="{CC4FD70C-829E-41C5-97C9-9E18732ACDAD}"/>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D30D6B-3E69-4822-ACD6-6FF2BF19E1C1}"/>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Recevoir</a:t>
            </a:r>
          </a:p>
        </p:txBody>
      </p:sp>
      <p:sp>
        <p:nvSpPr>
          <p:cNvPr id="6" name="">
            <a:extLst xmlns:a="http://schemas.openxmlformats.org/drawingml/2006/main">
              <a:ext uri="{FF2B5EF4-FFF2-40B4-BE49-F238E27FC236}">
                <a16:creationId xmlns:a16="http://schemas.microsoft.com/office/drawing/2014/main" id="{97724564-806C-4A92-ADEA-2CFFB8B6107C}"/>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Adresses sélectionnées ou CSV contrôlé</a:t>
            </a:r>
          </a:p>
        </p:txBody>
      </p:sp>
      <p:sp>
        <p:nvSpPr>
          <p:cNvPr id="7" name="">
            <a:extLst xmlns:a="http://schemas.openxmlformats.org/drawingml/2006/main">
              <a:ext uri="{FF2B5EF4-FFF2-40B4-BE49-F238E27FC236}">
                <a16:creationId xmlns:a16="http://schemas.microsoft.com/office/drawing/2014/main" id="{B1A04AAB-6992-45BF-B16D-D7C2D0EF80A9}"/>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DD46423-F900-4A24-8269-D78CB3FB2233}"/>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Préparer</a:t>
            </a:r>
          </a:p>
        </p:txBody>
      </p:sp>
      <p:sp>
        <p:nvSpPr>
          <p:cNvPr id="9" name="">
            <a:extLst xmlns:a="http://schemas.openxmlformats.org/drawingml/2006/main">
              <a:ext uri="{FF2B5EF4-FFF2-40B4-BE49-F238E27FC236}">
                <a16:creationId xmlns:a16="http://schemas.microsoft.com/office/drawing/2014/main" id="{162CC502-1CB2-48BC-ACDA-3A03AEE8B736}"/>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Commandes et flotte disponibles</a:t>
            </a:r>
          </a:p>
        </p:txBody>
      </p:sp>
      <p:sp>
        <p:nvSpPr>
          <p:cNvPr id="10" name="">
            <a:extLst xmlns:a="http://schemas.openxmlformats.org/drawingml/2006/main">
              <a:ext uri="{FF2B5EF4-FFF2-40B4-BE49-F238E27FC236}">
                <a16:creationId xmlns:a16="http://schemas.microsoft.com/office/drawing/2014/main" id="{51DB9544-7B0F-46D6-ACD3-B1144D004BB2}"/>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AA4A281-20B0-4E1E-8A86-1963B58CC577}"/>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Vérifier</a:t>
            </a:r>
          </a:p>
        </p:txBody>
      </p:sp>
      <p:sp>
        <p:nvSpPr>
          <p:cNvPr id="12" name="">
            <a:extLst xmlns:a="http://schemas.openxmlformats.org/drawingml/2006/main">
              <a:ext uri="{FF2B5EF4-FFF2-40B4-BE49-F238E27FC236}">
                <a16:creationId xmlns:a16="http://schemas.microsoft.com/office/drawing/2014/main" id="{F16DEBF9-5FC2-447E-96D8-40E3B9309C2F}"/>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Stratégies, certificat et admission</a:t>
            </a:r>
          </a:p>
        </p:txBody>
      </p:sp>
      <p:sp>
        <p:nvSpPr>
          <p:cNvPr id="13" name="">
            <a:extLst xmlns:a="http://schemas.openxmlformats.org/drawingml/2006/main">
              <a:ext uri="{FF2B5EF4-FFF2-40B4-BE49-F238E27FC236}">
                <a16:creationId xmlns:a16="http://schemas.microsoft.com/office/drawing/2014/main" id="{21361A36-CEBA-44C1-AF61-AAC31497BDF1}"/>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B95B1E65-69D2-4F19-A8AD-D51E6F6FBA9B}"/>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Démarrer</a:t>
            </a:r>
          </a:p>
        </p:txBody>
      </p:sp>
      <p:sp>
        <p:nvSpPr>
          <p:cNvPr id="15" name="">
            <a:extLst xmlns:a="http://schemas.openxmlformats.org/drawingml/2006/main">
              <a:ext uri="{FF2B5EF4-FFF2-40B4-BE49-F238E27FC236}">
                <a16:creationId xmlns:a16="http://schemas.microsoft.com/office/drawing/2014/main" id="{86EADB57-E5EB-459A-B752-CA5E3A4D2EFD}"/>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Départ explicite de la simulation</a:t>
            </a:r>
          </a:p>
        </p:txBody>
      </p:sp>
    </p:spTree>
    <p:extLst>
      <p:ext uri="{BB962C8B-B14F-4D97-AF65-F5344CB8AC3E}">
        <p14:creationId xmlns:p14="http://schemas.microsoft.com/office/powerpoint/2010/main" val="1602187507"/>
      </p:ext>
    </p:extLst>
  </p:cSld>
</p:sld>
</file>

<file path=ppt/slides/slide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A6FD31-C9AD-4CEE-8D2B-98477D315F2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Architecture du profil local</a:t>
            </a:r>
          </a:p>
        </p:txBody>
      </p:sp>
      <p:sp>
        <p:nvSpPr>
          <p:cNvPr id="2" name="">
            <a:extLst xmlns:a="http://schemas.openxmlformats.org/drawingml/2006/main">
              <a:ext uri="{FF2B5EF4-FFF2-40B4-BE49-F238E27FC236}">
                <a16:creationId xmlns:a16="http://schemas.microsoft.com/office/drawing/2014/main" id="{0C319834-2103-4DD5-99A0-1463372FE4E4}"/>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D526B6B-53EE-4CBC-BDDD-31E9343CCE5E}"/>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LangGraph conserve ses checkpoints dans une base SQLite séparée.</a:t>
            </a:r>
          </a:p>
        </p:txBody>
      </p:sp>
      <p:graphicFrame>
        <p:nvGraphicFramePr>
          <p:cNvPr id="4" name="">
            <a:extLst xmlns:a="http://schemas.openxmlformats.org/drawingml/2006/main">
              <a:ext uri="{FF2B5EF4-FFF2-40B4-BE49-F238E27FC236}">
                <a16:creationId xmlns:a16="http://schemas.microsoft.com/office/drawing/2014/main" id="{C6C92F4C-E3F6-47AB-85B4-883494DEBF6E}"/>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476500"/>
                <a:gridCol w="3143250"/>
                <a:gridCol w="5353050"/>
              </a:tblGrid>
              <a:tr h="457200">
                <a:tc>
                  <a:txBody>
                    <a:bodyPr/>
                    <a:lstStyle/>
                    <a:p>
                      <a:r>
                        <a:rPr sz="1725" b="1">
                          <a:solidFill>
                            <a:srgbClr val="FFFFFF"/>
                          </a:solidFill>
                          <a:latin typeface="Arial"/>
                          <a:ea typeface="Arial"/>
                          <a:cs typeface="Arial"/>
                        </a:rPr>
                        <a:t>COUCHE</a:t>
                      </a:r>
                    </a:p>
                  </a:txBody>
                  <a:tcPr marL="91440" marR="91440" marT="45720" marB="45720">
                    <a:solidFill>
                      <a:srgbClr val="173039"/>
                    </a:solidFill>
                  </a:tcPr>
                </a:tc>
                <a:tc>
                  <a:txBody>
                    <a:bodyPr/>
                    <a:lstStyle/>
                    <a:p>
                      <a:r>
                        <a:rPr sz="1725" b="1">
                          <a:solidFill>
                            <a:srgbClr val="FFFFFF"/>
                          </a:solidFill>
                          <a:latin typeface="Arial"/>
                          <a:ea typeface="Arial"/>
                          <a:cs typeface="Arial"/>
                        </a:rPr>
                        <a:t>TECHNOLOGIES</a:t>
                      </a:r>
                    </a:p>
                  </a:txBody>
                  <a:tcPr marL="91440" marR="91440" marT="45720" marB="45720">
                    <a:solidFill>
                      <a:srgbClr val="173039"/>
                    </a:solidFill>
                  </a:tcPr>
                </a:tc>
                <a:tc>
                  <a:txBody>
                    <a:bodyPr/>
                    <a:lstStyle/>
                    <a:p>
                      <a:r>
                        <a:rPr sz="1725" b="1">
                          <a:solidFill>
                            <a:srgbClr val="FFFFFF"/>
                          </a:solidFill>
                          <a:latin typeface="Arial"/>
                          <a:ea typeface="Arial"/>
                          <a:cs typeface="Arial"/>
                        </a:rPr>
                        <a:t>RÔLE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Navigateur</a:t>
                      </a:r>
                    </a:p>
                  </a:txBody>
                  <a:tcPr marL="91440" marR="91440" marT="45720" marB="45720">
                    <a:solidFill>
                      <a:srgbClr val="FFFFFF"/>
                    </a:solidFill>
                  </a:tcPr>
                </a:tc>
                <a:tc>
                  <a:txBody>
                    <a:bodyPr/>
                    <a:lstStyle/>
                    <a:p>
                      <a:r>
                        <a:rPr sz="1725" b="0">
                          <a:solidFill>
                            <a:srgbClr val="173039"/>
                          </a:solidFill>
                          <a:latin typeface="Arial"/>
                          <a:ea typeface="Arial"/>
                          <a:cs typeface="Arial"/>
                        </a:rPr>
                        <a:t>React + TypeScript</a:t>
                      </a:r>
                    </a:p>
                  </a:txBody>
                  <a:tcPr marL="91440" marR="91440" marT="45720" marB="45720">
                    <a:solidFill>
                      <a:srgbClr val="FFFFFF"/>
                    </a:solidFill>
                  </a:tcPr>
                </a:tc>
                <a:tc>
                  <a:txBody>
                    <a:bodyPr/>
                    <a:lstStyle/>
                    <a:p>
                      <a:r>
                        <a:rPr sz="1725" b="0">
                          <a:solidFill>
                            <a:srgbClr val="173039"/>
                          </a:solidFill>
                          <a:latin typeface="Arial"/>
                          <a:ea typeface="Arial"/>
                          <a:cs typeface="Arial"/>
                        </a:rPr>
                        <a:t>Interface, filtres et lecture des preuves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API HTTP / SSE</a:t>
                      </a:r>
                    </a:p>
                  </a:txBody>
                  <a:tcPr marL="91440" marR="91440" marT="45720" marB="45720">
                    <a:solidFill>
                      <a:srgbClr val="EAF0F1"/>
                    </a:solidFill>
                  </a:tcPr>
                </a:tc>
                <a:tc>
                  <a:txBody>
                    <a:bodyPr/>
                    <a:lstStyle/>
                    <a:p>
                      <a:r>
                        <a:rPr sz="1725" b="0">
                          <a:solidFill>
                            <a:srgbClr val="173039"/>
                          </a:solidFill>
                          <a:latin typeface="Arial"/>
                          <a:ea typeface="Arial"/>
                          <a:cs typeface="Arial"/>
                        </a:rPr>
                        <a:t>FastAPI + Uvicorn</a:t>
                      </a:r>
                    </a:p>
                  </a:txBody>
                  <a:tcPr marL="91440" marR="91440" marT="45720" marB="45720">
                    <a:solidFill>
                      <a:srgbClr val="EAF0F1"/>
                    </a:solidFill>
                  </a:tcPr>
                </a:tc>
                <a:tc>
                  <a:txBody>
                    <a:bodyPr/>
                    <a:lstStyle/>
                    <a:p>
                      <a:r>
                        <a:rPr sz="1725" b="0">
                          <a:solidFill>
                            <a:srgbClr val="173039"/>
                          </a:solidFill>
                          <a:latin typeface="Arial"/>
                          <a:ea typeface="Arial"/>
                          <a:cs typeface="Arial"/>
                        </a:rPr>
                        <a:t>Validation, admission et événements ordonnés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Worker Python</a:t>
                      </a:r>
                    </a:p>
                  </a:txBody>
                  <a:tcPr marL="91440" marR="91440" marT="45720" marB="45720">
                    <a:solidFill>
                      <a:srgbClr val="FFFFFF"/>
                    </a:solidFill>
                  </a:tcPr>
                </a:tc>
                <a:tc>
                  <a:txBody>
                    <a:bodyPr/>
                    <a:lstStyle/>
                    <a:p>
                      <a:r>
                        <a:rPr sz="1725" b="0">
                          <a:solidFill>
                            <a:srgbClr val="173039"/>
                          </a:solidFill>
                          <a:latin typeface="Arial"/>
                          <a:ea typeface="Arial"/>
                          <a:cs typeface="Arial"/>
                        </a:rPr>
                        <a:t>LangGraph + OR-Tools</a:t>
                      </a:r>
                    </a:p>
                  </a:txBody>
                  <a:tcPr marL="91440" marR="91440" marT="45720" marB="45720">
                    <a:solidFill>
                      <a:srgbClr val="FFFFFF"/>
                    </a:solidFill>
                  </a:tcPr>
                </a:tc>
                <a:tc>
                  <a:txBody>
                    <a:bodyPr/>
                    <a:lstStyle/>
                    <a:p>
                      <a:r>
                        <a:rPr sz="1725" b="0">
                          <a:solidFill>
                            <a:srgbClr val="173039"/>
                          </a:solidFill>
                          <a:latin typeface="Arial"/>
                          <a:ea typeface="Arial"/>
                          <a:cs typeface="Arial"/>
                        </a:rPr>
                        <a:t>Rôles, calculs, contrôle et résultats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Persistance</a:t>
                      </a:r>
                    </a:p>
                  </a:txBody>
                  <a:tcPr marL="91440" marR="91440" marT="45720" marB="45720">
                    <a:solidFill>
                      <a:srgbClr val="EAF0F1"/>
                    </a:solidFill>
                  </a:tcPr>
                </a:tc>
                <a:tc>
                  <a:txBody>
                    <a:bodyPr/>
                    <a:lstStyle/>
                    <a:p>
                      <a:r>
                        <a:rPr sz="1725" b="0">
                          <a:solidFill>
                            <a:srgbClr val="173039"/>
                          </a:solidFill>
                          <a:latin typeface="Arial"/>
                          <a:ea typeface="Arial"/>
                          <a:cs typeface="Arial"/>
                        </a:rPr>
                        <a:t>SQLAlchemy + SQLite</a:t>
                      </a:r>
                    </a:p>
                  </a:txBody>
                  <a:tcPr marL="91440" marR="91440" marT="45720" marB="45720">
                    <a:solidFill>
                      <a:srgbClr val="EAF0F1"/>
                    </a:solidFill>
                  </a:tcPr>
                </a:tc>
                <a:tc>
                  <a:txBody>
                    <a:bodyPr/>
                    <a:lstStyle/>
                    <a:p>
                      <a:r>
                        <a:rPr sz="1725" b="0">
                          <a:solidFill>
                            <a:srgbClr val="173039"/>
                          </a:solidFill>
                          <a:latin typeface="Arial"/>
                          <a:ea typeface="Arial"/>
                          <a:cs typeface="Arial"/>
                        </a:rPr>
                        <a:t>Commandes, événements, coûts et baux</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Services externes</a:t>
                      </a:r>
                    </a:p>
                  </a:txBody>
                  <a:tcPr marL="91440" marR="91440" marT="45720" marB="45720">
                    <a:solidFill>
                      <a:srgbClr val="FFFFFF"/>
                    </a:solidFill>
                  </a:tcPr>
                </a:tc>
                <a:tc>
                  <a:txBody>
                    <a:bodyPr/>
                    <a:lstStyle/>
                    <a:p>
                      <a:r>
                        <a:rPr sz="1725" b="0">
                          <a:solidFill>
                            <a:srgbClr val="173039"/>
                          </a:solidFill>
                          <a:latin typeface="Arial"/>
                          <a:ea typeface="Arial"/>
                          <a:cs typeface="Arial"/>
                        </a:rPr>
                        <a:t>Anthropic / cartes / SMTP</a:t>
                      </a:r>
                    </a:p>
                  </a:txBody>
                  <a:tcPr marL="91440" marR="91440" marT="45720" marB="45720">
                    <a:solidFill>
                      <a:srgbClr val="FFFFFF"/>
                    </a:solidFill>
                  </a:tcPr>
                </a:tc>
                <a:tc>
                  <a:txBody>
                    <a:bodyPr/>
                    <a:lstStyle/>
                    <a:p>
                      <a:r>
                        <a:rPr sz="1725" b="0">
                          <a:solidFill>
                            <a:srgbClr val="173039"/>
                          </a:solidFill>
                          <a:latin typeface="Arial"/>
                          <a:ea typeface="Arial"/>
                          <a:cs typeface="Arial"/>
                        </a:rPr>
                        <a:t>Appels bornés et intégrations configurées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09906538"/>
      </p:ext>
    </p:extLst>
  </p:cSld>
</p:sld>
</file>

<file path=ppt/slides/slide7.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B6E8F29-A161-47EA-BB4C-9C338291884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Bibliothèque, dépendance et service</a:t>
            </a:r>
          </a:p>
        </p:txBody>
      </p:sp>
      <p:sp>
        <p:nvSpPr>
          <p:cNvPr id="2" name="">
            <a:extLst xmlns:a="http://schemas.openxmlformats.org/drawingml/2006/main">
              <a:ext uri="{FF2B5EF4-FFF2-40B4-BE49-F238E27FC236}">
                <a16:creationId xmlns:a16="http://schemas.microsoft.com/office/drawing/2014/main" id="{72C550B8-DF0D-418B-B2E8-4CE9123F2C2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A0242EB-B34C-4CDE-9D75-A90871E4D300}"/>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versions épinglées stabilisent l’installation. Elles ne prouvent pas un usage actif.</a:t>
            </a:r>
          </a:p>
        </p:txBody>
      </p:sp>
      <p:sp>
        <p:nvSpPr>
          <p:cNvPr id="4" name="">
            <a:extLst xmlns:a="http://schemas.openxmlformats.org/drawingml/2006/main">
              <a:ext uri="{FF2B5EF4-FFF2-40B4-BE49-F238E27FC236}">
                <a16:creationId xmlns:a16="http://schemas.microsoft.com/office/drawing/2014/main" id="{35345D1E-74A8-421D-958E-C56725441BA9}"/>
              </a:ext>
            </a:extLst>
          </p:cNvPr>
          <p:cNvSpPr>
            <a:spLocks xmlns:a="http://schemas.openxmlformats.org/drawingml/2006/main" noGrp="1"/>
          </p:cNvSpPr>
          <p:nvPr/>
        </p:nvSpPr>
        <p:spPr>
          <a:xfrm xmlns:a="http://schemas.openxmlformats.org/drawingml/2006/main">
            <a:off x="6096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900A159-DF32-4126-A7B5-3EDDB27BC415}"/>
              </a:ext>
            </a:extLst>
          </p:cNvPr>
          <p:cNvSpPr>
            <a:spLocks xmlns:a="http://schemas.openxmlformats.org/drawingml/2006/main" noGrp="1"/>
          </p:cNvSpPr>
          <p:nvPr/>
        </p:nvSpPr>
        <p:spPr>
          <a:xfrm xmlns:a="http://schemas.openxmlformats.org/drawingml/2006/main">
            <a:off x="6096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Bibliothèque</a:t>
            </a:r>
          </a:p>
        </p:txBody>
      </p:sp>
      <p:sp>
        <p:nvSpPr>
          <p:cNvPr id="6" name="">
            <a:extLst xmlns:a="http://schemas.openxmlformats.org/drawingml/2006/main">
              <a:ext uri="{FF2B5EF4-FFF2-40B4-BE49-F238E27FC236}">
                <a16:creationId xmlns:a16="http://schemas.microsoft.com/office/drawing/2014/main" id="{4865451B-06FD-42C7-B19B-678930B029ED}"/>
              </a:ext>
            </a:extLst>
          </p:cNvPr>
          <p:cNvSpPr>
            <a:spLocks xmlns:a="http://schemas.openxmlformats.org/drawingml/2006/main" noGrp="1"/>
          </p:cNvSpPr>
          <p:nvPr/>
        </p:nvSpPr>
        <p:spPr>
          <a:xfrm xmlns:a="http://schemas.openxmlformats.org/drawingml/2006/main">
            <a:off x="6096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Du code importé par l’application. OR-Tools calcule un candidat de tournée.</a:t>
            </a:r>
          </a:p>
        </p:txBody>
      </p:sp>
      <p:sp>
        <p:nvSpPr>
          <p:cNvPr id="7" name="">
            <a:extLst xmlns:a="http://schemas.openxmlformats.org/drawingml/2006/main">
              <a:ext uri="{FF2B5EF4-FFF2-40B4-BE49-F238E27FC236}">
                <a16:creationId xmlns:a16="http://schemas.microsoft.com/office/drawing/2014/main" id="{0FEE106A-3A0C-490F-B46F-DB04C2916EEE}"/>
              </a:ext>
            </a:extLst>
          </p:cNvPr>
          <p:cNvSpPr>
            <a:spLocks xmlns:a="http://schemas.openxmlformats.org/drawingml/2006/main" noGrp="1"/>
          </p:cNvSpPr>
          <p:nvPr/>
        </p:nvSpPr>
        <p:spPr>
          <a:xfrm xmlns:a="http://schemas.openxmlformats.org/drawingml/2006/main">
            <a:off x="43815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C643D56-F775-44B9-9CF0-722D2FB0124C}"/>
              </a:ext>
            </a:extLst>
          </p:cNvPr>
          <p:cNvSpPr>
            <a:spLocks xmlns:a="http://schemas.openxmlformats.org/drawingml/2006/main" noGrp="1"/>
          </p:cNvSpPr>
          <p:nvPr/>
        </p:nvSpPr>
        <p:spPr>
          <a:xfrm xmlns:a="http://schemas.openxmlformats.org/drawingml/2006/main">
            <a:off x="43815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Dépendance</a:t>
            </a:r>
          </a:p>
        </p:txBody>
      </p:sp>
      <p:sp>
        <p:nvSpPr>
          <p:cNvPr id="9" name="">
            <a:extLst xmlns:a="http://schemas.openxmlformats.org/drawingml/2006/main">
              <a:ext uri="{FF2B5EF4-FFF2-40B4-BE49-F238E27FC236}">
                <a16:creationId xmlns:a16="http://schemas.microsoft.com/office/drawing/2014/main" id="{373B4DD4-8D64-4D79-8DAE-46B03BDDA2F9}"/>
              </a:ext>
            </a:extLst>
          </p:cNvPr>
          <p:cNvSpPr>
            <a:spLocks xmlns:a="http://schemas.openxmlformats.org/drawingml/2006/main" noGrp="1"/>
          </p:cNvSpPr>
          <p:nvPr/>
        </p:nvSpPr>
        <p:spPr>
          <a:xfrm xmlns:a="http://schemas.openxmlformats.org/drawingml/2006/main">
            <a:off x="43815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paquet nécessaire à un autre. FastAPI s’appuie sur Starlette.</a:t>
            </a:r>
          </a:p>
        </p:txBody>
      </p:sp>
      <p:sp>
        <p:nvSpPr>
          <p:cNvPr id="10" name="">
            <a:extLst xmlns:a="http://schemas.openxmlformats.org/drawingml/2006/main">
              <a:ext uri="{FF2B5EF4-FFF2-40B4-BE49-F238E27FC236}">
                <a16:creationId xmlns:a16="http://schemas.microsoft.com/office/drawing/2014/main" id="{689FA8F8-5127-47A7-8E62-29CB4E0A4069}"/>
              </a:ext>
            </a:extLst>
          </p:cNvPr>
          <p:cNvSpPr>
            <a:spLocks xmlns:a="http://schemas.openxmlformats.org/drawingml/2006/main" noGrp="1"/>
          </p:cNvSpPr>
          <p:nvPr/>
        </p:nvSpPr>
        <p:spPr>
          <a:xfrm xmlns:a="http://schemas.openxmlformats.org/drawingml/2006/main">
            <a:off x="81534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0ED48F66-E20B-41FC-A817-18676F7E4B33}"/>
              </a:ext>
            </a:extLst>
          </p:cNvPr>
          <p:cNvSpPr>
            <a:spLocks xmlns:a="http://schemas.openxmlformats.org/drawingml/2006/main" noGrp="1"/>
          </p:cNvSpPr>
          <p:nvPr/>
        </p:nvSpPr>
        <p:spPr>
          <a:xfrm xmlns:a="http://schemas.openxmlformats.org/drawingml/2006/main">
            <a:off x="81534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Service externe</a:t>
            </a:r>
          </a:p>
        </p:txBody>
      </p:sp>
      <p:sp>
        <p:nvSpPr>
          <p:cNvPr id="12" name="">
            <a:extLst xmlns:a="http://schemas.openxmlformats.org/drawingml/2006/main">
              <a:ext uri="{FF2B5EF4-FFF2-40B4-BE49-F238E27FC236}">
                <a16:creationId xmlns:a16="http://schemas.microsoft.com/office/drawing/2014/main" id="{1C2FBD88-D6F7-4FFD-AA40-6D9C1093EA24}"/>
              </a:ext>
            </a:extLst>
          </p:cNvPr>
          <p:cNvSpPr>
            <a:spLocks xmlns:a="http://schemas.openxmlformats.org/drawingml/2006/main" noGrp="1"/>
          </p:cNvSpPr>
          <p:nvPr/>
        </p:nvSpPr>
        <p:spPr>
          <a:xfrm xmlns:a="http://schemas.openxmlformats.org/drawingml/2006/main">
            <a:off x="81534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système joint par réseau. OSRM répond avec des temps et des routes.</a:t>
            </a:r>
          </a:p>
        </p:txBody>
      </p:sp>
    </p:spTree>
    <p:extLst>
      <p:ext uri="{BB962C8B-B14F-4D97-AF65-F5344CB8AC3E}">
        <p14:creationId xmlns:p14="http://schemas.microsoft.com/office/powerpoint/2010/main" val="1335443008"/>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934659-19EB-4B8B-B13C-359425103DD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Interface et visualisations</a:t>
            </a:r>
          </a:p>
        </p:txBody>
      </p:sp>
      <p:sp>
        <p:nvSpPr>
          <p:cNvPr id="2" name="">
            <a:extLst xmlns:a="http://schemas.openxmlformats.org/drawingml/2006/main">
              <a:ext uri="{FF2B5EF4-FFF2-40B4-BE49-F238E27FC236}">
                <a16:creationId xmlns:a16="http://schemas.microsoft.com/office/drawing/2014/main" id="{55DADCCA-D05E-4ECF-9E95-B4F1AEBF7836}"/>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5A9C3D9-AA1B-4F69-BD5A-D9778D734281}"/>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React Flow affiche le workflow. LangGraph exécute les rôles côté serveur.</a:t>
            </a:r>
          </a:p>
        </p:txBody>
      </p:sp>
      <p:graphicFrame>
        <p:nvGraphicFramePr>
          <p:cNvPr id="4" name="">
            <a:extLst xmlns:a="http://schemas.openxmlformats.org/drawingml/2006/main">
              <a:ext uri="{FF2B5EF4-FFF2-40B4-BE49-F238E27FC236}">
                <a16:creationId xmlns:a16="http://schemas.microsoft.com/office/drawing/2014/main" id="{51E7610C-15F2-4D16-A0B9-C3E0D59FA492}"/>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333625"/>
                <a:gridCol w="3619500"/>
                <a:gridCol w="5019675"/>
              </a:tblGrid>
              <a:tr h="457200">
                <a:tc>
                  <a:txBody>
                    <a:bodyPr/>
                    <a:lstStyle/>
                    <a:p>
                      <a:r>
                        <a:rPr sz="1725" b="1">
                          <a:solidFill>
                            <a:srgbClr val="FFFFFF"/>
                          </a:solidFill>
                          <a:latin typeface="Arial"/>
                          <a:ea typeface="Arial"/>
                          <a:cs typeface="Arial"/>
                        </a:rPr>
                        <a:t>BIBLIOTHÈQUE</a:t>
                      </a:r>
                    </a:p>
                  </a:txBody>
                  <a:tcPr marL="91440" marR="91440" marT="45720" marB="45720">
                    <a:solidFill>
                      <a:srgbClr val="173039"/>
                    </a:solidFill>
                  </a:tcPr>
                </a:tc>
                <a:tc>
                  <a:txBody>
                    <a:bodyPr/>
                    <a:lstStyle/>
                    <a:p>
                      <a:r>
                        <a:rPr sz="1725" b="1">
                          <a:solidFill>
                            <a:srgbClr val="FFFFFF"/>
                          </a:solidFill>
                          <a:latin typeface="Arial"/>
                          <a:ea typeface="Arial"/>
                          <a:cs typeface="Arial"/>
                        </a:rPr>
                        <a:t>FONCTION</a:t>
                      </a:r>
                    </a:p>
                  </a:txBody>
                  <a:tcPr marL="91440" marR="91440" marT="45720" marB="45720">
                    <a:solidFill>
                      <a:srgbClr val="173039"/>
                    </a:solidFill>
                  </a:tcPr>
                </a:tc>
                <a:tc>
                  <a:txBody>
                    <a:bodyPr/>
                    <a:lstStyle/>
                    <a:p>
                      <a:r>
                        <a:rPr sz="1725" b="1">
                          <a:solidFill>
                            <a:srgbClr val="FFFFFF"/>
                          </a:solidFill>
                          <a:latin typeface="Arial"/>
                          <a:ea typeface="Arial"/>
                          <a:cs typeface="Arial"/>
                        </a:rPr>
                        <a:t>APPLICATION DANS GENESIS</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React + React DOM</a:t>
                      </a:r>
                    </a:p>
                  </a:txBody>
                  <a:tcPr marL="91440" marR="91440" marT="45720" marB="45720">
                    <a:solidFill>
                      <a:srgbClr val="FFFFFF"/>
                    </a:solidFill>
                  </a:tcPr>
                </a:tc>
                <a:tc>
                  <a:txBody>
                    <a:bodyPr/>
                    <a:lstStyle/>
                    <a:p>
                      <a:r>
                        <a:rPr sz="1725" b="0">
                          <a:solidFill>
                            <a:srgbClr val="173039"/>
                          </a:solidFill>
                          <a:latin typeface="Arial"/>
                          <a:ea typeface="Arial"/>
                          <a:cs typeface="Arial"/>
                        </a:rPr>
                        <a:t>Décrire les composants et actualiser la page.</a:t>
                      </a:r>
                    </a:p>
                  </a:txBody>
                  <a:tcPr marL="91440" marR="91440" marT="45720" marB="45720">
                    <a:solidFill>
                      <a:srgbClr val="FFFFFF"/>
                    </a:solidFill>
                  </a:tcPr>
                </a:tc>
                <a:tc>
                  <a:txBody>
                    <a:bodyPr/>
                    <a:lstStyle/>
                    <a:p>
                      <a:r>
                        <a:rPr sz="1725" b="0">
                          <a:solidFill>
                            <a:srgbClr val="173039"/>
                          </a:solidFill>
                          <a:latin typeface="Arial"/>
                          <a:ea typeface="Arial"/>
                          <a:cs typeface="Arial"/>
                        </a:rPr>
                        <a:t>Une sélection de tournée met à jour les détails affichés.</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TypeScript</a:t>
                      </a:r>
                    </a:p>
                  </a:txBody>
                  <a:tcPr marL="91440" marR="91440" marT="45720" marB="45720">
                    <a:solidFill>
                      <a:srgbClr val="EAF0F1"/>
                    </a:solidFill>
                  </a:tcPr>
                </a:tc>
                <a:tc>
                  <a:txBody>
                    <a:bodyPr/>
                    <a:lstStyle/>
                    <a:p>
                      <a:r>
                        <a:rPr sz="1725" b="0">
                          <a:solidFill>
                            <a:srgbClr val="173039"/>
                          </a:solidFill>
                          <a:latin typeface="Arial"/>
                          <a:ea typeface="Arial"/>
                          <a:cs typeface="Arial"/>
                        </a:rPr>
                        <a:t>Vérifier les types pendant la compilation.</a:t>
                      </a:r>
                    </a:p>
                  </a:txBody>
                  <a:tcPr marL="91440" marR="91440" marT="45720" marB="45720">
                    <a:solidFill>
                      <a:srgbClr val="EAF0F1"/>
                    </a:solidFill>
                  </a:tcPr>
                </a:tc>
                <a:tc>
                  <a:txBody>
                    <a:bodyPr/>
                    <a:lstStyle/>
                    <a:p>
                      <a:r>
                        <a:rPr sz="1725" b="0">
                          <a:solidFill>
                            <a:srgbClr val="173039"/>
                          </a:solidFill>
                          <a:latin typeface="Arial"/>
                          <a:ea typeface="Arial"/>
                          <a:cs typeface="Arial"/>
                        </a:rPr>
                        <a:t>Signaler un champ absent dans le contrat d’une tournée.</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ECharts</a:t>
                      </a:r>
                    </a:p>
                  </a:txBody>
                  <a:tcPr marL="91440" marR="91440" marT="45720" marB="45720">
                    <a:solidFill>
                      <a:srgbClr val="FFFFFF"/>
                    </a:solidFill>
                  </a:tcPr>
                </a:tc>
                <a:tc>
                  <a:txBody>
                    <a:bodyPr/>
                    <a:lstStyle/>
                    <a:p>
                      <a:r>
                        <a:rPr sz="1725" b="0">
                          <a:solidFill>
                            <a:srgbClr val="173039"/>
                          </a:solidFill>
                          <a:latin typeface="Arial"/>
                          <a:ea typeface="Arial"/>
                          <a:cs typeface="Arial"/>
                        </a:rPr>
                        <a:t>Dessiner des graphiques à partir de séries.</a:t>
                      </a:r>
                    </a:p>
                  </a:txBody>
                  <a:tcPr marL="91440" marR="91440" marT="45720" marB="45720">
                    <a:solidFill>
                      <a:srgbClr val="FFFFFF"/>
                    </a:solidFill>
                  </a:tcPr>
                </a:tc>
                <a:tc>
                  <a:txBody>
                    <a:bodyPr/>
                    <a:lstStyle/>
                    <a:p>
                      <a:r>
                        <a:rPr sz="1725" b="0">
                          <a:solidFill>
                            <a:srgbClr val="173039"/>
                          </a:solidFill>
                          <a:latin typeface="Arial"/>
                          <a:ea typeface="Arial"/>
                          <a:cs typeface="Arial"/>
                        </a:rPr>
                        <a:t>Afficher tokens, coûts, durées et scénarios comparables.</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React Flow</a:t>
                      </a:r>
                    </a:p>
                  </a:txBody>
                  <a:tcPr marL="91440" marR="91440" marT="45720" marB="45720">
                    <a:solidFill>
                      <a:srgbClr val="EAF0F1"/>
                    </a:solidFill>
                  </a:tcPr>
                </a:tc>
                <a:tc>
                  <a:txBody>
                    <a:bodyPr/>
                    <a:lstStyle/>
                    <a:p>
                      <a:r>
                        <a:rPr sz="1725" b="0">
                          <a:solidFill>
                            <a:srgbClr val="173039"/>
                          </a:solidFill>
                          <a:latin typeface="Arial"/>
                          <a:ea typeface="Arial"/>
                          <a:cs typeface="Arial"/>
                        </a:rPr>
                        <a:t>Afficher un graphe interactif de nœuds et liens.</a:t>
                      </a:r>
                    </a:p>
                  </a:txBody>
                  <a:tcPr marL="91440" marR="91440" marT="45720" marB="45720">
                    <a:solidFill>
                      <a:srgbClr val="EAF0F1"/>
                    </a:solidFill>
                  </a:tcPr>
                </a:tc>
                <a:tc>
                  <a:txBody>
                    <a:bodyPr/>
                    <a:lstStyle/>
                    <a:p>
                      <a:r>
                        <a:rPr sz="1725" b="0">
                          <a:solidFill>
                            <a:srgbClr val="173039"/>
                          </a:solidFill>
                          <a:latin typeface="Arial"/>
                          <a:ea typeface="Arial"/>
                          <a:cs typeface="Arial"/>
                        </a:rPr>
                        <a:t>Relier les cinq rôles aux preuves transmises.</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493423045"/>
      </p:ext>
    </p:extLst>
  </p:cSld>
</p:sld>
</file>

<file path=ppt/slides/slide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2BDB92-D7D2-43CA-A2AD-F791804AA686}"/>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API et validation des entrées</a:t>
            </a:r>
          </a:p>
        </p:txBody>
      </p:sp>
      <p:sp>
        <p:nvSpPr>
          <p:cNvPr id="2" name="">
            <a:extLst xmlns:a="http://schemas.openxmlformats.org/drawingml/2006/main">
              <a:ext uri="{FF2B5EF4-FFF2-40B4-BE49-F238E27FC236}">
                <a16:creationId xmlns:a16="http://schemas.microsoft.com/office/drawing/2014/main" id="{FFFEFC23-2100-4EE6-8565-7003CCA6E25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851AD76-9333-4780-9B55-CDF667483EB3}"/>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 validation des données précède les écritures et la préparation du plan.</a:t>
            </a:r>
          </a:p>
        </p:txBody>
      </p:sp>
      <p:graphicFrame>
        <p:nvGraphicFramePr>
          <p:cNvPr id="4" name="">
            <a:extLst xmlns:a="http://schemas.openxmlformats.org/drawingml/2006/main">
              <a:ext uri="{FF2B5EF4-FFF2-40B4-BE49-F238E27FC236}">
                <a16:creationId xmlns:a16="http://schemas.microsoft.com/office/drawing/2014/main" id="{2853AABB-9E05-46FB-9DC6-D2573B06FB4E}"/>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333625"/>
                <a:gridCol w="3619500"/>
                <a:gridCol w="5019675"/>
              </a:tblGrid>
              <a:tr h="457200">
                <a:tc>
                  <a:txBody>
                    <a:bodyPr/>
                    <a:lstStyle/>
                    <a:p>
                      <a:r>
                        <a:rPr sz="1725" b="1">
                          <a:solidFill>
                            <a:srgbClr val="FFFFFF"/>
                          </a:solidFill>
                          <a:latin typeface="Arial"/>
                          <a:ea typeface="Arial"/>
                          <a:cs typeface="Arial"/>
                        </a:rPr>
                        <a:t>BIBLIOTHÈQUE</a:t>
                      </a:r>
                    </a:p>
                  </a:txBody>
                  <a:tcPr marL="91440" marR="91440" marT="45720" marB="45720">
                    <a:solidFill>
                      <a:srgbClr val="173039"/>
                    </a:solidFill>
                  </a:tcPr>
                </a:tc>
                <a:tc>
                  <a:txBody>
                    <a:bodyPr/>
                    <a:lstStyle/>
                    <a:p>
                      <a:r>
                        <a:rPr sz="1725" b="1">
                          <a:solidFill>
                            <a:srgbClr val="FFFFFF"/>
                          </a:solidFill>
                          <a:latin typeface="Arial"/>
                          <a:ea typeface="Arial"/>
                          <a:cs typeface="Arial"/>
                        </a:rPr>
                        <a:t>FONCTION</a:t>
                      </a:r>
                    </a:p>
                  </a:txBody>
                  <a:tcPr marL="91440" marR="91440" marT="45720" marB="45720">
                    <a:solidFill>
                      <a:srgbClr val="173039"/>
                    </a:solidFill>
                  </a:tcPr>
                </a:tc>
                <a:tc>
                  <a:txBody>
                    <a:bodyPr/>
                    <a:lstStyle/>
                    <a:p>
                      <a:r>
                        <a:rPr sz="1725" b="1">
                          <a:solidFill>
                            <a:srgbClr val="FFFFFF"/>
                          </a:solidFill>
                          <a:latin typeface="Arial"/>
                          <a:ea typeface="Arial"/>
                          <a:cs typeface="Arial"/>
                        </a:rPr>
                        <a:t>APPLICATION DANS GENESIS</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Uvicorn</a:t>
                      </a:r>
                    </a:p>
                  </a:txBody>
                  <a:tcPr marL="91440" marR="91440" marT="45720" marB="45720">
                    <a:solidFill>
                      <a:srgbClr val="FFFFFF"/>
                    </a:solidFill>
                  </a:tcPr>
                </a:tc>
                <a:tc>
                  <a:txBody>
                    <a:bodyPr/>
                    <a:lstStyle/>
                    <a:p>
                      <a:r>
                        <a:rPr sz="1725" b="0">
                          <a:solidFill>
                            <a:srgbClr val="173039"/>
                          </a:solidFill>
                          <a:latin typeface="Arial"/>
                          <a:ea typeface="Arial"/>
                          <a:cs typeface="Arial"/>
                        </a:rPr>
                        <a:t>Recevoir HTTP et exécuter l’application ASGI.</a:t>
                      </a:r>
                    </a:p>
                  </a:txBody>
                  <a:tcPr marL="91440" marR="91440" marT="45720" marB="45720">
                    <a:solidFill>
                      <a:srgbClr val="FFFFFF"/>
                    </a:solidFill>
                  </a:tcPr>
                </a:tc>
                <a:tc>
                  <a:txBody>
                    <a:bodyPr/>
                    <a:lstStyle/>
                    <a:p>
                      <a:r>
                        <a:rPr sz="1725" b="0">
                          <a:solidFill>
                            <a:srgbClr val="173039"/>
                          </a:solidFill>
                          <a:latin typeface="Arial"/>
                          <a:ea typeface="Arial"/>
                          <a:cs typeface="Arial"/>
                        </a:rPr>
                        <a:t>Faire écouter le serveur local de l’API Genesis.</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FastAPI</a:t>
                      </a:r>
                    </a:p>
                  </a:txBody>
                  <a:tcPr marL="91440" marR="91440" marT="45720" marB="45720">
                    <a:solidFill>
                      <a:srgbClr val="EAF0F1"/>
                    </a:solidFill>
                  </a:tcPr>
                </a:tc>
                <a:tc>
                  <a:txBody>
                    <a:bodyPr/>
                    <a:lstStyle/>
                    <a:p>
                      <a:r>
                        <a:rPr sz="1725" b="0">
                          <a:solidFill>
                            <a:srgbClr val="173039"/>
                          </a:solidFill>
                          <a:latin typeface="Arial"/>
                          <a:ea typeface="Arial"/>
                          <a:cs typeface="Arial"/>
                        </a:rPr>
                        <a:t>Associer une URL à une fonction Python.</a:t>
                      </a:r>
                    </a:p>
                  </a:txBody>
                  <a:tcPr marL="91440" marR="91440" marT="45720" marB="45720">
                    <a:solidFill>
                      <a:srgbClr val="EAF0F1"/>
                    </a:solidFill>
                  </a:tcPr>
                </a:tc>
                <a:tc>
                  <a:txBody>
                    <a:bodyPr/>
                    <a:lstStyle/>
                    <a:p>
                      <a:r>
                        <a:rPr sz="1725" b="0">
                          <a:solidFill>
                            <a:srgbClr val="173039"/>
                          </a:solidFill>
                          <a:latin typeface="Arial"/>
                          <a:ea typeface="Arial"/>
                          <a:cs typeface="Arial"/>
                        </a:rPr>
                        <a:t>Recevoir une commande et publier le schéma OpenAPI.</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Pydantic</a:t>
                      </a:r>
                    </a:p>
                  </a:txBody>
                  <a:tcPr marL="91440" marR="91440" marT="45720" marB="45720">
                    <a:solidFill>
                      <a:srgbClr val="FFFFFF"/>
                    </a:solidFill>
                  </a:tcPr>
                </a:tc>
                <a:tc>
                  <a:txBody>
                    <a:bodyPr/>
                    <a:lstStyle/>
                    <a:p>
                      <a:r>
                        <a:rPr sz="1725" b="0">
                          <a:solidFill>
                            <a:srgbClr val="173039"/>
                          </a:solidFill>
                          <a:latin typeface="Arial"/>
                          <a:ea typeface="Arial"/>
                          <a:cs typeface="Arial"/>
                        </a:rPr>
                        <a:t>Vérifier les champs, types et limites.</a:t>
                      </a:r>
                    </a:p>
                  </a:txBody>
                  <a:tcPr marL="91440" marR="91440" marT="45720" marB="45720">
                    <a:solidFill>
                      <a:srgbClr val="FFFFFF"/>
                    </a:solidFill>
                  </a:tcPr>
                </a:tc>
                <a:tc>
                  <a:txBody>
                    <a:bodyPr/>
                    <a:lstStyle/>
                    <a:p>
                      <a:r>
                        <a:rPr sz="1725" b="0">
                          <a:solidFill>
                            <a:srgbClr val="173039"/>
                          </a:solidFill>
                          <a:latin typeface="Arial"/>
                          <a:ea typeface="Arial"/>
                          <a:cs typeface="Arial"/>
                        </a:rPr>
                        <a:t>Refuser une capacité invalide ou un champ inconnu.</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HTTPX</a:t>
                      </a:r>
                    </a:p>
                  </a:txBody>
                  <a:tcPr marL="91440" marR="91440" marT="45720" marB="45720">
                    <a:solidFill>
                      <a:srgbClr val="EAF0F1"/>
                    </a:solidFill>
                  </a:tcPr>
                </a:tc>
                <a:tc>
                  <a:txBody>
                    <a:bodyPr/>
                    <a:lstStyle/>
                    <a:p>
                      <a:r>
                        <a:rPr sz="1725" b="0">
                          <a:solidFill>
                            <a:srgbClr val="173039"/>
                          </a:solidFill>
                          <a:latin typeface="Arial"/>
                          <a:ea typeface="Arial"/>
                          <a:cs typeface="Arial"/>
                        </a:rPr>
                        <a:t>Envoyer des requêtes HTTP avec délais bornés.</a:t>
                      </a:r>
                    </a:p>
                  </a:txBody>
                  <a:tcPr marL="91440" marR="91440" marT="45720" marB="45720">
                    <a:solidFill>
                      <a:srgbClr val="EAF0F1"/>
                    </a:solidFill>
                  </a:tcPr>
                </a:tc>
                <a:tc>
                  <a:txBody>
                    <a:bodyPr/>
                    <a:lstStyle/>
                    <a:p>
                      <a:r>
                        <a:rPr sz="1725" b="0">
                          <a:solidFill>
                            <a:srgbClr val="173039"/>
                          </a:solidFill>
                          <a:latin typeface="Arial"/>
                          <a:ea typeface="Arial"/>
                          <a:cs typeface="Arial"/>
                        </a:rPr>
                        <a:t>Interroger Photon et OSRM puis contrôler la réponse.</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926967359"/>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BE4AE2-4D16-4117-835B-FE300E9EF6C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Persistance et exécution durable</a:t>
            </a:r>
          </a:p>
        </p:txBody>
      </p:sp>
      <p:sp>
        <p:nvSpPr>
          <p:cNvPr id="2" name="">
            <a:extLst xmlns:a="http://schemas.openxmlformats.org/drawingml/2006/main">
              <a:ext uri="{FF2B5EF4-FFF2-40B4-BE49-F238E27FC236}">
                <a16:creationId xmlns:a16="http://schemas.microsoft.com/office/drawing/2014/main" id="{E05554E4-045A-4BF6-B617-329DAC6D5F3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F8115B4-023B-459C-AB18-3FE9F6F0387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Une sauvegarde de la base application n’inclut pas automatiquement les checkpoints.</a:t>
            </a:r>
          </a:p>
        </p:txBody>
      </p:sp>
      <p:graphicFrame>
        <p:nvGraphicFramePr>
          <p:cNvPr id="4" name="">
            <a:extLst xmlns:a="http://schemas.openxmlformats.org/drawingml/2006/main">
              <a:ext uri="{FF2B5EF4-FFF2-40B4-BE49-F238E27FC236}">
                <a16:creationId xmlns:a16="http://schemas.microsoft.com/office/drawing/2014/main" id="{1AF00C1E-E528-46D4-A432-C454D4F0B1B2}"/>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333625"/>
                <a:gridCol w="3619500"/>
                <a:gridCol w="5019675"/>
              </a:tblGrid>
              <a:tr h="457200">
                <a:tc>
                  <a:txBody>
                    <a:bodyPr/>
                    <a:lstStyle/>
                    <a:p>
                      <a:r>
                        <a:rPr sz="1725" b="1">
                          <a:solidFill>
                            <a:srgbClr val="FFFFFF"/>
                          </a:solidFill>
                          <a:latin typeface="Arial"/>
                          <a:ea typeface="Arial"/>
                          <a:cs typeface="Arial"/>
                        </a:rPr>
                        <a:t>BIBLIOTHÈQUE</a:t>
                      </a:r>
                    </a:p>
                  </a:txBody>
                  <a:tcPr marL="91440" marR="91440" marT="45720" marB="45720">
                    <a:solidFill>
                      <a:srgbClr val="173039"/>
                    </a:solidFill>
                  </a:tcPr>
                </a:tc>
                <a:tc>
                  <a:txBody>
                    <a:bodyPr/>
                    <a:lstStyle/>
                    <a:p>
                      <a:r>
                        <a:rPr sz="1725" b="1">
                          <a:solidFill>
                            <a:srgbClr val="FFFFFF"/>
                          </a:solidFill>
                          <a:latin typeface="Arial"/>
                          <a:ea typeface="Arial"/>
                          <a:cs typeface="Arial"/>
                        </a:rPr>
                        <a:t>FONCTION</a:t>
                      </a:r>
                    </a:p>
                  </a:txBody>
                  <a:tcPr marL="91440" marR="91440" marT="45720" marB="45720">
                    <a:solidFill>
                      <a:srgbClr val="173039"/>
                    </a:solidFill>
                  </a:tcPr>
                </a:tc>
                <a:tc>
                  <a:txBody>
                    <a:bodyPr/>
                    <a:lstStyle/>
                    <a:p>
                      <a:r>
                        <a:rPr sz="1725" b="1">
                          <a:solidFill>
                            <a:srgbClr val="FFFFFF"/>
                          </a:solidFill>
                          <a:latin typeface="Arial"/>
                          <a:ea typeface="Arial"/>
                          <a:cs typeface="Arial"/>
                        </a:rPr>
                        <a:t>APPLICATION DANS GENESIS</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SQLAlchemy</a:t>
                      </a:r>
                    </a:p>
                  </a:txBody>
                  <a:tcPr marL="91440" marR="91440" marT="45720" marB="45720">
                    <a:solidFill>
                      <a:srgbClr val="FFFFFF"/>
                    </a:solidFill>
                  </a:tcPr>
                </a:tc>
                <a:tc>
                  <a:txBody>
                    <a:bodyPr/>
                    <a:lstStyle/>
                    <a:p>
                      <a:r>
                        <a:rPr sz="1725" b="0">
                          <a:solidFill>
                            <a:srgbClr val="173039"/>
                          </a:solidFill>
                          <a:latin typeface="Arial"/>
                          <a:ea typeface="Arial"/>
                          <a:cs typeface="Arial"/>
                        </a:rPr>
                        <a:t>Construire les accès SQL et les transactions.</a:t>
                      </a:r>
                    </a:p>
                  </a:txBody>
                  <a:tcPr marL="91440" marR="91440" marT="45720" marB="45720">
                    <a:solidFill>
                      <a:srgbClr val="FFFFFF"/>
                    </a:solidFill>
                  </a:tcPr>
                </a:tc>
                <a:tc>
                  <a:txBody>
                    <a:bodyPr/>
                    <a:lstStyle/>
                    <a:p>
                      <a:r>
                        <a:rPr sz="1725" b="0">
                          <a:solidFill>
                            <a:srgbClr val="173039"/>
                          </a:solidFill>
                          <a:latin typeface="Arial"/>
                          <a:ea typeface="Arial"/>
                          <a:cs typeface="Arial"/>
                        </a:rPr>
                        <a:t>Enregistrer ensemble la commande, son état et ses liens.</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SQLite</a:t>
                      </a:r>
                    </a:p>
                  </a:txBody>
                  <a:tcPr marL="91440" marR="91440" marT="45720" marB="45720">
                    <a:solidFill>
                      <a:srgbClr val="EAF0F1"/>
                    </a:solidFill>
                  </a:tcPr>
                </a:tc>
                <a:tc>
                  <a:txBody>
                    <a:bodyPr/>
                    <a:lstStyle/>
                    <a:p>
                      <a:r>
                        <a:rPr sz="1725" b="0">
                          <a:solidFill>
                            <a:srgbClr val="173039"/>
                          </a:solidFill>
                          <a:latin typeface="Arial"/>
                          <a:ea typeface="Arial"/>
                          <a:cs typeface="Arial"/>
                        </a:rPr>
                        <a:t>Stocker les tables dans une base locale.</a:t>
                      </a:r>
                    </a:p>
                  </a:txBody>
                  <a:tcPr marL="91440" marR="91440" marT="45720" marB="45720">
                    <a:solidFill>
                      <a:srgbClr val="EAF0F1"/>
                    </a:solidFill>
                  </a:tcPr>
                </a:tc>
                <a:tc>
                  <a:txBody>
                    <a:bodyPr/>
                    <a:lstStyle/>
                    <a:p>
                      <a:r>
                        <a:rPr sz="1725" b="0">
                          <a:solidFill>
                            <a:srgbClr val="173039"/>
                          </a:solidFill>
                          <a:latin typeface="Arial"/>
                          <a:ea typeface="Arial"/>
                          <a:cs typeface="Arial"/>
                        </a:rPr>
                        <a:t>Conserver commandes, événements et budget entre sessions.</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SqliteSaver</a:t>
                      </a:r>
                    </a:p>
                  </a:txBody>
                  <a:tcPr marL="91440" marR="91440" marT="45720" marB="45720">
                    <a:solidFill>
                      <a:srgbClr val="FFFFFF"/>
                    </a:solidFill>
                  </a:tcPr>
                </a:tc>
                <a:tc>
                  <a:txBody>
                    <a:bodyPr/>
                    <a:lstStyle/>
                    <a:p>
                      <a:r>
                        <a:rPr sz="1725" b="0">
                          <a:solidFill>
                            <a:srgbClr val="173039"/>
                          </a:solidFill>
                          <a:latin typeface="Arial"/>
                          <a:ea typeface="Arial"/>
                          <a:cs typeface="Arial"/>
                        </a:rPr>
                        <a:t>Enregistrer les checkpoints de LangGraph.</a:t>
                      </a:r>
                    </a:p>
                  </a:txBody>
                  <a:tcPr marL="91440" marR="91440" marT="45720" marB="45720">
                    <a:solidFill>
                      <a:srgbClr val="FFFFFF"/>
                    </a:solidFill>
                  </a:tcPr>
                </a:tc>
                <a:tc>
                  <a:txBody>
                    <a:bodyPr/>
                    <a:lstStyle/>
                    <a:p>
                      <a:r>
                        <a:rPr sz="1725" b="0">
                          <a:solidFill>
                            <a:srgbClr val="173039"/>
                          </a:solidFill>
                          <a:latin typeface="Arial"/>
                          <a:ea typeface="Arial"/>
                          <a:cs typeface="Arial"/>
                        </a:rPr>
                        <a:t>Conserver l’état du graphe dans une autre base SQLite.</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Psycopg</a:t>
                      </a:r>
                    </a:p>
                  </a:txBody>
                  <a:tcPr marL="91440" marR="91440" marT="45720" marB="45720">
                    <a:solidFill>
                      <a:srgbClr val="EAF0F1"/>
                    </a:solidFill>
                  </a:tcPr>
                </a:tc>
                <a:tc>
                  <a:txBody>
                    <a:bodyPr/>
                    <a:lstStyle/>
                    <a:p>
                      <a:r>
                        <a:rPr sz="1725" b="0">
                          <a:solidFill>
                            <a:srgbClr val="173039"/>
                          </a:solidFill>
                          <a:latin typeface="Arial"/>
                          <a:ea typeface="Arial"/>
                          <a:cs typeface="Arial"/>
                        </a:rPr>
                        <a:t>Relier Python à PostgreSQL.</a:t>
                      </a:r>
                    </a:p>
                  </a:txBody>
                  <a:tcPr marL="91440" marR="91440" marT="45720" marB="45720">
                    <a:solidFill>
                      <a:srgbClr val="EAF0F1"/>
                    </a:solidFill>
                  </a:tcPr>
                </a:tc>
                <a:tc>
                  <a:txBody>
                    <a:bodyPr/>
                    <a:lstStyle/>
                    <a:p>
                      <a:r>
                        <a:rPr sz="1725" b="0">
                          <a:solidFill>
                            <a:srgbClr val="173039"/>
                          </a:solidFill>
                          <a:latin typeface="Arial"/>
                          <a:ea typeface="Arial"/>
                          <a:cs typeface="Arial"/>
                        </a:rPr>
                        <a:t>Profil configurable, dont l’exécution locale reste à valider.</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242126787"/>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A1DC0A-E0BA-4883-A783-A4AD9E84728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Une commande traverse plusieurs bibliothèques</a:t>
            </a:r>
          </a:p>
        </p:txBody>
      </p:sp>
      <p:sp>
        <p:nvSpPr>
          <p:cNvPr id="2" name="">
            <a:extLst xmlns:a="http://schemas.openxmlformats.org/drawingml/2006/main">
              <a:ext uri="{FF2B5EF4-FFF2-40B4-BE49-F238E27FC236}">
                <a16:creationId xmlns:a16="http://schemas.microsoft.com/office/drawing/2014/main" id="{DEE1D9EC-E88D-41BA-8557-C5560295346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46991E1-FCE8-4A31-85AE-5D5B5542947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Ce parcours décrit le flux de travail. Il ne représente pas les dépendances d’installation.</a:t>
            </a:r>
          </a:p>
        </p:txBody>
      </p:sp>
      <p:sp>
        <p:nvSpPr>
          <p:cNvPr id="4" name="">
            <a:extLst xmlns:a="http://schemas.openxmlformats.org/drawingml/2006/main">
              <a:ext uri="{FF2B5EF4-FFF2-40B4-BE49-F238E27FC236}">
                <a16:creationId xmlns:a16="http://schemas.microsoft.com/office/drawing/2014/main" id="{DAD9E632-984E-4A5C-A083-3A9EAEDD0079}"/>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B08EEDA-B60B-451D-998F-D7F81C90CE6A}"/>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React</a:t>
            </a:r>
          </a:p>
        </p:txBody>
      </p:sp>
      <p:sp>
        <p:nvSpPr>
          <p:cNvPr id="6" name="">
            <a:extLst xmlns:a="http://schemas.openxmlformats.org/drawingml/2006/main">
              <a:ext uri="{FF2B5EF4-FFF2-40B4-BE49-F238E27FC236}">
                <a16:creationId xmlns:a16="http://schemas.microsoft.com/office/drawing/2014/main" id="{85526397-FF57-46A4-88F3-5C1A6F4ABF1C}"/>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répartiteur saisit puis confirme sa commande.</a:t>
            </a:r>
          </a:p>
        </p:txBody>
      </p:sp>
      <p:sp>
        <p:nvSpPr>
          <p:cNvPr id="7" name="">
            <a:extLst xmlns:a="http://schemas.openxmlformats.org/drawingml/2006/main">
              <a:ext uri="{FF2B5EF4-FFF2-40B4-BE49-F238E27FC236}">
                <a16:creationId xmlns:a16="http://schemas.microsoft.com/office/drawing/2014/main" id="{7653B99B-5579-4581-B71C-FBBF085C2232}"/>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AD7B1B6-F970-4401-84F1-F39B0A6516DB}"/>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FastAPI + Pydantic</a:t>
            </a:r>
          </a:p>
        </p:txBody>
      </p:sp>
      <p:sp>
        <p:nvSpPr>
          <p:cNvPr id="9" name="">
            <a:extLst xmlns:a="http://schemas.openxmlformats.org/drawingml/2006/main">
              <a:ext uri="{FF2B5EF4-FFF2-40B4-BE49-F238E27FC236}">
                <a16:creationId xmlns:a16="http://schemas.microsoft.com/office/drawing/2014/main" id="{AB9333F1-BBBA-4189-9D4E-AB5E36483341}"/>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Le serveur reçoit et valide les champs.</a:t>
            </a:r>
          </a:p>
        </p:txBody>
      </p:sp>
      <p:sp>
        <p:nvSpPr>
          <p:cNvPr id="10" name="">
            <a:extLst xmlns:a="http://schemas.openxmlformats.org/drawingml/2006/main">
              <a:ext uri="{FF2B5EF4-FFF2-40B4-BE49-F238E27FC236}">
                <a16:creationId xmlns:a16="http://schemas.microsoft.com/office/drawing/2014/main" id="{070FE729-C8AE-430E-BBD4-B5A22C4F58E1}"/>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E068155-9B98-4A2D-8A9F-7026A9DAD2E6}"/>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SQLAlchemy</a:t>
            </a:r>
          </a:p>
        </p:txBody>
      </p:sp>
      <p:sp>
        <p:nvSpPr>
          <p:cNvPr id="12" name="">
            <a:extLst xmlns:a="http://schemas.openxmlformats.org/drawingml/2006/main">
              <a:ext uri="{FF2B5EF4-FFF2-40B4-BE49-F238E27FC236}">
                <a16:creationId xmlns:a16="http://schemas.microsoft.com/office/drawing/2014/main" id="{2005CD85-750C-4A85-B455-3BE6ABB820FE}"/>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La transaction enregistre une commande cohérente.</a:t>
            </a:r>
          </a:p>
        </p:txBody>
      </p:sp>
      <p:sp>
        <p:nvSpPr>
          <p:cNvPr id="13" name="">
            <a:extLst xmlns:a="http://schemas.openxmlformats.org/drawingml/2006/main">
              <a:ext uri="{FF2B5EF4-FFF2-40B4-BE49-F238E27FC236}">
                <a16:creationId xmlns:a16="http://schemas.microsoft.com/office/drawing/2014/main" id="{0F78FE50-1706-4D89-84B2-34B05EFBB7E5}"/>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ED057C0-ABD2-4456-82AF-3A29FD5A4373}"/>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LangGraph</a:t>
            </a:r>
          </a:p>
        </p:txBody>
      </p:sp>
      <p:sp>
        <p:nvSpPr>
          <p:cNvPr id="15" name="">
            <a:extLst xmlns:a="http://schemas.openxmlformats.org/drawingml/2006/main">
              <a:ext uri="{FF2B5EF4-FFF2-40B4-BE49-F238E27FC236}">
                <a16:creationId xmlns:a16="http://schemas.microsoft.com/office/drawing/2014/main" id="{7212239B-4D31-4C57-9E72-8109B02C41FA}"/>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Lors de la planification, le worker coordonne les rôles.</a:t>
            </a:r>
          </a:p>
        </p:txBody>
      </p:sp>
    </p:spTree>
    <p:extLst>
      <p:ext uri="{BB962C8B-B14F-4D97-AF65-F5344CB8AC3E}">
        <p14:creationId xmlns:p14="http://schemas.microsoft.com/office/powerpoint/2010/main" val="660122039"/>
      </p:ext>
    </p:extLst>
  </p:cSld>
</p:sld>
</file>

<file path=ppt/slides/slide1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7C9DEB2-9B90-4043-AA1A-E8A9330389D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Cinq rôles, des preuves distinctes</a:t>
            </a:r>
          </a:p>
        </p:txBody>
      </p:sp>
      <p:sp>
        <p:nvSpPr>
          <p:cNvPr id="2" name="">
            <a:extLst xmlns:a="http://schemas.openxmlformats.org/drawingml/2006/main">
              <a:ext uri="{FF2B5EF4-FFF2-40B4-BE49-F238E27FC236}">
                <a16:creationId xmlns:a16="http://schemas.microsoft.com/office/drawing/2014/main" id="{94D5EEFB-DCAF-4A68-89F9-1F3F6588D0B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8DCD567-6A35-4957-9DD1-3B18C165AF03}"/>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LangGraph orchestre cette chaîne séquentielle. React Flow en montre les transmissions.</a:t>
            </a:r>
          </a:p>
        </p:txBody>
      </p:sp>
      <p:sp>
        <p:nvSpPr>
          <p:cNvPr id="4" name="">
            <a:extLst xmlns:a="http://schemas.openxmlformats.org/drawingml/2006/main">
              <a:ext uri="{FF2B5EF4-FFF2-40B4-BE49-F238E27FC236}">
                <a16:creationId xmlns:a16="http://schemas.microsoft.com/office/drawing/2014/main" id="{73BD577A-4CE7-40A3-A6A4-C131C9AECC1F}"/>
              </a:ext>
            </a:extLst>
          </p:cNvPr>
          <p:cNvSpPr>
            <a:spLocks xmlns:a="http://schemas.openxmlformats.org/drawingml/2006/main" noGrp="1"/>
          </p:cNvSpPr>
          <p:nvPr/>
        </p:nvSpPr>
        <p:spPr>
          <a:xfrm xmlns:a="http://schemas.openxmlformats.org/drawingml/2006/main">
            <a:off x="609600" y="1943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FA081D0-6330-441D-8BB4-DC0C8FF40DCD}"/>
              </a:ext>
            </a:extLst>
          </p:cNvPr>
          <p:cNvSpPr>
            <a:spLocks xmlns:a="http://schemas.openxmlformats.org/drawingml/2006/main" noGrp="1"/>
          </p:cNvSpPr>
          <p:nvPr/>
        </p:nvSpPr>
        <p:spPr>
          <a:xfrm xmlns:a="http://schemas.openxmlformats.org/drawingml/2006/main">
            <a:off x="1657350" y="2000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Planification</a:t>
            </a:r>
          </a:p>
        </p:txBody>
      </p:sp>
      <p:sp>
        <p:nvSpPr>
          <p:cNvPr id="6" name="">
            <a:extLst xmlns:a="http://schemas.openxmlformats.org/drawingml/2006/main">
              <a:ext uri="{FF2B5EF4-FFF2-40B4-BE49-F238E27FC236}">
                <a16:creationId xmlns:a16="http://schemas.microsoft.com/office/drawing/2014/main" id="{F7E60DD1-E89C-48B7-897A-A49C7B392CD1}"/>
              </a:ext>
            </a:extLst>
          </p:cNvPr>
          <p:cNvSpPr>
            <a:spLocks xmlns:a="http://schemas.openxmlformats.org/drawingml/2006/main" noGrp="1"/>
          </p:cNvSpPr>
          <p:nvPr/>
        </p:nvSpPr>
        <p:spPr>
          <a:xfrm xmlns:a="http://schemas.openxmlformats.org/drawingml/2006/main">
            <a:off x="4876800" y="2009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Figer demandes, flotte, origines et contraintes</a:t>
            </a:r>
          </a:p>
        </p:txBody>
      </p:sp>
      <p:sp>
        <p:nvSpPr>
          <p:cNvPr id="7" name="">
            <a:extLst xmlns:a="http://schemas.openxmlformats.org/drawingml/2006/main">
              <a:ext uri="{FF2B5EF4-FFF2-40B4-BE49-F238E27FC236}">
                <a16:creationId xmlns:a16="http://schemas.microsoft.com/office/drawing/2014/main" id="{FC7C0B41-3492-489E-8E48-8BEF02457645}"/>
              </a:ext>
            </a:extLst>
          </p:cNvPr>
          <p:cNvSpPr>
            <a:spLocks xmlns:a="http://schemas.openxmlformats.org/drawingml/2006/main" noGrp="1"/>
          </p:cNvSpPr>
          <p:nvPr/>
        </p:nvSpPr>
        <p:spPr>
          <a:xfrm xmlns:a="http://schemas.openxmlformats.org/drawingml/2006/main">
            <a:off x="609600" y="2705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5110CBE-8C55-453B-8B83-B7D9006A972A}"/>
              </a:ext>
            </a:extLst>
          </p:cNvPr>
          <p:cNvSpPr>
            <a:spLocks xmlns:a="http://schemas.openxmlformats.org/drawingml/2006/main" noGrp="1"/>
          </p:cNvSpPr>
          <p:nvPr/>
        </p:nvSpPr>
        <p:spPr>
          <a:xfrm xmlns:a="http://schemas.openxmlformats.org/drawingml/2006/main">
            <a:off x="1657350" y="2762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Trafic et réseau</a:t>
            </a:r>
          </a:p>
        </p:txBody>
      </p:sp>
      <p:sp>
        <p:nvSpPr>
          <p:cNvPr id="9" name="">
            <a:extLst xmlns:a="http://schemas.openxmlformats.org/drawingml/2006/main">
              <a:ext uri="{FF2B5EF4-FFF2-40B4-BE49-F238E27FC236}">
                <a16:creationId xmlns:a16="http://schemas.microsoft.com/office/drawing/2014/main" id="{1AF6C5F7-B351-4021-952C-D33BB93904E7}"/>
              </a:ext>
            </a:extLst>
          </p:cNvPr>
          <p:cNvSpPr>
            <a:spLocks xmlns:a="http://schemas.openxmlformats.org/drawingml/2006/main" noGrp="1"/>
          </p:cNvSpPr>
          <p:nvPr/>
        </p:nvSpPr>
        <p:spPr>
          <a:xfrm xmlns:a="http://schemas.openxmlformats.org/drawingml/2006/main">
            <a:off x="4876800" y="2771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Construire la matrice routière ou synthétique</a:t>
            </a:r>
          </a:p>
        </p:txBody>
      </p:sp>
      <p:sp>
        <p:nvSpPr>
          <p:cNvPr id="10" name="">
            <a:extLst xmlns:a="http://schemas.openxmlformats.org/drawingml/2006/main">
              <a:ext uri="{FF2B5EF4-FFF2-40B4-BE49-F238E27FC236}">
                <a16:creationId xmlns:a16="http://schemas.microsoft.com/office/drawing/2014/main" id="{00283261-FFC7-4808-A99C-59D7A003D7B0}"/>
              </a:ext>
            </a:extLst>
          </p:cNvPr>
          <p:cNvSpPr>
            <a:spLocks xmlns:a="http://schemas.openxmlformats.org/drawingml/2006/main" noGrp="1"/>
          </p:cNvSpPr>
          <p:nvPr/>
        </p:nvSpPr>
        <p:spPr>
          <a:xfrm xmlns:a="http://schemas.openxmlformats.org/drawingml/2006/main">
            <a:off x="609600" y="3467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D4CC581-3A52-4E4A-919E-28163F0A0C6E}"/>
              </a:ext>
            </a:extLst>
          </p:cNvPr>
          <p:cNvSpPr>
            <a:spLocks xmlns:a="http://schemas.openxmlformats.org/drawingml/2006/main" noGrp="1"/>
          </p:cNvSpPr>
          <p:nvPr/>
        </p:nvSpPr>
        <p:spPr>
          <a:xfrm xmlns:a="http://schemas.openxmlformats.org/drawingml/2006/main">
            <a:off x="1657350" y="3524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Optimisation</a:t>
            </a:r>
          </a:p>
        </p:txBody>
      </p:sp>
      <p:sp>
        <p:nvSpPr>
          <p:cNvPr id="12" name="">
            <a:extLst xmlns:a="http://schemas.openxmlformats.org/drawingml/2006/main">
              <a:ext uri="{FF2B5EF4-FFF2-40B4-BE49-F238E27FC236}">
                <a16:creationId xmlns:a16="http://schemas.microsoft.com/office/drawing/2014/main" id="{B040CC06-241D-4417-BCAD-625E750B52BB}"/>
              </a:ext>
            </a:extLst>
          </p:cNvPr>
          <p:cNvSpPr>
            <a:spLocks xmlns:a="http://schemas.openxmlformats.org/drawingml/2006/main" noGrp="1"/>
          </p:cNvSpPr>
          <p:nvPr/>
        </p:nvSpPr>
        <p:spPr>
          <a:xfrm xmlns:a="http://schemas.openxmlformats.org/drawingml/2006/main">
            <a:off x="4876800" y="3533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Comparer les affectations avec le solveur</a:t>
            </a:r>
          </a:p>
        </p:txBody>
      </p:sp>
      <p:sp>
        <p:nvSpPr>
          <p:cNvPr id="13" name="">
            <a:extLst xmlns:a="http://schemas.openxmlformats.org/drawingml/2006/main">
              <a:ext uri="{FF2B5EF4-FFF2-40B4-BE49-F238E27FC236}">
                <a16:creationId xmlns:a16="http://schemas.microsoft.com/office/drawing/2014/main" id="{BD9894E8-C581-4F51-B3E1-AD2C32FE8405}"/>
              </a:ext>
            </a:extLst>
          </p:cNvPr>
          <p:cNvSpPr>
            <a:spLocks xmlns:a="http://schemas.openxmlformats.org/drawingml/2006/main" noGrp="1"/>
          </p:cNvSpPr>
          <p:nvPr/>
        </p:nvSpPr>
        <p:spPr>
          <a:xfrm xmlns:a="http://schemas.openxmlformats.org/drawingml/2006/main">
            <a:off x="609600" y="4229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1D5403C-8997-4F60-A4F0-D95EDF0FEFAC}"/>
              </a:ext>
            </a:extLst>
          </p:cNvPr>
          <p:cNvSpPr>
            <a:spLocks xmlns:a="http://schemas.openxmlformats.org/drawingml/2006/main" noGrp="1"/>
          </p:cNvSpPr>
          <p:nvPr/>
        </p:nvSpPr>
        <p:spPr>
          <a:xfrm xmlns:a="http://schemas.openxmlformats.org/drawingml/2006/main">
            <a:off x="1657350" y="4286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Contrôle</a:t>
            </a:r>
          </a:p>
        </p:txBody>
      </p:sp>
      <p:sp>
        <p:nvSpPr>
          <p:cNvPr id="15" name="">
            <a:extLst xmlns:a="http://schemas.openxmlformats.org/drawingml/2006/main">
              <a:ext uri="{FF2B5EF4-FFF2-40B4-BE49-F238E27FC236}">
                <a16:creationId xmlns:a16="http://schemas.microsoft.com/office/drawing/2014/main" id="{52DA039A-92EA-4434-B6A8-C674D16E7C6C}"/>
              </a:ext>
            </a:extLst>
          </p:cNvPr>
          <p:cNvSpPr>
            <a:spLocks xmlns:a="http://schemas.openxmlformats.org/drawingml/2006/main" noGrp="1"/>
          </p:cNvSpPr>
          <p:nvPr/>
        </p:nvSpPr>
        <p:spPr>
          <a:xfrm xmlns:a="http://schemas.openxmlformats.org/drawingml/2006/main">
            <a:off x="4876800" y="4295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Recalculer les contraintes et certifier</a:t>
            </a:r>
          </a:p>
        </p:txBody>
      </p:sp>
      <p:sp>
        <p:nvSpPr>
          <p:cNvPr id="16" name="">
            <a:extLst xmlns:a="http://schemas.openxmlformats.org/drawingml/2006/main">
              <a:ext uri="{FF2B5EF4-FFF2-40B4-BE49-F238E27FC236}">
                <a16:creationId xmlns:a16="http://schemas.microsoft.com/office/drawing/2014/main" id="{B4F64445-CD74-4BAA-A4EF-BB598EB24DE7}"/>
              </a:ext>
            </a:extLst>
          </p:cNvPr>
          <p:cNvSpPr>
            <a:spLocks xmlns:a="http://schemas.openxmlformats.org/drawingml/2006/main" noGrp="1"/>
          </p:cNvSpPr>
          <p:nvPr/>
        </p:nvSpPr>
        <p:spPr>
          <a:xfrm xmlns:a="http://schemas.openxmlformats.org/drawingml/2006/main">
            <a:off x="609600" y="4991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8FCD8A68-B0ED-4BF9-B514-F8BB910E4C54}"/>
              </a:ext>
            </a:extLst>
          </p:cNvPr>
          <p:cNvSpPr>
            <a:spLocks xmlns:a="http://schemas.openxmlformats.org/drawingml/2006/main" noGrp="1"/>
          </p:cNvSpPr>
          <p:nvPr/>
        </p:nvSpPr>
        <p:spPr>
          <a:xfrm xmlns:a="http://schemas.openxmlformats.org/drawingml/2006/main">
            <a:off x="1657350" y="5048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D07A508A-5F9F-4D0C-8A68-95C82FF864E0}"/>
              </a:ext>
            </a:extLst>
          </p:cNvPr>
          <p:cNvSpPr>
            <a:spLocks xmlns:a="http://schemas.openxmlformats.org/drawingml/2006/main" noGrp="1"/>
          </p:cNvSpPr>
          <p:nvPr/>
        </p:nvSpPr>
        <p:spPr>
          <a:xfrm xmlns:a="http://schemas.openxmlformats.org/drawingml/2006/main">
            <a:off x="4876800" y="5057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Produire le diagnostic et préparer la clôture</a:t>
            </a:r>
          </a:p>
        </p:txBody>
      </p:sp>
    </p:spTree>
    <p:extLst>
      <p:ext uri="{BB962C8B-B14F-4D97-AF65-F5344CB8AC3E}">
        <p14:creationId xmlns:p14="http://schemas.microsoft.com/office/powerpoint/2010/main" val="1672648596"/>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3BFFE5-8099-41BA-98D8-C1CB2BF9F0C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explications IA sont facultatives</a:t>
            </a:r>
          </a:p>
        </p:txBody>
      </p:sp>
      <p:sp>
        <p:nvSpPr>
          <p:cNvPr id="2" name="">
            <a:extLst xmlns:a="http://schemas.openxmlformats.org/drawingml/2006/main">
              <a:ext uri="{FF2B5EF4-FFF2-40B4-BE49-F238E27FC236}">
                <a16:creationId xmlns:a16="http://schemas.microsoft.com/office/drawing/2014/main" id="{8CCB3B7F-ADED-48BF-82A8-CE7588FD052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09D5980-B849-414B-9479-9D03E55FA6A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Appels d’explication attendus, hors erreurs et reprises. Aucun coût fictif pour les omissions.</a:t>
            </a:r>
          </a:p>
        </p:txBody>
      </p:sp>
      <p:graphicFrame>
        <p:nvGraphicFramePr>
          <p:cNvPr id="4" name="Chart">
            <a:extLst xmlns:a="http://schemas.openxmlformats.org/drawingml/2006/main">
              <a:ext uri="{FF2B5EF4-FFF2-40B4-BE49-F238E27FC236}">
                <a16:creationId xmlns:a16="http://schemas.microsoft.com/office/drawing/2014/main" id="{79C61864-33D3-4513-A74A-203F5D726030}"/>
              </a:ext>
            </a:extLst>
          </p:cNvPr>
          <p:cNvGraphicFramePr/>
          <p:nvPr/>
        </p:nvGraphicFramePr>
        <p:xfrm>
          <a:off xmlns:a="http://schemas.openxmlformats.org/drawingml/2006/main" x="609600" y="1933575"/>
          <a:ext xmlns:a="http://schemas.openxmlformats.org/drawingml/2006/main" cx="7810500" cy="3600450"/>
        </p:xfrm>
        <a:graphic xmlns:a="http://schemas.openxmlformats.org/drawingml/2006/main">
          <a:graphicData uri="http://schemas.openxmlformats.org/drawingml/2006/chart">
            <c:chart xmlns:r="http://schemas.openxmlformats.org/officeDocument/2006/relationships" xmlns:c="http://schemas.openxmlformats.org/drawingml/2006/chart" r:id="R42b5e242af8841ea"/>
          </a:graphicData>
        </a:graphic>
      </p:graphicFrame>
      <p:sp>
        <p:nvSpPr>
          <p:cNvPr id="5" name="">
            <a:extLst xmlns:a="http://schemas.openxmlformats.org/drawingml/2006/main">
              <a:ext uri="{FF2B5EF4-FFF2-40B4-BE49-F238E27FC236}">
                <a16:creationId xmlns:a16="http://schemas.microsoft.com/office/drawing/2014/main" id="{94B87880-5CBC-4E3F-8DFC-971F6605181A}"/>
              </a:ext>
            </a:extLst>
          </p:cNvPr>
          <p:cNvSpPr>
            <a:spLocks xmlns:a="http://schemas.openxmlformats.org/drawingml/2006/main" noGrp="1"/>
          </p:cNvSpPr>
          <p:nvPr/>
        </p:nvSpPr>
        <p:spPr>
          <a:xfrm xmlns:a="http://schemas.openxmlformats.org/drawingml/2006/main">
            <a:off x="8858250" y="2476500"/>
            <a:ext cx="2571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6C78"/>
                </a:solidFill>
                <a:latin typeface="Arial"/>
                <a:ea typeface="Arial"/>
                <a:cs typeface="Arial"/>
              </a:defRPr>
            </a:defPPr>
          </a:lstStyle>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Tous les modes</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conservent les</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cinq rôles et</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les contrôles</a:t>
            </a:r>
          </a:p>
        </p:txBody>
      </p:sp>
    </p:spTree>
    <p:extLst>
      <p:ext uri="{BB962C8B-B14F-4D97-AF65-F5344CB8AC3E}">
        <p14:creationId xmlns:p14="http://schemas.microsoft.com/office/powerpoint/2010/main" val="1937035374"/>
      </p:ext>
    </p:extLst>
  </p:cSld>
</p:sld>
</file>

<file path=ppt/slides/slide1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FAC6F4-A63E-49E5-94B5-3CA068630EB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Anthropic et le choix des modèles</a:t>
            </a:r>
          </a:p>
        </p:txBody>
      </p:sp>
      <p:sp>
        <p:nvSpPr>
          <p:cNvPr id="2" name="">
            <a:extLst xmlns:a="http://schemas.openxmlformats.org/drawingml/2006/main">
              <a:ext uri="{FF2B5EF4-FFF2-40B4-BE49-F238E27FC236}">
                <a16:creationId xmlns:a16="http://schemas.microsoft.com/office/drawing/2014/main" id="{C6D968FE-E97C-4B33-8C4F-978CD6D0E4C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E4F6F236-5D42-4848-84CD-C355317F481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modèles expliquent les résultats des outils. Les certificats restent déterministes.</a:t>
            </a:r>
          </a:p>
        </p:txBody>
      </p:sp>
      <p:graphicFrame>
        <p:nvGraphicFramePr>
          <p:cNvPr id="4" name="">
            <a:extLst xmlns:a="http://schemas.openxmlformats.org/drawingml/2006/main">
              <a:ext uri="{FF2B5EF4-FFF2-40B4-BE49-F238E27FC236}">
                <a16:creationId xmlns:a16="http://schemas.microsoft.com/office/drawing/2014/main" id="{410D670F-813A-4609-9613-2A380491D567}"/>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476500"/>
                <a:gridCol w="3143250"/>
                <a:gridCol w="5353050"/>
              </a:tblGrid>
              <a:tr h="457200">
                <a:tc>
                  <a:txBody>
                    <a:bodyPr/>
                    <a:lstStyle/>
                    <a:p>
                      <a:r>
                        <a:rPr sz="1725" b="1">
                          <a:solidFill>
                            <a:srgbClr val="FFFFFF"/>
                          </a:solidFill>
                          <a:latin typeface="Arial"/>
                          <a:ea typeface="Arial"/>
                          <a:cs typeface="Arial"/>
                        </a:rPr>
                        <a:t>FAMILLE</a:t>
                      </a:r>
                    </a:p>
                  </a:txBody>
                  <a:tcPr marL="91440" marR="91440" marT="45720" marB="45720">
                    <a:solidFill>
                      <a:srgbClr val="173039"/>
                    </a:solidFill>
                  </a:tcPr>
                </a:tc>
                <a:tc>
                  <a:txBody>
                    <a:bodyPr/>
                    <a:lstStyle/>
                    <a:p>
                      <a:r>
                        <a:rPr sz="1725" b="1">
                          <a:solidFill>
                            <a:srgbClr val="FFFFFF"/>
                          </a:solidFill>
                          <a:latin typeface="Arial"/>
                          <a:ea typeface="Arial"/>
                          <a:cs typeface="Arial"/>
                        </a:rPr>
                        <a:t>RÔLES</a:t>
                      </a:r>
                    </a:p>
                  </a:txBody>
                  <a:tcPr marL="91440" marR="91440" marT="45720" marB="45720">
                    <a:solidFill>
                      <a:srgbClr val="173039"/>
                    </a:solidFill>
                  </a:tcPr>
                </a:tc>
                <a:tc>
                  <a:txBody>
                    <a:bodyPr/>
                    <a:lstStyle/>
                    <a:p>
                      <a:r>
                        <a:rPr sz="1725" b="1">
                          <a:solidFill>
                            <a:srgbClr val="FFFFFF"/>
                          </a:solidFill>
                          <a:latin typeface="Arial"/>
                          <a:ea typeface="Arial"/>
                          <a:cs typeface="Arial"/>
                        </a:rPr>
                        <a:t>UTILISATION</a:t>
                      </a:r>
                    </a:p>
                  </a:txBody>
                  <a:tcPr marL="91440" marR="91440" marT="45720" marB="45720">
                    <a:solidFill>
                      <a:srgbClr val="173039"/>
                    </a:solidFill>
                  </a:tcPr>
                </a:tc>
              </a:tr>
              <a:tr h="1149350">
                <a:tc>
                  <a:txBody>
                    <a:bodyPr/>
                    <a:lstStyle/>
                    <a:p>
                      <a:r>
                        <a:rPr sz="1725" b="1">
                          <a:solidFill>
                            <a:srgbClr val="173039"/>
                          </a:solidFill>
                          <a:latin typeface="Arial"/>
                          <a:ea typeface="Arial"/>
                          <a:cs typeface="Arial"/>
                        </a:rPr>
                        <a:t>Haiku</a:t>
                      </a:r>
                    </a:p>
                  </a:txBody>
                  <a:tcPr marL="91440" marR="91440" marT="45720" marB="45720">
                    <a:solidFill>
                      <a:srgbClr val="FFFFFF"/>
                    </a:solidFill>
                  </a:tcPr>
                </a:tc>
                <a:tc>
                  <a:txBody>
                    <a:bodyPr/>
                    <a:lstStyle/>
                    <a:p>
                      <a:r>
                        <a:rPr sz="1725" b="0">
                          <a:solidFill>
                            <a:srgbClr val="173039"/>
                          </a:solidFill>
                          <a:latin typeface="Arial"/>
                          <a:ea typeface="Arial"/>
                          <a:cs typeface="Arial"/>
                        </a:rPr>
                        <a:t>Trafic, exceptions</a:t>
                      </a:r>
                    </a:p>
                  </a:txBody>
                  <a:tcPr marL="91440" marR="91440" marT="45720" marB="45720">
                    <a:solidFill>
                      <a:srgbClr val="FFFFFF"/>
                    </a:solidFill>
                  </a:tcPr>
                </a:tc>
                <a:tc>
                  <a:txBody>
                    <a:bodyPr/>
                    <a:lstStyle/>
                    <a:p>
                      <a:r>
                        <a:rPr sz="1725" b="0">
                          <a:solidFill>
                            <a:srgbClr val="173039"/>
                          </a:solidFill>
                          <a:latin typeface="Arial"/>
                          <a:ea typeface="Arial"/>
                          <a:cs typeface="Arial"/>
                        </a:rPr>
                        <a:t>Explications bornées de données ou diagnostics</a:t>
                      </a:r>
                    </a:p>
                  </a:txBody>
                  <a:tcPr marL="91440" marR="91440" marT="45720" marB="45720">
                    <a:solidFill>
                      <a:srgbClr val="FFFFFF"/>
                    </a:solidFill>
                  </a:tcPr>
                </a:tc>
              </a:tr>
              <a:tr h="1149350">
                <a:tc>
                  <a:txBody>
                    <a:bodyPr/>
                    <a:lstStyle/>
                    <a:p>
                      <a:r>
                        <a:rPr sz="1725" b="1">
                          <a:solidFill>
                            <a:srgbClr val="173039"/>
                          </a:solidFill>
                          <a:latin typeface="Arial"/>
                          <a:ea typeface="Arial"/>
                          <a:cs typeface="Arial"/>
                        </a:rPr>
                        <a:t>Sonnet</a:t>
                      </a:r>
                    </a:p>
                  </a:txBody>
                  <a:tcPr marL="91440" marR="91440" marT="45720" marB="45720">
                    <a:solidFill>
                      <a:srgbClr val="EAF0F1"/>
                    </a:solidFill>
                  </a:tcPr>
                </a:tc>
                <a:tc>
                  <a:txBody>
                    <a:bodyPr/>
                    <a:lstStyle/>
                    <a:p>
                      <a:r>
                        <a:rPr sz="1725" b="0">
                          <a:solidFill>
                            <a:srgbClr val="173039"/>
                          </a:solidFill>
                          <a:latin typeface="Arial"/>
                          <a:ea typeface="Arial"/>
                          <a:cs typeface="Arial"/>
                        </a:rPr>
                        <a:t>Planification, optimisation</a:t>
                      </a:r>
                    </a:p>
                  </a:txBody>
                  <a:tcPr marL="91440" marR="91440" marT="45720" marB="45720">
                    <a:solidFill>
                      <a:srgbClr val="EAF0F1"/>
                    </a:solidFill>
                  </a:tcPr>
                </a:tc>
                <a:tc>
                  <a:txBody>
                    <a:bodyPr/>
                    <a:lstStyle/>
                    <a:p>
                      <a:r>
                        <a:rPr sz="1725" b="0">
                          <a:solidFill>
                            <a:srgbClr val="173039"/>
                          </a:solidFill>
                          <a:latin typeface="Arial"/>
                          <a:ea typeface="Arial"/>
                          <a:cs typeface="Arial"/>
                        </a:rPr>
                        <a:t>Explications des contraintes et stratégies</a:t>
                      </a:r>
                    </a:p>
                  </a:txBody>
                  <a:tcPr marL="91440" marR="91440" marT="45720" marB="45720">
                    <a:solidFill>
                      <a:srgbClr val="EAF0F1"/>
                    </a:solidFill>
                  </a:tcPr>
                </a:tc>
              </a:tr>
              <a:tr h="1149350">
                <a:tc>
                  <a:txBody>
                    <a:bodyPr/>
                    <a:lstStyle/>
                    <a:p>
                      <a:r>
                        <a:rPr sz="1725" b="1">
                          <a:solidFill>
                            <a:srgbClr val="173039"/>
                          </a:solidFill>
                          <a:latin typeface="Arial"/>
                          <a:ea typeface="Arial"/>
                          <a:cs typeface="Arial"/>
                        </a:rPr>
                        <a:t>Opus</a:t>
                      </a:r>
                    </a:p>
                  </a:txBody>
                  <a:tcPr marL="91440" marR="91440" marT="45720" marB="45720">
                    <a:solidFill>
                      <a:srgbClr val="FFFFFF"/>
                    </a:solidFill>
                  </a:tcPr>
                </a:tc>
                <a:tc>
                  <a:txBody>
                    <a:bodyPr/>
                    <a:lstStyle/>
                    <a:p>
                      <a:r>
                        <a:rPr sz="1725" b="0">
                          <a:solidFill>
                            <a:srgbClr val="173039"/>
                          </a:solidFill>
                          <a:latin typeface="Arial"/>
                          <a:ea typeface="Arial"/>
                          <a:cs typeface="Arial"/>
                        </a:rPr>
                        <a:t>Contrôle</a:t>
                      </a:r>
                    </a:p>
                  </a:txBody>
                  <a:tcPr marL="91440" marR="91440" marT="45720" marB="45720">
                    <a:solidFill>
                      <a:srgbClr val="FFFFFF"/>
                    </a:solidFill>
                  </a:tcPr>
                </a:tc>
                <a:tc>
                  <a:txBody>
                    <a:bodyPr/>
                    <a:lstStyle/>
                    <a:p>
                      <a:r>
                        <a:rPr sz="1725" b="0">
                          <a:solidFill>
                            <a:srgbClr val="173039"/>
                          </a:solidFill>
                          <a:latin typeface="Arial"/>
                          <a:ea typeface="Arial"/>
                          <a:cs typeface="Arial"/>
                        </a:rPr>
                        <a:t>Synthèse des preuves et de leurs limites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53613223"/>
      </p:ext>
    </p:extLst>
  </p:cSld>
</p:sld>
</file>

<file path=ppt/slides/slide1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90B2C4-4836-4B23-81B3-29DD21BBDE0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données de la carte</a:t>
            </a:r>
          </a:p>
        </p:txBody>
      </p:sp>
      <p:sp>
        <p:nvSpPr>
          <p:cNvPr id="2" name="">
            <a:extLst xmlns:a="http://schemas.openxmlformats.org/drawingml/2006/main">
              <a:ext uri="{FF2B5EF4-FFF2-40B4-BE49-F238E27FC236}">
                <a16:creationId xmlns:a16="http://schemas.microsoft.com/office/drawing/2014/main" id="{C6FE1B76-724D-4585-B97C-56D5A5056FA8}"/>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6110FC76-A0C4-4E3D-8BFD-B728C4D3E8B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chantiers municipaux apportent du contexte. Aucun trafic instantané ni GPS conducteur.</a:t>
            </a:r>
          </a:p>
        </p:txBody>
      </p:sp>
      <p:sp>
        <p:nvSpPr>
          <p:cNvPr id="4" name="">
            <a:extLst xmlns:a="http://schemas.openxmlformats.org/drawingml/2006/main">
              <a:ext uri="{FF2B5EF4-FFF2-40B4-BE49-F238E27FC236}">
                <a16:creationId xmlns:a16="http://schemas.microsoft.com/office/drawing/2014/main" id="{E416F413-72CE-4A78-9C68-E90619878564}"/>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FF93F8B-2E7F-4909-AA8C-7677080421B4}"/>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Photon</a:t>
            </a:r>
          </a:p>
        </p:txBody>
      </p:sp>
      <p:sp>
        <p:nvSpPr>
          <p:cNvPr id="6" name="">
            <a:extLst xmlns:a="http://schemas.openxmlformats.org/drawingml/2006/main">
              <a:ext uri="{FF2B5EF4-FFF2-40B4-BE49-F238E27FC236}">
                <a16:creationId xmlns:a16="http://schemas.microsoft.com/office/drawing/2014/main" id="{D6453B2C-AFD0-4926-93D4-68230CC8AD18}"/>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Adresse et candidats géographiques</a:t>
            </a:r>
          </a:p>
        </p:txBody>
      </p:sp>
      <p:sp>
        <p:nvSpPr>
          <p:cNvPr id="7" name="">
            <a:extLst xmlns:a="http://schemas.openxmlformats.org/drawingml/2006/main">
              <a:ext uri="{FF2B5EF4-FFF2-40B4-BE49-F238E27FC236}">
                <a16:creationId xmlns:a16="http://schemas.microsoft.com/office/drawing/2014/main" id="{451B1A86-0FB6-42C3-AB11-E90551C8413A}"/>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18A1057-DCAA-4FC0-B29B-4837544B5717}"/>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OSRM</a:t>
            </a:r>
          </a:p>
        </p:txBody>
      </p:sp>
      <p:sp>
        <p:nvSpPr>
          <p:cNvPr id="9" name="">
            <a:extLst xmlns:a="http://schemas.openxmlformats.org/drawingml/2006/main">
              <a:ext uri="{FF2B5EF4-FFF2-40B4-BE49-F238E27FC236}">
                <a16:creationId xmlns:a16="http://schemas.microsoft.com/office/drawing/2014/main" id="{20458404-DBCD-42BA-98B8-465D46669B9F}"/>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Matrice dirigée et géométrie de route</a:t>
            </a:r>
          </a:p>
        </p:txBody>
      </p:sp>
      <p:sp>
        <p:nvSpPr>
          <p:cNvPr id="10" name="">
            <a:extLst xmlns:a="http://schemas.openxmlformats.org/drawingml/2006/main">
              <a:ext uri="{FF2B5EF4-FFF2-40B4-BE49-F238E27FC236}">
                <a16:creationId xmlns:a16="http://schemas.microsoft.com/office/drawing/2014/main" id="{9E2D9175-54ED-4793-BED1-F9CB1AB64535}"/>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3B9DF6D-358B-4829-8C95-1553A702687E}"/>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OpenFreeMap</a:t>
            </a:r>
          </a:p>
        </p:txBody>
      </p:sp>
      <p:sp>
        <p:nvSpPr>
          <p:cNvPr id="12" name="">
            <a:extLst xmlns:a="http://schemas.openxmlformats.org/drawingml/2006/main">
              <a:ext uri="{FF2B5EF4-FFF2-40B4-BE49-F238E27FC236}">
                <a16:creationId xmlns:a16="http://schemas.microsoft.com/office/drawing/2014/main" id="{960AA773-0F39-4CB1-8743-9293FD9578C6}"/>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Fond cartographique issu d’OpenStreetMap</a:t>
            </a:r>
          </a:p>
        </p:txBody>
      </p:sp>
      <p:sp>
        <p:nvSpPr>
          <p:cNvPr id="13" name="">
            <a:extLst xmlns:a="http://schemas.openxmlformats.org/drawingml/2006/main">
              <a:ext uri="{FF2B5EF4-FFF2-40B4-BE49-F238E27FC236}">
                <a16:creationId xmlns:a16="http://schemas.microsoft.com/office/drawing/2014/main" id="{2648F6E3-FDDB-4C47-9620-94C72A3450C2}"/>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7F2FEA3-6854-4AA9-996C-0FCA67A57713}"/>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MapLibre</a:t>
            </a:r>
          </a:p>
        </p:txBody>
      </p:sp>
      <p:sp>
        <p:nvSpPr>
          <p:cNvPr id="15" name="">
            <a:extLst xmlns:a="http://schemas.openxmlformats.org/drawingml/2006/main">
              <a:ext uri="{FF2B5EF4-FFF2-40B4-BE49-F238E27FC236}">
                <a16:creationId xmlns:a16="http://schemas.microsoft.com/office/drawing/2014/main" id="{5073407B-2EA4-4F9A-88E7-76A5533126BC}"/>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Affichage, arrêts et position simulée</a:t>
            </a:r>
          </a:p>
        </p:txBody>
      </p:sp>
    </p:spTree>
    <p:extLst>
      <p:ext uri="{BB962C8B-B14F-4D97-AF65-F5344CB8AC3E}">
        <p14:creationId xmlns:p14="http://schemas.microsoft.com/office/powerpoint/2010/main" val="1253465337"/>
      </p:ext>
    </p:extLst>
  </p:cSld>
</p:sld>
</file>

<file path=ppt/slides/slide16.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E50AD2-670A-4225-B28D-E0F380D5FFF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 véhicule ou plusieurs</a:t>
            </a:r>
          </a:p>
        </p:txBody>
      </p:sp>
      <p:sp>
        <p:nvSpPr>
          <p:cNvPr id="2" name="">
            <a:extLst xmlns:a="http://schemas.openxmlformats.org/drawingml/2006/main">
              <a:ext uri="{FF2B5EF4-FFF2-40B4-BE49-F238E27FC236}">
                <a16:creationId xmlns:a16="http://schemas.microsoft.com/office/drawing/2014/main" id="{67BBC459-C76B-4977-B58A-77A9B63B8D8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5CDF7D00-086C-4B28-9DCB-B5742EFA586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OR-Tools compare coût, durée et contraintes sur la même mission.</a:t>
            </a:r>
          </a:p>
        </p:txBody>
      </p:sp>
      <p:sp>
        <p:nvSpPr>
          <p:cNvPr id="4" name="">
            <a:extLst xmlns:a="http://schemas.openxmlformats.org/drawingml/2006/main">
              <a:ext uri="{FF2B5EF4-FFF2-40B4-BE49-F238E27FC236}">
                <a16:creationId xmlns:a16="http://schemas.microsoft.com/office/drawing/2014/main" id="{EB617A27-912D-4A07-AB3E-A73727A6C5D8}"/>
              </a:ext>
            </a:extLst>
          </p:cNvPr>
          <p:cNvSpPr>
            <a:spLocks xmlns:a="http://schemas.openxmlformats.org/drawingml/2006/main" noGrp="1"/>
          </p:cNvSpPr>
          <p:nvPr/>
        </p:nvSpPr>
        <p:spPr>
          <a:xfrm xmlns:a="http://schemas.openxmlformats.org/drawingml/2006/main">
            <a:off x="6096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E0A55398-7529-4AFC-AFEE-C59A970E79B5}"/>
              </a:ext>
            </a:extLst>
          </p:cNvPr>
          <p:cNvSpPr>
            <a:spLocks xmlns:a="http://schemas.openxmlformats.org/drawingml/2006/main" noGrp="1"/>
          </p:cNvSpPr>
          <p:nvPr/>
        </p:nvSpPr>
        <p:spPr>
          <a:xfrm xmlns:a="http://schemas.openxmlformats.org/drawingml/2006/main">
            <a:off x="6096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Partagée</a:t>
            </a:r>
          </a:p>
        </p:txBody>
      </p:sp>
      <p:sp>
        <p:nvSpPr>
          <p:cNvPr id="6" name="">
            <a:extLst xmlns:a="http://schemas.openxmlformats.org/drawingml/2006/main">
              <a:ext uri="{FF2B5EF4-FFF2-40B4-BE49-F238E27FC236}">
                <a16:creationId xmlns:a16="http://schemas.microsoft.com/office/drawing/2014/main" id="{7C7A7376-C2FC-4334-9588-58A7B5133E7F}"/>
              </a:ext>
            </a:extLst>
          </p:cNvPr>
          <p:cNvSpPr>
            <a:spLocks xmlns:a="http://schemas.openxmlformats.org/drawingml/2006/main" noGrp="1"/>
          </p:cNvSpPr>
          <p:nvPr/>
        </p:nvSpPr>
        <p:spPr>
          <a:xfrm xmlns:a="http://schemas.openxmlformats.org/drawingml/2006/main">
            <a:off x="6096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véhicule dessert plusieurs ramassages et dépôts.</a:t>
            </a:r>
          </a:p>
        </p:txBody>
      </p:sp>
      <p:sp>
        <p:nvSpPr>
          <p:cNvPr id="7" name="">
            <a:extLst xmlns:a="http://schemas.openxmlformats.org/drawingml/2006/main">
              <a:ext uri="{FF2B5EF4-FFF2-40B4-BE49-F238E27FC236}">
                <a16:creationId xmlns:a16="http://schemas.microsoft.com/office/drawing/2014/main" id="{B59A69FF-0D69-4C0F-BFF3-95015F897F29}"/>
              </a:ext>
            </a:extLst>
          </p:cNvPr>
          <p:cNvSpPr>
            <a:spLocks xmlns:a="http://schemas.openxmlformats.org/drawingml/2006/main" noGrp="1"/>
          </p:cNvSpPr>
          <p:nvPr/>
        </p:nvSpPr>
        <p:spPr>
          <a:xfrm xmlns:a="http://schemas.openxmlformats.org/drawingml/2006/main">
            <a:off x="43815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386DD31-6559-40C6-848E-AB713C091113}"/>
              </a:ext>
            </a:extLst>
          </p:cNvPr>
          <p:cNvSpPr>
            <a:spLocks xmlns:a="http://schemas.openxmlformats.org/drawingml/2006/main" noGrp="1"/>
          </p:cNvSpPr>
          <p:nvPr/>
        </p:nvSpPr>
        <p:spPr>
          <a:xfrm xmlns:a="http://schemas.openxmlformats.org/drawingml/2006/main">
            <a:off x="43815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Séparée</a:t>
            </a:r>
          </a:p>
        </p:txBody>
      </p:sp>
      <p:sp>
        <p:nvSpPr>
          <p:cNvPr id="9" name="">
            <a:extLst xmlns:a="http://schemas.openxmlformats.org/drawingml/2006/main">
              <a:ext uri="{FF2B5EF4-FFF2-40B4-BE49-F238E27FC236}">
                <a16:creationId xmlns:a16="http://schemas.microsoft.com/office/drawing/2014/main" id="{A806E451-4604-44C2-AE15-EEEE7471B29C}"/>
              </a:ext>
            </a:extLst>
          </p:cNvPr>
          <p:cNvSpPr>
            <a:spLocks xmlns:a="http://schemas.openxmlformats.org/drawingml/2006/main" noGrp="1"/>
          </p:cNvSpPr>
          <p:nvPr/>
        </p:nvSpPr>
        <p:spPr>
          <a:xfrm xmlns:a="http://schemas.openxmlformats.org/drawingml/2006/main">
            <a:off x="43815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Des véhicules distincts prennent les livraisons.</a:t>
            </a:r>
          </a:p>
        </p:txBody>
      </p:sp>
      <p:sp>
        <p:nvSpPr>
          <p:cNvPr id="10" name="">
            <a:extLst xmlns:a="http://schemas.openxmlformats.org/drawingml/2006/main">
              <a:ext uri="{FF2B5EF4-FFF2-40B4-BE49-F238E27FC236}">
                <a16:creationId xmlns:a16="http://schemas.microsoft.com/office/drawing/2014/main" id="{BEAF0FC7-234E-4365-B147-75EDFC41434A}"/>
              </a:ext>
            </a:extLst>
          </p:cNvPr>
          <p:cNvSpPr>
            <a:spLocks xmlns:a="http://schemas.openxmlformats.org/drawingml/2006/main" noGrp="1"/>
          </p:cNvSpPr>
          <p:nvPr/>
        </p:nvSpPr>
        <p:spPr>
          <a:xfrm xmlns:a="http://schemas.openxmlformats.org/drawingml/2006/main">
            <a:off x="81534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F9716921-2BAD-4944-BCAC-7FE956F6452B}"/>
              </a:ext>
            </a:extLst>
          </p:cNvPr>
          <p:cNvSpPr>
            <a:spLocks xmlns:a="http://schemas.openxmlformats.org/drawingml/2006/main" noGrp="1"/>
          </p:cNvSpPr>
          <p:nvPr/>
        </p:nvSpPr>
        <p:spPr>
          <a:xfrm xmlns:a="http://schemas.openxmlformats.org/drawingml/2006/main">
            <a:off x="81534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Hybride</a:t>
            </a:r>
          </a:p>
        </p:txBody>
      </p:sp>
      <p:sp>
        <p:nvSpPr>
          <p:cNvPr id="12" name="">
            <a:extLst xmlns:a="http://schemas.openxmlformats.org/drawingml/2006/main">
              <a:ext uri="{FF2B5EF4-FFF2-40B4-BE49-F238E27FC236}">
                <a16:creationId xmlns:a16="http://schemas.microsoft.com/office/drawing/2014/main" id="{F12F8F7A-F007-4BFA-9F00-EB45287B77A6}"/>
              </a:ext>
            </a:extLst>
          </p:cNvPr>
          <p:cNvSpPr>
            <a:spLocks xmlns:a="http://schemas.openxmlformats.org/drawingml/2006/main" noGrp="1"/>
          </p:cNvSpPr>
          <p:nvPr/>
        </p:nvSpPr>
        <p:spPr>
          <a:xfrm xmlns:a="http://schemas.openxmlformats.org/drawingml/2006/main">
            <a:off x="81534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Le solveur combine les regroupements admissibles.</a:t>
            </a:r>
          </a:p>
        </p:txBody>
      </p:sp>
    </p:spTree>
    <p:extLst>
      <p:ext uri="{BB962C8B-B14F-4D97-AF65-F5344CB8AC3E}">
        <p14:creationId xmlns:p14="http://schemas.microsoft.com/office/powerpoint/2010/main" val="1260399498"/>
      </p:ext>
    </p:extLst>
  </p:cSld>
</p:sld>
</file>

<file path=ppt/slides/slide1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A2C304-A509-4D7E-8444-184BFD17298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OR-Tools et le calcul des tournées</a:t>
            </a:r>
          </a:p>
        </p:txBody>
      </p:sp>
      <p:sp>
        <p:nvSpPr>
          <p:cNvPr id="2" name="">
            <a:extLst xmlns:a="http://schemas.openxmlformats.org/drawingml/2006/main">
              <a:ext uri="{FF2B5EF4-FFF2-40B4-BE49-F238E27FC236}">
                <a16:creationId xmlns:a16="http://schemas.microsoft.com/office/drawing/2014/main" id="{939F370A-9461-474E-BCD8-68FDF58CFDD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83C73976-38EF-424C-A6F8-EE70323A8632}"/>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OR-Tools cherche une solution sous contraintes. Le modèle IA peut ensuite expliquer le résultat.</a:t>
            </a:r>
          </a:p>
        </p:txBody>
      </p:sp>
      <p:sp>
        <p:nvSpPr>
          <p:cNvPr id="4" name="">
            <a:extLst xmlns:a="http://schemas.openxmlformats.org/drawingml/2006/main">
              <a:ext uri="{FF2B5EF4-FFF2-40B4-BE49-F238E27FC236}">
                <a16:creationId xmlns:a16="http://schemas.microsoft.com/office/drawing/2014/main" id="{7DD0D2EA-888C-420A-9D52-236BF47BAC82}"/>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Ce que Genesis fournit</a:t>
            </a:r>
          </a:p>
        </p:txBody>
      </p:sp>
      <p:sp>
        <p:nvSpPr>
          <p:cNvPr id="5" name="">
            <a:extLst xmlns:a="http://schemas.openxmlformats.org/drawingml/2006/main">
              <a:ext uri="{FF2B5EF4-FFF2-40B4-BE49-F238E27FC236}">
                <a16:creationId xmlns:a16="http://schemas.microsoft.com/office/drawing/2014/main" id="{8FE83C0F-D524-4E50-B7D4-C3E7C1A23BDC}"/>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Temps et distances de la matrice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Capacités et positions de la flotte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Ramassages avant leurs livraisons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Délais, service et fonction de coût</a:t>
            </a:r>
          </a:p>
        </p:txBody>
      </p:sp>
      <p:sp>
        <p:nvSpPr>
          <p:cNvPr id="6" name="">
            <a:extLst xmlns:a="http://schemas.openxmlformats.org/drawingml/2006/main">
              <a:ext uri="{FF2B5EF4-FFF2-40B4-BE49-F238E27FC236}">
                <a16:creationId xmlns:a16="http://schemas.microsoft.com/office/drawing/2014/main" id="{C21DBCB4-2D36-430F-BF41-C074803ED56F}"/>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Ce que le solveur retourne</a:t>
            </a:r>
          </a:p>
        </p:txBody>
      </p:sp>
      <p:sp>
        <p:nvSpPr>
          <p:cNvPr id="7" name="">
            <a:extLst xmlns:a="http://schemas.openxmlformats.org/drawingml/2006/main">
              <a:ext uri="{FF2B5EF4-FFF2-40B4-BE49-F238E27FC236}">
                <a16:creationId xmlns:a16="http://schemas.microsoft.com/office/drawing/2014/main" id="{3C7EDC67-098E-4457-9B99-D203DA19ADC7}"/>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Affectation à un véhicule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Ordre de visite des arrêts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Candidat trouvé dans le temps alloué</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Résultat à contrôler indépendamment</a:t>
            </a:r>
          </a:p>
        </p:txBody>
      </p:sp>
    </p:spTree>
    <p:extLst>
      <p:ext uri="{BB962C8B-B14F-4D97-AF65-F5344CB8AC3E}">
        <p14:creationId xmlns:p14="http://schemas.microsoft.com/office/powerpoint/2010/main" val="781597778"/>
      </p:ext>
    </p:extLst>
  </p:cSld>
</p:sld>
</file>

<file path=ppt/slides/slide18.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84232A-2F2E-40D2-963F-1F702732532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Le certificat indépendant</a:t>
            </a:r>
          </a:p>
        </p:txBody>
      </p:sp>
      <p:sp>
        <p:nvSpPr>
          <p:cNvPr id="2" name="">
            <a:extLst xmlns:a="http://schemas.openxmlformats.org/drawingml/2006/main">
              <a:ext uri="{FF2B5EF4-FFF2-40B4-BE49-F238E27FC236}">
                <a16:creationId xmlns:a16="http://schemas.microsoft.com/office/drawing/2014/main" id="{E8D0A285-D5AA-4DDC-9A64-8B3BC26A987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147DCBBC-8C49-4B00-A4E5-B942B84EDAE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Une géométrie trop lente, une flotte devenue occupée ou un plan altéré peut bloquer le départ.</a:t>
            </a:r>
          </a:p>
        </p:txBody>
      </p:sp>
      <p:sp>
        <p:nvSpPr>
          <p:cNvPr id="4" name="">
            <a:extLst xmlns:a="http://schemas.openxmlformats.org/drawingml/2006/main">
              <a:ext uri="{FF2B5EF4-FFF2-40B4-BE49-F238E27FC236}">
                <a16:creationId xmlns:a16="http://schemas.microsoft.com/office/drawing/2014/main" id="{555A0C4A-C123-4C2E-A77D-15BF6A23E8DC}"/>
              </a:ext>
            </a:extLst>
          </p:cNvPr>
          <p:cNvSpPr>
            <a:spLocks xmlns:a="http://schemas.openxmlformats.org/drawingml/2006/main" noGrp="1"/>
          </p:cNvSpPr>
          <p:nvPr/>
        </p:nvSpPr>
        <p:spPr>
          <a:xfrm xmlns:a="http://schemas.openxmlformats.org/drawingml/2006/main">
            <a:off x="609600" y="19812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FFFFFF"/>
                </a:solidFill>
                <a:latin typeface="Arial"/>
                <a:ea typeface="Arial"/>
                <a:cs typeface="Arial"/>
              </a:defRPr>
            </a:defPPr>
          </a:lstStyle>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Le calcul propose.</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Le contrôle recalcule.</a:t>
            </a:r>
          </a:p>
        </p:txBody>
      </p:sp>
      <p:sp>
        <p:nvSpPr>
          <p:cNvPr id="5" name="">
            <a:extLst xmlns:a="http://schemas.openxmlformats.org/drawingml/2006/main">
              <a:ext uri="{FF2B5EF4-FFF2-40B4-BE49-F238E27FC236}">
                <a16:creationId xmlns:a16="http://schemas.microsoft.com/office/drawing/2014/main" id="{59BF43B8-00C4-405B-8CC9-88FF7FBB7B73}"/>
              </a:ext>
            </a:extLst>
          </p:cNvPr>
          <p:cNvSpPr>
            <a:spLocks xmlns:a="http://schemas.openxmlformats.org/drawingml/2006/main" noGrp="1"/>
          </p:cNvSpPr>
          <p:nvPr/>
        </p:nvSpPr>
        <p:spPr>
          <a:xfrm xmlns:a="http://schemas.openxmlformats.org/drawingml/2006/main">
            <a:off x="609600" y="4429125"/>
            <a:ext cx="990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B5DED7"/>
                </a:solidFill>
                <a:latin typeface="Arial"/>
                <a:ea typeface="Arial"/>
                <a:cs typeface="Arial"/>
              </a:defRPr>
            </a:defPPr>
          </a:lstStyle>
          <a:p xmlns:a="http://schemas.openxmlformats.org/drawingml/2006/main">
            <a:pPr>
              <a:defRPr sz="2325" b="0">
                <a:solidFill>
                  <a:srgbClr val="B5DED7"/>
                </a:solidFill>
                <a:latin typeface="Arial"/>
                <a:ea typeface="Arial"/>
                <a:cs typeface="Arial"/>
              </a:defRPr>
            </a:pPr>
            <a:r>
              <a:rPr sz="2325" b="0">
                <a:solidFill>
                  <a:srgbClr val="B5DED7"/>
                </a:solidFill>
                <a:latin typeface="Arial"/>
                <a:ea typeface="Arial"/>
                <a:cs typeface="Arial"/>
              </a:rPr>
              <a:t>Ordre des arrêts, capacité, temps et empreintes doivent rester cohérents jusqu’à l’admission.</a:t>
            </a:r>
          </a:p>
        </p:txBody>
      </p:sp>
    </p:spTree>
    <p:extLst>
      <p:ext uri="{BB962C8B-B14F-4D97-AF65-F5344CB8AC3E}">
        <p14:creationId xmlns:p14="http://schemas.microsoft.com/office/powerpoint/2010/main" val="458974173"/>
      </p:ext>
    </p:extLst>
  </p:cSld>
</p:sld>
</file>

<file path=ppt/slides/slide19.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6C273D-AB9F-430D-BDCF-B30345DE396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Une flotte locale configurable</a:t>
            </a:r>
          </a:p>
        </p:txBody>
      </p:sp>
      <p:sp>
        <p:nvSpPr>
          <p:cNvPr id="2" name="">
            <a:extLst xmlns:a="http://schemas.openxmlformats.org/drawingml/2006/main">
              <a:ext uri="{FF2B5EF4-FFF2-40B4-BE49-F238E27FC236}">
                <a16:creationId xmlns:a16="http://schemas.microsoft.com/office/drawing/2014/main" id="{67A4C17E-4CC4-45C2-9BF9-EECFC3504192}"/>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9C3E51BE-0686-42EB-A4C2-19F1349171F1}"/>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Par défaut : quatre fourgonnettes de 40 colis. Administration authentifiée à construire.</a:t>
            </a:r>
          </a:p>
        </p:txBody>
      </p:sp>
      <p:sp>
        <p:nvSpPr>
          <p:cNvPr id="4" name="">
            <a:extLst xmlns:a="http://schemas.openxmlformats.org/drawingml/2006/main">
              <a:ext uri="{FF2B5EF4-FFF2-40B4-BE49-F238E27FC236}">
                <a16:creationId xmlns:a16="http://schemas.microsoft.com/office/drawing/2014/main" id="{F0968810-9B17-4FC4-BBC9-EBCE1D17B9DF}"/>
              </a:ext>
            </a:extLst>
          </p:cNvPr>
          <p:cNvSpPr>
            <a:spLocks xmlns:a="http://schemas.openxmlformats.org/drawingml/2006/main" noGrp="1"/>
          </p:cNvSpPr>
          <p:nvPr/>
        </p:nvSpPr>
        <p:spPr>
          <a:xfrm xmlns:a="http://schemas.openxmlformats.org/drawingml/2006/main">
            <a:off x="609600" y="20574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700" b="1">
                <a:solidFill>
                  <a:srgbClr val="146C78"/>
                </a:solidFill>
                <a:latin typeface="Arial"/>
                <a:ea typeface="Arial"/>
                <a:cs typeface="Arial"/>
              </a:defRPr>
            </a:defPPr>
          </a:lstStyle>
          <a:p xmlns:a="http://schemas.openxmlformats.org/drawingml/2006/main">
            <a:pPr>
              <a:defRPr sz="11700" b="1">
                <a:solidFill>
                  <a:srgbClr val="146C78"/>
                </a:solidFill>
                <a:latin typeface="Arial"/>
                <a:ea typeface="Arial"/>
                <a:cs typeface="Arial"/>
              </a:defRPr>
            </a:pPr>
            <a:r>
              <a:rPr sz="11700" b="1">
                <a:solidFill>
                  <a:srgbClr val="146C78"/>
                </a:solidFill>
                <a:latin typeface="Arial"/>
                <a:ea typeface="Arial"/>
                <a:cs typeface="Arial"/>
              </a:rPr>
              <a:t>1–10</a:t>
            </a:r>
          </a:p>
        </p:txBody>
      </p:sp>
      <p:sp>
        <p:nvSpPr>
          <p:cNvPr id="5" name="">
            <a:extLst xmlns:a="http://schemas.openxmlformats.org/drawingml/2006/main">
              <a:ext uri="{FF2B5EF4-FFF2-40B4-BE49-F238E27FC236}">
                <a16:creationId xmlns:a16="http://schemas.microsoft.com/office/drawing/2014/main" id="{187E3C18-D9FC-42D6-8C6F-D5AD8B2069E6}"/>
              </a:ext>
            </a:extLst>
          </p:cNvPr>
          <p:cNvSpPr>
            <a:spLocks xmlns:a="http://schemas.openxmlformats.org/drawingml/2006/main" noGrp="1"/>
          </p:cNvSpPr>
          <p:nvPr/>
        </p:nvSpPr>
        <p:spPr>
          <a:xfrm xmlns:a="http://schemas.openxmlformats.org/drawingml/2006/main">
            <a:off x="666750" y="3962400"/>
            <a:ext cx="371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0">
                <a:solidFill>
                  <a:srgbClr val="173039"/>
                </a:solidFill>
                <a:latin typeface="Arial"/>
                <a:ea typeface="Arial"/>
                <a:cs typeface="Arial"/>
              </a:defRPr>
            </a:defPPr>
          </a:lstStyle>
          <a:p xmlns:a="http://schemas.openxmlformats.org/drawingml/2006/main">
            <a:pPr>
              <a:defRPr sz="3525" b="0">
                <a:solidFill>
                  <a:srgbClr val="173039"/>
                </a:solidFill>
                <a:latin typeface="Arial"/>
                <a:ea typeface="Arial"/>
                <a:cs typeface="Arial"/>
              </a:defRPr>
            </a:pPr>
            <a:r>
              <a:rPr sz="3525" b="0">
                <a:solidFill>
                  <a:srgbClr val="173039"/>
                </a:solidFill>
                <a:latin typeface="Arial"/>
                <a:ea typeface="Arial"/>
                <a:cs typeface="Arial"/>
              </a:rPr>
              <a:t>véhicules</a:t>
            </a:r>
          </a:p>
        </p:txBody>
      </p:sp>
      <p:sp>
        <p:nvSpPr>
          <p:cNvPr id="6" name="">
            <a:extLst xmlns:a="http://schemas.openxmlformats.org/drawingml/2006/main">
              <a:ext uri="{FF2B5EF4-FFF2-40B4-BE49-F238E27FC236}">
                <a16:creationId xmlns:a16="http://schemas.microsoft.com/office/drawing/2014/main" id="{D4F0D0D0-2033-4DF7-95E4-B977C103CBE1}"/>
              </a:ext>
            </a:extLst>
          </p:cNvPr>
          <p:cNvSpPr>
            <a:spLocks xmlns:a="http://schemas.openxmlformats.org/drawingml/2006/main" noGrp="1"/>
          </p:cNvSpPr>
          <p:nvPr/>
        </p:nvSpPr>
        <p:spPr>
          <a:xfrm xmlns:a="http://schemas.openxmlformats.org/drawingml/2006/main">
            <a:off x="5334000" y="202882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Capacité par véhicule</a:t>
            </a:r>
          </a:p>
        </p:txBody>
      </p:sp>
      <p:sp>
        <p:nvSpPr>
          <p:cNvPr id="7" name="">
            <a:extLst xmlns:a="http://schemas.openxmlformats.org/drawingml/2006/main">
              <a:ext uri="{FF2B5EF4-FFF2-40B4-BE49-F238E27FC236}">
                <a16:creationId xmlns:a16="http://schemas.microsoft.com/office/drawing/2014/main" id="{68495791-5513-40F7-93DA-66743016144C}"/>
              </a:ext>
            </a:extLst>
          </p:cNvPr>
          <p:cNvSpPr>
            <a:spLocks xmlns:a="http://schemas.openxmlformats.org/drawingml/2006/main" noGrp="1"/>
          </p:cNvSpPr>
          <p:nvPr/>
        </p:nvSpPr>
        <p:spPr>
          <a:xfrm xmlns:a="http://schemas.openxmlformats.org/drawingml/2006/main">
            <a:off x="5334000" y="245745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De 1 à 40 colis, avec un identifiant stable et un nom lisible.</a:t>
            </a:r>
          </a:p>
        </p:txBody>
      </p:sp>
      <p:sp>
        <p:nvSpPr>
          <p:cNvPr id="8" name="">
            <a:extLst xmlns:a="http://schemas.openxmlformats.org/drawingml/2006/main">
              <a:ext uri="{FF2B5EF4-FFF2-40B4-BE49-F238E27FC236}">
                <a16:creationId xmlns:a16="http://schemas.microsoft.com/office/drawing/2014/main" id="{CAF81808-58C5-4BB7-9E38-457A20135561}"/>
              </a:ext>
            </a:extLst>
          </p:cNvPr>
          <p:cNvSpPr>
            <a:spLocks xmlns:a="http://schemas.openxmlformats.org/drawingml/2006/main" noGrp="1"/>
          </p:cNvSpPr>
          <p:nvPr/>
        </p:nvSpPr>
        <p:spPr>
          <a:xfrm xmlns:a="http://schemas.openxmlformats.org/drawingml/2006/main">
            <a:off x="5334000" y="3257550"/>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Même version partout</a:t>
            </a:r>
          </a:p>
        </p:txBody>
      </p:sp>
      <p:sp>
        <p:nvSpPr>
          <p:cNvPr id="9" name="">
            <a:extLst xmlns:a="http://schemas.openxmlformats.org/drawingml/2006/main">
              <a:ext uri="{FF2B5EF4-FFF2-40B4-BE49-F238E27FC236}">
                <a16:creationId xmlns:a16="http://schemas.microsoft.com/office/drawing/2014/main" id="{8C153C9D-B526-44C0-A942-3E2A6F489725}"/>
              </a:ext>
            </a:extLst>
          </p:cNvPr>
          <p:cNvSpPr>
            <a:spLocks xmlns:a="http://schemas.openxmlformats.org/drawingml/2006/main" noGrp="1"/>
          </p:cNvSpPr>
          <p:nvPr/>
        </p:nvSpPr>
        <p:spPr>
          <a:xfrm xmlns:a="http://schemas.openxmlformats.org/drawingml/2006/main">
            <a:off x="5334000" y="3686175"/>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API, worker, plan et admission vérifient l’empreinte de configuration.</a:t>
            </a:r>
          </a:p>
        </p:txBody>
      </p:sp>
      <p:sp>
        <p:nvSpPr>
          <p:cNvPr id="10" name="">
            <a:extLst xmlns:a="http://schemas.openxmlformats.org/drawingml/2006/main">
              <a:ext uri="{FF2B5EF4-FFF2-40B4-BE49-F238E27FC236}">
                <a16:creationId xmlns:a16="http://schemas.microsoft.com/office/drawing/2014/main" id="{C2C7DD1B-94B0-4D50-8A95-71A8879304C4}"/>
              </a:ext>
            </a:extLst>
          </p:cNvPr>
          <p:cNvSpPr>
            <a:spLocks xmlns:a="http://schemas.openxmlformats.org/drawingml/2006/main" noGrp="1"/>
          </p:cNvSpPr>
          <p:nvPr/>
        </p:nvSpPr>
        <p:spPr>
          <a:xfrm xmlns:a="http://schemas.openxmlformats.org/drawingml/2006/main">
            <a:off x="5334000" y="448627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Modification contrôlée</a:t>
            </a:r>
          </a:p>
        </p:txBody>
      </p:sp>
      <p:sp>
        <p:nvSpPr>
          <p:cNvPr id="11" name="">
            <a:extLst xmlns:a="http://schemas.openxmlformats.org/drawingml/2006/main">
              <a:ext uri="{FF2B5EF4-FFF2-40B4-BE49-F238E27FC236}">
                <a16:creationId xmlns:a16="http://schemas.microsoft.com/office/drawing/2014/main" id="{A012E275-E13C-4FA7-9322-1D363EE73263}"/>
              </a:ext>
            </a:extLst>
          </p:cNvPr>
          <p:cNvSpPr>
            <a:spLocks xmlns:a="http://schemas.openxmlformats.org/drawingml/2006/main" noGrp="1"/>
          </p:cNvSpPr>
          <p:nvPr/>
        </p:nvSpPr>
        <p:spPr>
          <a:xfrm xmlns:a="http://schemas.openxmlformats.org/drawingml/2006/main">
            <a:off x="5334000" y="491490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Réservations, missions en attente et cargaison peuvent bloquer le changement.</a:t>
            </a:r>
          </a:p>
        </p:txBody>
      </p:sp>
    </p:spTree>
    <p:extLst>
      <p:ext uri="{BB962C8B-B14F-4D97-AF65-F5344CB8AC3E}">
        <p14:creationId xmlns:p14="http://schemas.microsoft.com/office/powerpoint/2010/main" val="639439143"/>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94E6FD-C267-4158-8497-03C9474890F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Une tournée inspectable</a:t>
            </a:r>
          </a:p>
        </p:txBody>
      </p:sp>
      <p:sp>
        <p:nvSpPr>
          <p:cNvPr id="2" name="">
            <a:extLst xmlns:a="http://schemas.openxmlformats.org/drawingml/2006/main">
              <a:ext uri="{FF2B5EF4-FFF2-40B4-BE49-F238E27FC236}">
                <a16:creationId xmlns:a16="http://schemas.microsoft.com/office/drawing/2014/main" id="{E1935A65-CA10-48C9-AC79-F6C9F6E145C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EB3151A3-FC34-439A-ACAC-DDE765C9EA9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Capture QA synthétique : deux commandes, quatre arrêts et sélection liée carte / détails.</a:t>
            </a:r>
          </a:p>
        </p:txBody>
      </p:sp>
      <p:sp>
        <p:nvSpPr>
          <p:cNvPr id="4" name="">
            <a:extLst xmlns:a="http://schemas.openxmlformats.org/drawingml/2006/main">
              <a:ext uri="{FF2B5EF4-FFF2-40B4-BE49-F238E27FC236}">
                <a16:creationId xmlns:a16="http://schemas.microsoft.com/office/drawing/2014/main" id="{55438104-1873-49E9-99C8-2F419CF06116}"/>
              </a:ext>
            </a:extLst>
          </p:cNvPr>
          <p:cNvSpPr>
            <a:spLocks xmlns:a="http://schemas.openxmlformats.org/drawingml/2006/main" noGrp="1"/>
          </p:cNvSpPr>
          <p:nvPr/>
        </p:nvSpPr>
        <p:spPr>
          <a:xfrm xmlns:a="http://schemas.openxmlformats.org/drawingml/2006/main">
            <a:off x="609600" y="21621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6C78"/>
                </a:solidFill>
                <a:latin typeface="Arial"/>
                <a:ea typeface="Arial"/>
                <a:cs typeface="Arial"/>
              </a:defRPr>
            </a:defPPr>
          </a:lstStyle>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Quatre arrêts.</a:t>
            </a:r>
          </a:p>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Un certificat.</a:t>
            </a:r>
          </a:p>
        </p:txBody>
      </p:sp>
      <p:sp>
        <p:nvSpPr>
          <p:cNvPr id="5" name="">
            <a:extLst xmlns:a="http://schemas.openxmlformats.org/drawingml/2006/main">
              <a:ext uri="{FF2B5EF4-FFF2-40B4-BE49-F238E27FC236}">
                <a16:creationId xmlns:a16="http://schemas.microsoft.com/office/drawing/2014/main" id="{7E68FE9C-F909-4837-9BB1-F9B63E6BBC74}"/>
              </a:ext>
            </a:extLst>
          </p:cNvPr>
          <p:cNvSpPr>
            <a:spLocks xmlns:a="http://schemas.openxmlformats.org/drawingml/2006/main" noGrp="1"/>
          </p:cNvSpPr>
          <p:nvPr/>
        </p:nvSpPr>
        <p:spPr>
          <a:xfrm xmlns:a="http://schemas.openxmlformats.org/drawingml/2006/main">
            <a:off x="609600" y="4086225"/>
            <a:ext cx="2876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Le planning, le marqueur et la fiche montrent le même arrêt.</a:t>
            </a:r>
          </a:p>
        </p:txBody>
      </p:sp>
      <p:pic>
        <p:nvPicPr>
          <p:cNvPr id="6" name="">
            <a:extLst xmlns:a="http://schemas.openxmlformats.org/drawingml/2006/main">
              <a:ext uri="{FF2B5EF4-FFF2-40B4-BE49-F238E27FC236}">
                <a16:creationId xmlns:a16="http://schemas.microsoft.com/office/drawing/2014/main" id="{2CF9A1BD-FB7B-410A-8E16-DED6C9AB11EC}"/>
              </a:ext>
            </a:extLst>
          </p:cNvPr>
          <p:cNvPicPr>
            <a:picLocks xmlns:a="http://schemas.openxmlformats.org/drawingml/2006/main" noChangeAspect="1"/>
          </p:cNvPicPr>
          <p:nvPr/>
        </p:nvPicPr>
        <p:blipFill>
          <a:blip xmlns:r="http://schemas.openxmlformats.org/officeDocument/2006/relationships" xmlns:a="http://schemas.openxmlformats.org/drawingml/2006/main" r:embed="R4026b7f6635546ab"/>
          <a:stretch xmlns:a="http://schemas.openxmlformats.org/drawingml/2006/main"/>
        </p:blipFill>
        <p:spPr>
          <a:xfrm xmlns:a="http://schemas.openxmlformats.org/drawingml/2006/main">
            <a:off x="4652530" y="1609725"/>
            <a:ext cx="6087341" cy="4229100"/>
          </a:xfrm>
          <a:prstGeom xmlns:a="http://schemas.openxmlformats.org/drawingml/2006/main" prst="rect">
            <a:avLst/>
          </a:prstGeom>
        </p:spPr>
      </p:pic>
    </p:spTree>
    <p:extLst>
      <p:ext uri="{BB962C8B-B14F-4D97-AF65-F5344CB8AC3E}">
        <p14:creationId xmlns:p14="http://schemas.microsoft.com/office/powerpoint/2010/main" val="2059655054"/>
      </p:ext>
    </p:extLst>
  </p:cSld>
</p:sld>
</file>

<file path=ppt/slides/slide2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4779A7-2A66-4960-8BB3-274BF0969B19}"/>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Mémoire des tournées usuelles</a:t>
            </a:r>
          </a:p>
        </p:txBody>
      </p:sp>
      <p:sp>
        <p:nvSpPr>
          <p:cNvPr id="2" name="">
            <a:extLst xmlns:a="http://schemas.openxmlformats.org/drawingml/2006/main">
              <a:ext uri="{FF2B5EF4-FFF2-40B4-BE49-F238E27FC236}">
                <a16:creationId xmlns:a16="http://schemas.microsoft.com/office/drawing/2014/main" id="{9C3FA0E1-8ACD-46BF-B869-FE7AC0193B3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1755CDE3-26E2-4E06-9835-8C853E22A43E}"/>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Réutiliser le contexte.</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Revérifier le trajet.</a:t>
            </a:r>
          </a:p>
        </p:txBody>
      </p:sp>
      <p:sp>
        <p:nvSpPr>
          <p:cNvPr id="4" name="">
            <a:extLst xmlns:a="http://schemas.openxmlformats.org/drawingml/2006/main">
              <a:ext uri="{FF2B5EF4-FFF2-40B4-BE49-F238E27FC236}">
                <a16:creationId xmlns:a16="http://schemas.microsoft.com/office/drawing/2014/main" id="{ED52CA57-7EC4-49C7-A00B-198C9EEC3F92}"/>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Retrouver</a:t>
            </a:r>
          </a:p>
        </p:txBody>
      </p:sp>
      <p:sp>
        <p:nvSpPr>
          <p:cNvPr id="5" name="">
            <a:extLst xmlns:a="http://schemas.openxmlformats.org/drawingml/2006/main">
              <a:ext uri="{FF2B5EF4-FFF2-40B4-BE49-F238E27FC236}">
                <a16:creationId xmlns:a16="http://schemas.microsoft.com/office/drawing/2014/main" id="{8384916E-5F82-499F-9C30-927652659265}"/>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Rapprocher des missions terminées et leurs ordres de visite.</a:t>
            </a:r>
          </a:p>
        </p:txBody>
      </p:sp>
      <p:sp>
        <p:nvSpPr>
          <p:cNvPr id="6" name="">
            <a:extLst xmlns:a="http://schemas.openxmlformats.org/drawingml/2006/main">
              <a:ext uri="{FF2B5EF4-FFF2-40B4-BE49-F238E27FC236}">
                <a16:creationId xmlns:a16="http://schemas.microsoft.com/office/drawing/2014/main" id="{4F1DC7C0-3391-4325-A4F5-3465A1A417F9}"/>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Comparer</a:t>
            </a:r>
          </a:p>
        </p:txBody>
      </p:sp>
      <p:sp>
        <p:nvSpPr>
          <p:cNvPr id="7" name="">
            <a:extLst xmlns:a="http://schemas.openxmlformats.org/drawingml/2006/main">
              <a:ext uri="{FF2B5EF4-FFF2-40B4-BE49-F238E27FC236}">
                <a16:creationId xmlns:a16="http://schemas.microsoft.com/office/drawing/2014/main" id="{4BF8F6BA-B868-45F7-8793-2F54902B8AFE}"/>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Lire temps simulés, distance, cadence et effectifs comparables.</a:t>
            </a:r>
          </a:p>
        </p:txBody>
      </p:sp>
      <p:sp>
        <p:nvSpPr>
          <p:cNvPr id="8" name="">
            <a:extLst xmlns:a="http://schemas.openxmlformats.org/drawingml/2006/main">
              <a:ext uri="{FF2B5EF4-FFF2-40B4-BE49-F238E27FC236}">
                <a16:creationId xmlns:a16="http://schemas.microsoft.com/office/drawing/2014/main" id="{0D3913F6-F842-4EAA-9DE1-661E3E04CF72}"/>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Revalider</a:t>
            </a:r>
          </a:p>
        </p:txBody>
      </p:sp>
      <p:sp>
        <p:nvSpPr>
          <p:cNvPr id="9" name="">
            <a:extLst xmlns:a="http://schemas.openxmlformats.org/drawingml/2006/main">
              <a:ext uri="{FF2B5EF4-FFF2-40B4-BE49-F238E27FC236}">
                <a16:creationId xmlns:a16="http://schemas.microsoft.com/office/drawing/2014/main" id="{138A19FE-E4D2-4FB3-848C-19A70A9EB506}"/>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Recalculer routes, flotte, capacité et délais avant toute admission.</a:t>
            </a:r>
          </a:p>
        </p:txBody>
      </p:sp>
    </p:spTree>
    <p:extLst>
      <p:ext uri="{BB962C8B-B14F-4D97-AF65-F5344CB8AC3E}">
        <p14:creationId xmlns:p14="http://schemas.microsoft.com/office/powerpoint/2010/main" val="775875557"/>
      </p:ext>
    </p:extLst>
  </p:cSld>
</p:sld>
</file>

<file path=ppt/slides/slide2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DA85A9-0C34-46B1-A5B5-02B0C8B4F80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six visualisations</a:t>
            </a:r>
          </a:p>
        </p:txBody>
      </p:sp>
      <p:sp>
        <p:nvSpPr>
          <p:cNvPr id="2" name="">
            <a:extLst xmlns:a="http://schemas.openxmlformats.org/drawingml/2006/main">
              <a:ext uri="{FF2B5EF4-FFF2-40B4-BE49-F238E27FC236}">
                <a16:creationId xmlns:a16="http://schemas.microsoft.com/office/drawing/2014/main" id="{5A0D5FEE-6B54-4E81-B6F4-0FB48433BF9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22</a:t>
            </a:r>
          </a:p>
        </p:txBody>
      </p:sp>
      <p:graphicFrame>
        <p:nvGraphicFramePr>
          <p:cNvPr id="3" name="">
            <a:extLst xmlns:a="http://schemas.openxmlformats.org/drawingml/2006/main">
              <a:ext uri="{FF2B5EF4-FFF2-40B4-BE49-F238E27FC236}">
                <a16:creationId xmlns:a16="http://schemas.microsoft.com/office/drawing/2014/main" id="{0889CEB6-9028-4441-B403-041201303B0C}"/>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952750"/>
                <a:gridCol w="8020050"/>
              </a:tblGrid>
              <a:tr h="457200">
                <a:tc>
                  <a:txBody>
                    <a:bodyPr/>
                    <a:lstStyle/>
                    <a:p>
                      <a:r>
                        <a:rPr sz="1725" b="1">
                          <a:solidFill>
                            <a:srgbClr val="FFFFFF"/>
                          </a:solidFill>
                          <a:latin typeface="Arial"/>
                          <a:ea typeface="Arial"/>
                          <a:cs typeface="Arial"/>
                        </a:rPr>
                        <a:t>VISUALISATION</a:t>
                      </a:r>
                    </a:p>
                  </a:txBody>
                  <a:tcPr marL="91440" marR="91440" marT="45720" marB="45720">
                    <a:solidFill>
                      <a:srgbClr val="173039"/>
                    </a:solidFill>
                  </a:tcPr>
                </a:tc>
                <a:tc>
                  <a:txBody>
                    <a:bodyPr/>
                    <a:lstStyle/>
                    <a:p>
                      <a:r>
                        <a:rPr sz="1725" b="1">
                          <a:solidFill>
                            <a:srgbClr val="FFFFFF"/>
                          </a:solidFill>
                          <a:latin typeface="Arial"/>
                          <a:ea typeface="Arial"/>
                          <a:cs typeface="Arial"/>
                        </a:rPr>
                        <a:t>QUESTION</a:t>
                      </a:r>
                    </a:p>
                  </a:txBody>
                  <a:tcPr marL="91440" marR="91440" marT="45720" marB="45720">
                    <a:solidFill>
                      <a:srgbClr val="173039"/>
                    </a:solidFill>
                  </a:tcPr>
                </a:tc>
              </a:tr>
              <a:tr h="574675">
                <a:tc>
                  <a:txBody>
                    <a:bodyPr/>
                    <a:lstStyle/>
                    <a:p>
                      <a:r>
                        <a:rPr sz="1725" b="1">
                          <a:solidFill>
                            <a:srgbClr val="173039"/>
                          </a:solidFill>
                          <a:latin typeface="Arial"/>
                          <a:ea typeface="Arial"/>
                          <a:cs typeface="Arial"/>
                        </a:rPr>
                        <a:t>Graphe</a:t>
                      </a:r>
                    </a:p>
                  </a:txBody>
                  <a:tcPr marL="91440" marR="91440" marT="45720" marB="45720">
                    <a:solidFill>
                      <a:srgbClr val="FFFFFF"/>
                    </a:solidFill>
                  </a:tcPr>
                </a:tc>
                <a:tc>
                  <a:txBody>
                    <a:bodyPr/>
                    <a:lstStyle/>
                    <a:p>
                      <a:r>
                        <a:rPr sz="1725" b="0">
                          <a:solidFill>
                            <a:srgbClr val="173039"/>
                          </a:solidFill>
                          <a:latin typeface="Arial"/>
                          <a:ea typeface="Arial"/>
                          <a:cs typeface="Arial"/>
                        </a:rPr>
                        <a:t>Quel rôle transmet quelle preuve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Chronologie</a:t>
                      </a:r>
                    </a:p>
                  </a:txBody>
                  <a:tcPr marL="91440" marR="91440" marT="45720" marB="45720">
                    <a:solidFill>
                      <a:srgbClr val="EAF0F1"/>
                    </a:solidFill>
                  </a:tcPr>
                </a:tc>
                <a:tc>
                  <a:txBody>
                    <a:bodyPr/>
                    <a:lstStyle/>
                    <a:p>
                      <a:r>
                        <a:rPr sz="1725" b="0">
                          <a:solidFill>
                            <a:srgbClr val="173039"/>
                          </a:solidFill>
                          <a:latin typeface="Arial"/>
                          <a:ea typeface="Arial"/>
                          <a:cs typeface="Arial"/>
                        </a:rPr>
                        <a:t>Quand et pendant combien de temps ?</a:t>
                      </a:r>
                    </a:p>
                  </a:txBody>
                  <a:tcPr marL="91440" marR="91440" marT="45720" marB="45720">
                    <a:solidFill>
                      <a:srgbClr val="EAF0F1"/>
                    </a:solidFill>
                  </a:tcPr>
                </a:tc>
              </a:tr>
              <a:tr h="574675">
                <a:tc>
                  <a:txBody>
                    <a:bodyPr/>
                    <a:lstStyle/>
                    <a:p>
                      <a:r>
                        <a:rPr sz="1725" b="1">
                          <a:solidFill>
                            <a:srgbClr val="173039"/>
                          </a:solidFill>
                          <a:latin typeface="Arial"/>
                          <a:ea typeface="Arial"/>
                          <a:cs typeface="Arial"/>
                        </a:rPr>
                        <a:t>Sankey</a:t>
                      </a:r>
                    </a:p>
                  </a:txBody>
                  <a:tcPr marL="91440" marR="91440" marT="45720" marB="45720">
                    <a:solidFill>
                      <a:srgbClr val="FFFFFF"/>
                    </a:solidFill>
                  </a:tcPr>
                </a:tc>
                <a:tc>
                  <a:txBody>
                    <a:bodyPr/>
                    <a:lstStyle/>
                    <a:p>
                      <a:r>
                        <a:rPr sz="1725" b="0">
                          <a:solidFill>
                            <a:srgbClr val="173039"/>
                          </a:solidFill>
                          <a:latin typeface="Arial"/>
                          <a:ea typeface="Arial"/>
                          <a:cs typeface="Arial"/>
                        </a:rPr>
                        <a:t>Combien de transmissions observées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Comparaison</a:t>
                      </a:r>
                    </a:p>
                  </a:txBody>
                  <a:tcPr marL="91440" marR="91440" marT="45720" marB="45720">
                    <a:solidFill>
                      <a:srgbClr val="EAF0F1"/>
                    </a:solidFill>
                  </a:tcPr>
                </a:tc>
                <a:tc>
                  <a:txBody>
                    <a:bodyPr/>
                    <a:lstStyle/>
                    <a:p>
                      <a:r>
                        <a:rPr sz="1725" b="0">
                          <a:solidFill>
                            <a:srgbClr val="173039"/>
                          </a:solidFill>
                          <a:latin typeface="Arial"/>
                          <a:ea typeface="Arial"/>
                          <a:cs typeface="Arial"/>
                        </a:rPr>
                        <a:t>Quelle différence entre exécutions compatibles ?</a:t>
                      </a:r>
                    </a:p>
                  </a:txBody>
                  <a:tcPr marL="91440" marR="91440" marT="45720" marB="45720">
                    <a:solidFill>
                      <a:srgbClr val="EAF0F1"/>
                    </a:solidFill>
                  </a:tcPr>
                </a:tc>
              </a:tr>
              <a:tr h="574675">
                <a:tc>
                  <a:txBody>
                    <a:bodyPr/>
                    <a:lstStyle/>
                    <a:p>
                      <a:r>
                        <a:rPr sz="1725" b="1">
                          <a:solidFill>
                            <a:srgbClr val="173039"/>
                          </a:solidFill>
                          <a:latin typeface="Arial"/>
                          <a:ea typeface="Arial"/>
                          <a:cs typeface="Arial"/>
                        </a:rPr>
                        <a:t>Heatmap</a:t>
                      </a:r>
                    </a:p>
                  </a:txBody>
                  <a:tcPr marL="91440" marR="91440" marT="45720" marB="45720">
                    <a:solidFill>
                      <a:srgbClr val="FFFFFF"/>
                    </a:solidFill>
                  </a:tcPr>
                </a:tc>
                <a:tc>
                  <a:txBody>
                    <a:bodyPr/>
                    <a:lstStyle/>
                    <a:p>
                      <a:r>
                        <a:rPr sz="1725" b="0">
                          <a:solidFill>
                            <a:srgbClr val="173039"/>
                          </a:solidFill>
                          <a:latin typeface="Arial"/>
                          <a:ea typeface="Arial"/>
                          <a:cs typeface="Arial"/>
                        </a:rPr>
                        <a:t>Quel scénario et quel agent concentrent la durée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KPI et répartitions</a:t>
                      </a:r>
                    </a:p>
                  </a:txBody>
                  <a:tcPr marL="91440" marR="91440" marT="45720" marB="45720">
                    <a:solidFill>
                      <a:srgbClr val="EAF0F1"/>
                    </a:solidFill>
                  </a:tcPr>
                </a:tc>
                <a:tc>
                  <a:txBody>
                    <a:bodyPr/>
                    <a:lstStyle/>
                    <a:p>
                      <a:r>
                        <a:rPr sz="1725" b="0">
                          <a:solidFill>
                            <a:srgbClr val="173039"/>
                          </a:solidFill>
                          <a:latin typeface="Arial"/>
                          <a:ea typeface="Arial"/>
                          <a:cs typeface="Arial"/>
                        </a:rPr>
                        <a:t>Quels volumes, tokens et coûts dans ce périmètre ?</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830253682"/>
      </p:ext>
    </p:extLst>
  </p:cSld>
</p:sld>
</file>

<file path=ppt/slides/slide2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B544BC-6EF1-4C72-832D-90BC381F570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Tokens, coûts et observabilité</a:t>
            </a:r>
          </a:p>
        </p:txBody>
      </p:sp>
      <p:sp>
        <p:nvSpPr>
          <p:cNvPr id="2" name="">
            <a:extLst xmlns:a="http://schemas.openxmlformats.org/drawingml/2006/main">
              <a:ext uri="{FF2B5EF4-FFF2-40B4-BE49-F238E27FC236}">
                <a16:creationId xmlns:a16="http://schemas.microsoft.com/office/drawing/2014/main" id="{161D06D2-257A-452E-9AB3-21970B3BC3D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906D021B-2860-4755-9035-994FACF8B76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coût API estimé en USD reste distinct du coût de flotte en CAD.</a:t>
            </a:r>
          </a:p>
        </p:txBody>
      </p:sp>
      <p:sp>
        <p:nvSpPr>
          <p:cNvPr id="4" name="">
            <a:extLst xmlns:a="http://schemas.openxmlformats.org/drawingml/2006/main">
              <a:ext uri="{FF2B5EF4-FFF2-40B4-BE49-F238E27FC236}">
                <a16:creationId xmlns:a16="http://schemas.microsoft.com/office/drawing/2014/main" id="{F38B7F57-FA04-4697-BCB7-43B875458745}"/>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Chaque tentative</a:t>
            </a:r>
          </a:p>
        </p:txBody>
      </p:sp>
      <p:sp>
        <p:nvSpPr>
          <p:cNvPr id="5" name="">
            <a:extLst xmlns:a="http://schemas.openxmlformats.org/drawingml/2006/main">
              <a:ext uri="{FF2B5EF4-FFF2-40B4-BE49-F238E27FC236}">
                <a16:creationId xmlns:a16="http://schemas.microsoft.com/office/drawing/2014/main" id="{CBCD5F4D-BA80-4DFE-BF72-E6EAD874F44B}"/>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Agent et modèle effectifs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Entrée, sortie et cache connus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Latence, erreur et reprise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Charge estimée et réserve retenue</a:t>
            </a:r>
          </a:p>
        </p:txBody>
      </p:sp>
      <p:sp>
        <p:nvSpPr>
          <p:cNvPr id="6" name="">
            <a:extLst xmlns:a="http://schemas.openxmlformats.org/drawingml/2006/main">
              <a:ext uri="{FF2B5EF4-FFF2-40B4-BE49-F238E27FC236}">
                <a16:creationId xmlns:a16="http://schemas.microsoft.com/office/drawing/2014/main" id="{CD3A8871-38A4-45D6-9C1B-121D8F964452}"/>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Chaque périmètre</a:t>
            </a:r>
          </a:p>
        </p:txBody>
      </p:sp>
      <p:sp>
        <p:nvSpPr>
          <p:cNvPr id="7" name="">
            <a:extLst xmlns:a="http://schemas.openxmlformats.org/drawingml/2006/main">
              <a:ext uri="{FF2B5EF4-FFF2-40B4-BE49-F238E27FC236}">
                <a16:creationId xmlns:a16="http://schemas.microsoft.com/office/drawing/2014/main" id="{A32B1352-DE79-43F9-8335-91F356B88705}"/>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requête et ses rôles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cohorte filtrée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Toutes les opérations du projet</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Langfuse en export secondaire</a:t>
            </a:r>
          </a:p>
        </p:txBody>
      </p:sp>
    </p:spTree>
    <p:extLst>
      <p:ext uri="{BB962C8B-B14F-4D97-AF65-F5344CB8AC3E}">
        <p14:creationId xmlns:p14="http://schemas.microsoft.com/office/powerpoint/2010/main" val="290174884"/>
      </p:ext>
    </p:extLst>
  </p:cSld>
</p:sld>
</file>

<file path=ppt/slides/slide24.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134048-08C5-4139-B209-3FBE29D8199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Le plafond partagé</a:t>
            </a:r>
          </a:p>
        </p:txBody>
      </p:sp>
      <p:sp>
        <p:nvSpPr>
          <p:cNvPr id="2" name="">
            <a:extLst xmlns:a="http://schemas.openxmlformats.org/drawingml/2006/main">
              <a:ext uri="{FF2B5EF4-FFF2-40B4-BE49-F238E27FC236}">
                <a16:creationId xmlns:a16="http://schemas.microsoft.com/office/drawing/2014/main" id="{FAD48A93-F174-4D8C-BCB0-3BEDACB32F1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BD14BA0B-89E9-4EFE-86B3-E3D57244D5E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Une alerte durable peut déclencher un courriel. SMTP accepté ne signifie pas reçu en boîte.</a:t>
            </a:r>
          </a:p>
        </p:txBody>
      </p:sp>
      <p:sp>
        <p:nvSpPr>
          <p:cNvPr id="4" name="">
            <a:extLst xmlns:a="http://schemas.openxmlformats.org/drawingml/2006/main">
              <a:ext uri="{FF2B5EF4-FFF2-40B4-BE49-F238E27FC236}">
                <a16:creationId xmlns:a16="http://schemas.microsoft.com/office/drawing/2014/main" id="{44851394-54D4-4CD2-8D88-208E7AF1B6BA}"/>
              </a:ext>
            </a:extLst>
          </p:cNvPr>
          <p:cNvSpPr>
            <a:spLocks xmlns:a="http://schemas.openxmlformats.org/drawingml/2006/main" noGrp="1"/>
          </p:cNvSpPr>
          <p:nvPr/>
        </p:nvSpPr>
        <p:spPr>
          <a:xfrm xmlns:a="http://schemas.openxmlformats.org/drawingml/2006/main">
            <a:off x="609600" y="20574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700" b="1">
                <a:solidFill>
                  <a:srgbClr val="FFFFFF"/>
                </a:solidFill>
                <a:latin typeface="Arial"/>
                <a:ea typeface="Arial"/>
                <a:cs typeface="Arial"/>
              </a:defRPr>
            </a:defPPr>
          </a:lstStyle>
          <a:p xmlns:a="http://schemas.openxmlformats.org/drawingml/2006/main">
            <a:pPr>
              <a:defRPr sz="11700" b="1">
                <a:solidFill>
                  <a:srgbClr val="FFFFFF"/>
                </a:solidFill>
                <a:latin typeface="Arial"/>
                <a:ea typeface="Arial"/>
                <a:cs typeface="Arial"/>
              </a:defRPr>
            </a:pPr>
            <a:r>
              <a:rPr sz="11700" b="1">
                <a:solidFill>
                  <a:srgbClr val="FFFFFF"/>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0C67808A-E382-4D08-9625-AE1C5288F74B}"/>
              </a:ext>
            </a:extLst>
          </p:cNvPr>
          <p:cNvSpPr>
            <a:spLocks xmlns:a="http://schemas.openxmlformats.org/drawingml/2006/main" noGrp="1"/>
          </p:cNvSpPr>
          <p:nvPr/>
        </p:nvSpPr>
        <p:spPr>
          <a:xfrm xmlns:a="http://schemas.openxmlformats.org/drawingml/2006/main">
            <a:off x="666750" y="3962400"/>
            <a:ext cx="371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0">
                <a:solidFill>
                  <a:srgbClr val="B5DED7"/>
                </a:solidFill>
                <a:latin typeface="Arial"/>
                <a:ea typeface="Arial"/>
                <a:cs typeface="Arial"/>
              </a:defRPr>
            </a:defPPr>
          </a:lstStyle>
          <a:p xmlns:a="http://schemas.openxmlformats.org/drawingml/2006/main">
            <a:pPr>
              <a:defRPr sz="3525" b="0">
                <a:solidFill>
                  <a:srgbClr val="B5DED7"/>
                </a:solidFill>
                <a:latin typeface="Arial"/>
                <a:ea typeface="Arial"/>
                <a:cs typeface="Arial"/>
              </a:defRPr>
            </a:pPr>
            <a:r>
              <a:rPr sz="3525" b="0">
                <a:solidFill>
                  <a:srgbClr val="B5DED7"/>
                </a:solidFill>
                <a:latin typeface="Arial"/>
                <a:ea typeface="Arial"/>
                <a:cs typeface="Arial"/>
              </a:rPr>
              <a:t>CAD</a:t>
            </a:r>
          </a:p>
        </p:txBody>
      </p:sp>
      <p:sp>
        <p:nvSpPr>
          <p:cNvPr id="6" name="">
            <a:extLst xmlns:a="http://schemas.openxmlformats.org/drawingml/2006/main">
              <a:ext uri="{FF2B5EF4-FFF2-40B4-BE49-F238E27FC236}">
                <a16:creationId xmlns:a16="http://schemas.microsoft.com/office/drawing/2014/main" id="{C68B8BFB-8555-44C4-A27F-6143696DBFE6}"/>
              </a:ext>
            </a:extLst>
          </p:cNvPr>
          <p:cNvSpPr>
            <a:spLocks xmlns:a="http://schemas.openxmlformats.org/drawingml/2006/main" noGrp="1"/>
          </p:cNvSpPr>
          <p:nvPr/>
        </p:nvSpPr>
        <p:spPr>
          <a:xfrm xmlns:a="http://schemas.openxmlformats.org/drawingml/2006/main">
            <a:off x="5334000" y="202882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Avant un appel</a:t>
            </a:r>
          </a:p>
        </p:txBody>
      </p:sp>
      <p:sp>
        <p:nvSpPr>
          <p:cNvPr id="7" name="">
            <a:extLst xmlns:a="http://schemas.openxmlformats.org/drawingml/2006/main">
              <a:ext uri="{FF2B5EF4-FFF2-40B4-BE49-F238E27FC236}">
                <a16:creationId xmlns:a16="http://schemas.microsoft.com/office/drawing/2014/main" id="{BA1AC617-6549-495F-91C5-187044E2F82C}"/>
              </a:ext>
            </a:extLst>
          </p:cNvPr>
          <p:cNvSpPr>
            <a:spLocks xmlns:a="http://schemas.openxmlformats.org/drawingml/2006/main" noGrp="1"/>
          </p:cNvSpPr>
          <p:nvPr/>
        </p:nvSpPr>
        <p:spPr>
          <a:xfrm xmlns:a="http://schemas.openxmlformats.org/drawingml/2006/main">
            <a:off x="5334000" y="245745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Réserver une borne prudente sous le plafond du projet.</a:t>
            </a:r>
          </a:p>
        </p:txBody>
      </p:sp>
      <p:sp>
        <p:nvSpPr>
          <p:cNvPr id="8" name="">
            <a:extLst xmlns:a="http://schemas.openxmlformats.org/drawingml/2006/main">
              <a:ext uri="{FF2B5EF4-FFF2-40B4-BE49-F238E27FC236}">
                <a16:creationId xmlns:a16="http://schemas.microsoft.com/office/drawing/2014/main" id="{4C5A079E-0DF1-49EC-86AB-87AE446170F7}"/>
              </a:ext>
            </a:extLst>
          </p:cNvPr>
          <p:cNvSpPr>
            <a:spLocks xmlns:a="http://schemas.openxmlformats.org/drawingml/2006/main" noGrp="1"/>
          </p:cNvSpPr>
          <p:nvPr/>
        </p:nvSpPr>
        <p:spPr>
          <a:xfrm xmlns:a="http://schemas.openxmlformats.org/drawingml/2006/main">
            <a:off x="5334000" y="3257550"/>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Après la réponse</a:t>
            </a:r>
          </a:p>
        </p:txBody>
      </p:sp>
      <p:sp>
        <p:nvSpPr>
          <p:cNvPr id="9" name="">
            <a:extLst xmlns:a="http://schemas.openxmlformats.org/drawingml/2006/main">
              <a:ext uri="{FF2B5EF4-FFF2-40B4-BE49-F238E27FC236}">
                <a16:creationId xmlns:a16="http://schemas.microsoft.com/office/drawing/2014/main" id="{F58EF907-659A-422E-81F6-886750B5FF2B}"/>
              </a:ext>
            </a:extLst>
          </p:cNvPr>
          <p:cNvSpPr>
            <a:spLocks xmlns:a="http://schemas.openxmlformats.org/drawingml/2006/main" noGrp="1"/>
          </p:cNvSpPr>
          <p:nvPr/>
        </p:nvSpPr>
        <p:spPr>
          <a:xfrm xmlns:a="http://schemas.openxmlformats.org/drawingml/2006/main">
            <a:off x="5334000" y="3686175"/>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Régler la charge connue et libérer la réserve excédentaire.</a:t>
            </a:r>
          </a:p>
        </p:txBody>
      </p:sp>
      <p:sp>
        <p:nvSpPr>
          <p:cNvPr id="10" name="">
            <a:extLst xmlns:a="http://schemas.openxmlformats.org/drawingml/2006/main">
              <a:ext uri="{FF2B5EF4-FFF2-40B4-BE49-F238E27FC236}">
                <a16:creationId xmlns:a16="http://schemas.microsoft.com/office/drawing/2014/main" id="{89734B37-FDA5-4B8E-A37E-8AD4088EED77}"/>
              </a:ext>
            </a:extLst>
          </p:cNvPr>
          <p:cNvSpPr>
            <a:spLocks xmlns:a="http://schemas.openxmlformats.org/drawingml/2006/main" noGrp="1"/>
          </p:cNvSpPr>
          <p:nvPr/>
        </p:nvSpPr>
        <p:spPr>
          <a:xfrm xmlns:a="http://schemas.openxmlformats.org/drawingml/2006/main">
            <a:off x="5334000" y="448627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Si le résultat est incertain</a:t>
            </a:r>
          </a:p>
        </p:txBody>
      </p:sp>
      <p:sp>
        <p:nvSpPr>
          <p:cNvPr id="11" name="">
            <a:extLst xmlns:a="http://schemas.openxmlformats.org/drawingml/2006/main">
              <a:ext uri="{FF2B5EF4-FFF2-40B4-BE49-F238E27FC236}">
                <a16:creationId xmlns:a16="http://schemas.microsoft.com/office/drawing/2014/main" id="{06EA50C1-2CCB-4C32-ACD5-1AD35C0D3E7C}"/>
              </a:ext>
            </a:extLst>
          </p:cNvPr>
          <p:cNvSpPr>
            <a:spLocks xmlns:a="http://schemas.openxmlformats.org/drawingml/2006/main" noGrp="1"/>
          </p:cNvSpPr>
          <p:nvPr/>
        </p:nvSpPr>
        <p:spPr>
          <a:xfrm xmlns:a="http://schemas.openxmlformats.org/drawingml/2006/main">
            <a:off x="5334000" y="491490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Conserver la réserve et empêcher une réémission automatique.</a:t>
            </a:r>
          </a:p>
        </p:txBody>
      </p:sp>
    </p:spTree>
    <p:extLst>
      <p:ext uri="{BB962C8B-B14F-4D97-AF65-F5344CB8AC3E}">
        <p14:creationId xmlns:p14="http://schemas.microsoft.com/office/powerpoint/2010/main" val="935255959"/>
      </p:ext>
    </p:extLst>
  </p:cSld>
</p:sld>
</file>

<file path=ppt/slides/slide25.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5BB4DB-D78F-40B3-A808-AA9B6187789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benchmark de référence</a:t>
            </a:r>
          </a:p>
        </p:txBody>
      </p:sp>
      <p:sp>
        <p:nvSpPr>
          <p:cNvPr id="2" name="">
            <a:extLst xmlns:a="http://schemas.openxmlformats.org/drawingml/2006/main">
              <a:ext uri="{FF2B5EF4-FFF2-40B4-BE49-F238E27FC236}">
                <a16:creationId xmlns:a16="http://schemas.microsoft.com/office/drawing/2014/main" id="{462DF2F2-5503-4F3C-A3F4-CECB42382CE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FBA770C9-EB29-4396-A843-C2F2241967A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100 appels, estimation API de 0,6696181 USD. Cohorte historique distincte des tests QA.</a:t>
            </a:r>
          </a:p>
        </p:txBody>
      </p:sp>
      <p:sp>
        <p:nvSpPr>
          <p:cNvPr id="4" name="">
            <a:extLst xmlns:a="http://schemas.openxmlformats.org/drawingml/2006/main">
              <a:ext uri="{FF2B5EF4-FFF2-40B4-BE49-F238E27FC236}">
                <a16:creationId xmlns:a16="http://schemas.microsoft.com/office/drawing/2014/main" id="{E397E9BB-EC1A-40F8-B007-A7B4D3A77F6B}"/>
              </a:ext>
            </a:extLst>
          </p:cNvPr>
          <p:cNvSpPr>
            <a:spLocks xmlns:a="http://schemas.openxmlformats.org/drawingml/2006/main" noGrp="1"/>
          </p:cNvSpPr>
          <p:nvPr/>
        </p:nvSpPr>
        <p:spPr>
          <a:xfrm xmlns:a="http://schemas.openxmlformats.org/drawingml/2006/main">
            <a:off x="91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0499D8A5-5ADC-4D5A-AE43-5D37F7684400}"/>
              </a:ext>
            </a:extLst>
          </p:cNvPr>
          <p:cNvSpPr>
            <a:spLocks xmlns:a="http://schemas.openxmlformats.org/drawingml/2006/main" noGrp="1"/>
          </p:cNvSpPr>
          <p:nvPr/>
        </p:nvSpPr>
        <p:spPr>
          <a:xfrm xmlns:a="http://schemas.openxmlformats.org/drawingml/2006/main">
            <a:off x="91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scénarios</a:t>
            </a:r>
          </a:p>
        </p:txBody>
      </p:sp>
      <p:sp>
        <p:nvSpPr>
          <p:cNvPr id="6" name="">
            <a:extLst xmlns:a="http://schemas.openxmlformats.org/drawingml/2006/main">
              <a:ext uri="{FF2B5EF4-FFF2-40B4-BE49-F238E27FC236}">
                <a16:creationId xmlns:a16="http://schemas.microsoft.com/office/drawing/2014/main" id="{5366D9B1-F830-4ABE-B314-7F2974F0EE4A}"/>
              </a:ext>
            </a:extLst>
          </p:cNvPr>
          <p:cNvSpPr>
            <a:spLocks xmlns:a="http://schemas.openxmlformats.org/drawingml/2006/main" noGrp="1"/>
          </p:cNvSpPr>
          <p:nvPr/>
        </p:nvSpPr>
        <p:spPr>
          <a:xfrm xmlns:a="http://schemas.openxmlformats.org/drawingml/2006/main">
            <a:off x="472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7E1AFE31-5B3C-4ECD-8294-99490081FEA6}"/>
              </a:ext>
            </a:extLst>
          </p:cNvPr>
          <p:cNvSpPr>
            <a:spLocks xmlns:a="http://schemas.openxmlformats.org/drawingml/2006/main" noGrp="1"/>
          </p:cNvSpPr>
          <p:nvPr/>
        </p:nvSpPr>
        <p:spPr>
          <a:xfrm xmlns:a="http://schemas.openxmlformats.org/drawingml/2006/main">
            <a:off x="472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politiques</a:t>
            </a:r>
          </a:p>
        </p:txBody>
      </p:sp>
      <p:sp>
        <p:nvSpPr>
          <p:cNvPr id="8" name="">
            <a:extLst xmlns:a="http://schemas.openxmlformats.org/drawingml/2006/main">
              <a:ext uri="{FF2B5EF4-FFF2-40B4-BE49-F238E27FC236}">
                <a16:creationId xmlns:a16="http://schemas.microsoft.com/office/drawing/2014/main" id="{164740AB-24DE-4A5A-A995-8020CD0447F6}"/>
              </a:ext>
            </a:extLst>
          </p:cNvPr>
          <p:cNvSpPr>
            <a:spLocks xmlns:a="http://schemas.openxmlformats.org/drawingml/2006/main" noGrp="1"/>
          </p:cNvSpPr>
          <p:nvPr/>
        </p:nvSpPr>
        <p:spPr>
          <a:xfrm xmlns:a="http://schemas.openxmlformats.org/drawingml/2006/main">
            <a:off x="853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52495FB4-34FD-4E9F-B6C9-92F73397A06E}"/>
              </a:ext>
            </a:extLst>
          </p:cNvPr>
          <p:cNvSpPr>
            <a:spLocks xmlns:a="http://schemas.openxmlformats.org/drawingml/2006/main" noGrp="1"/>
          </p:cNvSpPr>
          <p:nvPr/>
        </p:nvSpPr>
        <p:spPr>
          <a:xfrm xmlns:a="http://schemas.openxmlformats.org/drawingml/2006/main">
            <a:off x="853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graines</a:t>
            </a:r>
          </a:p>
        </p:txBody>
      </p:sp>
      <p:sp>
        <p:nvSpPr>
          <p:cNvPr id="10" name="">
            <a:extLst xmlns:a="http://schemas.openxmlformats.org/drawingml/2006/main">
              <a:ext uri="{FF2B5EF4-FFF2-40B4-BE49-F238E27FC236}">
                <a16:creationId xmlns:a16="http://schemas.microsoft.com/office/drawing/2014/main" id="{06F3F5FE-60CA-4EC3-AD80-7D69982E8E8E}"/>
              </a:ext>
            </a:extLst>
          </p:cNvPr>
          <p:cNvSpPr>
            <a:spLocks xmlns:a="http://schemas.openxmlformats.org/drawingml/2006/main" noGrp="1"/>
          </p:cNvSpPr>
          <p:nvPr/>
        </p:nvSpPr>
        <p:spPr>
          <a:xfrm xmlns:a="http://schemas.openxmlformats.org/drawingml/2006/main">
            <a:off x="914400" y="47910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3039"/>
                </a:solidFill>
                <a:latin typeface="Arial"/>
                <a:ea typeface="Arial"/>
                <a:cs typeface="Arial"/>
              </a:defRPr>
            </a:defPPr>
          </a:lstStyle>
          <a:p xmlns:a="http://schemas.openxmlformats.org/drawingml/2006/main">
            <a:pPr>
              <a:defRPr sz="3375" b="1">
                <a:solidFill>
                  <a:srgbClr val="173039"/>
                </a:solidFill>
                <a:latin typeface="Arial"/>
                <a:ea typeface="Arial"/>
                <a:cs typeface="Arial"/>
              </a:defRPr>
            </a:pPr>
            <a:r>
              <a:rPr sz="3375" b="1">
                <a:solidFill>
                  <a:srgbClr val="173039"/>
                </a:solidFill>
                <a:latin typeface="Arial"/>
                <a:ea typeface="Arial"/>
                <a:cs typeface="Arial"/>
              </a:rPr>
              <a:t>20 exécutions Anthropic</a:t>
            </a:r>
          </a:p>
        </p:txBody>
      </p:sp>
    </p:spTree>
    <p:extLst>
      <p:ext uri="{BB962C8B-B14F-4D97-AF65-F5344CB8AC3E}">
        <p14:creationId xmlns:p14="http://schemas.microsoft.com/office/powerpoint/2010/main" val="472980085"/>
      </p:ext>
    </p:extLst>
  </p:cSld>
</p:sld>
</file>

<file path=ppt/slides/slide2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74726FA-7CA1-4DFE-8459-E4C3E3043F4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Construire et vérifier le logiciel</a:t>
            </a:r>
          </a:p>
        </p:txBody>
      </p:sp>
      <p:sp>
        <p:nvSpPr>
          <p:cNvPr id="2" name="">
            <a:extLst xmlns:a="http://schemas.openxmlformats.org/drawingml/2006/main">
              <a:ext uri="{FF2B5EF4-FFF2-40B4-BE49-F238E27FC236}">
                <a16:creationId xmlns:a16="http://schemas.microsoft.com/office/drawing/2014/main" id="{5540680C-9A60-483F-A9F3-25F75C395A7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24144A6D-0B03-486F-BF79-CB640D2C20B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 outil installé et des tests écrits ne prouvent pas que chaque parcours a été exécuté.</a:t>
            </a:r>
          </a:p>
        </p:txBody>
      </p:sp>
      <p:graphicFrame>
        <p:nvGraphicFramePr>
          <p:cNvPr id="4" name="">
            <a:extLst xmlns:a="http://schemas.openxmlformats.org/drawingml/2006/main">
              <a:ext uri="{FF2B5EF4-FFF2-40B4-BE49-F238E27FC236}">
                <a16:creationId xmlns:a16="http://schemas.microsoft.com/office/drawing/2014/main" id="{E961774A-630C-4364-8B6E-5C3F194D65C3}"/>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333625"/>
                <a:gridCol w="3619500"/>
                <a:gridCol w="5019675"/>
              </a:tblGrid>
              <a:tr h="457200">
                <a:tc>
                  <a:txBody>
                    <a:bodyPr/>
                    <a:lstStyle/>
                    <a:p>
                      <a:r>
                        <a:rPr sz="1725" b="1">
                          <a:solidFill>
                            <a:srgbClr val="FFFFFF"/>
                          </a:solidFill>
                          <a:latin typeface="Arial"/>
                          <a:ea typeface="Arial"/>
                          <a:cs typeface="Arial"/>
                        </a:rPr>
                        <a:t>BIBLIOTHÈQUE</a:t>
                      </a:r>
                    </a:p>
                  </a:txBody>
                  <a:tcPr marL="91440" marR="91440" marT="45720" marB="45720">
                    <a:solidFill>
                      <a:srgbClr val="173039"/>
                    </a:solidFill>
                  </a:tcPr>
                </a:tc>
                <a:tc>
                  <a:txBody>
                    <a:bodyPr/>
                    <a:lstStyle/>
                    <a:p>
                      <a:r>
                        <a:rPr sz="1725" b="1">
                          <a:solidFill>
                            <a:srgbClr val="FFFFFF"/>
                          </a:solidFill>
                          <a:latin typeface="Arial"/>
                          <a:ea typeface="Arial"/>
                          <a:cs typeface="Arial"/>
                        </a:rPr>
                        <a:t>FONCTION</a:t>
                      </a:r>
                    </a:p>
                  </a:txBody>
                  <a:tcPr marL="91440" marR="91440" marT="45720" marB="45720">
                    <a:solidFill>
                      <a:srgbClr val="173039"/>
                    </a:solidFill>
                  </a:tcPr>
                </a:tc>
                <a:tc>
                  <a:txBody>
                    <a:bodyPr/>
                    <a:lstStyle/>
                    <a:p>
                      <a:r>
                        <a:rPr sz="1725" b="1">
                          <a:solidFill>
                            <a:srgbClr val="FFFFFF"/>
                          </a:solidFill>
                          <a:latin typeface="Arial"/>
                          <a:ea typeface="Arial"/>
                          <a:cs typeface="Arial"/>
                        </a:rPr>
                        <a:t>APPLICATION DANS GENESIS</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Vite + plugin React</a:t>
                      </a:r>
                    </a:p>
                  </a:txBody>
                  <a:tcPr marL="91440" marR="91440" marT="45720" marB="45720">
                    <a:solidFill>
                      <a:srgbClr val="FFFFFF"/>
                    </a:solidFill>
                  </a:tcPr>
                </a:tc>
                <a:tc>
                  <a:txBody>
                    <a:bodyPr/>
                    <a:lstStyle/>
                    <a:p>
                      <a:r>
                        <a:rPr sz="1725" b="0">
                          <a:solidFill>
                            <a:srgbClr val="173039"/>
                          </a:solidFill>
                          <a:latin typeface="Arial"/>
                          <a:ea typeface="Arial"/>
                          <a:cs typeface="Arial"/>
                        </a:rPr>
                        <a:t>Transformer les modules et assembler le site.</a:t>
                      </a:r>
                    </a:p>
                  </a:txBody>
                  <a:tcPr marL="91440" marR="91440" marT="45720" marB="45720">
                    <a:solidFill>
                      <a:srgbClr val="FFFFFF"/>
                    </a:solidFill>
                  </a:tcPr>
                </a:tc>
                <a:tc>
                  <a:txBody>
                    <a:bodyPr/>
                    <a:lstStyle/>
                    <a:p>
                      <a:r>
                        <a:rPr sz="1725" b="0">
                          <a:solidFill>
                            <a:srgbClr val="173039"/>
                          </a:solidFill>
                          <a:latin typeface="Arial"/>
                          <a:ea typeface="Arial"/>
                          <a:cs typeface="Arial"/>
                        </a:rPr>
                        <a:t>Servir le développement et produire le bundle web.</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TypeScript</a:t>
                      </a:r>
                    </a:p>
                  </a:txBody>
                  <a:tcPr marL="91440" marR="91440" marT="45720" marB="45720">
                    <a:solidFill>
                      <a:srgbClr val="EAF0F1"/>
                    </a:solidFill>
                  </a:tcPr>
                </a:tc>
                <a:tc>
                  <a:txBody>
                    <a:bodyPr/>
                    <a:lstStyle/>
                    <a:p>
                      <a:r>
                        <a:rPr sz="1725" b="0">
                          <a:solidFill>
                            <a:srgbClr val="173039"/>
                          </a:solidFill>
                          <a:latin typeface="Arial"/>
                          <a:ea typeface="Arial"/>
                          <a:cs typeface="Arial"/>
                        </a:rPr>
                        <a:t>Détecter les incohérences de types.</a:t>
                      </a:r>
                    </a:p>
                  </a:txBody>
                  <a:tcPr marL="91440" marR="91440" marT="45720" marB="45720">
                    <a:solidFill>
                      <a:srgbClr val="EAF0F1"/>
                    </a:solidFill>
                  </a:tcPr>
                </a:tc>
                <a:tc>
                  <a:txBody>
                    <a:bodyPr/>
                    <a:lstStyle/>
                    <a:p>
                      <a:r>
                        <a:rPr sz="1725" b="0">
                          <a:solidFill>
                            <a:srgbClr val="173039"/>
                          </a:solidFill>
                          <a:latin typeface="Arial"/>
                          <a:ea typeface="Arial"/>
                          <a:cs typeface="Arial"/>
                        </a:rPr>
                        <a:t>Bloquer le build si les contrats web sont incompatibles.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Vitest</a:t>
                      </a:r>
                    </a:p>
                  </a:txBody>
                  <a:tcPr marL="91440" marR="91440" marT="45720" marB="45720">
                    <a:solidFill>
                      <a:srgbClr val="FFFFFF"/>
                    </a:solidFill>
                  </a:tcPr>
                </a:tc>
                <a:tc>
                  <a:txBody>
                    <a:bodyPr/>
                    <a:lstStyle/>
                    <a:p>
                      <a:r>
                        <a:rPr sz="1725" b="0">
                          <a:solidFill>
                            <a:srgbClr val="173039"/>
                          </a:solidFill>
                          <a:latin typeface="Arial"/>
                          <a:ea typeface="Arial"/>
                          <a:cs typeface="Arial"/>
                        </a:rPr>
                        <a:t>Exécuter les assertions de l’interface.</a:t>
                      </a:r>
                    </a:p>
                  </a:txBody>
                  <a:tcPr marL="91440" marR="91440" marT="45720" marB="45720">
                    <a:solidFill>
                      <a:srgbClr val="FFFFFF"/>
                    </a:solidFill>
                  </a:tcPr>
                </a:tc>
                <a:tc>
                  <a:txBody>
                    <a:bodyPr/>
                    <a:lstStyle/>
                    <a:p>
                      <a:r>
                        <a:rPr sz="1725" b="0">
                          <a:solidFill>
                            <a:srgbClr val="173039"/>
                          </a:solidFill>
                          <a:latin typeface="Arial"/>
                          <a:ea typeface="Arial"/>
                          <a:cs typeface="Arial"/>
                        </a:rPr>
                        <a:t>Vérifier les filtres, états et transformations de données.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pytest + Ruff</a:t>
                      </a:r>
                    </a:p>
                  </a:txBody>
                  <a:tcPr marL="91440" marR="91440" marT="45720" marB="45720">
                    <a:solidFill>
                      <a:srgbClr val="EAF0F1"/>
                    </a:solidFill>
                  </a:tcPr>
                </a:tc>
                <a:tc>
                  <a:txBody>
                    <a:bodyPr/>
                    <a:lstStyle/>
                    <a:p>
                      <a:r>
                        <a:rPr sz="1725" b="0">
                          <a:solidFill>
                            <a:srgbClr val="173039"/>
                          </a:solidFill>
                          <a:latin typeface="Arial"/>
                          <a:ea typeface="Arial"/>
                          <a:cs typeface="Arial"/>
                        </a:rPr>
                        <a:t>Tester Python et analyser son code.</a:t>
                      </a:r>
                    </a:p>
                  </a:txBody>
                  <a:tcPr marL="91440" marR="91440" marT="45720" marB="45720">
                    <a:solidFill>
                      <a:srgbClr val="EAF0F1"/>
                    </a:solidFill>
                  </a:tcPr>
                </a:tc>
                <a:tc>
                  <a:txBody>
                    <a:bodyPr/>
                    <a:lstStyle/>
                    <a:p>
                      <a:r>
                        <a:rPr sz="1725" b="0">
                          <a:solidFill>
                            <a:srgbClr val="173039"/>
                          </a:solidFill>
                          <a:latin typeface="Arial"/>
                          <a:ea typeface="Arial"/>
                          <a:cs typeface="Arial"/>
                        </a:rPr>
                        <a:t>Contrôler budget, capacité, reprises et erreurs de code.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Playwright + axe</a:t>
                      </a:r>
                    </a:p>
                  </a:txBody>
                  <a:tcPr marL="91440" marR="91440" marT="45720" marB="45720">
                    <a:solidFill>
                      <a:srgbClr val="FFFFFF"/>
                    </a:solidFill>
                  </a:tcPr>
                </a:tc>
                <a:tc>
                  <a:txBody>
                    <a:bodyPr/>
                    <a:lstStyle/>
                    <a:p>
                      <a:r>
                        <a:rPr sz="1725" b="0">
                          <a:solidFill>
                            <a:srgbClr val="173039"/>
                          </a:solidFill>
                          <a:latin typeface="Arial"/>
                          <a:ea typeface="Arial"/>
                          <a:cs typeface="Arial"/>
                        </a:rPr>
                        <a:t>Piloter le navigateur et signaler des défauts.</a:t>
                      </a:r>
                    </a:p>
                  </a:txBody>
                  <a:tcPr marL="91440" marR="91440" marT="45720" marB="45720">
                    <a:solidFill>
                      <a:srgbClr val="FFFFFF"/>
                    </a:solidFill>
                  </a:tcPr>
                </a:tc>
                <a:tc>
                  <a:txBody>
                    <a:bodyPr/>
                    <a:lstStyle/>
                    <a:p>
                      <a:r>
                        <a:rPr sz="1725" b="0">
                          <a:solidFill>
                            <a:srgbClr val="173039"/>
                          </a:solidFill>
                          <a:latin typeface="Arial"/>
                          <a:ea typeface="Arial"/>
                          <a:cs typeface="Arial"/>
                        </a:rPr>
                        <a:t>Définir les parcours et les contrôles d’accessibilité QA.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95029404"/>
      </p:ext>
    </p:extLst>
  </p:cSld>
</p:sld>
</file>

<file path=ppt/slides/slide2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55AAEF-24A1-4E4E-84C7-07B551F0E185}"/>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vérifications récentes</a:t>
            </a:r>
          </a:p>
        </p:txBody>
      </p:sp>
      <p:sp>
        <p:nvSpPr>
          <p:cNvPr id="2" name="">
            <a:extLst xmlns:a="http://schemas.openxmlformats.org/drawingml/2006/main">
              <a:ext uri="{FF2B5EF4-FFF2-40B4-BE49-F238E27FC236}">
                <a16:creationId xmlns:a16="http://schemas.microsoft.com/office/drawing/2014/main" id="{2C7A3674-6D45-49D3-8E62-2E6D916E525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A7D88EDE-EB68-4D0E-9FC7-143CEE93113F}"/>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Revue indépendante U18/U19. Suite navigateur complète et audit WCAG restent ouverts.</a:t>
            </a:r>
          </a:p>
        </p:txBody>
      </p:sp>
      <p:sp>
        <p:nvSpPr>
          <p:cNvPr id="4" name="">
            <a:extLst xmlns:a="http://schemas.openxmlformats.org/drawingml/2006/main">
              <a:ext uri="{FF2B5EF4-FFF2-40B4-BE49-F238E27FC236}">
                <a16:creationId xmlns:a16="http://schemas.microsoft.com/office/drawing/2014/main" id="{047C089A-0AEF-4891-9BF3-DE3ECB48E263}"/>
              </a:ext>
            </a:extLst>
          </p:cNvPr>
          <p:cNvSpPr>
            <a:spLocks xmlns:a="http://schemas.openxmlformats.org/drawingml/2006/main" noGrp="1"/>
          </p:cNvSpPr>
          <p:nvPr/>
        </p:nvSpPr>
        <p:spPr>
          <a:xfrm xmlns:a="http://schemas.openxmlformats.org/drawingml/2006/main">
            <a:off x="6096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245</a:t>
            </a:r>
          </a:p>
        </p:txBody>
      </p:sp>
      <p:sp>
        <p:nvSpPr>
          <p:cNvPr id="5" name="">
            <a:extLst xmlns:a="http://schemas.openxmlformats.org/drawingml/2006/main">
              <a:ext uri="{FF2B5EF4-FFF2-40B4-BE49-F238E27FC236}">
                <a16:creationId xmlns:a16="http://schemas.microsoft.com/office/drawing/2014/main" id="{AE3B3E4C-6D5D-47EA-9F1D-A76A55226D3F}"/>
              </a:ext>
            </a:extLst>
          </p:cNvPr>
          <p:cNvSpPr>
            <a:spLocks xmlns:a="http://schemas.openxmlformats.org/drawingml/2006/main" noGrp="1"/>
          </p:cNvSpPr>
          <p:nvPr/>
        </p:nvSpPr>
        <p:spPr>
          <a:xfrm xmlns:a="http://schemas.openxmlformats.org/drawingml/2006/main">
            <a:off x="6096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Python</a:t>
            </a:r>
          </a:p>
        </p:txBody>
      </p:sp>
      <p:sp>
        <p:nvSpPr>
          <p:cNvPr id="6" name="">
            <a:extLst xmlns:a="http://schemas.openxmlformats.org/drawingml/2006/main">
              <a:ext uri="{FF2B5EF4-FFF2-40B4-BE49-F238E27FC236}">
                <a16:creationId xmlns:a16="http://schemas.microsoft.com/office/drawing/2014/main" id="{937EEC6E-0B2C-4C07-B168-675E14890263}"/>
              </a:ext>
            </a:extLst>
          </p:cNvPr>
          <p:cNvSpPr>
            <a:spLocks xmlns:a="http://schemas.openxmlformats.org/drawingml/2006/main" noGrp="1"/>
          </p:cNvSpPr>
          <p:nvPr/>
        </p:nvSpPr>
        <p:spPr>
          <a:xfrm xmlns:a="http://schemas.openxmlformats.org/drawingml/2006/main">
            <a:off x="44577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77</a:t>
            </a:r>
          </a:p>
        </p:txBody>
      </p:sp>
      <p:sp>
        <p:nvSpPr>
          <p:cNvPr id="7" name="">
            <a:extLst xmlns:a="http://schemas.openxmlformats.org/drawingml/2006/main">
              <a:ext uri="{FF2B5EF4-FFF2-40B4-BE49-F238E27FC236}">
                <a16:creationId xmlns:a16="http://schemas.microsoft.com/office/drawing/2014/main" id="{1ABF37C6-DA46-45EC-BE7C-10EB60CB548F}"/>
              </a:ext>
            </a:extLst>
          </p:cNvPr>
          <p:cNvSpPr>
            <a:spLocks xmlns:a="http://schemas.openxmlformats.org/drawingml/2006/main" noGrp="1"/>
          </p:cNvSpPr>
          <p:nvPr/>
        </p:nvSpPr>
        <p:spPr>
          <a:xfrm xmlns:a="http://schemas.openxmlformats.org/drawingml/2006/main">
            <a:off x="44577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interface</a:t>
            </a:r>
          </a:p>
        </p:txBody>
      </p:sp>
      <p:sp>
        <p:nvSpPr>
          <p:cNvPr id="8" name="">
            <a:extLst xmlns:a="http://schemas.openxmlformats.org/drawingml/2006/main">
              <a:ext uri="{FF2B5EF4-FFF2-40B4-BE49-F238E27FC236}">
                <a16:creationId xmlns:a16="http://schemas.microsoft.com/office/drawing/2014/main" id="{C21D2AB0-7F61-407A-A41F-D53A1BBC553C}"/>
              </a:ext>
            </a:extLst>
          </p:cNvPr>
          <p:cNvSpPr>
            <a:spLocks xmlns:a="http://schemas.openxmlformats.org/drawingml/2006/main" noGrp="1"/>
          </p:cNvSpPr>
          <p:nvPr/>
        </p:nvSpPr>
        <p:spPr>
          <a:xfrm xmlns:a="http://schemas.openxmlformats.org/drawingml/2006/main">
            <a:off x="83058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FD737E08-EC8A-4357-B93D-DA2FD0FA0A9E}"/>
              </a:ext>
            </a:extLst>
          </p:cNvPr>
          <p:cNvSpPr>
            <a:spLocks xmlns:a="http://schemas.openxmlformats.org/drawingml/2006/main" noGrp="1"/>
          </p:cNvSpPr>
          <p:nvPr/>
        </p:nvSpPr>
        <p:spPr>
          <a:xfrm xmlns:a="http://schemas.openxmlformats.org/drawingml/2006/main">
            <a:off x="83058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du profil QA</a:t>
            </a:r>
          </a:p>
        </p:txBody>
      </p:sp>
      <p:sp>
        <p:nvSpPr>
          <p:cNvPr id="10" name="">
            <a:extLst xmlns:a="http://schemas.openxmlformats.org/drawingml/2006/main">
              <a:ext uri="{FF2B5EF4-FFF2-40B4-BE49-F238E27FC236}">
                <a16:creationId xmlns:a16="http://schemas.microsoft.com/office/drawing/2014/main" id="{67D63A19-640E-4D86-889D-8304532F7BAF}"/>
              </a:ext>
            </a:extLst>
          </p:cNvPr>
          <p:cNvSpPr>
            <a:spLocks xmlns:a="http://schemas.openxmlformats.org/drawingml/2006/main" noGrp="1"/>
          </p:cNvSpPr>
          <p:nvPr/>
        </p:nvSpPr>
        <p:spPr>
          <a:xfrm xmlns:a="http://schemas.openxmlformats.org/drawingml/2006/main">
            <a:off x="609600" y="44577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Contrôles automatisés</a:t>
            </a:r>
          </a:p>
        </p:txBody>
      </p:sp>
      <p:sp>
        <p:nvSpPr>
          <p:cNvPr id="11" name="">
            <a:extLst xmlns:a="http://schemas.openxmlformats.org/drawingml/2006/main">
              <a:ext uri="{FF2B5EF4-FFF2-40B4-BE49-F238E27FC236}">
                <a16:creationId xmlns:a16="http://schemas.microsoft.com/office/drawing/2014/main" id="{2B7846D7-FC5A-45B9-8777-384FC6379E75}"/>
              </a:ext>
            </a:extLst>
          </p:cNvPr>
          <p:cNvSpPr>
            <a:spLocks xmlns:a="http://schemas.openxmlformats.org/drawingml/2006/main" noGrp="1"/>
          </p:cNvSpPr>
          <p:nvPr/>
        </p:nvSpPr>
        <p:spPr>
          <a:xfrm xmlns:a="http://schemas.openxmlformats.org/drawingml/2006/main">
            <a:off x="609600" y="49815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Ruff, TypeScript et build de production réussis.</a:t>
            </a:r>
          </a:p>
        </p:txBody>
      </p:sp>
      <p:sp>
        <p:nvSpPr>
          <p:cNvPr id="12" name="">
            <a:extLst xmlns:a="http://schemas.openxmlformats.org/drawingml/2006/main">
              <a:ext uri="{FF2B5EF4-FFF2-40B4-BE49-F238E27FC236}">
                <a16:creationId xmlns:a16="http://schemas.microsoft.com/office/drawing/2014/main" id="{D6623BC6-5C87-4EA4-852B-C505E155066C}"/>
              </a:ext>
            </a:extLst>
          </p:cNvPr>
          <p:cNvSpPr>
            <a:spLocks xmlns:a="http://schemas.openxmlformats.org/drawingml/2006/main" noGrp="1"/>
          </p:cNvSpPr>
          <p:nvPr/>
        </p:nvSpPr>
        <p:spPr>
          <a:xfrm xmlns:a="http://schemas.openxmlformats.org/drawingml/2006/main">
            <a:off x="6381750" y="44577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Parcours navigateur MCP</a:t>
            </a:r>
          </a:p>
        </p:txBody>
      </p:sp>
      <p:sp>
        <p:nvSpPr>
          <p:cNvPr id="13" name="">
            <a:extLst xmlns:a="http://schemas.openxmlformats.org/drawingml/2006/main">
              <a:ext uri="{FF2B5EF4-FFF2-40B4-BE49-F238E27FC236}">
                <a16:creationId xmlns:a16="http://schemas.microsoft.com/office/drawing/2014/main" id="{3FC7F790-C131-45ED-B8F6-4D3B7110C6B0}"/>
              </a:ext>
            </a:extLst>
          </p:cNvPr>
          <p:cNvSpPr>
            <a:spLocks xmlns:a="http://schemas.openxmlformats.org/drawingml/2006/main" noGrp="1"/>
          </p:cNvSpPr>
          <p:nvPr/>
        </p:nvSpPr>
        <p:spPr>
          <a:xfrm xmlns:a="http://schemas.openxmlformats.org/drawingml/2006/main">
            <a:off x="6381750" y="49815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CSV, rechargement, exports, flotte configurée, certificat et simulation.</a:t>
            </a:r>
          </a:p>
        </p:txBody>
      </p:sp>
    </p:spTree>
    <p:extLst>
      <p:ext uri="{BB962C8B-B14F-4D97-AF65-F5344CB8AC3E}">
        <p14:creationId xmlns:p14="http://schemas.microsoft.com/office/powerpoint/2010/main" val="708210597"/>
      </p:ext>
    </p:extLst>
  </p:cSld>
</p:sld>
</file>

<file path=ppt/slides/slide2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7A6298-42B3-4D7D-8513-896A0C36C24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Sauvegarde et limites de reprise</a:t>
            </a:r>
          </a:p>
        </p:txBody>
      </p:sp>
      <p:sp>
        <p:nvSpPr>
          <p:cNvPr id="2" name="">
            <a:extLst xmlns:a="http://schemas.openxmlformats.org/drawingml/2006/main">
              <a:ext uri="{FF2B5EF4-FFF2-40B4-BE49-F238E27FC236}">
                <a16:creationId xmlns:a16="http://schemas.microsoft.com/office/drawing/2014/main" id="{5B71229A-66D3-4317-AC82-C33DDB57F09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5038D4AA-DD81-44EA-83B2-11CAA38FFF30}"/>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20 tests de recovery préservent les données et les réserves. Aucun écrasement de la base active.</a:t>
            </a:r>
          </a:p>
        </p:txBody>
      </p:sp>
      <p:sp>
        <p:nvSpPr>
          <p:cNvPr id="4" name="">
            <a:extLst xmlns:a="http://schemas.openxmlformats.org/drawingml/2006/main">
              <a:ext uri="{FF2B5EF4-FFF2-40B4-BE49-F238E27FC236}">
                <a16:creationId xmlns:a16="http://schemas.microsoft.com/office/drawing/2014/main" id="{79F91E9C-3985-4853-9937-F838014439AB}"/>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Application SQLite</a:t>
            </a:r>
          </a:p>
        </p:txBody>
      </p:sp>
      <p:sp>
        <p:nvSpPr>
          <p:cNvPr id="5" name="">
            <a:extLst xmlns:a="http://schemas.openxmlformats.org/drawingml/2006/main">
              <a:ext uri="{FF2B5EF4-FFF2-40B4-BE49-F238E27FC236}">
                <a16:creationId xmlns:a16="http://schemas.microsoft.com/office/drawing/2014/main" id="{9CCFEB1B-F675-4953-8738-A2F0B37925A4}"/>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Copie cohérente pendant l’activité</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Contrôle d’intégrité et de schéma</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Empreinte du fichier et manifeste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Restauration vers un nouveau fichier</a:t>
            </a:r>
          </a:p>
        </p:txBody>
      </p:sp>
      <p:sp>
        <p:nvSpPr>
          <p:cNvPr id="6" name="">
            <a:extLst xmlns:a="http://schemas.openxmlformats.org/drawingml/2006/main">
              <a:ext uri="{FF2B5EF4-FFF2-40B4-BE49-F238E27FC236}">
                <a16:creationId xmlns:a16="http://schemas.microsoft.com/office/drawing/2014/main" id="{74BC5E31-EF01-4DA9-AF50-21697BE0D83E}"/>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Reprise complète à établir</a:t>
            </a:r>
          </a:p>
        </p:txBody>
      </p:sp>
      <p:sp>
        <p:nvSpPr>
          <p:cNvPr id="7" name="">
            <a:extLst xmlns:a="http://schemas.openxmlformats.org/drawingml/2006/main">
              <a:ext uri="{FF2B5EF4-FFF2-40B4-BE49-F238E27FC236}">
                <a16:creationId xmlns:a16="http://schemas.microsoft.com/office/drawing/2014/main" id="{D29BE09F-EE07-44EF-9B2A-028D2613409A}"/>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Checkpoints LangGraph séparés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Appels et courriels incertains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Procédure coordonnée de bascule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Validation PostgreSQL et incidents</a:t>
            </a:r>
          </a:p>
        </p:txBody>
      </p:sp>
    </p:spTree>
    <p:extLst>
      <p:ext uri="{BB962C8B-B14F-4D97-AF65-F5344CB8AC3E}">
        <p14:creationId xmlns:p14="http://schemas.microsoft.com/office/powerpoint/2010/main" val="250335107"/>
      </p:ext>
    </p:extLst>
  </p:cSld>
</p:sld>
</file>

<file path=ppt/slides/slide2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5D1946-9B3B-48A3-B2A9-099802F692C6}"/>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prochain périmètre utile aux courtiers</a:t>
            </a:r>
          </a:p>
        </p:txBody>
      </p:sp>
      <p:sp>
        <p:nvSpPr>
          <p:cNvPr id="2" name="">
            <a:extLst xmlns:a="http://schemas.openxmlformats.org/drawingml/2006/main">
              <a:ext uri="{FF2B5EF4-FFF2-40B4-BE49-F238E27FC236}">
                <a16:creationId xmlns:a16="http://schemas.microsoft.com/office/drawing/2014/main" id="{9E5E9815-1640-466F-8F0E-A999B969234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3DF02960-99BD-4C8D-8AF2-FD0CFA6C57DB}"/>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produit actuel est un prototype local. Aucune promesse de service commercial.</a:t>
            </a:r>
          </a:p>
        </p:txBody>
      </p:sp>
      <p:sp>
        <p:nvSpPr>
          <p:cNvPr id="4" name="">
            <a:extLst xmlns:a="http://schemas.openxmlformats.org/drawingml/2006/main">
              <a:ext uri="{FF2B5EF4-FFF2-40B4-BE49-F238E27FC236}">
                <a16:creationId xmlns:a16="http://schemas.microsoft.com/office/drawing/2014/main" id="{09B8B109-F873-46C7-A5A2-18B692C6EECD}"/>
              </a:ext>
            </a:extLst>
          </p:cNvPr>
          <p:cNvSpPr>
            <a:spLocks xmlns:a="http://schemas.openxmlformats.org/drawingml/2006/main" noGrp="1"/>
          </p:cNvSpPr>
          <p:nvPr/>
        </p:nvSpPr>
        <p:spPr>
          <a:xfrm xmlns:a="http://schemas.openxmlformats.org/drawingml/2006/main">
            <a:off x="60960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672ADFB-ADB0-43C6-B099-FED9078E544D}"/>
              </a:ext>
            </a:extLst>
          </p:cNvPr>
          <p:cNvSpPr>
            <a:spLocks xmlns:a="http://schemas.openxmlformats.org/drawingml/2006/main" noGrp="1"/>
          </p:cNvSpPr>
          <p:nvPr/>
        </p:nvSpPr>
        <p:spPr>
          <a:xfrm xmlns:a="http://schemas.openxmlformats.org/drawingml/2006/main">
            <a:off x="1419225" y="20478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Accès et responsabilité</a:t>
            </a:r>
          </a:p>
        </p:txBody>
      </p:sp>
      <p:sp>
        <p:nvSpPr>
          <p:cNvPr id="6" name="">
            <a:extLst xmlns:a="http://schemas.openxmlformats.org/drawingml/2006/main">
              <a:ext uri="{FF2B5EF4-FFF2-40B4-BE49-F238E27FC236}">
                <a16:creationId xmlns:a16="http://schemas.microsoft.com/office/drawing/2014/main" id="{77F69E2D-60B5-49E5-BD18-2395DB48C7FE}"/>
              </a:ext>
            </a:extLst>
          </p:cNvPr>
          <p:cNvSpPr>
            <a:spLocks xmlns:a="http://schemas.openxmlformats.org/drawingml/2006/main" noGrp="1"/>
          </p:cNvSpPr>
          <p:nvPr/>
        </p:nvSpPr>
        <p:spPr>
          <a:xfrm xmlns:a="http://schemas.openxmlformats.org/drawingml/2006/main">
            <a:off x="1419225" y="2771775"/>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Authentifier les entreprises, répartiteurs et conducteurs.</a:t>
            </a:r>
          </a:p>
        </p:txBody>
      </p:sp>
      <p:sp>
        <p:nvSpPr>
          <p:cNvPr id="7" name="">
            <a:extLst xmlns:a="http://schemas.openxmlformats.org/drawingml/2006/main">
              <a:ext uri="{FF2B5EF4-FFF2-40B4-BE49-F238E27FC236}">
                <a16:creationId xmlns:a16="http://schemas.microsoft.com/office/drawing/2014/main" id="{62455BAE-EB0C-473B-AC07-54654CCC91CF}"/>
              </a:ext>
            </a:extLst>
          </p:cNvPr>
          <p:cNvSpPr>
            <a:spLocks xmlns:a="http://schemas.openxmlformats.org/drawingml/2006/main" noGrp="1"/>
          </p:cNvSpPr>
          <p:nvPr/>
        </p:nvSpPr>
        <p:spPr>
          <a:xfrm xmlns:a="http://schemas.openxmlformats.org/drawingml/2006/main">
            <a:off x="638175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3AE1EB2-B007-4C93-8C46-F9E3D275EB8B}"/>
              </a:ext>
            </a:extLst>
          </p:cNvPr>
          <p:cNvSpPr>
            <a:spLocks xmlns:a="http://schemas.openxmlformats.org/drawingml/2006/main" noGrp="1"/>
          </p:cNvSpPr>
          <p:nvPr/>
        </p:nvSpPr>
        <p:spPr>
          <a:xfrm xmlns:a="http://schemas.openxmlformats.org/drawingml/2006/main">
            <a:off x="7191375" y="20478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Exécution terrain</a:t>
            </a:r>
          </a:p>
        </p:txBody>
      </p:sp>
      <p:sp>
        <p:nvSpPr>
          <p:cNvPr id="9" name="">
            <a:extLst xmlns:a="http://schemas.openxmlformats.org/drawingml/2006/main">
              <a:ext uri="{FF2B5EF4-FFF2-40B4-BE49-F238E27FC236}">
                <a16:creationId xmlns:a16="http://schemas.microsoft.com/office/drawing/2014/main" id="{4B3611AF-33EB-415C-B857-636CA99DE59E}"/>
              </a:ext>
            </a:extLst>
          </p:cNvPr>
          <p:cNvSpPr>
            <a:spLocks xmlns:a="http://schemas.openxmlformats.org/drawingml/2006/main" noGrp="1"/>
          </p:cNvSpPr>
          <p:nvPr/>
        </p:nvSpPr>
        <p:spPr>
          <a:xfrm xmlns:a="http://schemas.openxmlformats.org/drawingml/2006/main">
            <a:off x="7191375" y="2771775"/>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Accepter la mission, suivre sa fraîcheur et réconcilier chaque colis.</a:t>
            </a:r>
          </a:p>
        </p:txBody>
      </p:sp>
      <p:sp>
        <p:nvSpPr>
          <p:cNvPr id="10" name="">
            <a:extLst xmlns:a="http://schemas.openxmlformats.org/drawingml/2006/main">
              <a:ext uri="{FF2B5EF4-FFF2-40B4-BE49-F238E27FC236}">
                <a16:creationId xmlns:a16="http://schemas.microsoft.com/office/drawing/2014/main" id="{087A6D5E-23E4-48CA-800A-EB2C5E0F0674}"/>
              </a:ext>
            </a:extLst>
          </p:cNvPr>
          <p:cNvSpPr>
            <a:spLocks xmlns:a="http://schemas.openxmlformats.org/drawingml/2006/main" noGrp="1"/>
          </p:cNvSpPr>
          <p:nvPr/>
        </p:nvSpPr>
        <p:spPr>
          <a:xfrm xmlns:a="http://schemas.openxmlformats.org/drawingml/2006/main">
            <a:off x="60960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9A654F6-AB64-4841-A56E-77F746461468}"/>
              </a:ext>
            </a:extLst>
          </p:cNvPr>
          <p:cNvSpPr>
            <a:spLocks xmlns:a="http://schemas.openxmlformats.org/drawingml/2006/main" noGrp="1"/>
          </p:cNvSpPr>
          <p:nvPr/>
        </p:nvSpPr>
        <p:spPr>
          <a:xfrm xmlns:a="http://schemas.openxmlformats.org/drawingml/2006/main">
            <a:off x="1419225" y="40005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Transport contractuel</a:t>
            </a:r>
          </a:p>
        </p:txBody>
      </p:sp>
      <p:sp>
        <p:nvSpPr>
          <p:cNvPr id="12" name="">
            <a:extLst xmlns:a="http://schemas.openxmlformats.org/drawingml/2006/main">
              <a:ext uri="{FF2B5EF4-FFF2-40B4-BE49-F238E27FC236}">
                <a16:creationId xmlns:a16="http://schemas.microsoft.com/office/drawing/2014/main" id="{3A7BD62D-B57F-4524-A572-2BC5D0AE7092}"/>
              </a:ext>
            </a:extLst>
          </p:cNvPr>
          <p:cNvSpPr>
            <a:spLocks xmlns:a="http://schemas.openxmlformats.org/drawingml/2006/main" noGrp="1"/>
          </p:cNvSpPr>
          <p:nvPr/>
        </p:nvSpPr>
        <p:spPr>
          <a:xfrm xmlns:a="http://schemas.openxmlformats.org/drawingml/2006/main">
            <a:off x="1419225" y="4724400"/>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Valider fournisseurs, restrictions véhicules et taux opérationnels.</a:t>
            </a:r>
          </a:p>
        </p:txBody>
      </p:sp>
      <p:sp>
        <p:nvSpPr>
          <p:cNvPr id="13" name="">
            <a:extLst xmlns:a="http://schemas.openxmlformats.org/drawingml/2006/main">
              <a:ext uri="{FF2B5EF4-FFF2-40B4-BE49-F238E27FC236}">
                <a16:creationId xmlns:a16="http://schemas.microsoft.com/office/drawing/2014/main" id="{4DE3C153-5E0C-4C5E-A092-1260980530A4}"/>
              </a:ext>
            </a:extLst>
          </p:cNvPr>
          <p:cNvSpPr>
            <a:spLocks xmlns:a="http://schemas.openxmlformats.org/drawingml/2006/main" noGrp="1"/>
          </p:cNvSpPr>
          <p:nvPr/>
        </p:nvSpPr>
        <p:spPr>
          <a:xfrm xmlns:a="http://schemas.openxmlformats.org/drawingml/2006/main">
            <a:off x="63817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41EE02DE-D682-41A9-AEEC-5B5081165AF3}"/>
              </a:ext>
            </a:extLst>
          </p:cNvPr>
          <p:cNvSpPr>
            <a:spLocks xmlns:a="http://schemas.openxmlformats.org/drawingml/2006/main" noGrp="1"/>
          </p:cNvSpPr>
          <p:nvPr/>
        </p:nvSpPr>
        <p:spPr>
          <a:xfrm xmlns:a="http://schemas.openxmlformats.org/drawingml/2006/main">
            <a:off x="7191375" y="40005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Pilote mesuré</a:t>
            </a:r>
          </a:p>
        </p:txBody>
      </p:sp>
      <p:sp>
        <p:nvSpPr>
          <p:cNvPr id="15" name="">
            <a:extLst xmlns:a="http://schemas.openxmlformats.org/drawingml/2006/main">
              <a:ext uri="{FF2B5EF4-FFF2-40B4-BE49-F238E27FC236}">
                <a16:creationId xmlns:a16="http://schemas.microsoft.com/office/drawing/2014/main" id="{9C412B93-2CA6-4224-A3A5-AF21C648EE86}"/>
              </a:ext>
            </a:extLst>
          </p:cNvPr>
          <p:cNvSpPr>
            <a:spLocks xmlns:a="http://schemas.openxmlformats.org/drawingml/2006/main" noGrp="1"/>
          </p:cNvSpPr>
          <p:nvPr/>
        </p:nvSpPr>
        <p:spPr>
          <a:xfrm xmlns:a="http://schemas.openxmlformats.org/drawingml/2006/main">
            <a:off x="7191375" y="4724400"/>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Comparer délai, kilomètres, erreurs et interventions humaines.</a:t>
            </a:r>
          </a:p>
        </p:txBody>
      </p:sp>
    </p:spTree>
    <p:extLst>
      <p:ext uri="{BB962C8B-B14F-4D97-AF65-F5344CB8AC3E}">
        <p14:creationId xmlns:p14="http://schemas.microsoft.com/office/powerpoint/2010/main" val="292091755"/>
      </p:ext>
    </p:extLst>
  </p:cSld>
</p:sld>
</file>

<file path=ppt/slides/slide30.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49F7E7-0BF6-4D10-9E51-B8A14525F2A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La démonstration</a:t>
            </a:r>
          </a:p>
        </p:txBody>
      </p:sp>
      <p:sp>
        <p:nvSpPr>
          <p:cNvPr id="2" name="">
            <a:extLst xmlns:a="http://schemas.openxmlformats.org/drawingml/2006/main">
              <a:ext uri="{FF2B5EF4-FFF2-40B4-BE49-F238E27FC236}">
                <a16:creationId xmlns:a16="http://schemas.microsoft.com/office/drawing/2014/main" id="{4E1DCC22-07C3-46B8-9D98-D78D0C6B630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43091E15-AFB8-4D65-8A79-1F5FC70E414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Départ simulé après validation humaine. Références techniques dans les notes suivantes.</a:t>
            </a:r>
          </a:p>
        </p:txBody>
      </p:sp>
      <p:sp>
        <p:nvSpPr>
          <p:cNvPr id="4" name="">
            <a:extLst xmlns:a="http://schemas.openxmlformats.org/drawingml/2006/main">
              <a:ext uri="{FF2B5EF4-FFF2-40B4-BE49-F238E27FC236}">
                <a16:creationId xmlns:a16="http://schemas.microsoft.com/office/drawing/2014/main" id="{0DF89CEA-189A-47FF-BDF0-1C6CDEB5F655}"/>
              </a:ext>
            </a:extLst>
          </p:cNvPr>
          <p:cNvSpPr>
            <a:spLocks xmlns:a="http://schemas.openxmlformats.org/drawingml/2006/main" noGrp="1"/>
          </p:cNvSpPr>
          <p:nvPr/>
        </p:nvSpPr>
        <p:spPr>
          <a:xfrm xmlns:a="http://schemas.openxmlformats.org/drawingml/2006/main">
            <a:off x="609600" y="19240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575" b="1">
                <a:solidFill>
                  <a:srgbClr val="FFFFFF"/>
                </a:solidFill>
                <a:latin typeface="Arial"/>
                <a:ea typeface="Arial"/>
                <a:cs typeface="Arial"/>
              </a:defRPr>
            </a:defPPr>
          </a:lstStyle>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Une commande.</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Une proposition vérifiable.</a:t>
            </a:r>
          </a:p>
        </p:txBody>
      </p:sp>
      <p:sp>
        <p:nvSpPr>
          <p:cNvPr id="5" name="">
            <a:extLst xmlns:a="http://schemas.openxmlformats.org/drawingml/2006/main">
              <a:ext uri="{FF2B5EF4-FFF2-40B4-BE49-F238E27FC236}">
                <a16:creationId xmlns:a16="http://schemas.microsoft.com/office/drawing/2014/main" id="{D41344D8-B17D-4BEE-BF18-2CA79CE012E8}"/>
              </a:ext>
            </a:extLst>
          </p:cNvPr>
          <p:cNvSpPr>
            <a:spLocks xmlns:a="http://schemas.openxmlformats.org/drawingml/2006/main" noGrp="1"/>
          </p:cNvSpPr>
          <p:nvPr/>
        </p:nvSpPr>
        <p:spPr>
          <a:xfrm xmlns:a="http://schemas.openxmlformats.org/drawingml/2006/main">
            <a:off x="60960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Opérations</a:t>
            </a:r>
          </a:p>
        </p:txBody>
      </p:sp>
      <p:sp>
        <p:nvSpPr>
          <p:cNvPr id="6" name="">
            <a:extLst xmlns:a="http://schemas.openxmlformats.org/drawingml/2006/main">
              <a:ext uri="{FF2B5EF4-FFF2-40B4-BE49-F238E27FC236}">
                <a16:creationId xmlns:a16="http://schemas.microsoft.com/office/drawing/2014/main" id="{FC8C5084-2CD8-48B2-81FB-A6EAC8C22F95}"/>
              </a:ext>
            </a:extLst>
          </p:cNvPr>
          <p:cNvSpPr>
            <a:spLocks xmlns:a="http://schemas.openxmlformats.org/drawingml/2006/main" noGrp="1"/>
          </p:cNvSpPr>
          <p:nvPr/>
        </p:nvSpPr>
        <p:spPr>
          <a:xfrm xmlns:a="http://schemas.openxmlformats.org/drawingml/2006/main">
            <a:off x="60960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Importer, choisir le dépôt et comparer la proposition.</a:t>
            </a:r>
          </a:p>
        </p:txBody>
      </p:sp>
      <p:sp>
        <p:nvSpPr>
          <p:cNvPr id="7" name="">
            <a:extLst xmlns:a="http://schemas.openxmlformats.org/drawingml/2006/main">
              <a:ext uri="{FF2B5EF4-FFF2-40B4-BE49-F238E27FC236}">
                <a16:creationId xmlns:a16="http://schemas.microsoft.com/office/drawing/2014/main" id="{3B58C5B1-A95F-46B8-8DD4-270C30BF8D3A}"/>
              </a:ext>
            </a:extLst>
          </p:cNvPr>
          <p:cNvSpPr>
            <a:spLocks xmlns:a="http://schemas.openxmlformats.org/drawingml/2006/main" noGrp="1"/>
          </p:cNvSpPr>
          <p:nvPr/>
        </p:nvSpPr>
        <p:spPr>
          <a:xfrm xmlns:a="http://schemas.openxmlformats.org/drawingml/2006/main">
            <a:off x="440055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Agents</a:t>
            </a:r>
          </a:p>
        </p:txBody>
      </p:sp>
      <p:sp>
        <p:nvSpPr>
          <p:cNvPr id="8" name="">
            <a:extLst xmlns:a="http://schemas.openxmlformats.org/drawingml/2006/main">
              <a:ext uri="{FF2B5EF4-FFF2-40B4-BE49-F238E27FC236}">
                <a16:creationId xmlns:a16="http://schemas.microsoft.com/office/drawing/2014/main" id="{D9688E49-A0E9-44C1-A101-8D72FB7BD333}"/>
              </a:ext>
            </a:extLst>
          </p:cNvPr>
          <p:cNvSpPr>
            <a:spLocks xmlns:a="http://schemas.openxmlformats.org/drawingml/2006/main" noGrp="1"/>
          </p:cNvSpPr>
          <p:nvPr/>
        </p:nvSpPr>
        <p:spPr>
          <a:xfrm xmlns:a="http://schemas.openxmlformats.org/drawingml/2006/main">
            <a:off x="440055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Lire les cinq résultats, le certificat et les appels réellement émis.</a:t>
            </a:r>
          </a:p>
        </p:txBody>
      </p:sp>
      <p:sp>
        <p:nvSpPr>
          <p:cNvPr id="9" name="">
            <a:extLst xmlns:a="http://schemas.openxmlformats.org/drawingml/2006/main">
              <a:ext uri="{FF2B5EF4-FFF2-40B4-BE49-F238E27FC236}">
                <a16:creationId xmlns:a16="http://schemas.microsoft.com/office/drawing/2014/main" id="{F28F29E7-8D77-4B2F-A243-C7142E5F6288}"/>
              </a:ext>
            </a:extLst>
          </p:cNvPr>
          <p:cNvSpPr>
            <a:spLocks xmlns:a="http://schemas.openxmlformats.org/drawingml/2006/main" noGrp="1"/>
          </p:cNvSpPr>
          <p:nvPr/>
        </p:nvSpPr>
        <p:spPr>
          <a:xfrm xmlns:a="http://schemas.openxmlformats.org/drawingml/2006/main">
            <a:off x="819150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Analytique</a:t>
            </a:r>
          </a:p>
        </p:txBody>
      </p:sp>
      <p:sp>
        <p:nvSpPr>
          <p:cNvPr id="10" name="">
            <a:extLst xmlns:a="http://schemas.openxmlformats.org/drawingml/2006/main">
              <a:ext uri="{FF2B5EF4-FFF2-40B4-BE49-F238E27FC236}">
                <a16:creationId xmlns:a16="http://schemas.microsoft.com/office/drawing/2014/main" id="{8F186764-36E8-47E2-9A16-474CE3551321}"/>
              </a:ext>
            </a:extLst>
          </p:cNvPr>
          <p:cNvSpPr>
            <a:spLocks xmlns:a="http://schemas.openxmlformats.org/drawingml/2006/main" noGrp="1"/>
          </p:cNvSpPr>
          <p:nvPr/>
        </p:nvSpPr>
        <p:spPr>
          <a:xfrm xmlns:a="http://schemas.openxmlformats.org/drawingml/2006/main">
            <a:off x="819150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Comparer la cohorte et vérifier le budget global.</a:t>
            </a:r>
          </a:p>
        </p:txBody>
      </p:sp>
    </p:spTree>
    <p:extLst>
      <p:ext uri="{BB962C8B-B14F-4D97-AF65-F5344CB8AC3E}">
        <p14:creationId xmlns:p14="http://schemas.microsoft.com/office/powerpoint/2010/main" val="1491597454"/>
      </p:ext>
    </p:extLst>
  </p:cSld>
</p:sld>
</file>

<file path=ppt/slides/slide3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F36C55-ADD6-4865-8C4D-6B48130E729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bibliothèques et leur support</a:t>
            </a:r>
          </a:p>
        </p:txBody>
      </p:sp>
      <p:sp>
        <p:nvSpPr>
          <p:cNvPr id="2" name="">
            <a:extLst xmlns:a="http://schemas.openxmlformats.org/drawingml/2006/main">
              <a:ext uri="{FF2B5EF4-FFF2-40B4-BE49-F238E27FC236}">
                <a16:creationId xmlns:a16="http://schemas.microsoft.com/office/drawing/2014/main" id="{36ABEC89-5146-43BF-8B38-20977E5BB314}"/>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917D14FA-C72F-4A3E-B126-65137758A50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10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8A689291-552D-4E85-8031-5E7D4642156C}"/>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FastAPI</a:t>
                      </a:r>
                    </a:p>
                  </a:txBody>
                  <a:tcPr marL="91440" marR="91440" marT="45720" marB="45720">
                    <a:solidFill>
                      <a:srgbClr val="FFFFFF"/>
                    </a:solidFill>
                  </a:tcPr>
                </a:tc>
                <a:tc>
                  <a:txBody>
                    <a:bodyPr/>
                    <a:lstStyle/>
                    <a:p>
                      <a:r>
                        <a:rPr sz="1725" b="0">
                          <a:solidFill>
                            <a:srgbClr val="173039"/>
                          </a:solidFill>
                          <a:latin typeface="Arial"/>
                          <a:ea typeface="Arial"/>
                          <a:cs typeface="Arial"/>
                        </a:rPr>
                        <a:t>Starlette + Pydantic</a:t>
                      </a:r>
                    </a:p>
                  </a:txBody>
                  <a:tcPr marL="91440" marR="91440" marT="45720" marB="45720">
                    <a:solidFill>
                      <a:srgbClr val="FFFFFF"/>
                    </a:solidFill>
                  </a:tcPr>
                </a:tc>
                <a:tc>
                  <a:txBody>
                    <a:bodyPr/>
                    <a:lstStyle/>
                    <a:p>
                      <a:r>
                        <a:rPr sz="1725" b="0">
                          <a:solidFill>
                            <a:srgbClr val="173039"/>
                          </a:solidFill>
                          <a:latin typeface="Arial"/>
                          <a:ea typeface="Arial"/>
                          <a:cs typeface="Arial"/>
                        </a:rPr>
                        <a:t>Acheminer les requêtes et valider les données.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LangGraph</a:t>
                      </a:r>
                    </a:p>
                  </a:txBody>
                  <a:tcPr marL="91440" marR="91440" marT="45720" marB="45720">
                    <a:solidFill>
                      <a:srgbClr val="EAF0F1"/>
                    </a:solidFill>
                  </a:tcPr>
                </a:tc>
                <a:tc>
                  <a:txBody>
                    <a:bodyPr/>
                    <a:lstStyle/>
                    <a:p>
                      <a:r>
                        <a:rPr sz="1725" b="0">
                          <a:solidFill>
                            <a:srgbClr val="173039"/>
                          </a:solidFill>
                          <a:latin typeface="Arial"/>
                          <a:ea typeface="Arial"/>
                          <a:cs typeface="Arial"/>
                        </a:rPr>
                        <a:t>Checkpoint + prebuilt + SDK</a:t>
                      </a:r>
                    </a:p>
                  </a:txBody>
                  <a:tcPr marL="91440" marR="91440" marT="45720" marB="45720">
                    <a:solidFill>
                      <a:srgbClr val="EAF0F1"/>
                    </a:solidFill>
                  </a:tcPr>
                </a:tc>
                <a:tc>
                  <a:txBody>
                    <a:bodyPr/>
                    <a:lstStyle/>
                    <a:p>
                      <a:r>
                        <a:rPr sz="1725" b="0">
                          <a:solidFill>
                            <a:srgbClr val="173039"/>
                          </a:solidFill>
                          <a:latin typeface="Arial"/>
                          <a:ea typeface="Arial"/>
                          <a:cs typeface="Arial"/>
                        </a:rPr>
                        <a:t>Fournir les composants du moteur de graphe.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OR-Tools</a:t>
                      </a:r>
                    </a:p>
                  </a:txBody>
                  <a:tcPr marL="91440" marR="91440" marT="45720" marB="45720">
                    <a:solidFill>
                      <a:srgbClr val="FFFFFF"/>
                    </a:solidFill>
                  </a:tcPr>
                </a:tc>
                <a:tc>
                  <a:txBody>
                    <a:bodyPr/>
                    <a:lstStyle/>
                    <a:p>
                      <a:r>
                        <a:rPr sz="1725" b="0">
                          <a:solidFill>
                            <a:srgbClr val="173039"/>
                          </a:solidFill>
                          <a:latin typeface="Arial"/>
                          <a:ea typeface="Arial"/>
                          <a:cs typeface="Arial"/>
                        </a:rPr>
                        <a:t>NumPy + Pandas + protobuf</a:t>
                      </a:r>
                    </a:p>
                  </a:txBody>
                  <a:tcPr marL="91440" marR="91440" marT="45720" marB="45720">
                    <a:solidFill>
                      <a:srgbClr val="FFFFFF"/>
                    </a:solidFill>
                  </a:tcPr>
                </a:tc>
                <a:tc>
                  <a:txBody>
                    <a:bodyPr/>
                    <a:lstStyle/>
                    <a:p>
                      <a:r>
                        <a:rPr sz="1725" b="0">
                          <a:solidFill>
                            <a:srgbClr val="173039"/>
                          </a:solidFill>
                          <a:latin typeface="Arial"/>
                          <a:ea typeface="Arial"/>
                          <a:cs typeface="Arial"/>
                        </a:rPr>
                        <a:t>Support numérique et données du paquet solveur.</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Anthropic</a:t>
                      </a:r>
                    </a:p>
                  </a:txBody>
                  <a:tcPr marL="91440" marR="91440" marT="45720" marB="45720">
                    <a:solidFill>
                      <a:srgbClr val="EAF0F1"/>
                    </a:solidFill>
                  </a:tcPr>
                </a:tc>
                <a:tc>
                  <a:txBody>
                    <a:bodyPr/>
                    <a:lstStyle/>
                    <a:p>
                      <a:r>
                        <a:rPr sz="1725" b="0">
                          <a:solidFill>
                            <a:srgbClr val="173039"/>
                          </a:solidFill>
                          <a:latin typeface="Arial"/>
                          <a:ea typeface="Arial"/>
                          <a:cs typeface="Arial"/>
                        </a:rPr>
                        <a:t>HTTPX2 + Pydantic</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du SDK et représentation des réponses.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SQLAlchemy</a:t>
                      </a:r>
                    </a:p>
                  </a:txBody>
                  <a:tcPr marL="91440" marR="91440" marT="45720" marB="45720">
                    <a:solidFill>
                      <a:srgbClr val="FFFFFF"/>
                    </a:solidFill>
                  </a:tcPr>
                </a:tc>
                <a:tc>
                  <a:txBody>
                    <a:bodyPr/>
                    <a:lstStyle/>
                    <a:p>
                      <a:r>
                        <a:rPr sz="1725" b="0">
                          <a:solidFill>
                            <a:srgbClr val="173039"/>
                          </a:solidFill>
                          <a:latin typeface="Arial"/>
                          <a:ea typeface="Arial"/>
                          <a:cs typeface="Arial"/>
                        </a:rPr>
                        <a:t>typing-extensions</a:t>
                      </a:r>
                    </a:p>
                  </a:txBody>
                  <a:tcPr marL="91440" marR="91440" marT="45720" marB="45720">
                    <a:solidFill>
                      <a:srgbClr val="FFFFFF"/>
                    </a:solidFill>
                  </a:tcPr>
                </a:tc>
                <a:tc>
                  <a:txBody>
                    <a:bodyPr/>
                    <a:lstStyle/>
                    <a:p>
                      <a:r>
                        <a:rPr sz="1725" b="0">
                          <a:solidFill>
                            <a:srgbClr val="173039"/>
                          </a:solidFill>
                          <a:latin typeface="Arial"/>
                          <a:ea typeface="Arial"/>
                          <a:cs typeface="Arial"/>
                        </a:rPr>
                        <a:t>Support des annotations de types entre versions Python.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47779750"/>
      </p:ext>
    </p:extLst>
  </p:cSld>
</p:sld>
</file>

<file path=ppt/slides/slide3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FACF36-BF57-40B9-B142-45624C365C7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Ce que font les dépendances de support</a:t>
            </a:r>
          </a:p>
        </p:txBody>
      </p:sp>
      <p:sp>
        <p:nvSpPr>
          <p:cNvPr id="2" name="">
            <a:extLst xmlns:a="http://schemas.openxmlformats.org/drawingml/2006/main">
              <a:ext uri="{FF2B5EF4-FFF2-40B4-BE49-F238E27FC236}">
                <a16:creationId xmlns:a16="http://schemas.microsoft.com/office/drawing/2014/main" id="{A6FA8B3D-B876-469B-A14C-5372EB96932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6023A7D9-46EF-4E64-8A47-2FE2D124C5B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60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F7924DE0-C0AE-47AF-A45D-9BF7E29C7AF1}"/>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Starlette + AnyIO</a:t>
                      </a:r>
                    </a:p>
                  </a:txBody>
                  <a:tcPr marL="91440" marR="91440" marT="45720" marB="45720">
                    <a:solidFill>
                      <a:srgbClr val="FFFFFF"/>
                    </a:solidFill>
                  </a:tcPr>
                </a:tc>
                <a:tc>
                  <a:txBody>
                    <a:bodyPr/>
                    <a:lstStyle/>
                    <a:p>
                      <a:r>
                        <a:rPr sz="1725" b="0">
                          <a:solidFill>
                            <a:srgbClr val="173039"/>
                          </a:solidFill>
                          <a:latin typeface="Arial"/>
                          <a:ea typeface="Arial"/>
                          <a:cs typeface="Arial"/>
                        </a:rPr>
                        <a:t>Web et concurrence</a:t>
                      </a:r>
                    </a:p>
                  </a:txBody>
                  <a:tcPr marL="91440" marR="91440" marT="45720" marB="45720">
                    <a:solidFill>
                      <a:srgbClr val="FFFFFF"/>
                    </a:solidFill>
                  </a:tcPr>
                </a:tc>
                <a:tc>
                  <a:txBody>
                    <a:bodyPr/>
                    <a:lstStyle/>
                    <a:p>
                      <a:r>
                        <a:rPr sz="1725" b="0">
                          <a:solidFill>
                            <a:srgbClr val="173039"/>
                          </a:solidFill>
                          <a:latin typeface="Arial"/>
                          <a:ea typeface="Arial"/>
                          <a:cs typeface="Arial"/>
                        </a:rPr>
                        <a:t>Supporter les requêtes, réponses et tâches ASGI.</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HTTPcore + certifi</a:t>
                      </a:r>
                    </a:p>
                  </a:txBody>
                  <a:tcPr marL="91440" marR="91440" marT="45720" marB="45720">
                    <a:solidFill>
                      <a:srgbClr val="EAF0F1"/>
                    </a:solidFill>
                  </a:tcPr>
                </a:tc>
                <a:tc>
                  <a:txBody>
                    <a:bodyPr/>
                    <a:lstStyle/>
                    <a:p>
                      <a:r>
                        <a:rPr sz="1725" b="0">
                          <a:solidFill>
                            <a:srgbClr val="173039"/>
                          </a:solidFill>
                          <a:latin typeface="Arial"/>
                          <a:ea typeface="Arial"/>
                          <a:cs typeface="Arial"/>
                        </a:rPr>
                        <a:t>Transport HTTPX</a:t>
                      </a:r>
                    </a:p>
                  </a:txBody>
                  <a:tcPr marL="91440" marR="91440" marT="45720" marB="45720">
                    <a:solidFill>
                      <a:srgbClr val="EAF0F1"/>
                    </a:solidFill>
                  </a:tcPr>
                </a:tc>
                <a:tc>
                  <a:txBody>
                    <a:bodyPr/>
                    <a:lstStyle/>
                    <a:p>
                      <a:r>
                        <a:rPr sz="1725" b="0">
                          <a:solidFill>
                            <a:srgbClr val="173039"/>
                          </a:solidFill>
                          <a:latin typeface="Arial"/>
                          <a:ea typeface="Arial"/>
                          <a:cs typeface="Arial"/>
                        </a:rPr>
                        <a:t>Gérer connexions HTTP et certificats TLS.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HTTPcore2 + truststore</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HTTPX2</a:t>
                      </a:r>
                    </a:p>
                  </a:txBody>
                  <a:tcPr marL="91440" marR="91440" marT="45720" marB="45720">
                    <a:solidFill>
                      <a:srgbClr val="FFFFFF"/>
                    </a:solidFill>
                  </a:tcPr>
                </a:tc>
                <a:tc>
                  <a:txBody>
                    <a:bodyPr/>
                    <a:lstStyle/>
                    <a:p>
                      <a:r>
                        <a:rPr sz="1725" b="0">
                          <a:solidFill>
                            <a:srgbClr val="173039"/>
                          </a:solidFill>
                          <a:latin typeface="Arial"/>
                          <a:ea typeface="Arial"/>
                          <a:cs typeface="Arial"/>
                        </a:rPr>
                        <a:t>Transport et certificats du SDK Anthropic.</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Pydantic-core</a:t>
                      </a:r>
                    </a:p>
                  </a:txBody>
                  <a:tcPr marL="91440" marR="91440" marT="45720" marB="45720">
                    <a:solidFill>
                      <a:srgbClr val="EAF0F1"/>
                    </a:solidFill>
                  </a:tcPr>
                </a:tc>
                <a:tc>
                  <a:txBody>
                    <a:bodyPr/>
                    <a:lstStyle/>
                    <a:p>
                      <a:r>
                        <a:rPr sz="1725" b="0">
                          <a:solidFill>
                            <a:srgbClr val="173039"/>
                          </a:solidFill>
                          <a:latin typeface="Arial"/>
                          <a:ea typeface="Arial"/>
                          <a:cs typeface="Arial"/>
                        </a:rPr>
                        <a:t>Validation compilée</a:t>
                      </a:r>
                    </a:p>
                  </a:txBody>
                  <a:tcPr marL="91440" marR="91440" marT="45720" marB="45720">
                    <a:solidFill>
                      <a:srgbClr val="EAF0F1"/>
                    </a:solidFill>
                  </a:tcPr>
                </a:tc>
                <a:tc>
                  <a:txBody>
                    <a:bodyPr/>
                    <a:lstStyle/>
                    <a:p>
                      <a:r>
                        <a:rPr sz="1725" b="0">
                          <a:solidFill>
                            <a:srgbClr val="173039"/>
                          </a:solidFill>
                          <a:latin typeface="Arial"/>
                          <a:ea typeface="Arial"/>
                          <a:cs typeface="Arial"/>
                        </a:rPr>
                        <a:t>Appliquer les règles des modèles Pydantic.</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OpenTelemetry</a:t>
                      </a:r>
                    </a:p>
                  </a:txBody>
                  <a:tcPr marL="91440" marR="91440" marT="45720" marB="45720">
                    <a:solidFill>
                      <a:srgbClr val="FFFFFF"/>
                    </a:solidFill>
                  </a:tcPr>
                </a:tc>
                <a:tc>
                  <a:txBody>
                    <a:bodyPr/>
                    <a:lstStyle/>
                    <a:p>
                      <a:r>
                        <a:rPr sz="1725" b="0">
                          <a:solidFill>
                            <a:srgbClr val="173039"/>
                          </a:solidFill>
                          <a:latin typeface="Arial"/>
                          <a:ea typeface="Arial"/>
                          <a:cs typeface="Arial"/>
                        </a:rPr>
                        <a:t>API, SDK, OTLP, protobuf</a:t>
                      </a:r>
                    </a:p>
                  </a:txBody>
                  <a:tcPr marL="91440" marR="91440" marT="45720" marB="45720">
                    <a:solidFill>
                      <a:srgbClr val="FFFFFF"/>
                    </a:solidFill>
                  </a:tcPr>
                </a:tc>
                <a:tc>
                  <a:txBody>
                    <a:bodyPr/>
                    <a:lstStyle/>
                    <a:p>
                      <a:r>
                        <a:rPr sz="1725" b="0">
                          <a:solidFill>
                            <a:srgbClr val="173039"/>
                          </a:solidFill>
                          <a:latin typeface="Arial"/>
                          <a:ea typeface="Arial"/>
                          <a:cs typeface="Arial"/>
                        </a:rPr>
                        <a:t>Décrire, traiter et transmettre les traces via Langfuse.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39338030"/>
      </p:ext>
    </p:extLst>
  </p:cSld>
</p:sld>
</file>

<file path=ppt/slides/slide3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271704-91C6-4574-9DF6-2F2444ACE6F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intégrations optionnelles</a:t>
            </a:r>
          </a:p>
        </p:txBody>
      </p:sp>
      <p:sp>
        <p:nvSpPr>
          <p:cNvPr id="2" name="">
            <a:extLst xmlns:a="http://schemas.openxmlformats.org/drawingml/2006/main">
              <a:ext uri="{FF2B5EF4-FFF2-40B4-BE49-F238E27FC236}">
                <a16:creationId xmlns:a16="http://schemas.microsoft.com/office/drawing/2014/main" id="{E99295CE-17FD-423C-89EA-B2DE701E25A3}"/>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0EB39317-AB33-4DD3-80D6-894574E4FD8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4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DF923510-FD71-4D63-8A31-74DC52691B12}"/>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862013">
                <a:tc>
                  <a:txBody>
                    <a:bodyPr/>
                    <a:lstStyle/>
                    <a:p>
                      <a:r>
                        <a:rPr sz="1725" b="1">
                          <a:solidFill>
                            <a:srgbClr val="173039"/>
                          </a:solidFill>
                          <a:latin typeface="Arial"/>
                          <a:ea typeface="Arial"/>
                          <a:cs typeface="Arial"/>
                        </a:rPr>
                        <a:t>Langfuse</a:t>
                      </a:r>
                    </a:p>
                  </a:txBody>
                  <a:tcPr marL="91440" marR="91440" marT="45720" marB="45720">
                    <a:solidFill>
                      <a:srgbClr val="FFFFFF"/>
                    </a:solidFill>
                  </a:tcPr>
                </a:tc>
                <a:tc>
                  <a:txBody>
                    <a:bodyPr/>
                    <a:lstStyle/>
                    <a:p>
                      <a:r>
                        <a:rPr sz="1725" b="0">
                          <a:solidFill>
                            <a:srgbClr val="173039"/>
                          </a:solidFill>
                          <a:latin typeface="Arial"/>
                          <a:ea typeface="Arial"/>
                          <a:cs typeface="Arial"/>
                        </a:rPr>
                        <a:t>Inspection de traces</a:t>
                      </a:r>
                    </a:p>
                  </a:txBody>
                  <a:tcPr marL="91440" marR="91440" marT="45720" marB="45720">
                    <a:solidFill>
                      <a:srgbClr val="FFFFFF"/>
                    </a:solidFill>
                  </a:tcPr>
                </a:tc>
                <a:tc>
                  <a:txBody>
                    <a:bodyPr/>
                    <a:lstStyle/>
                    <a:p>
                      <a:r>
                        <a:rPr sz="1725" b="0">
                          <a:solidFill>
                            <a:srgbClr val="173039"/>
                          </a:solidFill>
                          <a:latin typeface="Arial"/>
                          <a:ea typeface="Arial"/>
                          <a:cs typeface="Arial"/>
                        </a:rPr>
                        <a:t>Copie expurgée de l’outbox si configuré.</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Psycopg</a:t>
                      </a:r>
                    </a:p>
                  </a:txBody>
                  <a:tcPr marL="91440" marR="91440" marT="45720" marB="45720">
                    <a:solidFill>
                      <a:srgbClr val="EAF0F1"/>
                    </a:solidFill>
                  </a:tcPr>
                </a:tc>
                <a:tc>
                  <a:txBody>
                    <a:bodyPr/>
                    <a:lstStyle/>
                    <a:p>
                      <a:r>
                        <a:rPr sz="1725" b="0">
                          <a:solidFill>
                            <a:srgbClr val="173039"/>
                          </a:solidFill>
                          <a:latin typeface="Arial"/>
                          <a:ea typeface="Arial"/>
                          <a:cs typeface="Arial"/>
                        </a:rPr>
                        <a:t>Pilote PostgreSQL</a:t>
                      </a:r>
                    </a:p>
                  </a:txBody>
                  <a:tcPr marL="91440" marR="91440" marT="45720" marB="45720">
                    <a:solidFill>
                      <a:srgbClr val="EAF0F1"/>
                    </a:solidFill>
                  </a:tcPr>
                </a:tc>
                <a:tc>
                  <a:txBody>
                    <a:bodyPr/>
                    <a:lstStyle/>
                    <a:p>
                      <a:r>
                        <a:rPr sz="1725" b="0">
                          <a:solidFill>
                            <a:srgbClr val="173039"/>
                          </a:solidFill>
                          <a:latin typeface="Arial"/>
                          <a:ea typeface="Arial"/>
                          <a:cs typeface="Arial"/>
                        </a:rPr>
                        <a:t>Exécuter SQL contre le profil PostgreSQL choisi.</a:t>
                      </a:r>
                    </a:p>
                  </a:txBody>
                  <a:tcPr marL="91440" marR="91440" marT="45720" marB="45720">
                    <a:solidFill>
                      <a:srgbClr val="EAF0F1"/>
                    </a:solidFill>
                  </a:tcPr>
                </a:tc>
              </a:tr>
              <a:tr h="862013">
                <a:tc>
                  <a:txBody>
                    <a:bodyPr/>
                    <a:lstStyle/>
                    <a:p>
                      <a:r>
                        <a:rPr sz="1725" b="1">
                          <a:solidFill>
                            <a:srgbClr val="173039"/>
                          </a:solidFill>
                          <a:latin typeface="Arial"/>
                          <a:ea typeface="Arial"/>
                          <a:cs typeface="Arial"/>
                        </a:rPr>
                        <a:t>Psycopg-pool</a:t>
                      </a:r>
                    </a:p>
                  </a:txBody>
                  <a:tcPr marL="91440" marR="91440" marT="45720" marB="45720">
                    <a:solidFill>
                      <a:srgbClr val="FFFFFF"/>
                    </a:solidFill>
                  </a:tcPr>
                </a:tc>
                <a:tc>
                  <a:txBody>
                    <a:bodyPr/>
                    <a:lstStyle/>
                    <a:p>
                      <a:r>
                        <a:rPr sz="1725" b="0">
                          <a:solidFill>
                            <a:srgbClr val="173039"/>
                          </a:solidFill>
                          <a:latin typeface="Arial"/>
                          <a:ea typeface="Arial"/>
                          <a:cs typeface="Arial"/>
                        </a:rPr>
                        <a:t>Connexions réutilisables</a:t>
                      </a:r>
                    </a:p>
                  </a:txBody>
                  <a:tcPr marL="91440" marR="91440" marT="45720" marB="45720">
                    <a:solidFill>
                      <a:srgbClr val="FFFFFF"/>
                    </a:solidFill>
                  </a:tcPr>
                </a:tc>
                <a:tc>
                  <a:txBody>
                    <a:bodyPr/>
                    <a:lstStyle/>
                    <a:p>
                      <a:r>
                        <a:rPr sz="1725" b="0">
                          <a:solidFill>
                            <a:srgbClr val="173039"/>
                          </a:solidFill>
                          <a:latin typeface="Arial"/>
                          <a:ea typeface="Arial"/>
                          <a:cs typeface="Arial"/>
                        </a:rPr>
                        <a:t>Servir un pool si le chemin le sélectionne.</a:t>
                      </a:r>
                    </a:p>
                  </a:txBody>
                  <a:tcPr marL="91440" marR="91440" marT="45720" marB="45720">
                    <a:solidFill>
                      <a:srgbClr val="FFFFFF"/>
                    </a:solidFill>
                  </a:tcPr>
                </a:tc>
              </a:tr>
              <a:tr h="862013">
                <a:tc>
                  <a:txBody>
                    <a:bodyPr/>
                    <a:lstStyle/>
                    <a:p>
                      <a:r>
                        <a:rPr sz="1725" b="1">
                          <a:solidFill>
                            <a:srgbClr val="173039"/>
                          </a:solidFill>
                          <a:latin typeface="Arial"/>
                          <a:ea typeface="Arial"/>
                          <a:cs typeface="Arial"/>
                        </a:rPr>
                        <a:t>Checkpoint PostgreSQL</a:t>
                      </a:r>
                    </a:p>
                  </a:txBody>
                  <a:tcPr marL="91440" marR="91440" marT="45720" marB="45720">
                    <a:solidFill>
                      <a:srgbClr val="EAF0F1"/>
                    </a:solidFill>
                  </a:tcPr>
                </a:tc>
                <a:tc>
                  <a:txBody>
                    <a:bodyPr/>
                    <a:lstStyle/>
                    <a:p>
                      <a:r>
                        <a:rPr sz="1725" b="0">
                          <a:solidFill>
                            <a:srgbClr val="173039"/>
                          </a:solidFill>
                          <a:latin typeface="Arial"/>
                          <a:ea typeface="Arial"/>
                          <a:cs typeface="Arial"/>
                        </a:rPr>
                        <a:t>État du graphe en SQL</a:t>
                      </a:r>
                    </a:p>
                  </a:txBody>
                  <a:tcPr marL="91440" marR="91440" marT="45720" marB="45720">
                    <a:solidFill>
                      <a:srgbClr val="EAF0F1"/>
                    </a:solidFill>
                  </a:tcPr>
                </a:tc>
                <a:tc>
                  <a:txBody>
                    <a:bodyPr/>
                    <a:lstStyle/>
                    <a:p>
                      <a:r>
                        <a:rPr sz="1725" b="0">
                          <a:solidFill>
                            <a:srgbClr val="173039"/>
                          </a:solidFill>
                          <a:latin typeface="Arial"/>
                          <a:ea typeface="Arial"/>
                          <a:cs typeface="Arial"/>
                        </a:rPr>
                        <a:t>Saver alternatif au SqliteSaver local.</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141858070"/>
      </p:ext>
    </p:extLst>
  </p:cSld>
</p:sld>
</file>

<file path=ppt/slides/slide3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DE74B0-B746-4EA4-8C10-1757FA6E03C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dépendances des tests Python</a:t>
            </a:r>
          </a:p>
        </p:txBody>
      </p:sp>
      <p:sp>
        <p:nvSpPr>
          <p:cNvPr id="2" name="">
            <a:extLst xmlns:a="http://schemas.openxmlformats.org/drawingml/2006/main">
              <a:ext uri="{FF2B5EF4-FFF2-40B4-BE49-F238E27FC236}">
                <a16:creationId xmlns:a16="http://schemas.microsoft.com/office/drawing/2014/main" id="{2A269C14-5E35-4928-87B1-28DD68146B6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D4FEC0A8-A5BD-4BA7-BA09-5A02103FA95E}"/>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4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2A5079BB-9384-4C0C-87AE-BC8406066ED3}"/>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pytest</a:t>
                      </a:r>
                    </a:p>
                  </a:txBody>
                  <a:tcPr marL="91440" marR="91440" marT="45720" marB="45720">
                    <a:solidFill>
                      <a:srgbClr val="FFFFFF"/>
                    </a:solidFill>
                  </a:tcPr>
                </a:tc>
                <a:tc>
                  <a:txBody>
                    <a:bodyPr/>
                    <a:lstStyle/>
                    <a:p>
                      <a:r>
                        <a:rPr sz="1725" b="0">
                          <a:solidFill>
                            <a:srgbClr val="173039"/>
                          </a:solidFill>
                          <a:latin typeface="Arial"/>
                          <a:ea typeface="Arial"/>
                          <a:cs typeface="Arial"/>
                        </a:rPr>
                        <a:t>Moteur de tests</a:t>
                      </a:r>
                    </a:p>
                  </a:txBody>
                  <a:tcPr marL="91440" marR="91440" marT="45720" marB="45720">
                    <a:solidFill>
                      <a:srgbClr val="FFFFFF"/>
                    </a:solidFill>
                  </a:tcPr>
                </a:tc>
                <a:tc>
                  <a:txBody>
                    <a:bodyPr/>
                    <a:lstStyle/>
                    <a:p>
                      <a:r>
                        <a:rPr sz="1725" b="0">
                          <a:solidFill>
                            <a:srgbClr val="173039"/>
                          </a:solidFill>
                          <a:latin typeface="Arial"/>
                          <a:ea typeface="Arial"/>
                          <a:cs typeface="Arial"/>
                        </a:rPr>
                        <a:t>Découvrir les cas, fixtures et assertions backend.</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Pluggy</a:t>
                      </a:r>
                    </a:p>
                  </a:txBody>
                  <a:tcPr marL="91440" marR="91440" marT="45720" marB="45720">
                    <a:solidFill>
                      <a:srgbClr val="EAF0F1"/>
                    </a:solidFill>
                  </a:tcPr>
                </a:tc>
                <a:tc>
                  <a:txBody>
                    <a:bodyPr/>
                    <a:lstStyle/>
                    <a:p>
                      <a:r>
                        <a:rPr sz="1725" b="0">
                          <a:solidFill>
                            <a:srgbClr val="173039"/>
                          </a:solidFill>
                          <a:latin typeface="Arial"/>
                          <a:ea typeface="Arial"/>
                          <a:cs typeface="Arial"/>
                        </a:rPr>
                        <a:t>Points d’extension</a:t>
                      </a:r>
                    </a:p>
                  </a:txBody>
                  <a:tcPr marL="91440" marR="91440" marT="45720" marB="45720">
                    <a:solidFill>
                      <a:srgbClr val="EAF0F1"/>
                    </a:solidFill>
                  </a:tcPr>
                </a:tc>
                <a:tc>
                  <a:txBody>
                    <a:bodyPr/>
                    <a:lstStyle/>
                    <a:p>
                      <a:r>
                        <a:rPr sz="1725" b="0">
                          <a:solidFill>
                            <a:srgbClr val="173039"/>
                          </a:solidFill>
                          <a:latin typeface="Arial"/>
                          <a:ea typeface="Arial"/>
                          <a:cs typeface="Arial"/>
                        </a:rPr>
                        <a:t>Brancher les plugins dans le cycle de pytest.</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Iniconfig</a:t>
                      </a:r>
                    </a:p>
                  </a:txBody>
                  <a:tcPr marL="91440" marR="91440" marT="45720" marB="45720">
                    <a:solidFill>
                      <a:srgbClr val="FFFFFF"/>
                    </a:solidFill>
                  </a:tcPr>
                </a:tc>
                <a:tc>
                  <a:txBody>
                    <a:bodyPr/>
                    <a:lstStyle/>
                    <a:p>
                      <a:r>
                        <a:rPr sz="1725" b="0">
                          <a:solidFill>
                            <a:srgbClr val="173039"/>
                          </a:solidFill>
                          <a:latin typeface="Arial"/>
                          <a:ea typeface="Arial"/>
                          <a:cs typeface="Arial"/>
                        </a:rPr>
                        <a:t>Lecture de configuration</a:t>
                      </a:r>
                    </a:p>
                  </a:txBody>
                  <a:tcPr marL="91440" marR="91440" marT="45720" marB="45720">
                    <a:solidFill>
                      <a:srgbClr val="FFFFFF"/>
                    </a:solidFill>
                  </a:tcPr>
                </a:tc>
                <a:tc>
                  <a:txBody>
                    <a:bodyPr/>
                    <a:lstStyle/>
                    <a:p>
                      <a:r>
                        <a:rPr sz="1725" b="0">
                          <a:solidFill>
                            <a:srgbClr val="173039"/>
                          </a:solidFill>
                          <a:latin typeface="Arial"/>
                          <a:ea typeface="Arial"/>
                          <a:cs typeface="Arial"/>
                        </a:rPr>
                        <a:t>Interpréter les réglages INI utilisés par pytest.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Pygments + Colorama</a:t>
                      </a:r>
                    </a:p>
                  </a:txBody>
                  <a:tcPr marL="91440" marR="91440" marT="45720" marB="45720">
                    <a:solidFill>
                      <a:srgbClr val="EAF0F1"/>
                    </a:solidFill>
                  </a:tcPr>
                </a:tc>
                <a:tc>
                  <a:txBody>
                    <a:bodyPr/>
                    <a:lstStyle/>
                    <a:p>
                      <a:r>
                        <a:rPr sz="1725" b="0">
                          <a:solidFill>
                            <a:srgbClr val="173039"/>
                          </a:solidFill>
                          <a:latin typeface="Arial"/>
                          <a:ea typeface="Arial"/>
                          <a:cs typeface="Arial"/>
                        </a:rPr>
                        <a:t>Sortie du terminal</a:t>
                      </a:r>
                    </a:p>
                  </a:txBody>
                  <a:tcPr marL="91440" marR="91440" marT="45720" marB="45720">
                    <a:solidFill>
                      <a:srgbClr val="EAF0F1"/>
                    </a:solidFill>
                  </a:tcPr>
                </a:tc>
                <a:tc>
                  <a:txBody>
                    <a:bodyPr/>
                    <a:lstStyle/>
                    <a:p>
                      <a:r>
                        <a:rPr sz="1725" b="0">
                          <a:solidFill>
                            <a:srgbClr val="173039"/>
                          </a:solidFill>
                          <a:latin typeface="Arial"/>
                          <a:ea typeface="Arial"/>
                          <a:cs typeface="Arial"/>
                        </a:rPr>
                        <a:t>Colorer les erreurs et adapter le terminal Windows.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Ruff</a:t>
                      </a:r>
                    </a:p>
                  </a:txBody>
                  <a:tcPr marL="91440" marR="91440" marT="45720" marB="45720">
                    <a:solidFill>
                      <a:srgbClr val="FFFFFF"/>
                    </a:solidFill>
                  </a:tcPr>
                </a:tc>
                <a:tc>
                  <a:txBody>
                    <a:bodyPr/>
                    <a:lstStyle/>
                    <a:p>
                      <a:r>
                        <a:rPr sz="1725" b="0">
                          <a:solidFill>
                            <a:srgbClr val="173039"/>
                          </a:solidFill>
                          <a:latin typeface="Arial"/>
                          <a:ea typeface="Arial"/>
                          <a:cs typeface="Arial"/>
                        </a:rPr>
                        <a:t>Analyse statique</a:t>
                      </a:r>
                    </a:p>
                  </a:txBody>
                  <a:tcPr marL="91440" marR="91440" marT="45720" marB="45720">
                    <a:solidFill>
                      <a:srgbClr val="FFFFFF"/>
                    </a:solidFill>
                  </a:tcPr>
                </a:tc>
                <a:tc>
                  <a:txBody>
                    <a:bodyPr/>
                    <a:lstStyle/>
                    <a:p>
                      <a:r>
                        <a:rPr sz="1725" b="0">
                          <a:solidFill>
                            <a:srgbClr val="173039"/>
                          </a:solidFill>
                          <a:latin typeface="Arial"/>
                          <a:ea typeface="Arial"/>
                          <a:cs typeface="Arial"/>
                        </a:rPr>
                        <a:t>Repérer les erreurs de code et imports incohérents.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89265593"/>
      </p:ext>
    </p:extLst>
  </p:cSld>
</p:sld>
</file>

<file path=ppt/slides/slide3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48B1E2-EF6D-49B0-85CC-5989CD076AC5}"/>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Paquets sans import métier direct</a:t>
            </a:r>
          </a:p>
        </p:txBody>
      </p:sp>
      <p:sp>
        <p:nvSpPr>
          <p:cNvPr id="2" name="">
            <a:extLst xmlns:a="http://schemas.openxmlformats.org/drawingml/2006/main">
              <a:ext uri="{FF2B5EF4-FFF2-40B4-BE49-F238E27FC236}">
                <a16:creationId xmlns:a16="http://schemas.microsoft.com/office/drawing/2014/main" id="{736C49D1-7D2F-4002-9765-14F75CBB58C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7F6EFCF2-0952-4CFD-BFC7-739FED82974C}"/>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9 paquets du groupe en notes : fonction, usage, dépendances, exemple et sources.</a:t>
            </a:r>
          </a:p>
        </p:txBody>
      </p:sp>
      <p:graphicFrame>
        <p:nvGraphicFramePr>
          <p:cNvPr id="4" name="">
            <a:extLst xmlns:a="http://schemas.openxmlformats.org/drawingml/2006/main">
              <a:ext uri="{FF2B5EF4-FFF2-40B4-BE49-F238E27FC236}">
                <a16:creationId xmlns:a16="http://schemas.microsoft.com/office/drawing/2014/main" id="{056D3ACA-45A7-444C-AFAA-9A16ED4DCEBF}"/>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781300"/>
                <a:gridCol w="3143250"/>
                <a:gridCol w="5048250"/>
              </a:tblGrid>
              <a:tr h="457200">
                <a:tc>
                  <a:txBody>
                    <a:bodyPr/>
                    <a:lstStyle/>
                    <a:p>
                      <a:r>
                        <a:rPr sz="1725" b="1">
                          <a:solidFill>
                            <a:srgbClr val="FFFFFF"/>
                          </a:solidFill>
                          <a:latin typeface="Arial"/>
                          <a:ea typeface="Arial"/>
                          <a:cs typeface="Arial"/>
                        </a:rPr>
                        <a:t>PAQUET OU GROUPE</a:t>
                      </a:r>
                    </a:p>
                  </a:txBody>
                  <a:tcPr marL="91440" marR="91440" marT="45720" marB="45720">
                    <a:solidFill>
                      <a:srgbClr val="173039"/>
                    </a:solidFill>
                  </a:tcPr>
                </a:tc>
                <a:tc>
                  <a:txBody>
                    <a:bodyPr/>
                    <a:lstStyle/>
                    <a:p>
                      <a:r>
                        <a:rPr sz="1725" b="1">
                          <a:solidFill>
                            <a:srgbClr val="FFFFFF"/>
                          </a:solidFill>
                          <a:latin typeface="Arial"/>
                          <a:ea typeface="Arial"/>
                          <a:cs typeface="Arial"/>
                        </a:rPr>
                        <a:t>SUPPORT / FONCTION</a:t>
                      </a:r>
                    </a:p>
                  </a:txBody>
                  <a:tcPr marL="91440" marR="91440" marT="45720" marB="45720">
                    <a:solidFill>
                      <a:srgbClr val="173039"/>
                    </a:solidFill>
                  </a:tcPr>
                </a:tc>
                <a:tc>
                  <a:txBody>
                    <a:bodyPr/>
                    <a:lstStyle/>
                    <a:p>
                      <a:r>
                        <a:rPr sz="1725" b="1">
                          <a:solidFill>
                            <a:srgbClr val="FFFFFF"/>
                          </a:solidFill>
                          <a:latin typeface="Arial"/>
                          <a:ea typeface="Arial"/>
                          <a:cs typeface="Arial"/>
                        </a:rPr>
                        <a:t>RÔLE ET LIMITE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NumPy + Pandas</a:t>
                      </a:r>
                    </a:p>
                  </a:txBody>
                  <a:tcPr marL="91440" marR="91440" marT="45720" marB="45720">
                    <a:solidFill>
                      <a:srgbClr val="FFFFFF"/>
                    </a:solidFill>
                  </a:tcPr>
                </a:tc>
                <a:tc>
                  <a:txBody>
                    <a:bodyPr/>
                    <a:lstStyle/>
                    <a:p>
                      <a:r>
                        <a:rPr sz="1725" b="0">
                          <a:solidFill>
                            <a:srgbClr val="173039"/>
                          </a:solidFill>
                          <a:latin typeface="Arial"/>
                          <a:ea typeface="Arial"/>
                          <a:cs typeface="Arial"/>
                        </a:rPr>
                        <a:t>Calcul et tables</a:t>
                      </a:r>
                    </a:p>
                  </a:txBody>
                  <a:tcPr marL="91440" marR="91440" marT="45720" marB="45720">
                    <a:solidFill>
                      <a:srgbClr val="FFFFFF"/>
                    </a:solidFill>
                  </a:tcPr>
                </a:tc>
                <a:tc>
                  <a:txBody>
                    <a:bodyPr/>
                    <a:lstStyle/>
                    <a:p>
                      <a:r>
                        <a:rPr sz="1725" b="0">
                          <a:solidFill>
                            <a:srgbClr val="173039"/>
                          </a:solidFill>
                          <a:latin typeface="Arial"/>
                          <a:ea typeface="Arial"/>
                          <a:cs typeface="Arial"/>
                        </a:rPr>
                        <a:t>Requis par OR-Tools, sans analyse métier directe ici.</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sqlite-vec</a:t>
                      </a:r>
                    </a:p>
                  </a:txBody>
                  <a:tcPr marL="91440" marR="91440" marT="45720" marB="45720">
                    <a:solidFill>
                      <a:srgbClr val="EAF0F1"/>
                    </a:solidFill>
                  </a:tcPr>
                </a:tc>
                <a:tc>
                  <a:txBody>
                    <a:bodyPr/>
                    <a:lstStyle/>
                    <a:p>
                      <a:r>
                        <a:rPr sz="1725" b="0">
                          <a:solidFill>
                            <a:srgbClr val="173039"/>
                          </a:solidFill>
                          <a:latin typeface="Arial"/>
                          <a:ea typeface="Arial"/>
                          <a:cs typeface="Arial"/>
                        </a:rPr>
                        <a:t>Vecteurs dans SQLite</a:t>
                      </a:r>
                    </a:p>
                  </a:txBody>
                  <a:tcPr marL="91440" marR="91440" marT="45720" marB="45720">
                    <a:solidFill>
                      <a:srgbClr val="EAF0F1"/>
                    </a:solidFill>
                  </a:tcPr>
                </a:tc>
                <a:tc>
                  <a:txBody>
                    <a:bodyPr/>
                    <a:lstStyle/>
                    <a:p>
                      <a:r>
                        <a:rPr sz="1725" b="0">
                          <a:solidFill>
                            <a:srgbClr val="173039"/>
                          </a:solidFill>
                          <a:latin typeface="Arial"/>
                          <a:ea typeface="Arial"/>
                          <a:cs typeface="Arial"/>
                        </a:rPr>
                        <a:t>Requis par le saver, sans mémoire vectorielle produit.</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aiosqlite</a:t>
                      </a:r>
                    </a:p>
                  </a:txBody>
                  <a:tcPr marL="91440" marR="91440" marT="45720" marB="45720">
                    <a:solidFill>
                      <a:srgbClr val="FFFFFF"/>
                    </a:solidFill>
                  </a:tcPr>
                </a:tc>
                <a:tc>
                  <a:txBody>
                    <a:bodyPr/>
                    <a:lstStyle/>
                    <a:p>
                      <a:r>
                        <a:rPr sz="1725" b="0">
                          <a:solidFill>
                            <a:srgbClr val="173039"/>
                          </a:solidFill>
                          <a:latin typeface="Arial"/>
                          <a:ea typeface="Arial"/>
                          <a:cs typeface="Arial"/>
                        </a:rPr>
                        <a:t>SQLite asynchrone</a:t>
                      </a:r>
                    </a:p>
                  </a:txBody>
                  <a:tcPr marL="91440" marR="91440" marT="45720" marB="45720">
                    <a:solidFill>
                      <a:srgbClr val="FFFFFF"/>
                    </a:solidFill>
                  </a:tcPr>
                </a:tc>
                <a:tc>
                  <a:txBody>
                    <a:bodyPr/>
                    <a:lstStyle/>
                    <a:p>
                      <a:r>
                        <a:rPr sz="1725" b="0">
                          <a:solidFill>
                            <a:srgbClr val="173039"/>
                          </a:solidFill>
                          <a:latin typeface="Arial"/>
                          <a:ea typeface="Arial"/>
                          <a:cs typeface="Arial"/>
                        </a:rPr>
                        <a:t>Support du saver, Genesis choisit le mode synchrone.</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Alembic + Mako</a:t>
                      </a:r>
                    </a:p>
                  </a:txBody>
                  <a:tcPr marL="91440" marR="91440" marT="45720" marB="45720">
                    <a:solidFill>
                      <a:srgbClr val="EAF0F1"/>
                    </a:solidFill>
                  </a:tcPr>
                </a:tc>
                <a:tc>
                  <a:txBody>
                    <a:bodyPr/>
                    <a:lstStyle/>
                    <a:p>
                      <a:r>
                        <a:rPr sz="1725" b="0">
                          <a:solidFill>
                            <a:srgbClr val="173039"/>
                          </a:solidFill>
                          <a:latin typeface="Arial"/>
                          <a:ea typeface="Arial"/>
                          <a:cs typeface="Arial"/>
                        </a:rPr>
                        <a:t>Migrations et gabarits</a:t>
                      </a:r>
                    </a:p>
                  </a:txBody>
                  <a:tcPr marL="91440" marR="91440" marT="45720" marB="45720">
                    <a:solidFill>
                      <a:srgbClr val="EAF0F1"/>
                    </a:solidFill>
                  </a:tcPr>
                </a:tc>
                <a:tc>
                  <a:txBody>
                    <a:bodyPr/>
                    <a:lstStyle/>
                    <a:p>
                      <a:r>
                        <a:rPr sz="1725" b="0">
                          <a:solidFill>
                            <a:srgbClr val="173039"/>
                          </a:solidFill>
                          <a:latin typeface="Arial"/>
                          <a:ea typeface="Arial"/>
                          <a:cs typeface="Arial"/>
                        </a:rPr>
                        <a:t>Installés, sans migrations Alembic actives démontrées.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Requests</a:t>
                      </a:r>
                    </a:p>
                  </a:txBody>
                  <a:tcPr marL="91440" marR="91440" marT="45720" marB="45720">
                    <a:solidFill>
                      <a:srgbClr val="FFFFFF"/>
                    </a:solidFill>
                  </a:tcPr>
                </a:tc>
                <a:tc>
                  <a:txBody>
                    <a:bodyPr/>
                    <a:lstStyle/>
                    <a:p>
                      <a:r>
                        <a:rPr sz="1725" b="0">
                          <a:solidFill>
                            <a:srgbClr val="173039"/>
                          </a:solidFill>
                          <a:latin typeface="Arial"/>
                          <a:ea typeface="Arial"/>
                          <a:cs typeface="Arial"/>
                        </a:rPr>
                        <a:t>Client HTTP</a:t>
                      </a:r>
                    </a:p>
                  </a:txBody>
                  <a:tcPr marL="91440" marR="91440" marT="45720" marB="45720">
                    <a:solidFill>
                      <a:srgbClr val="FFFFFF"/>
                    </a:solidFill>
                  </a:tcPr>
                </a:tc>
                <a:tc>
                  <a:txBody>
                    <a:bodyPr/>
                    <a:lstStyle/>
                    <a:p>
                      <a:r>
                        <a:rPr sz="1725" b="0">
                          <a:solidFill>
                            <a:srgbClr val="173039"/>
                          </a:solidFill>
                          <a:latin typeface="Arial"/>
                          <a:ea typeface="Arial"/>
                          <a:cs typeface="Arial"/>
                        </a:rPr>
                        <a:t>Présent via des dépendances, sans client métier direct.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09189281"/>
      </p:ext>
    </p:extLst>
  </p:cSld>
</p:sld>
</file>

<file path=ppt/slides/slide3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5B58A5-90C8-48C3-B4E9-ACD3C7FF85F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dépendances web et QA</a:t>
            </a:r>
          </a:p>
        </p:txBody>
      </p:sp>
      <p:sp>
        <p:nvSpPr>
          <p:cNvPr id="2" name="">
            <a:extLst xmlns:a="http://schemas.openxmlformats.org/drawingml/2006/main">
              <a:ext uri="{FF2B5EF4-FFF2-40B4-BE49-F238E27FC236}">
                <a16:creationId xmlns:a16="http://schemas.microsoft.com/office/drawing/2014/main" id="{DF041824-5C6C-491C-9BCA-35DF5C1532E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11AD5C50-E097-4FE7-85FD-866A3F713C02}"/>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17 paquets directs détaillés en notes. Les lockfiles conservent les transitifs.</a:t>
            </a:r>
          </a:p>
        </p:txBody>
      </p:sp>
      <p:graphicFrame>
        <p:nvGraphicFramePr>
          <p:cNvPr id="4" name="">
            <a:extLst xmlns:a="http://schemas.openxmlformats.org/drawingml/2006/main">
              <a:ext uri="{FF2B5EF4-FFF2-40B4-BE49-F238E27FC236}">
                <a16:creationId xmlns:a16="http://schemas.microsoft.com/office/drawing/2014/main" id="{6769EFA6-D1BB-4092-AD60-CA55ED17AB3A}"/>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190750"/>
                <a:gridCol w="4210050"/>
                <a:gridCol w="4572000"/>
              </a:tblGrid>
              <a:tr h="457200">
                <a:tc>
                  <a:txBody>
                    <a:bodyPr/>
                    <a:lstStyle/>
                    <a:p>
                      <a:r>
                        <a:rPr sz="1725" b="1">
                          <a:solidFill>
                            <a:srgbClr val="FFFFFF"/>
                          </a:solidFill>
                          <a:latin typeface="Arial"/>
                          <a:ea typeface="Arial"/>
                          <a:cs typeface="Arial"/>
                        </a:rPr>
                        <a:t>GROUPE</a:t>
                      </a:r>
                    </a:p>
                  </a:txBody>
                  <a:tcPr marL="91440" marR="91440" marT="45720" marB="45720">
                    <a:solidFill>
                      <a:srgbClr val="173039"/>
                    </a:solidFill>
                  </a:tcPr>
                </a:tc>
                <a:tc>
                  <a:txBody>
                    <a:bodyPr/>
                    <a:lstStyle/>
                    <a:p>
                      <a:r>
                        <a:rPr sz="1725" b="1">
                          <a:solidFill>
                            <a:srgbClr val="FFFFFF"/>
                          </a:solidFill>
                          <a:latin typeface="Arial"/>
                          <a:ea typeface="Arial"/>
                          <a:cs typeface="Arial"/>
                        </a:rPr>
                        <a:t>PAQUETS</a:t>
                      </a:r>
                    </a:p>
                  </a:txBody>
                  <a:tcPr marL="91440" marR="91440" marT="45720" marB="45720">
                    <a:solidFill>
                      <a:srgbClr val="173039"/>
                    </a:solidFill>
                  </a:tcPr>
                </a:tc>
                <a:tc>
                  <a:txBody>
                    <a:bodyPr/>
                    <a:lstStyle/>
                    <a:p>
                      <a:r>
                        <a:rPr sz="1725" b="1">
                          <a:solidFill>
                            <a:srgbClr val="FFFFFF"/>
                          </a:solidFill>
                          <a:latin typeface="Arial"/>
                          <a:ea typeface="Arial"/>
                          <a:cs typeface="Arial"/>
                        </a:rPr>
                        <a:t>USAGE CONCRET</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Interface</a:t>
                      </a:r>
                    </a:p>
                  </a:txBody>
                  <a:tcPr marL="91440" marR="91440" marT="45720" marB="45720">
                    <a:solidFill>
                      <a:srgbClr val="FFFFFF"/>
                    </a:solidFill>
                  </a:tcPr>
                </a:tc>
                <a:tc>
                  <a:txBody>
                    <a:bodyPr/>
                    <a:lstStyle/>
                    <a:p>
                      <a:r>
                        <a:rPr sz="1725" b="0">
                          <a:solidFill>
                            <a:srgbClr val="173039"/>
                          </a:solidFill>
                          <a:latin typeface="Arial"/>
                          <a:ea typeface="Arial"/>
                          <a:cs typeface="Arial"/>
                        </a:rPr>
                        <a:t>React + React DOM</a:t>
                      </a:r>
                    </a:p>
                  </a:txBody>
                  <a:tcPr marL="91440" marR="91440" marT="45720" marB="45720">
                    <a:solidFill>
                      <a:srgbClr val="FFFFFF"/>
                    </a:solidFill>
                  </a:tcPr>
                </a:tc>
                <a:tc>
                  <a:txBody>
                    <a:bodyPr/>
                    <a:lstStyle/>
                    <a:p>
                      <a:r>
                        <a:rPr sz="1725" b="0">
                          <a:solidFill>
                            <a:srgbClr val="173039"/>
                          </a:solidFill>
                          <a:latin typeface="Arial"/>
                          <a:ea typeface="Arial"/>
                          <a:cs typeface="Arial"/>
                        </a:rPr>
                        <a:t>État et affichage dans le navigateur.</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Données visuelles</a:t>
                      </a:r>
                    </a:p>
                  </a:txBody>
                  <a:tcPr marL="91440" marR="91440" marT="45720" marB="45720">
                    <a:solidFill>
                      <a:srgbClr val="EAF0F1"/>
                    </a:solidFill>
                  </a:tcPr>
                </a:tc>
                <a:tc>
                  <a:txBody>
                    <a:bodyPr/>
                    <a:lstStyle/>
                    <a:p>
                      <a:r>
                        <a:rPr sz="1725" b="0">
                          <a:solidFill>
                            <a:srgbClr val="173039"/>
                          </a:solidFill>
                          <a:latin typeface="Arial"/>
                          <a:ea typeface="Arial"/>
                          <a:cs typeface="Arial"/>
                        </a:rPr>
                        <a:t>ECharts + React Flow + MapLibre</a:t>
                      </a:r>
                    </a:p>
                  </a:txBody>
                  <a:tcPr marL="91440" marR="91440" marT="45720" marB="45720">
                    <a:solidFill>
                      <a:srgbClr val="EAF0F1"/>
                    </a:solidFill>
                  </a:tcPr>
                </a:tc>
                <a:tc>
                  <a:txBody>
                    <a:bodyPr/>
                    <a:lstStyle/>
                    <a:p>
                      <a:r>
                        <a:rPr sz="1725" b="0">
                          <a:solidFill>
                            <a:srgbClr val="173039"/>
                          </a:solidFill>
                          <a:latin typeface="Arial"/>
                          <a:ea typeface="Arial"/>
                          <a:cs typeface="Arial"/>
                        </a:rPr>
                        <a:t>Graphiques, rôles et carte géographique.</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Présentation</a:t>
                      </a:r>
                    </a:p>
                  </a:txBody>
                  <a:tcPr marL="91440" marR="91440" marT="45720" marB="45720">
                    <a:solidFill>
                      <a:srgbClr val="FFFFFF"/>
                    </a:solidFill>
                  </a:tcPr>
                </a:tc>
                <a:tc>
                  <a:txBody>
                    <a:bodyPr/>
                    <a:lstStyle/>
                    <a:p>
                      <a:r>
                        <a:rPr sz="1725" b="0">
                          <a:solidFill>
                            <a:srgbClr val="173039"/>
                          </a:solidFill>
                          <a:latin typeface="Arial"/>
                          <a:ea typeface="Arial"/>
                          <a:cs typeface="Arial"/>
                        </a:rPr>
                        <a:t>Lucide + Inter</a:t>
                      </a:r>
                    </a:p>
                  </a:txBody>
                  <a:tcPr marL="91440" marR="91440" marT="45720" marB="45720">
                    <a:solidFill>
                      <a:srgbClr val="FFFFFF"/>
                    </a:solidFill>
                  </a:tcPr>
                </a:tc>
                <a:tc>
                  <a:txBody>
                    <a:bodyPr/>
                    <a:lstStyle/>
                    <a:p>
                      <a:r>
                        <a:rPr sz="1725" b="0">
                          <a:solidFill>
                            <a:srgbClr val="173039"/>
                          </a:solidFill>
                          <a:latin typeface="Arial"/>
                          <a:ea typeface="Arial"/>
                          <a:cs typeface="Arial"/>
                        </a:rPr>
                        <a:t>Icônes et police servie localement.</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Développement</a:t>
                      </a:r>
                    </a:p>
                  </a:txBody>
                  <a:tcPr marL="91440" marR="91440" marT="45720" marB="45720">
                    <a:solidFill>
                      <a:srgbClr val="EAF0F1"/>
                    </a:solidFill>
                  </a:tcPr>
                </a:tc>
                <a:tc>
                  <a:txBody>
                    <a:bodyPr/>
                    <a:lstStyle/>
                    <a:p>
                      <a:r>
                        <a:rPr sz="1725" b="0">
                          <a:solidFill>
                            <a:srgbClr val="173039"/>
                          </a:solidFill>
                          <a:latin typeface="Arial"/>
                          <a:ea typeface="Arial"/>
                          <a:cs typeface="Arial"/>
                        </a:rPr>
                        <a:t>Vite, plugin React, TypeScript, types, Prettier</a:t>
                      </a:r>
                    </a:p>
                  </a:txBody>
                  <a:tcPr marL="91440" marR="91440" marT="45720" marB="45720">
                    <a:solidFill>
                      <a:srgbClr val="EAF0F1"/>
                    </a:solidFill>
                  </a:tcPr>
                </a:tc>
                <a:tc>
                  <a:txBody>
                    <a:bodyPr/>
                    <a:lstStyle/>
                    <a:p>
                      <a:r>
                        <a:rPr sz="1725" b="0">
                          <a:solidFill>
                            <a:srgbClr val="173039"/>
                          </a:solidFill>
                          <a:latin typeface="Arial"/>
                          <a:ea typeface="Arial"/>
                          <a:cs typeface="Arial"/>
                        </a:rPr>
                        <a:t>Assembler et vérifier les types. Prettier déclaré.</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Vérification</a:t>
                      </a:r>
                    </a:p>
                  </a:txBody>
                  <a:tcPr marL="91440" marR="91440" marT="45720" marB="45720">
                    <a:solidFill>
                      <a:srgbClr val="FFFFFF"/>
                    </a:solidFill>
                  </a:tcPr>
                </a:tc>
                <a:tc>
                  <a:txBody>
                    <a:bodyPr/>
                    <a:lstStyle/>
                    <a:p>
                      <a:r>
                        <a:rPr sz="1725" b="0">
                          <a:solidFill>
                            <a:srgbClr val="173039"/>
                          </a:solidFill>
                          <a:latin typeface="Arial"/>
                          <a:ea typeface="Arial"/>
                          <a:cs typeface="Arial"/>
                        </a:rPr>
                        <a:t>Vitest + Playwright + axe</a:t>
                      </a:r>
                    </a:p>
                  </a:txBody>
                  <a:tcPr marL="91440" marR="91440" marT="45720" marB="45720">
                    <a:solidFill>
                      <a:srgbClr val="FFFFFF"/>
                    </a:solidFill>
                  </a:tcPr>
                </a:tc>
                <a:tc>
                  <a:txBody>
                    <a:bodyPr/>
                    <a:lstStyle/>
                    <a:p>
                      <a:r>
                        <a:rPr sz="1725" b="0">
                          <a:solidFill>
                            <a:srgbClr val="173039"/>
                          </a:solidFill>
                          <a:latin typeface="Arial"/>
                          <a:ea typeface="Arial"/>
                          <a:cs typeface="Arial"/>
                        </a:rPr>
                        <a:t>Tests, parcours navigateur et accessibilité.</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20552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2026-10-11T17:22:57.2540000Z</dcterms:created>
  <dcterms:modified xsi:type="dcterms:W3CDTF">2026-10-11T17:22:57.2540000Z</dcterms:modified>
</coreProperties>
</file>